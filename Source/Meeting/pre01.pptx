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74"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68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704"/>
    <p:restoredTop sz="95988"/>
  </p:normalViewPr>
  <p:slideViewPr>
    <p:cSldViewPr snapToGrid="0" snapToObjects="1">
      <p:cViewPr varScale="1">
        <p:scale>
          <a:sx n="97" d="100"/>
          <a:sy n="97" d="100"/>
        </p:scale>
        <p:origin x="216" y="6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002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Good morning. Today I will report the work I completed during the last two weeks, the</a:t>
            </a:r>
            <a:r>
              <a:rPr lang="en-US" altLang="zh-CN" dirty="0"/>
              <a:t> current challenges</a:t>
            </a:r>
            <a:r>
              <a:rPr lang="zh-CN" dirty="0"/>
              <a:t>, and my plan for the next two weeks.</a:t>
            </a:r>
          </a:p>
          <a:p>
            <a:endParaRPr lang="zh-CN" dirty="0"/>
          </a:p>
          <a:p>
            <a:r>
              <a:rPr lang="zh-CN" dirty="0"/>
              <a:t>The main topic of this period was the evaluation design for a Knowledge Graph Agent. The work is still preliminary. My goal today is to explain the current logic clearly and receive feedback before I implement too much.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slide shows my current idea for the whole thesis workflow.</a:t>
            </a:r>
          </a:p>
          <a:p>
            <a:endParaRPr lang="zh-CN" dirty="0"/>
          </a:p>
          <a:p>
            <a:r>
              <a:rPr lang="zh-CN" dirty="0"/>
              <a:t>First, I define the research goal and research questions. Then I design an initial evaluation framework and use it to assess possible datasets. After that, I will analyse the existing Agent in more detail and build an evaluation program together with unified Agent logging.</a:t>
            </a:r>
          </a:p>
          <a:p>
            <a:endParaRPr lang="zh-CN" dirty="0"/>
          </a:p>
          <a:p>
            <a:r>
              <a:rPr lang="zh-CN" dirty="0"/>
              <a:t>I then plan to run a pilot test on the existing Agent. This pilot test is mainly used to check whether the datasets, logging format, and evaluation program work together. It is not yet the final performance experiment.</a:t>
            </a:r>
          </a:p>
          <a:p>
            <a:endParaRPr lang="zh-CN" dirty="0"/>
          </a:p>
          <a:p>
            <a:r>
              <a:rPr lang="zh-CN" dirty="0"/>
              <a:t>Based on the pilot results, I can refine the evaluation design and improve the Agent architecture. The improved Agent will then be tested with the same evaluation setup. Finally, I will run the formal experiments, analyse the results, and complete the thesis writing.</a:t>
            </a:r>
          </a:p>
          <a:p>
            <a:endParaRPr lang="zh-CN" dirty="0"/>
          </a:p>
          <a:p>
            <a:r>
              <a:rPr lang="zh-CN" dirty="0"/>
              <a:t>At the moment, I am mainly working on the evaluation framework and the initial dataset requirements.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At first, I planned to start by reviewing KGQA datasets. However, I found that I could not decide whether a dataset was suitable without first defining what I wanted to evaluate.</a:t>
            </a:r>
          </a:p>
          <a:p>
            <a:endParaRPr lang="zh-CN" dirty="0"/>
          </a:p>
          <a:p>
            <a:r>
              <a:rPr lang="zh-CN" dirty="0"/>
              <a:t>For example, different capabilities need different test tasks, metrics, data fields, and Agent records. Therefore, most of my work during these two weeks moved from dataset review to the design of an evaluation framework.</a:t>
            </a:r>
          </a:p>
          <a:p>
            <a:endParaRPr lang="zh-CN" dirty="0"/>
          </a:p>
          <a:p>
            <a:r>
              <a:rPr lang="zh-CN" dirty="0"/>
              <a:t>I produced four connected preliminary results: a seven-layer framework, an initial list of required dataset fields, and an initial unified Agent log design. </a:t>
            </a:r>
            <a:endParaRPr lang="en-US" altLang="zh-CN" dirty="0"/>
          </a:p>
          <a:p>
            <a:endParaRPr lang="zh-CN" dirty="0"/>
          </a:p>
          <a:p>
            <a:r>
              <a:rPr lang="zh-CN" dirty="0"/>
              <a:t>The key point is that all these results are initial designs. They still need to be tested and revised with the first Agent implementation.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the overall evaluation framework. I divide the design into seven layers so that different concepts are not mixed together.</a:t>
            </a:r>
          </a:p>
          <a:p>
            <a:endParaRPr lang="zh-CN" dirty="0"/>
          </a:p>
          <a:p>
            <a:r>
              <a:rPr lang="zh-CN" dirty="0"/>
              <a:t>The first layer is the Agent capability: what should the Agent be able to do? The second layer converts the capability into test tasks. The third layer asks what data and graph resources are required. The fourth layer defines the gold answer or annotation.</a:t>
            </a:r>
          </a:p>
          <a:p>
            <a:endParaRPr lang="zh-CN" dirty="0"/>
          </a:p>
          <a:p>
            <a:r>
              <a:rPr lang="zh-CN" dirty="0"/>
              <a:t>The fifth layer defines what the Agent must record during a run. The sixth layer selects the evaluation metrics. The final layer defines how the evaluation is implemented in a program and workflow.</a:t>
            </a:r>
          </a:p>
          <a:p>
            <a:endParaRPr lang="zh-CN" dirty="0"/>
          </a:p>
          <a:p>
            <a:r>
              <a:rPr lang="zh-CN" dirty="0"/>
              <a:t>These layers depend on each other. If I add a new test task, I may also need new dataset fields, new log fields, a new metric, and additional implementation work. This is why defining a feasible evaluation scope is currently very important.</a:t>
            </a:r>
            <a:endParaRPr lang="en-US" altLang="zh-CN" dirty="0"/>
          </a:p>
          <a:p>
            <a:endParaRPr lang="en-US" altLang="zh-CN" dirty="0"/>
          </a:p>
          <a:p>
            <a:r>
              <a:rPr lang="en-US" altLang="zh-CN" dirty="0"/>
              <a:t>Based on this structure, I currently consider four main quantitative evaluation areas. Multi-hop Reasoning, Final Answer, Refusal and Graph Grounding abilities.</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capability is Multi-hop Reasoning. Here, I define it as the ability to connect several facts in the knowledge graph to answer one question.</a:t>
            </a:r>
          </a:p>
          <a:p>
            <a:endParaRPr lang="zh-CN" dirty="0"/>
          </a:p>
          <a:p>
            <a:r>
              <a:rPr lang="zh-CN" dirty="0"/>
              <a:t>The main test task is to answer questions with different hop counts, such as two-hop, three-hop, and four-or-more-hop questions. I can then compare the performance of these groups. I may also select a small number of branching or intersection questions for case analysis.</a:t>
            </a:r>
          </a:p>
          <a:p>
            <a:endParaRPr lang="zh-CN" dirty="0"/>
          </a:p>
          <a:p>
            <a:r>
              <a:rPr lang="zh-CN" dirty="0"/>
              <a:t>The main metric is answer accuracy or F1 grouped by hop count. Hop Degradation can be an optional metric for comparing how performance changes when the number of hops increases.</a:t>
            </a:r>
          </a:p>
          <a:p>
            <a:endParaRPr lang="zh-CN" dirty="0"/>
          </a:p>
          <a:p>
            <a:r>
              <a:rPr lang="zh-CN" dirty="0"/>
              <a:t>For a self-built dataset, the main fields are the question, gold answer, answer type, and hop count. The answer type tells the evaluation program which scoring rule to use. For an existing dataset, I mainly need the question, answers, and hop count. The unified Agent log provides the predicted answer and the execution status.</a:t>
            </a:r>
            <a:endParaRPr lang="zh-CN" altLang="en-US" dirty="0"/>
          </a:p>
          <a:p>
            <a:endParaRPr lang="zh-CN" altLang="en-US" dirty="0"/>
          </a:p>
          <a:p>
            <a:r>
              <a:rPr lang="zh-CN" dirty="0"/>
              <a:t>I do not plan to require a complete natural-language reasoning path for every question. A small number of representative cases can be reviewed manually and used to adjust the analysis method.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second capability is Final Answer quality. The goal is to check whether the final answer is correct, complete, and suitable for the question.</a:t>
            </a:r>
          </a:p>
          <a:p>
            <a:endParaRPr lang="zh-CN" dirty="0"/>
          </a:p>
          <a:p>
            <a:r>
              <a:rPr lang="zh-CN" dirty="0"/>
              <a:t>The evaluation must support different answer types, including a single entity, multiple entities, a number, a Boolean value, or a date. A single answer can use Exact Match or Accuracy. A set of answers needs Precision, Recall, and F1.</a:t>
            </a:r>
          </a:p>
          <a:p>
            <a:endParaRPr lang="zh-CN" dirty="0"/>
          </a:p>
          <a:p>
            <a:r>
              <a:rPr lang="zh-CN" dirty="0"/>
              <a:t>The answer type is important because the evaluation program cannot compare every answer in the same way. For example, Boolean values need Boolean normalization, numbers may need numeric comparison, and entities may need identifiers or aliases.</a:t>
            </a:r>
          </a:p>
          <a:p>
            <a:endParaRPr lang="zh-CN" dirty="0"/>
          </a:p>
          <a:p>
            <a:r>
              <a:rPr lang="zh-CN" dirty="0"/>
              <a:t>The dataset therefore needs a gold answer or answer set and an answer type. Acceptable answers and aliases are optional fields. In the unified Agent log, the answer payload is converted into a normalized predicted answer. Automatic metrics use this normalized value, while the final answer text is kept for human-readable case analysis.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third capability is Refusal. The main question is whether the Agent can avoid making up an answer when the target knowledge graph does not contain enough information.</a:t>
            </a:r>
          </a:p>
          <a:p>
            <a:endParaRPr lang="zh-CN" dirty="0"/>
          </a:p>
          <a:p>
            <a:r>
              <a:rPr lang="zh-CN" dirty="0"/>
              <a:t>The test set should include questions with a missing entity, relation, or fact, as well as questions outside the scope of the target graph. It is also important to distinguish an unanswerable question from a failed execution. For example, a failed tool call is not a correct refusal.</a:t>
            </a:r>
          </a:p>
          <a:p>
            <a:endParaRPr lang="zh-CN" dirty="0"/>
          </a:p>
          <a:p>
            <a:r>
              <a:rPr lang="zh-CN" dirty="0"/>
              <a:t>The three initial metrics are Answerability Accuracy, Hallucination Rate, and False Refusal Rate. The first checks whether the Agent correctly decides if a question is answerable. The second measures how often the Agent still gives a specific answer to an unanswerable question. The third measures how often it refuses a question that can actually be answered.</a:t>
            </a:r>
          </a:p>
          <a:p>
            <a:endParaRPr lang="zh-CN" dirty="0"/>
          </a:p>
          <a:p>
            <a:r>
              <a:rPr lang="zh-CN" dirty="0"/>
              <a:t>The dataset therefore needs an answerable label. An unanswerable reason is useful but optional. In the Agent log, answer status and execution status must be recorded separately.</a:t>
            </a:r>
            <a:r>
              <a:rPr lang="en-US" altLang="zh-CN" dirty="0"/>
              <a:t> </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fourth capability is Graph Grounding. This is the most difficult part of the current framework because a correct answer does not prove that the Agent actually used the knowledge graph.</a:t>
            </a:r>
          </a:p>
          <a:p>
            <a:endParaRPr lang="zh-CN" dirty="0"/>
          </a:p>
          <a:p>
            <a:r>
              <a:rPr lang="zh-CN" dirty="0"/>
              <a:t>My first idea is to record what the Agent really retrieved from the graph and compare this with the structured final answer.</a:t>
            </a:r>
          </a:p>
          <a:p>
            <a:endParaRPr lang="zh-CN" dirty="0"/>
          </a:p>
          <a:p>
            <a:r>
              <a:rPr lang="zh-CN" dirty="0"/>
              <a:t>The first metric is Answer–Retrieved Result Consistency. It checks whether the normalized answer can be found in, or directly supported by, the recorded retrieval results. This can be used across different Agent architectures if they all record normalized retrieved entities.</a:t>
            </a:r>
          </a:p>
          <a:p>
            <a:endParaRPr lang="zh-CN" dirty="0"/>
          </a:p>
          <a:p>
            <a:r>
              <a:rPr lang="zh-CN" dirty="0"/>
              <a:t>The second metric is Retrieved Fact Validity Rate. It checks how many recorded triples really exist in the target graph. However, this metric is only possible when the Agent or its KG tool can provide normalized triples.</a:t>
            </a:r>
          </a:p>
          <a:p>
            <a:endParaRPr lang="zh-CN" dirty="0"/>
          </a:p>
          <a:p>
            <a:r>
              <a:rPr lang="zh-CN" dirty="0"/>
              <a:t>The dataset needs access to the target graph or a structured triple resource. The Agent log needs the structured answer and the actual retrieval results.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These two metrics provide useful signals, but they are not complete evidence of Graph Grounding.</a:t>
            </a:r>
          </a:p>
          <a:p>
            <a:endParaRPr lang="zh-CN" dirty="0"/>
          </a:p>
          <a:p>
            <a:r>
              <a:rPr lang="zh-CN" dirty="0"/>
              <a:t>Answer–Retrieved Result Consistency can show that an answer entity appeared in the retrieval results. It cannot prove that the Agent used the correct fact or the correct reasoning. Retrieved Fact Validity Rate can show that a recorded triple is valid, but it cannot prove that this triple was relevant to the final answer.</a:t>
            </a:r>
          </a:p>
          <a:p>
            <a:endParaRPr lang="zh-CN" dirty="0"/>
          </a:p>
          <a:p>
            <a:r>
              <a:rPr lang="zh-CN" dirty="0"/>
              <a:t>The implementation also depends on the Agent architecture. Some Agents return entities, some return result tables, and some tools may expose graph edges or triples. It is therefore difficult to require exactly the same internal object from every Agent.</a:t>
            </a:r>
          </a:p>
          <a:p>
            <a:endParaRPr lang="zh-CN" dirty="0"/>
          </a:p>
          <a:p>
            <a:r>
              <a:rPr lang="zh-CN" dirty="0"/>
              <a:t>There is another problem with answer types. For a numeric or Boolean question, the retrieved entities or facts cannot always be directly compared with the Agent output. For example, a retrieved set of entities may be used to calculate a number, but the final answer is only that number.</a:t>
            </a:r>
          </a:p>
          <a:p>
            <a:endParaRPr lang="zh-CN" dirty="0"/>
          </a:p>
          <a:p>
            <a:r>
              <a:rPr lang="zh-CN" dirty="0"/>
              <a:t>My current proposal is to use the automatic signals where the necessary records are available and add a small number of manual cases.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 do not currently plan to define a separate main quantitative metric for Problem Understanding.</a:t>
            </a:r>
          </a:p>
          <a:p>
            <a:endParaRPr lang="en-US" altLang="zh-CN" dirty="0"/>
          </a:p>
          <a:p>
            <a:r>
              <a:rPr lang="en-US" altLang="zh-CN" dirty="0"/>
              <a:t>Instead, I plan to select a small number of representative complex questions and inspect the available execution records.</a:t>
            </a:r>
          </a:p>
          <a:p>
            <a:endParaRPr lang="en-US" altLang="zh-CN" dirty="0"/>
          </a:p>
          <a:p>
            <a:r>
              <a:rPr lang="en-US" altLang="zh-CN" dirty="0"/>
              <a:t>The analysis can check whether the Agent understood the goal, followed the constraints, selected the correct entities and relations, and produced the expected answer form.</a:t>
            </a:r>
          </a:p>
          <a:p>
            <a:endParaRPr lang="en-US" altLang="zh-CN" dirty="0"/>
          </a:p>
          <a:p>
            <a:r>
              <a:rPr lang="en-US" altLang="zh-CN" dirty="0"/>
              <a:t>Optional information such as identified entities, selected relations, or </a:t>
            </a:r>
            <a:r>
              <a:rPr lang="en-US" altLang="zh-CN" dirty="0" err="1"/>
              <a:t>subquestions</a:t>
            </a:r>
            <a:r>
              <a:rPr lang="en-US" altLang="zh-CN" dirty="0"/>
              <a:t> is used only when the Agent already produces it. The purpose is to support the interpretation of the quantitative results.</a:t>
            </a:r>
          </a:p>
          <a:p>
            <a:r>
              <a:rPr lang="zh-CN" dirty="0"/>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table collects the core dataset fields required by the current design. </a:t>
            </a:r>
            <a:endParaRPr lang="en-US" altLang="zh-CN" dirty="0"/>
          </a:p>
          <a:p>
            <a:endParaRPr lang="en-US" altLang="zh-CN" dirty="0"/>
          </a:p>
          <a:p>
            <a:r>
              <a:rPr lang="zh-CN" dirty="0"/>
              <a:t>Every sample needs an identifier, the complete question, and a gold answer. The answer type is also required because it controls the normalization and comparison method. </a:t>
            </a:r>
            <a:endParaRPr lang="en-US" altLang="zh-CN" dirty="0"/>
          </a:p>
          <a:p>
            <a:endParaRPr lang="en-US" altLang="zh-CN" dirty="0"/>
          </a:p>
          <a:p>
            <a:r>
              <a:rPr lang="zh-CN" dirty="0"/>
              <a:t>Hop count is required when performance is compared across reasoning hops. </a:t>
            </a:r>
            <a:endParaRPr lang="en-US" altLang="zh-CN" dirty="0"/>
          </a:p>
          <a:p>
            <a:endParaRPr lang="en-US" altLang="zh-CN" dirty="0"/>
          </a:p>
          <a:p>
            <a:r>
              <a:rPr lang="zh-CN" dirty="0"/>
              <a:t>For refusal evaluation, the dataset needs an answerable label and should contain both answerable and unanswerable samples. These requirements can define the structure of a supplementary dataset or be used to check whether an existing dataset is suitable. </a:t>
            </a:r>
            <a:endParaRPr lang="en-US" altLang="zh-CN" dirty="0"/>
          </a:p>
          <a:p>
            <a:endParaRPr lang="en-US" altLang="zh-CN" dirty="0"/>
          </a:p>
          <a:p>
            <a:r>
              <a:rPr lang="zh-CN" dirty="0"/>
              <a:t>The next part concerns the information produced during Agent execution.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By unified Agent logging, I mean a common structured record produced during an </a:t>
            </a:r>
            <a:r>
              <a:rPr lang="en-US" altLang="zh-CN" dirty="0"/>
              <a:t>agent</a:t>
            </a:r>
            <a:r>
              <a:rPr lang="zh-CN" dirty="0"/>
              <a:t> run. It stores the Agent's structured final answer, execution status, actual tool calls, and KG retrieval results.</a:t>
            </a:r>
          </a:p>
          <a:p>
            <a:endParaRPr lang="zh-CN" dirty="0"/>
          </a:p>
          <a:p>
            <a:r>
              <a:rPr lang="zh-CN" dirty="0"/>
              <a:t>This is needed because the dataset only contains questions and standard labels. It does not contain what the Agent actually did. The evaluation program needs both the dataset labels and the run log to calculate metrics and analyse errors.</a:t>
            </a:r>
          </a:p>
          <a:p>
            <a:endParaRPr lang="zh-CN" dirty="0"/>
          </a:p>
          <a:p>
            <a:r>
              <a:rPr lang="zh-CN" dirty="0"/>
              <a:t>The first design decision is that the format should not depend on one Agent architecture or one query language. The second is to keep static dataset fields separate from runtime outputs. The third is to add a structured answer node before natural-language generation. The fourth is to record only information that the Agent workflow or its tools already produce.</a:t>
            </a:r>
          </a:p>
          <a:p>
            <a:endParaRPr lang="zh-CN" dirty="0"/>
          </a:p>
          <a:p>
            <a:r>
              <a:rPr lang="zh-CN" dirty="0"/>
              <a:t>This logging design is preliminary. I will first test it on the existing Agent. It may need to change after the first pilot or when I develop a later Agent version.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slide shows the complete initial field list.</a:t>
            </a:r>
          </a:p>
          <a:p>
            <a:endParaRPr lang="zh-CN" dirty="0"/>
          </a:p>
          <a:p>
            <a:r>
              <a:rPr lang="zh-CN" dirty="0"/>
              <a:t>The required fields start with sample ID, which connects one run to one dataset question. Answer payload is the raw structured final answer. Predicted answer is the normalized value used by automatic metrics. Final answer text is the natural-language response shown to the user.</a:t>
            </a:r>
          </a:p>
          <a:p>
            <a:endParaRPr lang="zh-CN" dirty="0"/>
          </a:p>
          <a:p>
            <a:r>
              <a:rPr lang="zh-CN" dirty="0"/>
              <a:t>Answer status describes whether the Agent answered or judged the question unanswerable. Execution status describes whether the run succeeded, partially succeeded, or failed. These two fields must remain separate. Otherwise, a failed query could be incorrectly treated as a correct refusal.</a:t>
            </a:r>
          </a:p>
          <a:p>
            <a:endParaRPr lang="zh-CN" dirty="0"/>
          </a:p>
          <a:p>
            <a:r>
              <a:rPr lang="zh-CN" dirty="0"/>
              <a:t>Tool calls are recorded when tools are actually used. Identified entities, selected relations, and subquestions are optional. They are included only when the Agent workflow produces them. Error type is recorded when a query, tool, or parsing failure occurs.</a:t>
            </a:r>
          </a:p>
          <a:p>
            <a:endParaRPr lang="zh-CN" dirty="0"/>
          </a:p>
          <a:p>
            <a:r>
              <a:rPr lang="zh-CN" dirty="0"/>
              <a:t>The empty-value rules are also important. Null means that no value was produced. An empty list can mean that the output is a valid empty set or that an optional list was not recorded, depending on the field definition.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structured answer is generated after the Agent decides on the answer but before natural-language generation. </a:t>
            </a:r>
            <a:endParaRPr lang="en-US" altLang="zh-CN" dirty="0"/>
          </a:p>
          <a:p>
            <a:endParaRPr lang="en-US" altLang="zh-CN" dirty="0"/>
          </a:p>
          <a:p>
            <a:r>
              <a:rPr lang="zh-CN" dirty="0"/>
              <a:t>The answer payload stores the original structured result, which may be an entity, a list, a number, a Boolean value, or a date. </a:t>
            </a:r>
            <a:endParaRPr lang="en-US" altLang="zh-CN" dirty="0"/>
          </a:p>
          <a:p>
            <a:endParaRPr lang="en-US" altLang="zh-CN" dirty="0"/>
          </a:p>
          <a:p>
            <a:r>
              <a:rPr lang="zh-CN" dirty="0"/>
              <a:t>This result is normalized into the predicted answer, which is used by the evaluation program. </a:t>
            </a:r>
            <a:endParaRPr lang="en-US" altLang="zh-CN" dirty="0"/>
          </a:p>
          <a:p>
            <a:endParaRPr lang="en-US" altLang="zh-CN" dirty="0"/>
          </a:p>
          <a:p>
            <a:r>
              <a:rPr lang="zh-CN" dirty="0"/>
              <a:t>Natural-language generation then produces the final answer text for the user. </a:t>
            </a:r>
            <a:endParaRPr lang="en-US" altLang="zh-CN" dirty="0"/>
          </a:p>
          <a:p>
            <a:endParaRPr lang="en-US" altLang="zh-CN" dirty="0"/>
          </a:p>
          <a:p>
            <a:r>
              <a:rPr lang="zh-CN" dirty="0"/>
              <a:t>This design avoids extracting the answer again from natural-language text and reduces errors caused by wording differences.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Tool call logging records how the Agent actually accesses the knowledge graph or another tool.</a:t>
            </a:r>
          </a:p>
          <a:p>
            <a:endParaRPr lang="zh-CN" dirty="0"/>
          </a:p>
          <a:p>
            <a:r>
              <a:rPr lang="zh-CN" dirty="0"/>
              <a:t>Each call records the tool name, structured input, raw result, success status, and an error when the call fails. Retrieved entities are recorded when they can be normalized from the result. Retrieved facts are optional and are added only when normalized triples can be exposed or reconstructed.</a:t>
            </a:r>
          </a:p>
          <a:p>
            <a:endParaRPr lang="zh-CN" dirty="0"/>
          </a:p>
          <a:p>
            <a:r>
              <a:rPr lang="zh-CN" dirty="0"/>
              <a:t>A key design decision is to keep input and result separate. Input is what the Agent sent to the tool. Result is what the tool actually returned. </a:t>
            </a:r>
            <a:endParaRPr lang="en-US" altLang="zh-CN" dirty="0"/>
          </a:p>
          <a:p>
            <a:endParaRPr lang="zh-CN" dirty="0"/>
          </a:p>
          <a:p>
            <a:r>
              <a:rPr lang="zh-CN" dirty="0"/>
              <a:t>Different Agents may use SPARQL, neighbour queries, or custom functions. They can still map their actual input and result to the same common fields.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main challenge is still to define a feasible evaluation scope. Each capability can be divided into many test tasks, metrics, labels, and implementation methods. If I keep all possible ideas, the workload becomes too large for one master thesis.</a:t>
            </a:r>
          </a:p>
          <a:p>
            <a:endParaRPr lang="zh-CN" dirty="0"/>
          </a:p>
          <a:p>
            <a:r>
              <a:rPr lang="zh-CN" dirty="0"/>
              <a:t>The second challenge is selecting a dataset strategy.</a:t>
            </a:r>
          </a:p>
          <a:p>
            <a:endParaRPr lang="zh-CN" dirty="0"/>
          </a:p>
          <a:p>
            <a:r>
              <a:rPr lang="zh-CN" dirty="0"/>
              <a:t>Option A is to build a new dataset. This provides better control over question types, labels, and the industrial domain, but the cost of graph preparation, question design, annotation, and validation is high.</a:t>
            </a:r>
          </a:p>
          <a:p>
            <a:endParaRPr lang="zh-CN" dirty="0"/>
          </a:p>
          <a:p>
            <a:r>
              <a:rPr lang="zh-CN" dirty="0"/>
              <a:t>Option B is to combine existing KGQA datasets. This gives access to existing questions, answers, graphs, and </a:t>
            </a:r>
            <a:r>
              <a:rPr lang="en-US" altLang="zh-CN" dirty="0"/>
              <a:t>so on.</a:t>
            </a:r>
            <a:r>
              <a:rPr lang="zh-CN" dirty="0"/>
              <a:t> However, different datasets may use different graphs, schemas, question styles, and evaluation conditions.</a:t>
            </a:r>
          </a:p>
          <a:p>
            <a:endParaRPr lang="zh-CN" dirty="0"/>
          </a:p>
          <a:p>
            <a:r>
              <a:rPr lang="zh-CN" dirty="0"/>
              <a:t>Option C is a hybrid approach. Existing datasets can support the main evaluation, and a small supplementary dataset can cover missing requirements. The additional scope and research value of this dataset still need to be defined.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My first priority is to reduce uncertainty before starting a larger implementation.</a:t>
            </a:r>
          </a:p>
          <a:p>
            <a:endParaRPr lang="zh-CN" dirty="0"/>
          </a:p>
          <a:p>
            <a:r>
              <a:rPr lang="zh-CN" dirty="0"/>
              <a:t>First, I hope to discuss the evaluation scope with my supervisor today. I would like to identify which areas are core, which are optional, and which need deeper research.</a:t>
            </a:r>
          </a:p>
          <a:p>
            <a:endParaRPr lang="zh-CN" dirty="0"/>
          </a:p>
          <a:p>
            <a:r>
              <a:rPr lang="zh-CN" dirty="0"/>
              <a:t>Second, I will refine the evaluation framework and freeze the minimum test tasks, dataset fields, metrics, and logging requirements.</a:t>
            </a:r>
          </a:p>
          <a:p>
            <a:endParaRPr lang="zh-CN" dirty="0"/>
          </a:p>
          <a:p>
            <a:r>
              <a:rPr lang="zh-CN" dirty="0"/>
              <a:t>Third, I will analyse the existing Agent in more detail and build the first evaluation-program prototype. This includes initial metric functions and the connection to unified Agent logging.</a:t>
            </a:r>
          </a:p>
          <a:p>
            <a:endParaRPr lang="zh-CN" dirty="0"/>
          </a:p>
          <a:p>
            <a:r>
              <a:rPr lang="zh-CN" dirty="0"/>
              <a:t>Fourth, if time permits, I will run a small pilot on the existing Agent. The purpose is to check whether the selected datasets, logs, and metrics work together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 would like to finish with four questions for discussion.</a:t>
            </a:r>
          </a:p>
          <a:p>
            <a:endParaRPr lang="zh-CN" dirty="0"/>
          </a:p>
          <a:p>
            <a:r>
              <a:rPr lang="zh-CN" dirty="0"/>
              <a:t>First, how should I narrow the evaluation scope? Which parts should be simplified, removed, treated as optional, or studied in more depth?</a:t>
            </a:r>
          </a:p>
          <a:p>
            <a:endParaRPr lang="zh-CN" dirty="0"/>
          </a:p>
          <a:p>
            <a:r>
              <a:rPr lang="zh-CN" dirty="0"/>
              <a:t>Second, do you have suggestions for evaluating Graph Grounding across different Agent architectures and different answer types? This is currently the most difficult evaluation area for me to implement.</a:t>
            </a:r>
          </a:p>
          <a:p>
            <a:endParaRPr lang="zh-CN" dirty="0"/>
          </a:p>
          <a:p>
            <a:r>
              <a:rPr lang="zh-CN" dirty="0"/>
              <a:t>Third, do you suggest any changes to the initial unified Agent logging design?</a:t>
            </a:r>
          </a:p>
          <a:p>
            <a:endParaRPr lang="zh-CN" dirty="0"/>
          </a:p>
          <a:p>
            <a:r>
              <a:rPr lang="zh-CN" dirty="0"/>
              <a:t>Fourth, which dataset strategy is more suitable for this thesis: building a new dataset, combining existing KGQA datasets, or using a hybrid approach?</a:t>
            </a:r>
          </a:p>
          <a:p>
            <a:endParaRPr lang="zh-CN" dirty="0"/>
          </a:p>
          <a:p>
            <a:r>
              <a:rPr lang="zh-CN" dirty="0"/>
              <a:t>I hope today's discussion can help me leave with a clearer and feasible evaluation direction.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19" name="Group 19"/>
          <p:cNvGrpSpPr/>
          <p:nvPr/>
        </p:nvGrpSpPr>
        <p:grpSpPr>
          <a:xfrm>
            <a:off x="542925" y="2400396"/>
            <a:ext cx="11087100" cy="2057208"/>
            <a:chOff x="552450" y="1238250"/>
            <a:chExt cx="11087100" cy="2009599"/>
          </a:xfrm>
        </p:grpSpPr>
        <p:sp>
          <p:nvSpPr>
            <p:cNvPr id="13" name="Rectangle 13"/>
            <p:cNvSpPr/>
            <p:nvPr/>
          </p:nvSpPr>
          <p:spPr>
            <a:xfrm>
              <a:off x="552450" y="1238250"/>
              <a:ext cx="49054" cy="1515249"/>
            </a:xfrm>
            <a:prstGeom prst="rect">
              <a:avLst/>
            </a:prstGeom>
            <a:solidFill>
              <a:srgbClr val="009682"/>
            </a:solidFill>
            <a:ln>
              <a:noFill/>
            </a:ln>
          </p:spPr>
          <p:txBody>
            <a:bodyPr/>
            <a:lstStyle/>
            <a:p>
              <a:endParaRPr lang="zh-CN" altLang="en-US"/>
            </a:p>
          </p:txBody>
        </p:sp>
        <p:sp>
          <p:nvSpPr>
            <p:cNvPr id="14" name="TextBox 14"/>
            <p:cNvSpPr txBox="1"/>
            <p:nvPr/>
          </p:nvSpPr>
          <p:spPr>
            <a:xfrm>
              <a:off x="826770" y="1341120"/>
              <a:ext cx="4545616" cy="792480"/>
            </a:xfrm>
            <a:prstGeom prst="rect">
              <a:avLst/>
            </a:prstGeom>
            <a:noFill/>
            <a:ln>
              <a:noFill/>
            </a:ln>
          </p:spPr>
          <p:txBody>
            <a:bodyPr wrap="none" lIns="0" tIns="0" rIns="0" bIns="0" anchor="t" anchorCtr="0">
              <a:spAutoFit/>
            </a:bodyPr>
            <a:lstStyle/>
            <a:p>
              <a:pPr algn="l"/>
              <a:r>
                <a:rPr lang="zh-CN" sz="3900" dirty="0">
                  <a:solidFill>
                    <a:srgbClr val="002D4C"/>
                  </a:solidFill>
                  <a:latin typeface="Franklin Gothic Medium"/>
                  <a:ea typeface="Microsoft YaHei"/>
                  <a:cs typeface="Franklin Gothic Medium"/>
                </a:rPr>
                <a:t>Progress Update:</a:t>
              </a:r>
            </a:p>
          </p:txBody>
        </p:sp>
        <p:sp>
          <p:nvSpPr>
            <p:cNvPr id="15" name="TextBox 15"/>
            <p:cNvSpPr txBox="1"/>
            <p:nvPr/>
          </p:nvSpPr>
          <p:spPr>
            <a:xfrm>
              <a:off x="826770" y="1950720"/>
              <a:ext cx="5897785" cy="792480"/>
            </a:xfrm>
            <a:prstGeom prst="rect">
              <a:avLst/>
            </a:prstGeom>
            <a:noFill/>
            <a:ln>
              <a:noFill/>
            </a:ln>
          </p:spPr>
          <p:txBody>
            <a:bodyPr wrap="none" lIns="0" tIns="0" rIns="0" bIns="0" anchor="t" anchorCtr="0">
              <a:spAutoFit/>
            </a:bodyPr>
            <a:lstStyle/>
            <a:p>
              <a:pPr algn="l"/>
              <a:r>
                <a:rPr lang="zh-CN" sz="3900" dirty="0">
                  <a:solidFill>
                    <a:srgbClr val="002D4C"/>
                  </a:solidFill>
                  <a:latin typeface="Franklin Gothic Medium"/>
                  <a:ea typeface="Microsoft YaHei"/>
                  <a:cs typeface="Franklin Gothic Medium"/>
                </a:rPr>
                <a:t>Evaluation Design for a</a:t>
              </a:r>
            </a:p>
          </p:txBody>
        </p:sp>
        <p:sp>
          <p:nvSpPr>
            <p:cNvPr id="16" name="TextBox 16"/>
            <p:cNvSpPr txBox="1"/>
            <p:nvPr/>
          </p:nvSpPr>
          <p:spPr>
            <a:xfrm>
              <a:off x="5819775" y="1950720"/>
              <a:ext cx="5819775" cy="792480"/>
            </a:xfrm>
            <a:prstGeom prst="rect">
              <a:avLst/>
            </a:prstGeom>
            <a:noFill/>
            <a:ln>
              <a:noFill/>
            </a:ln>
          </p:spPr>
          <p:txBody>
            <a:bodyPr wrap="none" lIns="0" tIns="0" rIns="0" bIns="0" anchor="t" anchorCtr="0">
              <a:spAutoFit/>
            </a:bodyPr>
            <a:lstStyle/>
            <a:p>
              <a:pPr algn="l"/>
              <a:r>
                <a:rPr lang="zh-CN" sz="3900" dirty="0">
                  <a:solidFill>
                    <a:srgbClr val="002D4C"/>
                  </a:solidFill>
                  <a:latin typeface="Franklin Gothic Medium"/>
                  <a:ea typeface="Microsoft YaHei"/>
                  <a:cs typeface="Franklin Gothic Medium"/>
                </a:rPr>
                <a:t>Knowledge Graph Agent</a:t>
              </a:r>
            </a:p>
          </p:txBody>
        </p:sp>
        <p:sp>
          <p:nvSpPr>
            <p:cNvPr id="17" name="Line 17"/>
            <p:cNvSpPr/>
            <p:nvPr/>
          </p:nvSpPr>
          <p:spPr>
            <a:xfrm>
              <a:off x="826770" y="2661440"/>
              <a:ext cx="7124700" cy="9525"/>
            </a:xfrm>
            <a:custGeom>
              <a:avLst/>
              <a:gdLst/>
              <a:ahLst/>
              <a:cxnLst/>
              <a:rect l="l" t="t" r="r" b="b"/>
              <a:pathLst>
                <a:path w="7124700" h="9525">
                  <a:moveTo>
                    <a:pt x="0" y="0"/>
                  </a:moveTo>
                  <a:lnTo>
                    <a:pt x="7124700" y="0"/>
                  </a:lnTo>
                </a:path>
              </a:pathLst>
            </a:custGeom>
            <a:noFill/>
            <a:ln w="19050">
              <a:solidFill>
                <a:srgbClr val="DAE1E6"/>
              </a:solidFill>
            </a:ln>
          </p:spPr>
          <p:txBody>
            <a:bodyPr/>
            <a:lstStyle/>
            <a:p>
              <a:endParaRPr lang="zh-CN" altLang="en-US"/>
            </a:p>
          </p:txBody>
        </p:sp>
        <p:sp>
          <p:nvSpPr>
            <p:cNvPr id="18" name="TextBox 18"/>
            <p:cNvSpPr txBox="1"/>
            <p:nvPr/>
          </p:nvSpPr>
          <p:spPr>
            <a:xfrm>
              <a:off x="826770" y="2882089"/>
              <a:ext cx="6202489" cy="365760"/>
            </a:xfrm>
            <a:prstGeom prst="rect">
              <a:avLst/>
            </a:prstGeom>
            <a:noFill/>
            <a:ln>
              <a:noFill/>
            </a:ln>
          </p:spPr>
          <p:txBody>
            <a:bodyPr wrap="none" lIns="0" tIns="0" rIns="0" bIns="0" anchor="t" anchorCtr="0">
              <a:spAutoFit/>
            </a:bodyPr>
            <a:lstStyle/>
            <a:p>
              <a:pPr algn="l"/>
              <a:r>
                <a:rPr lang="zh-CN" sz="1800" dirty="0">
                  <a:solidFill>
                    <a:srgbClr val="526671"/>
                  </a:solidFill>
                  <a:latin typeface="Arial"/>
                  <a:ea typeface="Microsoft YaHei"/>
                  <a:cs typeface="Arial"/>
                </a:rPr>
                <a:t>Work completed, current challenges, and next steps</a:t>
              </a:r>
            </a:p>
          </p:txBody>
        </p:sp>
      </p:grpSp>
      <p:grpSp>
        <p:nvGrpSpPr>
          <p:cNvPr id="23" name="Group 23"/>
          <p:cNvGrpSpPr/>
          <p:nvPr/>
        </p:nvGrpSpPr>
        <p:grpSpPr>
          <a:xfrm>
            <a:off x="859155" y="5283518"/>
            <a:ext cx="2536698" cy="762833"/>
            <a:chOff x="859155" y="5283518"/>
            <a:chExt cx="2536698" cy="762833"/>
          </a:xfrm>
        </p:grpSpPr>
        <p:sp>
          <p:nvSpPr>
            <p:cNvPr id="20" name="TextBox 20"/>
            <p:cNvSpPr txBox="1"/>
            <p:nvPr/>
          </p:nvSpPr>
          <p:spPr>
            <a:xfrm>
              <a:off x="859155" y="5283518"/>
              <a:ext cx="1121176" cy="274320"/>
            </a:xfrm>
            <a:prstGeom prst="rect">
              <a:avLst/>
            </a:prstGeom>
            <a:noFill/>
            <a:ln>
              <a:noFill/>
            </a:ln>
          </p:spPr>
          <p:txBody>
            <a:bodyPr wrap="none" lIns="0" tIns="0" rIns="0" bIns="0" anchor="t" anchorCtr="0">
              <a:spAutoFit/>
            </a:bodyPr>
            <a:lstStyle/>
            <a:p>
              <a:pPr algn="l"/>
              <a:r>
                <a:rPr lang="zh-CN" sz="1350" b="1" dirty="0">
                  <a:solidFill>
                    <a:srgbClr val="002D4C"/>
                  </a:solidFill>
                  <a:latin typeface="Arial"/>
                  <a:ea typeface="Microsoft YaHei"/>
                  <a:cs typeface="Arial"/>
                </a:rPr>
                <a:t>Kaihao Wang</a:t>
              </a:r>
            </a:p>
          </p:txBody>
        </p:sp>
        <p:sp>
          <p:nvSpPr>
            <p:cNvPr id="21" name="TextBox 21"/>
            <p:cNvSpPr txBox="1"/>
            <p:nvPr/>
          </p:nvSpPr>
          <p:spPr>
            <a:xfrm>
              <a:off x="861060" y="5585460"/>
              <a:ext cx="2534793"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Master Thesis Progress Meeting</a:t>
              </a:r>
            </a:p>
          </p:txBody>
        </p:sp>
        <p:sp>
          <p:nvSpPr>
            <p:cNvPr id="22" name="TextBox 22"/>
            <p:cNvSpPr txBox="1"/>
            <p:nvPr/>
          </p:nvSpPr>
          <p:spPr>
            <a:xfrm>
              <a:off x="861060" y="5861685"/>
              <a:ext cx="860813" cy="184666"/>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August 2026</a:t>
              </a:r>
            </a:p>
          </p:txBody>
        </p:sp>
      </p:grpSp>
      <p:grpSp>
        <p:nvGrpSpPr>
          <p:cNvPr id="28" name="Group 28"/>
          <p:cNvGrpSpPr/>
          <p:nvPr/>
        </p:nvGrpSpPr>
        <p:grpSpPr>
          <a:xfrm>
            <a:off x="542925" y="6419850"/>
            <a:ext cx="8181975" cy="319088"/>
            <a:chOff x="542925" y="6419850"/>
            <a:chExt cx="8181975" cy="319088"/>
          </a:xfrm>
        </p:grpSpPr>
        <p:sp>
          <p:nvSpPr>
            <p:cNvPr id="24" name="Line 24"/>
            <p:cNvSpPr/>
            <p:nvPr/>
          </p:nvSpPr>
          <p:spPr>
            <a:xfrm>
              <a:off x="552450" y="6419850"/>
              <a:ext cx="8172450" cy="9525"/>
            </a:xfrm>
            <a:custGeom>
              <a:avLst/>
              <a:gdLst/>
              <a:ahLst/>
              <a:cxnLst/>
              <a:rect l="l" t="t" r="r" b="b"/>
              <a:pathLst>
                <a:path w="8172450" h="9525">
                  <a:moveTo>
                    <a:pt x="0" y="0"/>
                  </a:moveTo>
                  <a:lnTo>
                    <a:pt x="8172450" y="0"/>
                  </a:lnTo>
                </a:path>
              </a:pathLst>
            </a:custGeom>
            <a:noFill/>
            <a:ln w="9525">
              <a:solidFill>
                <a:srgbClr val="DAE1E6"/>
              </a:solidFill>
            </a:ln>
          </p:spPr>
          <p:txBody>
            <a:bodyPr/>
            <a:lstStyle/>
            <a:p>
              <a:endParaRPr lang="zh-CN" altLang="en-US"/>
            </a:p>
          </p:txBody>
        </p:sp>
        <p:sp>
          <p:nvSpPr>
            <p:cNvPr id="25" name="TextBox 25"/>
            <p:cNvSpPr txBox="1"/>
            <p:nvPr/>
          </p:nvSpPr>
          <p:spPr>
            <a:xfrm>
              <a:off x="542925" y="6586538"/>
              <a:ext cx="4905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a:t>
              </a:r>
            </a:p>
          </p:txBody>
        </p:sp>
        <p:sp>
          <p:nvSpPr>
            <p:cNvPr id="26" name="TextBox 26"/>
            <p:cNvSpPr txBox="1"/>
            <p:nvPr/>
          </p:nvSpPr>
          <p:spPr>
            <a:xfrm>
              <a:off x="866775" y="6586538"/>
              <a:ext cx="684133"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9 August 2026</a:t>
              </a:r>
            </a:p>
          </p:txBody>
        </p:sp>
        <p:sp>
          <p:nvSpPr>
            <p:cNvPr id="27" name="TextBox 27"/>
            <p:cNvSpPr txBox="1"/>
            <p:nvPr/>
          </p:nvSpPr>
          <p:spPr>
            <a:xfrm>
              <a:off x="6753225" y="6586538"/>
              <a:ext cx="1954292"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Kaihao Wang — KG Agent Progress Update</a:t>
              </a:r>
            </a:p>
          </p:txBody>
        </p:sp>
      </p:grpSp>
      <p:grpSp>
        <p:nvGrpSpPr>
          <p:cNvPr id="29" name="Gruppieren 8">
            <a:extLst>
              <a:ext uri="{FF2B5EF4-FFF2-40B4-BE49-F238E27FC236}">
                <a16:creationId xmlns:a16="http://schemas.microsoft.com/office/drawing/2014/main" id="{05156503-DE8F-B6E2-FC96-34778188D99F}"/>
              </a:ext>
            </a:extLst>
          </p:cNvPr>
          <p:cNvGrpSpPr/>
          <p:nvPr/>
        </p:nvGrpSpPr>
        <p:grpSpPr bwMode="gray">
          <a:xfrm>
            <a:off x="5198250" y="1240589"/>
            <a:ext cx="1224000" cy="439200"/>
            <a:chOff x="11189494" y="381000"/>
            <a:chExt cx="621506" cy="222941"/>
          </a:xfrm>
        </p:grpSpPr>
        <p:sp>
          <p:nvSpPr>
            <p:cNvPr id="30" name="Freihandform: Form 9">
              <a:extLst>
                <a:ext uri="{FF2B5EF4-FFF2-40B4-BE49-F238E27FC236}">
                  <a16:creationId xmlns:a16="http://schemas.microsoft.com/office/drawing/2014/main" id="{F10BAF60-06E0-DED9-4915-F8B5F725E58E}"/>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31" name="Freihandform: Form 10">
              <a:extLst>
                <a:ext uri="{FF2B5EF4-FFF2-40B4-BE49-F238E27FC236}">
                  <a16:creationId xmlns:a16="http://schemas.microsoft.com/office/drawing/2014/main" id="{53EC4E50-0CA1-EC84-6337-4918EE7BB930}"/>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rgbClr val="009682"/>
            </a:solidFill>
            <a:ln w="9525" cap="flat">
              <a:noFill/>
              <a:prstDash val="solid"/>
              <a:miter/>
            </a:ln>
          </p:spPr>
          <p:txBody>
            <a:bodyPr rtlCol="0" anchor="ctr"/>
            <a:lstStyle/>
            <a:p>
              <a:endParaRPr lang="en-US" dirty="0"/>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495300" y="400050"/>
            <a:ext cx="4895564" cy="642938"/>
            <a:chOff x="495300" y="400050"/>
            <a:chExt cx="4895564" cy="642938"/>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710565" y="410528"/>
              <a:ext cx="4519327"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Overall Research Workflow</a:t>
              </a:r>
            </a:p>
          </p:txBody>
        </p:sp>
        <p:sp>
          <p:nvSpPr>
            <p:cNvPr id="5" name="TextBox 5"/>
            <p:cNvSpPr txBox="1"/>
            <p:nvPr/>
          </p:nvSpPr>
          <p:spPr>
            <a:xfrm>
              <a:off x="729615" y="829628"/>
              <a:ext cx="4661249"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The evaluation design is validated before the final Agent comparison</a:t>
              </a:r>
            </a:p>
          </p:txBody>
        </p:sp>
      </p:grpSp>
      <p:grpSp>
        <p:nvGrpSpPr>
          <p:cNvPr id="9" name="Group 9"/>
          <p:cNvGrpSpPr/>
          <p:nvPr/>
        </p:nvGrpSpPr>
        <p:grpSpPr>
          <a:xfrm>
            <a:off x="1514475" y="2428872"/>
            <a:ext cx="9534525" cy="1494953"/>
            <a:chOff x="1514475" y="2057400"/>
            <a:chExt cx="9534525" cy="2133600"/>
          </a:xfrm>
        </p:grpSpPr>
        <p:sp>
          <p:nvSpPr>
            <p:cNvPr id="7" name="Freeform 7"/>
            <p:cNvSpPr/>
            <p:nvPr/>
          </p:nvSpPr>
          <p:spPr>
            <a:xfrm>
              <a:off x="1514475" y="2057400"/>
              <a:ext cx="9534525" cy="2133600"/>
            </a:xfrm>
            <a:custGeom>
              <a:avLst/>
              <a:gdLst/>
              <a:ahLst/>
              <a:cxnLst/>
              <a:rect l="l" t="t" r="r" b="b"/>
              <a:pathLst>
                <a:path w="9534525" h="2133600">
                  <a:moveTo>
                    <a:pt x="0" y="0"/>
                  </a:moveTo>
                  <a:lnTo>
                    <a:pt x="9105900" y="0"/>
                  </a:lnTo>
                  <a:cubicBezTo>
                    <a:pt x="9391650" y="0"/>
                    <a:pt x="9534525" y="142875"/>
                    <a:pt x="9534525" y="428625"/>
                  </a:cubicBezTo>
                  <a:lnTo>
                    <a:pt x="9534525" y="1704975"/>
                  </a:lnTo>
                  <a:cubicBezTo>
                    <a:pt x="9534525" y="1990725"/>
                    <a:pt x="9391650" y="2133600"/>
                    <a:pt x="9105900" y="2133600"/>
                  </a:cubicBezTo>
                  <a:lnTo>
                    <a:pt x="0" y="2133600"/>
                  </a:lnTo>
                </a:path>
              </a:pathLst>
            </a:custGeom>
            <a:noFill/>
            <a:ln w="114300" cap="rnd">
              <a:solidFill>
                <a:srgbClr val="DAE1E6"/>
              </a:solidFill>
            </a:ln>
          </p:spPr>
          <p:txBody>
            <a:bodyPr/>
            <a:lstStyle/>
            <a:p>
              <a:endParaRPr lang="zh-CN" altLang="en-US"/>
            </a:p>
          </p:txBody>
        </p:sp>
        <p:sp>
          <p:nvSpPr>
            <p:cNvPr id="8" name="Freeform 8"/>
            <p:cNvSpPr/>
            <p:nvPr/>
          </p:nvSpPr>
          <p:spPr>
            <a:xfrm>
              <a:off x="1514475" y="2057400"/>
              <a:ext cx="9534525" cy="2133600"/>
            </a:xfrm>
            <a:custGeom>
              <a:avLst/>
              <a:gdLst/>
              <a:ahLst/>
              <a:cxnLst/>
              <a:rect l="l" t="t" r="r" b="b"/>
              <a:pathLst>
                <a:path w="9534525" h="2133600">
                  <a:moveTo>
                    <a:pt x="0" y="0"/>
                  </a:moveTo>
                  <a:lnTo>
                    <a:pt x="9105900" y="0"/>
                  </a:lnTo>
                  <a:cubicBezTo>
                    <a:pt x="9391650" y="0"/>
                    <a:pt x="9534525" y="142875"/>
                    <a:pt x="9534525" y="428625"/>
                  </a:cubicBezTo>
                  <a:lnTo>
                    <a:pt x="9534525" y="1704975"/>
                  </a:lnTo>
                  <a:cubicBezTo>
                    <a:pt x="9534525" y="1990725"/>
                    <a:pt x="9391650" y="2133600"/>
                    <a:pt x="9105900" y="2133600"/>
                  </a:cubicBezTo>
                  <a:lnTo>
                    <a:pt x="0" y="2133600"/>
                  </a:lnTo>
                </a:path>
              </a:pathLst>
            </a:custGeom>
            <a:noFill/>
            <a:ln w="19050">
              <a:solidFill>
                <a:srgbClr val="526671"/>
              </a:solidFill>
              <a:tailEnd type="triangle" w="lg" len="lg"/>
            </a:ln>
          </p:spPr>
          <p:txBody>
            <a:bodyPr/>
            <a:lstStyle/>
            <a:p>
              <a:endParaRPr lang="zh-CN" altLang="en-US"/>
            </a:p>
          </p:txBody>
        </p:sp>
      </p:grpSp>
      <p:grpSp>
        <p:nvGrpSpPr>
          <p:cNvPr id="15" name="Group 15"/>
          <p:cNvGrpSpPr/>
          <p:nvPr/>
        </p:nvGrpSpPr>
        <p:grpSpPr>
          <a:xfrm>
            <a:off x="590550" y="1521619"/>
            <a:ext cx="1847850" cy="1143000"/>
            <a:chOff x="590550" y="1162050"/>
            <a:chExt cx="1847850" cy="1143000"/>
          </a:xfrm>
        </p:grpSpPr>
        <p:sp>
          <p:nvSpPr>
            <p:cNvPr id="10" name="Ellipse 10"/>
            <p:cNvSpPr/>
            <p:nvPr/>
          </p:nvSpPr>
          <p:spPr>
            <a:xfrm>
              <a:off x="1266825" y="1809750"/>
              <a:ext cx="495300" cy="495300"/>
            </a:xfrm>
            <a:prstGeom prst="ellipse">
              <a:avLst/>
            </a:prstGeom>
            <a:solidFill>
              <a:srgbClr val="002D4C"/>
            </a:solidFill>
            <a:ln>
              <a:noFill/>
            </a:ln>
          </p:spPr>
          <p:txBody>
            <a:bodyPr/>
            <a:lstStyle/>
            <a:p>
              <a:endParaRPr lang="zh-CN" altLang="en-US"/>
            </a:p>
          </p:txBody>
        </p:sp>
        <p:sp>
          <p:nvSpPr>
            <p:cNvPr id="11" name="TextBox 11"/>
            <p:cNvSpPr txBox="1"/>
            <p:nvPr/>
          </p:nvSpPr>
          <p:spPr>
            <a:xfrm>
              <a:off x="1474032" y="1985010"/>
              <a:ext cx="8088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2" name="Freeform 12"/>
            <p:cNvSpPr/>
            <p:nvPr/>
          </p:nvSpPr>
          <p:spPr>
            <a:xfrm>
              <a:off x="590550" y="11620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13" name="TextBox 13"/>
            <p:cNvSpPr txBox="1"/>
            <p:nvPr/>
          </p:nvSpPr>
          <p:spPr>
            <a:xfrm>
              <a:off x="976435" y="1288256"/>
              <a:ext cx="1076081"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Research Goal</a:t>
              </a:r>
            </a:p>
          </p:txBody>
        </p:sp>
        <p:sp>
          <p:nvSpPr>
            <p:cNvPr id="14" name="TextBox 14"/>
            <p:cNvSpPr txBox="1"/>
            <p:nvPr/>
          </p:nvSpPr>
          <p:spPr>
            <a:xfrm>
              <a:off x="960683" y="1478756"/>
              <a:ext cx="1107585"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and Questions</a:t>
              </a:r>
            </a:p>
          </p:txBody>
        </p:sp>
      </p:grpSp>
      <p:grpSp>
        <p:nvGrpSpPr>
          <p:cNvPr id="22" name="Group 22"/>
          <p:cNvGrpSpPr/>
          <p:nvPr/>
        </p:nvGrpSpPr>
        <p:grpSpPr>
          <a:xfrm>
            <a:off x="2876550" y="1464469"/>
            <a:ext cx="1847850" cy="1314450"/>
            <a:chOff x="2876550" y="1104900"/>
            <a:chExt cx="1847850" cy="1314450"/>
          </a:xfrm>
        </p:grpSpPr>
        <p:sp>
          <p:nvSpPr>
            <p:cNvPr id="16" name="Ellipse 16"/>
            <p:cNvSpPr/>
            <p:nvPr/>
          </p:nvSpPr>
          <p:spPr>
            <a:xfrm>
              <a:off x="3514725" y="1771650"/>
              <a:ext cx="571500" cy="571500"/>
            </a:xfrm>
            <a:prstGeom prst="ellipse">
              <a:avLst/>
            </a:prstGeom>
            <a:solidFill>
              <a:srgbClr val="009682"/>
            </a:solidFill>
            <a:ln>
              <a:noFill/>
            </a:ln>
          </p:spPr>
          <p:txBody>
            <a:bodyPr/>
            <a:lstStyle/>
            <a:p>
              <a:endParaRPr lang="zh-CN" altLang="en-US"/>
            </a:p>
          </p:txBody>
        </p:sp>
        <p:sp>
          <p:nvSpPr>
            <p:cNvPr id="17" name="Ellipse 17"/>
            <p:cNvSpPr/>
            <p:nvPr/>
          </p:nvSpPr>
          <p:spPr>
            <a:xfrm>
              <a:off x="3438525" y="1695450"/>
              <a:ext cx="723900" cy="723900"/>
            </a:xfrm>
            <a:prstGeom prst="ellipse">
              <a:avLst/>
            </a:prstGeom>
            <a:noFill/>
            <a:ln w="19050">
              <a:solidFill>
                <a:srgbClr val="009682"/>
              </a:solidFill>
            </a:ln>
          </p:spPr>
          <p:txBody>
            <a:bodyPr/>
            <a:lstStyle/>
            <a:p>
              <a:endParaRPr lang="zh-CN" altLang="en-US"/>
            </a:p>
          </p:txBody>
        </p:sp>
        <p:sp>
          <p:nvSpPr>
            <p:cNvPr id="18" name="TextBox 18"/>
            <p:cNvSpPr txBox="1"/>
            <p:nvPr/>
          </p:nvSpPr>
          <p:spPr>
            <a:xfrm>
              <a:off x="3739029" y="19850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19" name="Freeform 19"/>
            <p:cNvSpPr/>
            <p:nvPr/>
          </p:nvSpPr>
          <p:spPr>
            <a:xfrm>
              <a:off x="2876550" y="1104900"/>
              <a:ext cx="1847850" cy="666750"/>
            </a:xfrm>
            <a:custGeom>
              <a:avLst/>
              <a:gdLst/>
              <a:ahLst/>
              <a:cxnLst/>
              <a:rect l="l" t="t" r="r" b="b"/>
              <a:pathLst>
                <a:path w="1847850" h="666750">
                  <a:moveTo>
                    <a:pt x="76200" y="0"/>
                  </a:moveTo>
                  <a:lnTo>
                    <a:pt x="1771650" y="0"/>
                  </a:lnTo>
                  <a:cubicBezTo>
                    <a:pt x="1813734" y="0"/>
                    <a:pt x="1847850" y="34116"/>
                    <a:pt x="1847850" y="76200"/>
                  </a:cubicBezTo>
                  <a:lnTo>
                    <a:pt x="1847850" y="590550"/>
                  </a:lnTo>
                  <a:cubicBezTo>
                    <a:pt x="1847850" y="632634"/>
                    <a:pt x="1813734" y="666750"/>
                    <a:pt x="1771650" y="666750"/>
                  </a:cubicBezTo>
                  <a:lnTo>
                    <a:pt x="76200" y="666750"/>
                  </a:lnTo>
                  <a:cubicBezTo>
                    <a:pt x="34116" y="666750"/>
                    <a:pt x="0" y="632634"/>
                    <a:pt x="0" y="590550"/>
                  </a:cubicBezTo>
                  <a:lnTo>
                    <a:pt x="0" y="76200"/>
                  </a:lnTo>
                  <a:cubicBezTo>
                    <a:pt x="0" y="34116"/>
                    <a:pt x="34116" y="0"/>
                    <a:pt x="76200" y="0"/>
                  </a:cubicBezTo>
                  <a:close/>
                </a:path>
              </a:pathLst>
            </a:custGeom>
            <a:solidFill>
              <a:srgbClr val="009682">
                <a:alpha val="10000"/>
              </a:srgbClr>
            </a:solidFill>
            <a:ln w="14288">
              <a:solidFill>
                <a:srgbClr val="009682"/>
              </a:solidFill>
            </a:ln>
          </p:spPr>
          <p:txBody>
            <a:bodyPr/>
            <a:lstStyle/>
            <a:p>
              <a:endParaRPr lang="zh-CN" altLang="en-US"/>
            </a:p>
          </p:txBody>
        </p:sp>
        <p:sp>
          <p:nvSpPr>
            <p:cNvPr id="20" name="TextBox 20"/>
            <p:cNvSpPr txBox="1"/>
            <p:nvPr/>
          </p:nvSpPr>
          <p:spPr>
            <a:xfrm>
              <a:off x="3144295" y="1240631"/>
              <a:ext cx="1312360" cy="228600"/>
            </a:xfrm>
            <a:prstGeom prst="rect">
              <a:avLst/>
            </a:prstGeom>
            <a:noFill/>
            <a:ln>
              <a:noFill/>
            </a:ln>
          </p:spPr>
          <p:txBody>
            <a:bodyPr wrap="none" lIns="0" tIns="0" rIns="0" bIns="0" anchor="t" anchorCtr="0">
              <a:spAutoFit/>
            </a:bodyPr>
            <a:lstStyle/>
            <a:p>
              <a:pPr algn="ctr"/>
              <a:r>
                <a:rPr lang="zh-CN" sz="1125" b="1" dirty="0">
                  <a:solidFill>
                    <a:srgbClr val="005A50"/>
                  </a:solidFill>
                  <a:latin typeface="Arial"/>
                  <a:ea typeface="Microsoft YaHei"/>
                  <a:cs typeface="Arial"/>
                </a:rPr>
                <a:t>Initial Evaluation</a:t>
              </a:r>
            </a:p>
          </p:txBody>
        </p:sp>
        <p:sp>
          <p:nvSpPr>
            <p:cNvPr id="21" name="TextBox 21"/>
            <p:cNvSpPr txBox="1"/>
            <p:nvPr/>
          </p:nvSpPr>
          <p:spPr>
            <a:xfrm>
              <a:off x="3364822" y="1431131"/>
              <a:ext cx="871305" cy="228600"/>
            </a:xfrm>
            <a:prstGeom prst="rect">
              <a:avLst/>
            </a:prstGeom>
            <a:noFill/>
            <a:ln>
              <a:noFill/>
            </a:ln>
          </p:spPr>
          <p:txBody>
            <a:bodyPr wrap="none" lIns="0" tIns="0" rIns="0" bIns="0" anchor="t" anchorCtr="0">
              <a:spAutoFit/>
            </a:bodyPr>
            <a:lstStyle/>
            <a:p>
              <a:pPr algn="ctr"/>
              <a:r>
                <a:rPr lang="zh-CN" sz="1125" b="1" dirty="0">
                  <a:solidFill>
                    <a:srgbClr val="005A50"/>
                  </a:solidFill>
                  <a:latin typeface="Arial"/>
                  <a:ea typeface="Microsoft YaHei"/>
                  <a:cs typeface="Arial"/>
                </a:rPr>
                <a:t>Framework</a:t>
              </a:r>
            </a:p>
          </p:txBody>
        </p:sp>
      </p:grpSp>
      <p:grpSp>
        <p:nvGrpSpPr>
          <p:cNvPr id="29" name="Group 29"/>
          <p:cNvGrpSpPr/>
          <p:nvPr/>
        </p:nvGrpSpPr>
        <p:grpSpPr>
          <a:xfrm>
            <a:off x="5162550" y="1464469"/>
            <a:ext cx="1847850" cy="1314450"/>
            <a:chOff x="5162550" y="1104900"/>
            <a:chExt cx="1847850" cy="1314450"/>
          </a:xfrm>
        </p:grpSpPr>
        <p:sp>
          <p:nvSpPr>
            <p:cNvPr id="23" name="Ellipse 23"/>
            <p:cNvSpPr/>
            <p:nvPr/>
          </p:nvSpPr>
          <p:spPr>
            <a:xfrm>
              <a:off x="5800725" y="1771650"/>
              <a:ext cx="571500" cy="571500"/>
            </a:xfrm>
            <a:prstGeom prst="ellipse">
              <a:avLst/>
            </a:prstGeom>
            <a:solidFill>
              <a:srgbClr val="009682"/>
            </a:solidFill>
            <a:ln>
              <a:noFill/>
            </a:ln>
          </p:spPr>
          <p:txBody>
            <a:bodyPr/>
            <a:lstStyle/>
            <a:p>
              <a:endParaRPr lang="zh-CN" altLang="en-US"/>
            </a:p>
          </p:txBody>
        </p:sp>
        <p:sp>
          <p:nvSpPr>
            <p:cNvPr id="24" name="Ellipse 24"/>
            <p:cNvSpPr/>
            <p:nvPr/>
          </p:nvSpPr>
          <p:spPr>
            <a:xfrm>
              <a:off x="5724525" y="1695450"/>
              <a:ext cx="723900" cy="723900"/>
            </a:xfrm>
            <a:prstGeom prst="ellipse">
              <a:avLst/>
            </a:prstGeom>
            <a:noFill/>
            <a:ln w="19050">
              <a:solidFill>
                <a:srgbClr val="009682"/>
              </a:solidFill>
            </a:ln>
          </p:spPr>
          <p:txBody>
            <a:bodyPr/>
            <a:lstStyle/>
            <a:p>
              <a:endParaRPr lang="zh-CN" altLang="en-US"/>
            </a:p>
          </p:txBody>
        </p:sp>
        <p:sp>
          <p:nvSpPr>
            <p:cNvPr id="25" name="TextBox 25"/>
            <p:cNvSpPr txBox="1"/>
            <p:nvPr/>
          </p:nvSpPr>
          <p:spPr>
            <a:xfrm>
              <a:off x="6025029" y="19850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26" name="Freeform 26"/>
            <p:cNvSpPr/>
            <p:nvPr/>
          </p:nvSpPr>
          <p:spPr>
            <a:xfrm>
              <a:off x="5162550" y="1104900"/>
              <a:ext cx="1847850" cy="666750"/>
            </a:xfrm>
            <a:custGeom>
              <a:avLst/>
              <a:gdLst/>
              <a:ahLst/>
              <a:cxnLst/>
              <a:rect l="l" t="t" r="r" b="b"/>
              <a:pathLst>
                <a:path w="1847850" h="666750">
                  <a:moveTo>
                    <a:pt x="76200" y="0"/>
                  </a:moveTo>
                  <a:lnTo>
                    <a:pt x="1771650" y="0"/>
                  </a:lnTo>
                  <a:cubicBezTo>
                    <a:pt x="1813734" y="0"/>
                    <a:pt x="1847850" y="34116"/>
                    <a:pt x="1847850" y="76200"/>
                  </a:cubicBezTo>
                  <a:lnTo>
                    <a:pt x="1847850" y="590550"/>
                  </a:lnTo>
                  <a:cubicBezTo>
                    <a:pt x="1847850" y="632634"/>
                    <a:pt x="1813734" y="666750"/>
                    <a:pt x="1771650" y="666750"/>
                  </a:cubicBezTo>
                  <a:lnTo>
                    <a:pt x="76200" y="666750"/>
                  </a:lnTo>
                  <a:cubicBezTo>
                    <a:pt x="34116" y="666750"/>
                    <a:pt x="0" y="632634"/>
                    <a:pt x="0" y="590550"/>
                  </a:cubicBezTo>
                  <a:lnTo>
                    <a:pt x="0" y="76200"/>
                  </a:lnTo>
                  <a:cubicBezTo>
                    <a:pt x="0" y="34116"/>
                    <a:pt x="34116" y="0"/>
                    <a:pt x="76200" y="0"/>
                  </a:cubicBezTo>
                  <a:close/>
                </a:path>
              </a:pathLst>
            </a:custGeom>
            <a:solidFill>
              <a:srgbClr val="009682">
                <a:alpha val="10000"/>
              </a:srgbClr>
            </a:solidFill>
            <a:ln w="14288">
              <a:solidFill>
                <a:srgbClr val="009682"/>
              </a:solidFill>
            </a:ln>
          </p:spPr>
          <p:txBody>
            <a:bodyPr/>
            <a:lstStyle/>
            <a:p>
              <a:endParaRPr lang="zh-CN" altLang="en-US"/>
            </a:p>
          </p:txBody>
        </p:sp>
        <p:sp>
          <p:nvSpPr>
            <p:cNvPr id="27" name="TextBox 27"/>
            <p:cNvSpPr txBox="1"/>
            <p:nvPr/>
          </p:nvSpPr>
          <p:spPr>
            <a:xfrm>
              <a:off x="5296403" y="1240631"/>
              <a:ext cx="1580144" cy="228600"/>
            </a:xfrm>
            <a:prstGeom prst="rect">
              <a:avLst/>
            </a:prstGeom>
            <a:noFill/>
            <a:ln>
              <a:noFill/>
            </a:ln>
          </p:spPr>
          <p:txBody>
            <a:bodyPr wrap="none" lIns="0" tIns="0" rIns="0" bIns="0" anchor="t" anchorCtr="0">
              <a:spAutoFit/>
            </a:bodyPr>
            <a:lstStyle/>
            <a:p>
              <a:pPr algn="ctr"/>
              <a:r>
                <a:rPr lang="zh-CN" sz="1125" b="1" dirty="0">
                  <a:solidFill>
                    <a:srgbClr val="005A50"/>
                  </a:solidFill>
                  <a:latin typeface="Arial"/>
                  <a:ea typeface="Microsoft YaHei"/>
                  <a:cs typeface="Arial"/>
                </a:rPr>
                <a:t>Dataset Assessment</a:t>
              </a:r>
            </a:p>
          </p:txBody>
        </p:sp>
        <p:sp>
          <p:nvSpPr>
            <p:cNvPr id="28" name="TextBox 28"/>
            <p:cNvSpPr txBox="1"/>
            <p:nvPr/>
          </p:nvSpPr>
          <p:spPr>
            <a:xfrm>
              <a:off x="5568124" y="1431131"/>
              <a:ext cx="1036701" cy="228600"/>
            </a:xfrm>
            <a:prstGeom prst="rect">
              <a:avLst/>
            </a:prstGeom>
            <a:noFill/>
            <a:ln>
              <a:noFill/>
            </a:ln>
          </p:spPr>
          <p:txBody>
            <a:bodyPr wrap="none" lIns="0" tIns="0" rIns="0" bIns="0" anchor="t" anchorCtr="0">
              <a:spAutoFit/>
            </a:bodyPr>
            <a:lstStyle/>
            <a:p>
              <a:pPr algn="ctr"/>
              <a:r>
                <a:rPr lang="zh-CN" sz="1125" b="1" dirty="0">
                  <a:solidFill>
                    <a:srgbClr val="005A50"/>
                  </a:solidFill>
                  <a:latin typeface="Arial"/>
                  <a:ea typeface="Microsoft YaHei"/>
                  <a:cs typeface="Arial"/>
                </a:rPr>
                <a:t>and Selection</a:t>
              </a:r>
            </a:p>
          </p:txBody>
        </p:sp>
      </p:grpSp>
      <p:grpSp>
        <p:nvGrpSpPr>
          <p:cNvPr id="35" name="Group 35"/>
          <p:cNvGrpSpPr/>
          <p:nvPr/>
        </p:nvGrpSpPr>
        <p:grpSpPr>
          <a:xfrm>
            <a:off x="7448550" y="1521619"/>
            <a:ext cx="1847850" cy="1143000"/>
            <a:chOff x="7448550" y="1162050"/>
            <a:chExt cx="1847850" cy="1143000"/>
          </a:xfrm>
        </p:grpSpPr>
        <p:sp>
          <p:nvSpPr>
            <p:cNvPr id="30" name="Ellipse 30"/>
            <p:cNvSpPr/>
            <p:nvPr/>
          </p:nvSpPr>
          <p:spPr>
            <a:xfrm>
              <a:off x="8124825" y="1809750"/>
              <a:ext cx="495300" cy="495300"/>
            </a:xfrm>
            <a:prstGeom prst="ellipse">
              <a:avLst/>
            </a:prstGeom>
            <a:solidFill>
              <a:srgbClr val="0C537E"/>
            </a:solidFill>
            <a:ln>
              <a:noFill/>
            </a:ln>
          </p:spPr>
          <p:txBody>
            <a:bodyPr/>
            <a:lstStyle/>
            <a:p>
              <a:endParaRPr lang="zh-CN" altLang="en-US"/>
            </a:p>
          </p:txBody>
        </p:sp>
        <p:sp>
          <p:nvSpPr>
            <p:cNvPr id="31" name="TextBox 31"/>
            <p:cNvSpPr txBox="1"/>
            <p:nvPr/>
          </p:nvSpPr>
          <p:spPr>
            <a:xfrm>
              <a:off x="8311029" y="19850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32" name="Freeform 32"/>
            <p:cNvSpPr/>
            <p:nvPr/>
          </p:nvSpPr>
          <p:spPr>
            <a:xfrm>
              <a:off x="7448550" y="11620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33" name="TextBox 33"/>
            <p:cNvSpPr txBox="1"/>
            <p:nvPr/>
          </p:nvSpPr>
          <p:spPr>
            <a:xfrm>
              <a:off x="7810807" y="1288256"/>
              <a:ext cx="1123337"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Existing Agent</a:t>
              </a:r>
            </a:p>
          </p:txBody>
        </p:sp>
        <p:sp>
          <p:nvSpPr>
            <p:cNvPr id="34" name="TextBox 34"/>
            <p:cNvSpPr txBox="1"/>
            <p:nvPr/>
          </p:nvSpPr>
          <p:spPr>
            <a:xfrm>
              <a:off x="8051024" y="1478756"/>
              <a:ext cx="64290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Analysis</a:t>
              </a:r>
            </a:p>
          </p:txBody>
        </p:sp>
      </p:grpSp>
      <p:grpSp>
        <p:nvGrpSpPr>
          <p:cNvPr id="41" name="Group 41"/>
          <p:cNvGrpSpPr/>
          <p:nvPr/>
        </p:nvGrpSpPr>
        <p:grpSpPr>
          <a:xfrm>
            <a:off x="9734550" y="1521619"/>
            <a:ext cx="1847850" cy="1143000"/>
            <a:chOff x="9734550" y="1162050"/>
            <a:chExt cx="1847850" cy="1143000"/>
          </a:xfrm>
        </p:grpSpPr>
        <p:sp>
          <p:nvSpPr>
            <p:cNvPr id="36" name="Ellipse 36"/>
            <p:cNvSpPr/>
            <p:nvPr/>
          </p:nvSpPr>
          <p:spPr>
            <a:xfrm>
              <a:off x="10410825" y="1809750"/>
              <a:ext cx="495300" cy="495300"/>
            </a:xfrm>
            <a:prstGeom prst="ellipse">
              <a:avLst/>
            </a:prstGeom>
            <a:solidFill>
              <a:srgbClr val="0C537E"/>
            </a:solidFill>
            <a:ln>
              <a:noFill/>
            </a:ln>
          </p:spPr>
          <p:txBody>
            <a:bodyPr/>
            <a:lstStyle/>
            <a:p>
              <a:endParaRPr lang="zh-CN" altLang="en-US"/>
            </a:p>
          </p:txBody>
        </p:sp>
        <p:sp>
          <p:nvSpPr>
            <p:cNvPr id="37" name="TextBox 37"/>
            <p:cNvSpPr txBox="1"/>
            <p:nvPr/>
          </p:nvSpPr>
          <p:spPr>
            <a:xfrm>
              <a:off x="10597029" y="19850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5</a:t>
              </a:r>
            </a:p>
          </p:txBody>
        </p:sp>
        <p:sp>
          <p:nvSpPr>
            <p:cNvPr id="38" name="Freeform 38"/>
            <p:cNvSpPr/>
            <p:nvPr/>
          </p:nvSpPr>
          <p:spPr>
            <a:xfrm>
              <a:off x="9734550" y="11620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39" name="TextBox 39"/>
            <p:cNvSpPr txBox="1"/>
            <p:nvPr/>
          </p:nvSpPr>
          <p:spPr>
            <a:xfrm>
              <a:off x="9891671" y="1229678"/>
              <a:ext cx="1533608"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Evaluation Prototype</a:t>
              </a:r>
            </a:p>
          </p:txBody>
        </p:sp>
        <p:sp>
          <p:nvSpPr>
            <p:cNvPr id="40" name="TextBox 40"/>
            <p:cNvSpPr txBox="1"/>
            <p:nvPr/>
          </p:nvSpPr>
          <p:spPr>
            <a:xfrm>
              <a:off x="9968855" y="1401128"/>
              <a:ext cx="1379239"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and Unified Logging</a:t>
              </a:r>
            </a:p>
          </p:txBody>
        </p:sp>
      </p:grpSp>
      <p:grpSp>
        <p:nvGrpSpPr>
          <p:cNvPr id="47" name="Group 47"/>
          <p:cNvGrpSpPr/>
          <p:nvPr/>
        </p:nvGrpSpPr>
        <p:grpSpPr>
          <a:xfrm>
            <a:off x="9734550" y="3645219"/>
            <a:ext cx="1847850" cy="1143000"/>
            <a:chOff x="9734550" y="3943350"/>
            <a:chExt cx="1847850" cy="1143000"/>
          </a:xfrm>
        </p:grpSpPr>
        <p:sp>
          <p:nvSpPr>
            <p:cNvPr id="42" name="Ellipse 42"/>
            <p:cNvSpPr/>
            <p:nvPr/>
          </p:nvSpPr>
          <p:spPr>
            <a:xfrm>
              <a:off x="10410825" y="3943350"/>
              <a:ext cx="495300" cy="495300"/>
            </a:xfrm>
            <a:prstGeom prst="ellipse">
              <a:avLst/>
            </a:prstGeom>
            <a:solidFill>
              <a:srgbClr val="0C537E"/>
            </a:solidFill>
            <a:ln>
              <a:noFill/>
            </a:ln>
          </p:spPr>
          <p:txBody>
            <a:bodyPr/>
            <a:lstStyle/>
            <a:p>
              <a:endParaRPr lang="zh-CN" altLang="en-US"/>
            </a:p>
          </p:txBody>
        </p:sp>
        <p:sp>
          <p:nvSpPr>
            <p:cNvPr id="43" name="TextBox 43"/>
            <p:cNvSpPr txBox="1"/>
            <p:nvPr/>
          </p:nvSpPr>
          <p:spPr>
            <a:xfrm>
              <a:off x="10597029" y="41186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6</a:t>
              </a:r>
            </a:p>
          </p:txBody>
        </p:sp>
        <p:sp>
          <p:nvSpPr>
            <p:cNvPr id="44" name="Freeform 44"/>
            <p:cNvSpPr/>
            <p:nvPr/>
          </p:nvSpPr>
          <p:spPr>
            <a:xfrm>
              <a:off x="9734550" y="44767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45" name="TextBox 45"/>
            <p:cNvSpPr txBox="1"/>
            <p:nvPr/>
          </p:nvSpPr>
          <p:spPr>
            <a:xfrm>
              <a:off x="10120435" y="4602956"/>
              <a:ext cx="1076081"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Pilot with the</a:t>
              </a:r>
            </a:p>
          </p:txBody>
        </p:sp>
        <p:sp>
          <p:nvSpPr>
            <p:cNvPr id="46" name="TextBox 46"/>
            <p:cNvSpPr txBox="1"/>
            <p:nvPr/>
          </p:nvSpPr>
          <p:spPr>
            <a:xfrm>
              <a:off x="10096807" y="4793456"/>
              <a:ext cx="1123337"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Existing Agent</a:t>
              </a:r>
            </a:p>
          </p:txBody>
        </p:sp>
      </p:grpSp>
      <p:grpSp>
        <p:nvGrpSpPr>
          <p:cNvPr id="53" name="Group 53"/>
          <p:cNvGrpSpPr/>
          <p:nvPr/>
        </p:nvGrpSpPr>
        <p:grpSpPr>
          <a:xfrm>
            <a:off x="7448550" y="3645219"/>
            <a:ext cx="1847850" cy="1143000"/>
            <a:chOff x="7448550" y="3943350"/>
            <a:chExt cx="1847850" cy="1143000"/>
          </a:xfrm>
        </p:grpSpPr>
        <p:sp>
          <p:nvSpPr>
            <p:cNvPr id="48" name="Ellipse 48"/>
            <p:cNvSpPr/>
            <p:nvPr/>
          </p:nvSpPr>
          <p:spPr>
            <a:xfrm>
              <a:off x="8124825" y="3943350"/>
              <a:ext cx="495300" cy="495300"/>
            </a:xfrm>
            <a:prstGeom prst="ellipse">
              <a:avLst/>
            </a:prstGeom>
            <a:solidFill>
              <a:srgbClr val="0C537E"/>
            </a:solidFill>
            <a:ln>
              <a:noFill/>
            </a:ln>
          </p:spPr>
          <p:txBody>
            <a:bodyPr/>
            <a:lstStyle/>
            <a:p>
              <a:endParaRPr lang="zh-CN" altLang="en-US"/>
            </a:p>
          </p:txBody>
        </p:sp>
        <p:sp>
          <p:nvSpPr>
            <p:cNvPr id="49" name="TextBox 49"/>
            <p:cNvSpPr txBox="1"/>
            <p:nvPr/>
          </p:nvSpPr>
          <p:spPr>
            <a:xfrm>
              <a:off x="8311029" y="41186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7</a:t>
              </a:r>
            </a:p>
          </p:txBody>
        </p:sp>
        <p:sp>
          <p:nvSpPr>
            <p:cNvPr id="50" name="Freeform 50"/>
            <p:cNvSpPr/>
            <p:nvPr/>
          </p:nvSpPr>
          <p:spPr>
            <a:xfrm>
              <a:off x="7448550" y="44767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51" name="TextBox 51"/>
            <p:cNvSpPr txBox="1"/>
            <p:nvPr/>
          </p:nvSpPr>
          <p:spPr>
            <a:xfrm>
              <a:off x="7700543" y="4602956"/>
              <a:ext cx="1343864"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Refine Evaluation</a:t>
              </a:r>
            </a:p>
          </p:txBody>
        </p:sp>
        <p:sp>
          <p:nvSpPr>
            <p:cNvPr id="52" name="TextBox 52"/>
            <p:cNvSpPr txBox="1"/>
            <p:nvPr/>
          </p:nvSpPr>
          <p:spPr>
            <a:xfrm>
              <a:off x="8117970" y="4793456"/>
              <a:ext cx="509010"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Design</a:t>
              </a:r>
            </a:p>
          </p:txBody>
        </p:sp>
      </p:grpSp>
      <p:grpSp>
        <p:nvGrpSpPr>
          <p:cNvPr id="59" name="Group 59"/>
          <p:cNvGrpSpPr/>
          <p:nvPr/>
        </p:nvGrpSpPr>
        <p:grpSpPr>
          <a:xfrm>
            <a:off x="5162550" y="3645219"/>
            <a:ext cx="1847850" cy="1143000"/>
            <a:chOff x="5162550" y="3943350"/>
            <a:chExt cx="1847850" cy="1143000"/>
          </a:xfrm>
        </p:grpSpPr>
        <p:sp>
          <p:nvSpPr>
            <p:cNvPr id="54" name="Ellipse 54"/>
            <p:cNvSpPr/>
            <p:nvPr/>
          </p:nvSpPr>
          <p:spPr>
            <a:xfrm>
              <a:off x="5838825" y="3943350"/>
              <a:ext cx="495300" cy="495300"/>
            </a:xfrm>
            <a:prstGeom prst="ellipse">
              <a:avLst/>
            </a:prstGeom>
            <a:solidFill>
              <a:srgbClr val="0C537E"/>
            </a:solidFill>
            <a:ln>
              <a:noFill/>
            </a:ln>
          </p:spPr>
          <p:txBody>
            <a:bodyPr/>
            <a:lstStyle/>
            <a:p>
              <a:endParaRPr lang="zh-CN" altLang="en-US"/>
            </a:p>
          </p:txBody>
        </p:sp>
        <p:sp>
          <p:nvSpPr>
            <p:cNvPr id="55" name="TextBox 55"/>
            <p:cNvSpPr txBox="1"/>
            <p:nvPr/>
          </p:nvSpPr>
          <p:spPr>
            <a:xfrm>
              <a:off x="6025029" y="41186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8</a:t>
              </a:r>
            </a:p>
          </p:txBody>
        </p:sp>
        <p:sp>
          <p:nvSpPr>
            <p:cNvPr id="56" name="Freeform 56"/>
            <p:cNvSpPr/>
            <p:nvPr/>
          </p:nvSpPr>
          <p:spPr>
            <a:xfrm>
              <a:off x="5162550" y="44767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57" name="TextBox 57"/>
            <p:cNvSpPr txBox="1"/>
            <p:nvPr/>
          </p:nvSpPr>
          <p:spPr>
            <a:xfrm>
              <a:off x="5489365" y="4602956"/>
              <a:ext cx="1194221"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Improved Agent</a:t>
              </a:r>
            </a:p>
          </p:txBody>
        </p:sp>
        <p:sp>
          <p:nvSpPr>
            <p:cNvPr id="58" name="TextBox 58"/>
            <p:cNvSpPr txBox="1"/>
            <p:nvPr/>
          </p:nvSpPr>
          <p:spPr>
            <a:xfrm>
              <a:off x="5831970" y="4793456"/>
              <a:ext cx="509010"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Design</a:t>
              </a:r>
            </a:p>
          </p:txBody>
        </p:sp>
      </p:grpSp>
      <p:grpSp>
        <p:nvGrpSpPr>
          <p:cNvPr id="65" name="Group 65"/>
          <p:cNvGrpSpPr/>
          <p:nvPr/>
        </p:nvGrpSpPr>
        <p:grpSpPr>
          <a:xfrm>
            <a:off x="2876550" y="3645219"/>
            <a:ext cx="1847850" cy="1143000"/>
            <a:chOff x="2876550" y="3943350"/>
            <a:chExt cx="1847850" cy="1143000"/>
          </a:xfrm>
        </p:grpSpPr>
        <p:sp>
          <p:nvSpPr>
            <p:cNvPr id="60" name="Ellipse 60"/>
            <p:cNvSpPr/>
            <p:nvPr/>
          </p:nvSpPr>
          <p:spPr>
            <a:xfrm>
              <a:off x="3552825" y="3943350"/>
              <a:ext cx="495300" cy="495300"/>
            </a:xfrm>
            <a:prstGeom prst="ellipse">
              <a:avLst/>
            </a:prstGeom>
            <a:solidFill>
              <a:srgbClr val="0C537E"/>
            </a:solidFill>
            <a:ln>
              <a:noFill/>
            </a:ln>
          </p:spPr>
          <p:txBody>
            <a:bodyPr/>
            <a:lstStyle/>
            <a:p>
              <a:endParaRPr lang="zh-CN" altLang="en-US"/>
            </a:p>
          </p:txBody>
        </p:sp>
        <p:sp>
          <p:nvSpPr>
            <p:cNvPr id="61" name="TextBox 61"/>
            <p:cNvSpPr txBox="1"/>
            <p:nvPr/>
          </p:nvSpPr>
          <p:spPr>
            <a:xfrm>
              <a:off x="3739029" y="4118610"/>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9</a:t>
              </a:r>
            </a:p>
          </p:txBody>
        </p:sp>
        <p:sp>
          <p:nvSpPr>
            <p:cNvPr id="62" name="Freeform 62"/>
            <p:cNvSpPr/>
            <p:nvPr/>
          </p:nvSpPr>
          <p:spPr>
            <a:xfrm>
              <a:off x="2876550" y="44767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63" name="TextBox 63"/>
            <p:cNvSpPr txBox="1"/>
            <p:nvPr/>
          </p:nvSpPr>
          <p:spPr>
            <a:xfrm>
              <a:off x="3177014" y="4544378"/>
              <a:ext cx="1246923"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Validate with the</a:t>
              </a:r>
            </a:p>
          </p:txBody>
        </p:sp>
        <p:sp>
          <p:nvSpPr>
            <p:cNvPr id="64" name="TextBox 64"/>
            <p:cNvSpPr txBox="1"/>
            <p:nvPr/>
          </p:nvSpPr>
          <p:spPr>
            <a:xfrm>
              <a:off x="3243172" y="4715828"/>
              <a:ext cx="1114606"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Improved Agent</a:t>
              </a:r>
            </a:p>
          </p:txBody>
        </p:sp>
      </p:grpSp>
      <p:grpSp>
        <p:nvGrpSpPr>
          <p:cNvPr id="71" name="Group 71"/>
          <p:cNvGrpSpPr/>
          <p:nvPr/>
        </p:nvGrpSpPr>
        <p:grpSpPr>
          <a:xfrm>
            <a:off x="590550" y="3645219"/>
            <a:ext cx="1847850" cy="1143000"/>
            <a:chOff x="590550" y="3943350"/>
            <a:chExt cx="1847850" cy="1143000"/>
          </a:xfrm>
        </p:grpSpPr>
        <p:sp>
          <p:nvSpPr>
            <p:cNvPr id="66" name="Ellipse 66"/>
            <p:cNvSpPr/>
            <p:nvPr/>
          </p:nvSpPr>
          <p:spPr>
            <a:xfrm>
              <a:off x="1266825" y="3943350"/>
              <a:ext cx="495300" cy="495300"/>
            </a:xfrm>
            <a:prstGeom prst="ellipse">
              <a:avLst/>
            </a:prstGeom>
            <a:solidFill>
              <a:srgbClr val="002D4C"/>
            </a:solidFill>
            <a:ln>
              <a:noFill/>
            </a:ln>
          </p:spPr>
          <p:txBody>
            <a:bodyPr/>
            <a:lstStyle/>
            <a:p>
              <a:endParaRPr lang="zh-CN" altLang="en-US"/>
            </a:p>
          </p:txBody>
        </p:sp>
        <p:sp>
          <p:nvSpPr>
            <p:cNvPr id="67" name="TextBox 67"/>
            <p:cNvSpPr txBox="1"/>
            <p:nvPr/>
          </p:nvSpPr>
          <p:spPr>
            <a:xfrm>
              <a:off x="1427826" y="4118610"/>
              <a:ext cx="17329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10</a:t>
              </a:r>
            </a:p>
          </p:txBody>
        </p:sp>
        <p:sp>
          <p:nvSpPr>
            <p:cNvPr id="68" name="Freeform 68"/>
            <p:cNvSpPr/>
            <p:nvPr/>
          </p:nvSpPr>
          <p:spPr>
            <a:xfrm>
              <a:off x="590550" y="4476750"/>
              <a:ext cx="1847850" cy="609600"/>
            </a:xfrm>
            <a:custGeom>
              <a:avLst/>
              <a:gdLst/>
              <a:ahLst/>
              <a:cxnLst/>
              <a:rect l="l" t="t" r="r" b="b"/>
              <a:pathLst>
                <a:path w="1847850" h="609600">
                  <a:moveTo>
                    <a:pt x="76200" y="0"/>
                  </a:moveTo>
                  <a:lnTo>
                    <a:pt x="1771650" y="0"/>
                  </a:lnTo>
                  <a:cubicBezTo>
                    <a:pt x="1813734" y="0"/>
                    <a:pt x="1847850" y="34116"/>
                    <a:pt x="1847850" y="76200"/>
                  </a:cubicBezTo>
                  <a:lnTo>
                    <a:pt x="1847850" y="533400"/>
                  </a:lnTo>
                  <a:cubicBezTo>
                    <a:pt x="1847850" y="575484"/>
                    <a:pt x="1813734" y="609600"/>
                    <a:pt x="1771650" y="609600"/>
                  </a:cubicBezTo>
                  <a:lnTo>
                    <a:pt x="76200" y="609600"/>
                  </a:lnTo>
                  <a:cubicBezTo>
                    <a:pt x="34116" y="609600"/>
                    <a:pt x="0" y="575484"/>
                    <a:pt x="0" y="533400"/>
                  </a:cubicBezTo>
                  <a:lnTo>
                    <a:pt x="0" y="76200"/>
                  </a:lnTo>
                  <a:cubicBezTo>
                    <a:pt x="0" y="34116"/>
                    <a:pt x="34116" y="0"/>
                    <a:pt x="76200" y="0"/>
                  </a:cubicBezTo>
                  <a:close/>
                </a:path>
              </a:pathLst>
            </a:custGeom>
            <a:solidFill>
              <a:srgbClr val="F4F7F8"/>
            </a:solidFill>
            <a:ln>
              <a:noFill/>
            </a:ln>
          </p:spPr>
          <p:txBody>
            <a:bodyPr/>
            <a:lstStyle/>
            <a:p>
              <a:endParaRPr lang="zh-CN" altLang="en-US"/>
            </a:p>
          </p:txBody>
        </p:sp>
        <p:sp>
          <p:nvSpPr>
            <p:cNvPr id="69" name="TextBox 69"/>
            <p:cNvSpPr txBox="1"/>
            <p:nvPr/>
          </p:nvSpPr>
          <p:spPr>
            <a:xfrm>
              <a:off x="596977" y="4544378"/>
              <a:ext cx="1834996"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Comparative Experiments</a:t>
              </a:r>
            </a:p>
          </p:txBody>
        </p:sp>
        <p:sp>
          <p:nvSpPr>
            <p:cNvPr id="70" name="TextBox 70"/>
            <p:cNvSpPr txBox="1"/>
            <p:nvPr/>
          </p:nvSpPr>
          <p:spPr>
            <a:xfrm>
              <a:off x="1071111" y="4715828"/>
              <a:ext cx="886727"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and Analysis</a:t>
              </a:r>
            </a:p>
          </p:txBody>
        </p:sp>
      </p:grpSp>
      <p:grpSp>
        <p:nvGrpSpPr>
          <p:cNvPr id="75" name="Group 75"/>
          <p:cNvGrpSpPr/>
          <p:nvPr/>
        </p:nvGrpSpPr>
        <p:grpSpPr>
          <a:xfrm>
            <a:off x="590857" y="5222081"/>
            <a:ext cx="6858000" cy="457200"/>
            <a:chOff x="495300" y="5429250"/>
            <a:chExt cx="6858000" cy="457200"/>
          </a:xfrm>
        </p:grpSpPr>
        <p:sp>
          <p:nvSpPr>
            <p:cNvPr id="72" name="Freeform 72"/>
            <p:cNvSpPr/>
            <p:nvPr/>
          </p:nvSpPr>
          <p:spPr>
            <a:xfrm>
              <a:off x="495300" y="5429250"/>
              <a:ext cx="6858000" cy="457200"/>
            </a:xfrm>
            <a:custGeom>
              <a:avLst/>
              <a:gdLst/>
              <a:ahLst/>
              <a:cxnLst/>
              <a:rect l="l" t="t" r="r" b="b"/>
              <a:pathLst>
                <a:path w="6858000" h="457200">
                  <a:moveTo>
                    <a:pt x="76200" y="0"/>
                  </a:moveTo>
                  <a:lnTo>
                    <a:pt x="6781800" y="0"/>
                  </a:lnTo>
                  <a:cubicBezTo>
                    <a:pt x="6823884" y="0"/>
                    <a:pt x="6858000" y="34116"/>
                    <a:pt x="6858000" y="76200"/>
                  </a:cubicBezTo>
                  <a:lnTo>
                    <a:pt x="6858000" y="381000"/>
                  </a:lnTo>
                  <a:cubicBezTo>
                    <a:pt x="6858000" y="423084"/>
                    <a:pt x="6823884" y="457200"/>
                    <a:pt x="6781800" y="457200"/>
                  </a:cubicBezTo>
                  <a:lnTo>
                    <a:pt x="76200" y="457200"/>
                  </a:lnTo>
                  <a:cubicBezTo>
                    <a:pt x="34116" y="457200"/>
                    <a:pt x="0" y="423084"/>
                    <a:pt x="0" y="381000"/>
                  </a:cubicBezTo>
                  <a:lnTo>
                    <a:pt x="0" y="76200"/>
                  </a:lnTo>
                  <a:cubicBezTo>
                    <a:pt x="0" y="34116"/>
                    <a:pt x="34116" y="0"/>
                    <a:pt x="76200" y="0"/>
                  </a:cubicBezTo>
                  <a:close/>
                </a:path>
              </a:pathLst>
            </a:custGeom>
            <a:solidFill>
              <a:srgbClr val="009682">
                <a:alpha val="10000"/>
              </a:srgbClr>
            </a:solidFill>
            <a:ln>
              <a:noFill/>
            </a:ln>
          </p:spPr>
          <p:txBody>
            <a:bodyPr/>
            <a:lstStyle/>
            <a:p>
              <a:endParaRPr lang="zh-CN" altLang="en-US"/>
            </a:p>
          </p:txBody>
        </p:sp>
        <p:sp>
          <p:nvSpPr>
            <p:cNvPr id="73" name="TextBox 73"/>
            <p:cNvSpPr txBox="1"/>
            <p:nvPr/>
          </p:nvSpPr>
          <p:spPr>
            <a:xfrm>
              <a:off x="670560" y="5585460"/>
              <a:ext cx="1282236" cy="243840"/>
            </a:xfrm>
            <a:prstGeom prst="rect">
              <a:avLst/>
            </a:prstGeom>
            <a:noFill/>
            <a:ln>
              <a:noFill/>
            </a:ln>
          </p:spPr>
          <p:txBody>
            <a:bodyPr wrap="none" lIns="0" tIns="0" rIns="0" bIns="0" anchor="t" anchorCtr="0">
              <a:spAutoFit/>
            </a:bodyPr>
            <a:lstStyle/>
            <a:p>
              <a:pPr algn="l"/>
              <a:r>
                <a:rPr lang="zh-CN" sz="1200" b="1" dirty="0">
                  <a:solidFill>
                    <a:srgbClr val="005A50"/>
                  </a:solidFill>
                  <a:latin typeface="Arial"/>
                  <a:ea typeface="Microsoft YaHei"/>
                  <a:cs typeface="Arial"/>
                </a:rPr>
                <a:t>Current stage:</a:t>
              </a:r>
            </a:p>
          </p:txBody>
        </p:sp>
        <p:sp>
          <p:nvSpPr>
            <p:cNvPr id="74" name="TextBox 74"/>
            <p:cNvSpPr txBox="1"/>
            <p:nvPr/>
          </p:nvSpPr>
          <p:spPr>
            <a:xfrm>
              <a:off x="1746885" y="5585460"/>
              <a:ext cx="4679061"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initial evaluation framework and initial dataset assessment</a:t>
              </a:r>
            </a:p>
          </p:txBody>
        </p:sp>
      </p:grpSp>
      <p:grpSp>
        <p:nvGrpSpPr>
          <p:cNvPr id="79" name="Group 79"/>
          <p:cNvGrpSpPr/>
          <p:nvPr/>
        </p:nvGrpSpPr>
        <p:grpSpPr>
          <a:xfrm>
            <a:off x="7810807" y="5299233"/>
            <a:ext cx="3458647" cy="396717"/>
            <a:chOff x="7715250" y="5506402"/>
            <a:chExt cx="3458647" cy="396717"/>
          </a:xfrm>
        </p:grpSpPr>
        <p:sp>
          <p:nvSpPr>
            <p:cNvPr id="76" name="Line 76"/>
            <p:cNvSpPr/>
            <p:nvPr/>
          </p:nvSpPr>
          <p:spPr>
            <a:xfrm>
              <a:off x="7715250" y="5657850"/>
              <a:ext cx="1143000" cy="9525"/>
            </a:xfrm>
            <a:custGeom>
              <a:avLst/>
              <a:gdLst/>
              <a:ahLst/>
              <a:cxnLst/>
              <a:rect l="l" t="t" r="r" b="b"/>
              <a:pathLst>
                <a:path w="1143000" h="9525">
                  <a:moveTo>
                    <a:pt x="0" y="0"/>
                  </a:moveTo>
                  <a:lnTo>
                    <a:pt x="1143000" y="0"/>
                  </a:lnTo>
                </a:path>
              </a:pathLst>
            </a:custGeom>
            <a:noFill/>
            <a:ln w="28575">
              <a:solidFill>
                <a:srgbClr val="23A1E0"/>
              </a:solidFill>
            </a:ln>
          </p:spPr>
          <p:txBody>
            <a:bodyPr/>
            <a:lstStyle/>
            <a:p>
              <a:endParaRPr lang="zh-CN" altLang="en-US"/>
            </a:p>
          </p:txBody>
        </p:sp>
        <p:sp>
          <p:nvSpPr>
            <p:cNvPr id="77" name="TextBox 77"/>
            <p:cNvSpPr txBox="1"/>
            <p:nvPr/>
          </p:nvSpPr>
          <p:spPr>
            <a:xfrm>
              <a:off x="9035415" y="5506402"/>
              <a:ext cx="1695329" cy="213360"/>
            </a:xfrm>
            <a:prstGeom prst="rect">
              <a:avLst/>
            </a:prstGeom>
            <a:noFill/>
            <a:ln>
              <a:noFill/>
            </a:ln>
          </p:spPr>
          <p:txBody>
            <a:bodyPr wrap="none" lIns="0" tIns="0" rIns="0" bIns="0" anchor="t" anchorCtr="0">
              <a:spAutoFit/>
            </a:bodyPr>
            <a:lstStyle/>
            <a:p>
              <a:pPr algn="l"/>
              <a:r>
                <a:rPr lang="zh-CN" sz="1050" b="1" dirty="0">
                  <a:solidFill>
                    <a:srgbClr val="002D4C"/>
                  </a:solidFill>
                  <a:latin typeface="Arial"/>
                  <a:ea typeface="Microsoft YaHei"/>
                  <a:cs typeface="Arial"/>
                </a:rPr>
                <a:t>Throughout the project</a:t>
              </a:r>
            </a:p>
          </p:txBody>
        </p:sp>
        <p:sp>
          <p:nvSpPr>
            <p:cNvPr id="78" name="TextBox 78"/>
            <p:cNvSpPr txBox="1"/>
            <p:nvPr/>
          </p:nvSpPr>
          <p:spPr>
            <a:xfrm>
              <a:off x="9036368" y="5704999"/>
              <a:ext cx="2137529"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Thesis writing and documentation</a:t>
              </a:r>
            </a:p>
          </p:txBody>
        </p:sp>
      </p:grpSp>
      <p:grpSp>
        <p:nvGrpSpPr>
          <p:cNvPr id="84" name="Group 84"/>
          <p:cNvGrpSpPr/>
          <p:nvPr/>
        </p:nvGrpSpPr>
        <p:grpSpPr>
          <a:xfrm>
            <a:off x="485775" y="6343650"/>
            <a:ext cx="11210925" cy="310678"/>
            <a:chOff x="485775" y="6343650"/>
            <a:chExt cx="11210925" cy="310678"/>
          </a:xfrm>
        </p:grpSpPr>
        <p:sp>
          <p:nvSpPr>
            <p:cNvPr id="80" name="Line 80"/>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81" name="TextBox 81"/>
            <p:cNvSpPr txBox="1"/>
            <p:nvPr/>
          </p:nvSpPr>
          <p:spPr>
            <a:xfrm>
              <a:off x="485775" y="6538912"/>
              <a:ext cx="65" cy="115416"/>
            </a:xfrm>
            <a:prstGeom prst="rect">
              <a:avLst/>
            </a:prstGeom>
            <a:noFill/>
            <a:ln>
              <a:noFill/>
            </a:ln>
          </p:spPr>
          <p:txBody>
            <a:bodyPr wrap="none" lIns="0" tIns="0" rIns="0" bIns="0" anchor="t" anchorCtr="0">
              <a:spAutoFit/>
            </a:bodyPr>
            <a:lstStyle/>
            <a:p>
              <a:pPr algn="l"/>
              <a:endParaRPr lang="zh-CN" sz="750" dirty="0">
                <a:solidFill>
                  <a:srgbClr val="768993"/>
                </a:solidFill>
                <a:latin typeface="Arial"/>
                <a:ea typeface="Microsoft YaHei"/>
                <a:cs typeface="Arial"/>
              </a:endParaRPr>
            </a:p>
          </p:txBody>
        </p:sp>
      </p:grpSp>
      <p:sp>
        <p:nvSpPr>
          <p:cNvPr id="85" name="TextBox 76">
            <a:extLst>
              <a:ext uri="{FF2B5EF4-FFF2-40B4-BE49-F238E27FC236}">
                <a16:creationId xmlns:a16="http://schemas.microsoft.com/office/drawing/2014/main" id="{A5D58D7F-8A52-7E55-B190-4BD891FB11F2}"/>
              </a:ext>
            </a:extLst>
          </p:cNvPr>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86" name="TextBox 54">
            <a:extLst>
              <a:ext uri="{FF2B5EF4-FFF2-40B4-BE49-F238E27FC236}">
                <a16:creationId xmlns:a16="http://schemas.microsoft.com/office/drawing/2014/main" id="{5823564E-1409-09D7-8C91-5574B4CEE29D}"/>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a:t>
            </a:r>
            <a:r>
              <a:rPr lang="en-US" altLang="zh-CN" sz="750" dirty="0">
                <a:solidFill>
                  <a:srgbClr val="768993"/>
                </a:solidFill>
                <a:latin typeface="Arial"/>
                <a:ea typeface="Microsoft YaHei"/>
                <a:cs typeface="Arial"/>
              </a:rPr>
              <a:t>2</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495300" y="400050"/>
            <a:ext cx="6604826" cy="661988"/>
            <a:chOff x="495300" y="400050"/>
            <a:chExt cx="6604826" cy="661988"/>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710565" y="410528"/>
              <a:ext cx="6389561"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Work Completed in the Last Two Weeks</a:t>
              </a:r>
            </a:p>
          </p:txBody>
        </p:sp>
        <p:sp>
          <p:nvSpPr>
            <p:cNvPr id="5" name="TextBox 5"/>
            <p:cNvSpPr txBox="1"/>
            <p:nvPr/>
          </p:nvSpPr>
          <p:spPr>
            <a:xfrm>
              <a:off x="729615" y="848678"/>
              <a:ext cx="4682252"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Dataset review exposed the need for a clearer evaluation structure</a:t>
              </a:r>
            </a:p>
          </p:txBody>
        </p:sp>
      </p:grpSp>
      <p:grpSp>
        <p:nvGrpSpPr>
          <p:cNvPr id="39" name="Group 39"/>
          <p:cNvGrpSpPr/>
          <p:nvPr/>
        </p:nvGrpSpPr>
        <p:grpSpPr>
          <a:xfrm>
            <a:off x="1261896" y="1806892"/>
            <a:ext cx="8992337" cy="2143602"/>
            <a:chOff x="1261896" y="1806892"/>
            <a:chExt cx="8992337" cy="2143602"/>
          </a:xfrm>
        </p:grpSpPr>
        <p:sp>
          <p:nvSpPr>
            <p:cNvPr id="7" name="Line 7"/>
            <p:cNvSpPr/>
            <p:nvPr/>
          </p:nvSpPr>
          <p:spPr>
            <a:xfrm>
              <a:off x="2047875" y="3000375"/>
              <a:ext cx="7953375" cy="9525"/>
            </a:xfrm>
            <a:custGeom>
              <a:avLst/>
              <a:gdLst/>
              <a:ahLst/>
              <a:cxnLst/>
              <a:rect l="l" t="t" r="r" b="b"/>
              <a:pathLst>
                <a:path w="7953375" h="9525">
                  <a:moveTo>
                    <a:pt x="0" y="0"/>
                  </a:moveTo>
                  <a:lnTo>
                    <a:pt x="7953375" y="0"/>
                  </a:lnTo>
                </a:path>
              </a:pathLst>
            </a:custGeom>
            <a:noFill/>
            <a:ln w="76200" cap="rnd">
              <a:solidFill>
                <a:srgbClr val="DAE1E6"/>
              </a:solidFill>
            </a:ln>
          </p:spPr>
          <p:txBody>
            <a:bodyPr/>
            <a:lstStyle/>
            <a:p>
              <a:endParaRPr lang="zh-CN" altLang="en-US"/>
            </a:p>
          </p:txBody>
        </p:sp>
        <p:sp>
          <p:nvSpPr>
            <p:cNvPr id="8" name="Line 8"/>
            <p:cNvSpPr/>
            <p:nvPr/>
          </p:nvSpPr>
          <p:spPr>
            <a:xfrm>
              <a:off x="2524125" y="3000375"/>
              <a:ext cx="1285875" cy="1"/>
            </a:xfrm>
            <a:prstGeom prst="line">
              <a:avLst/>
            </a:prstGeom>
            <a:noFill/>
            <a:ln w="28575">
              <a:solidFill>
                <a:srgbClr val="009682"/>
              </a:solidFill>
              <a:tailEnd type="triangle" w="lg" len="lg"/>
            </a:ln>
          </p:spPr>
          <p:txBody>
            <a:bodyPr/>
            <a:lstStyle/>
            <a:p>
              <a:endParaRPr lang="zh-CN" altLang="en-US"/>
            </a:p>
          </p:txBody>
        </p:sp>
        <p:sp>
          <p:nvSpPr>
            <p:cNvPr id="9" name="Line 9"/>
            <p:cNvSpPr/>
            <p:nvPr/>
          </p:nvSpPr>
          <p:spPr>
            <a:xfrm>
              <a:off x="4953000" y="3000375"/>
              <a:ext cx="1285875" cy="1"/>
            </a:xfrm>
            <a:prstGeom prst="line">
              <a:avLst/>
            </a:prstGeom>
            <a:noFill/>
            <a:ln w="28575">
              <a:solidFill>
                <a:srgbClr val="009682"/>
              </a:solidFill>
              <a:tailEnd type="triangle" w="lg" len="lg"/>
            </a:ln>
          </p:spPr>
          <p:txBody>
            <a:bodyPr/>
            <a:lstStyle/>
            <a:p>
              <a:endParaRPr lang="zh-CN" altLang="en-US"/>
            </a:p>
          </p:txBody>
        </p:sp>
        <p:sp>
          <p:nvSpPr>
            <p:cNvPr id="10" name="Line 10"/>
            <p:cNvSpPr/>
            <p:nvPr/>
          </p:nvSpPr>
          <p:spPr>
            <a:xfrm>
              <a:off x="7381875" y="3000375"/>
              <a:ext cx="1285875" cy="1"/>
            </a:xfrm>
            <a:prstGeom prst="line">
              <a:avLst/>
            </a:prstGeom>
            <a:noFill/>
            <a:ln w="28575">
              <a:solidFill>
                <a:srgbClr val="009682"/>
              </a:solidFill>
              <a:tailEnd type="triangle" w="lg" len="lg"/>
            </a:ln>
          </p:spPr>
          <p:txBody>
            <a:bodyPr/>
            <a:lstStyle/>
            <a:p>
              <a:endParaRPr lang="zh-CN" altLang="en-US"/>
            </a:p>
          </p:txBody>
        </p:sp>
        <p:grpSp>
          <p:nvGrpSpPr>
            <p:cNvPr id="17" name="Group 17"/>
            <p:cNvGrpSpPr/>
            <p:nvPr/>
          </p:nvGrpSpPr>
          <p:grpSpPr>
            <a:xfrm>
              <a:off x="1261896" y="1806892"/>
              <a:ext cx="1571958" cy="2143602"/>
              <a:chOff x="1261896" y="1806892"/>
              <a:chExt cx="1571958" cy="2143602"/>
            </a:xfrm>
          </p:grpSpPr>
          <p:sp>
            <p:nvSpPr>
              <p:cNvPr id="11" name="Ellipse 11"/>
              <p:cNvSpPr/>
              <p:nvPr/>
            </p:nvSpPr>
            <p:spPr>
              <a:xfrm>
                <a:off x="1647825" y="2600325"/>
                <a:ext cx="800100" cy="800100"/>
              </a:xfrm>
              <a:prstGeom prst="ellipse">
                <a:avLst/>
              </a:prstGeom>
              <a:solidFill>
                <a:srgbClr val="002D4C"/>
              </a:solidFill>
              <a:ln>
                <a:noFill/>
              </a:ln>
            </p:spPr>
            <p:txBody>
              <a:bodyPr/>
              <a:lstStyle/>
              <a:p>
                <a:endParaRPr lang="zh-CN" altLang="en-US"/>
              </a:p>
            </p:txBody>
          </p:sp>
          <p:sp>
            <p:nvSpPr>
              <p:cNvPr id="12" name="TextBox 12"/>
              <p:cNvSpPr txBox="1"/>
              <p:nvPr/>
            </p:nvSpPr>
            <p:spPr>
              <a:xfrm>
                <a:off x="1992266" y="2898458"/>
                <a:ext cx="11121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3" name="TextBox 13"/>
              <p:cNvSpPr txBox="1"/>
              <p:nvPr/>
            </p:nvSpPr>
            <p:spPr>
              <a:xfrm>
                <a:off x="1293538" y="1806892"/>
                <a:ext cx="1508674"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Initial Review of</a:t>
                </a:r>
              </a:p>
            </p:txBody>
          </p:sp>
          <p:sp>
            <p:nvSpPr>
              <p:cNvPr id="14" name="TextBox 14"/>
              <p:cNvSpPr txBox="1"/>
              <p:nvPr/>
            </p:nvSpPr>
            <p:spPr>
              <a:xfrm>
                <a:off x="1359696" y="2035492"/>
                <a:ext cx="1376358"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KGQA Datasets</a:t>
                </a:r>
              </a:p>
            </p:txBody>
          </p:sp>
          <p:sp>
            <p:nvSpPr>
              <p:cNvPr id="15" name="TextBox 15"/>
              <p:cNvSpPr txBox="1"/>
              <p:nvPr/>
            </p:nvSpPr>
            <p:spPr>
              <a:xfrm>
                <a:off x="1317153" y="3580924"/>
                <a:ext cx="1461445"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Started from available</a:t>
                </a:r>
              </a:p>
            </p:txBody>
          </p:sp>
          <p:sp>
            <p:nvSpPr>
              <p:cNvPr id="16" name="TextBox 16"/>
              <p:cNvSpPr txBox="1"/>
              <p:nvPr/>
            </p:nvSpPr>
            <p:spPr>
              <a:xfrm>
                <a:off x="1261896" y="3752374"/>
                <a:ext cx="1571958"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questions and resources</a:t>
                </a:r>
              </a:p>
            </p:txBody>
          </p:sp>
        </p:grpSp>
        <p:grpSp>
          <p:nvGrpSpPr>
            <p:cNvPr id="24" name="Group 24"/>
            <p:cNvGrpSpPr/>
            <p:nvPr/>
          </p:nvGrpSpPr>
          <p:grpSpPr>
            <a:xfrm>
              <a:off x="3453054" y="1806892"/>
              <a:ext cx="2047392" cy="2143602"/>
              <a:chOff x="3453054" y="1806892"/>
              <a:chExt cx="2047392" cy="2143602"/>
            </a:xfrm>
          </p:grpSpPr>
          <p:sp>
            <p:nvSpPr>
              <p:cNvPr id="18" name="Ellipse 18"/>
              <p:cNvSpPr/>
              <p:nvPr/>
            </p:nvSpPr>
            <p:spPr>
              <a:xfrm>
                <a:off x="4076700" y="2600325"/>
                <a:ext cx="800100" cy="800100"/>
              </a:xfrm>
              <a:prstGeom prst="ellipse">
                <a:avLst/>
              </a:prstGeom>
              <a:solidFill>
                <a:srgbClr val="009682"/>
              </a:solidFill>
              <a:ln>
                <a:noFill/>
              </a:ln>
            </p:spPr>
            <p:txBody>
              <a:bodyPr/>
              <a:lstStyle/>
              <a:p>
                <a:endParaRPr lang="zh-CN" altLang="en-US"/>
              </a:p>
            </p:txBody>
          </p:sp>
          <p:sp>
            <p:nvSpPr>
              <p:cNvPr id="19" name="TextBox 19"/>
              <p:cNvSpPr txBox="1"/>
              <p:nvPr/>
            </p:nvSpPr>
            <p:spPr>
              <a:xfrm>
                <a:off x="4392262" y="289845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20" name="TextBox 20"/>
              <p:cNvSpPr txBox="1"/>
              <p:nvPr/>
            </p:nvSpPr>
            <p:spPr>
              <a:xfrm>
                <a:off x="3590096" y="1806892"/>
                <a:ext cx="1773307"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Initial Seven-Layer</a:t>
                </a:r>
              </a:p>
            </p:txBody>
          </p:sp>
          <p:sp>
            <p:nvSpPr>
              <p:cNvPr id="21" name="TextBox 21"/>
              <p:cNvSpPr txBox="1"/>
              <p:nvPr/>
            </p:nvSpPr>
            <p:spPr>
              <a:xfrm>
                <a:off x="3453054" y="2035492"/>
                <a:ext cx="2047392"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Evaluation Framework</a:t>
                </a:r>
              </a:p>
            </p:txBody>
          </p:sp>
          <p:sp>
            <p:nvSpPr>
              <p:cNvPr id="22" name="TextBox 22"/>
              <p:cNvSpPr txBox="1"/>
              <p:nvPr/>
            </p:nvSpPr>
            <p:spPr>
              <a:xfrm>
                <a:off x="3723275" y="3580924"/>
                <a:ext cx="1506950"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Separated capabilities,</a:t>
                </a:r>
              </a:p>
            </p:txBody>
          </p:sp>
          <p:sp>
            <p:nvSpPr>
              <p:cNvPr id="23" name="TextBox 23"/>
              <p:cNvSpPr txBox="1"/>
              <p:nvPr/>
            </p:nvSpPr>
            <p:spPr>
              <a:xfrm>
                <a:off x="3694021" y="3752374"/>
                <a:ext cx="1565458"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tasks, data and metrics</a:t>
                </a:r>
              </a:p>
            </p:txBody>
          </p:sp>
        </p:grpSp>
        <p:grpSp>
          <p:nvGrpSpPr>
            <p:cNvPr id="31" name="Group 31"/>
            <p:cNvGrpSpPr/>
            <p:nvPr/>
          </p:nvGrpSpPr>
          <p:grpSpPr>
            <a:xfrm>
              <a:off x="6028634" y="1806892"/>
              <a:ext cx="1753981" cy="2143602"/>
              <a:chOff x="6028634" y="1806892"/>
              <a:chExt cx="1753981" cy="2143602"/>
            </a:xfrm>
          </p:grpSpPr>
          <p:sp>
            <p:nvSpPr>
              <p:cNvPr id="25" name="Ellipse 25"/>
              <p:cNvSpPr/>
              <p:nvPr/>
            </p:nvSpPr>
            <p:spPr>
              <a:xfrm>
                <a:off x="6505575" y="2600325"/>
                <a:ext cx="800100" cy="800100"/>
              </a:xfrm>
              <a:prstGeom prst="ellipse">
                <a:avLst/>
              </a:prstGeom>
              <a:solidFill>
                <a:srgbClr val="23A1E0"/>
              </a:solidFill>
              <a:ln>
                <a:noFill/>
              </a:ln>
            </p:spPr>
            <p:txBody>
              <a:bodyPr/>
              <a:lstStyle/>
              <a:p>
                <a:endParaRPr lang="zh-CN" altLang="en-US"/>
              </a:p>
            </p:txBody>
          </p:sp>
          <p:sp>
            <p:nvSpPr>
              <p:cNvPr id="26" name="TextBox 26"/>
              <p:cNvSpPr txBox="1"/>
              <p:nvPr/>
            </p:nvSpPr>
            <p:spPr>
              <a:xfrm>
                <a:off x="6821137" y="289845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27" name="TextBox 27"/>
              <p:cNvSpPr txBox="1"/>
              <p:nvPr/>
            </p:nvSpPr>
            <p:spPr>
              <a:xfrm>
                <a:off x="6283604" y="1806892"/>
                <a:ext cx="1244041"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Dataset Field</a:t>
                </a:r>
              </a:p>
            </p:txBody>
          </p:sp>
          <p:sp>
            <p:nvSpPr>
              <p:cNvPr id="28" name="TextBox 28"/>
              <p:cNvSpPr txBox="1"/>
              <p:nvPr/>
            </p:nvSpPr>
            <p:spPr>
              <a:xfrm>
                <a:off x="6269428" y="2035492"/>
                <a:ext cx="1272395"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Requirements</a:t>
                </a:r>
              </a:p>
            </p:txBody>
          </p:sp>
          <p:sp>
            <p:nvSpPr>
              <p:cNvPr id="29" name="TextBox 29"/>
              <p:cNvSpPr txBox="1"/>
              <p:nvPr/>
            </p:nvSpPr>
            <p:spPr>
              <a:xfrm>
                <a:off x="6028634" y="3580924"/>
                <a:ext cx="1753981"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Connected evaluation areas</a:t>
                </a:r>
              </a:p>
            </p:txBody>
          </p:sp>
          <p:sp>
            <p:nvSpPr>
              <p:cNvPr id="30" name="TextBox 30"/>
              <p:cNvSpPr txBox="1"/>
              <p:nvPr/>
            </p:nvSpPr>
            <p:spPr>
              <a:xfrm>
                <a:off x="6135898" y="3752374"/>
                <a:ext cx="1539454"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to required annotations</a:t>
                </a:r>
              </a:p>
            </p:txBody>
          </p:sp>
        </p:grpSp>
        <p:grpSp>
          <p:nvGrpSpPr>
            <p:cNvPr id="38" name="Group 38"/>
            <p:cNvGrpSpPr/>
            <p:nvPr/>
          </p:nvGrpSpPr>
          <p:grpSpPr>
            <a:xfrm>
              <a:off x="8414767" y="1806892"/>
              <a:ext cx="1839466" cy="2143602"/>
              <a:chOff x="8414767" y="1806892"/>
              <a:chExt cx="1839466" cy="2143602"/>
            </a:xfrm>
          </p:grpSpPr>
          <p:sp>
            <p:nvSpPr>
              <p:cNvPr id="32" name="Ellipse 32"/>
              <p:cNvSpPr/>
              <p:nvPr/>
            </p:nvSpPr>
            <p:spPr>
              <a:xfrm>
                <a:off x="8934450" y="2600325"/>
                <a:ext cx="800100" cy="800100"/>
              </a:xfrm>
              <a:prstGeom prst="ellipse">
                <a:avLst/>
              </a:prstGeom>
              <a:solidFill>
                <a:srgbClr val="005A50"/>
              </a:solidFill>
              <a:ln>
                <a:noFill/>
              </a:ln>
            </p:spPr>
            <p:txBody>
              <a:bodyPr/>
              <a:lstStyle/>
              <a:p>
                <a:endParaRPr lang="zh-CN" altLang="en-US"/>
              </a:p>
            </p:txBody>
          </p:sp>
          <p:sp>
            <p:nvSpPr>
              <p:cNvPr id="33" name="TextBox 33"/>
              <p:cNvSpPr txBox="1"/>
              <p:nvPr/>
            </p:nvSpPr>
            <p:spPr>
              <a:xfrm>
                <a:off x="9250012" y="289845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34" name="TextBox 34"/>
              <p:cNvSpPr txBox="1"/>
              <p:nvPr/>
            </p:nvSpPr>
            <p:spPr>
              <a:xfrm>
                <a:off x="8414767" y="1806892"/>
                <a:ext cx="1839466"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Initial Unified Agent</a:t>
                </a:r>
              </a:p>
            </p:txBody>
          </p:sp>
          <p:sp>
            <p:nvSpPr>
              <p:cNvPr id="35" name="TextBox 35"/>
              <p:cNvSpPr txBox="1"/>
              <p:nvPr/>
            </p:nvSpPr>
            <p:spPr>
              <a:xfrm>
                <a:off x="8660498" y="2035492"/>
                <a:ext cx="1348004" cy="274320"/>
              </a:xfrm>
              <a:prstGeom prst="rect">
                <a:avLst/>
              </a:prstGeom>
              <a:noFill/>
              <a:ln>
                <a:noFill/>
              </a:ln>
            </p:spPr>
            <p:txBody>
              <a:bodyPr wrap="none" lIns="0" tIns="0" rIns="0" bIns="0" anchor="t" anchorCtr="0">
                <a:spAutoFit/>
              </a:bodyPr>
              <a:lstStyle/>
              <a:p>
                <a:pPr algn="ctr"/>
                <a:r>
                  <a:rPr lang="zh-CN" sz="1350" b="1" dirty="0">
                    <a:solidFill>
                      <a:srgbClr val="002D4C"/>
                    </a:solidFill>
                    <a:latin typeface="Arial"/>
                    <a:ea typeface="Microsoft YaHei"/>
                    <a:cs typeface="Arial"/>
                  </a:rPr>
                  <a:t>Logging Design</a:t>
                </a:r>
              </a:p>
            </p:txBody>
          </p:sp>
          <p:sp>
            <p:nvSpPr>
              <p:cNvPr id="36" name="TextBox 36"/>
              <p:cNvSpPr txBox="1"/>
              <p:nvPr/>
            </p:nvSpPr>
            <p:spPr>
              <a:xfrm>
                <a:off x="8581025" y="3580924"/>
                <a:ext cx="1506950"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Linked actual execution</a:t>
                </a:r>
              </a:p>
            </p:txBody>
          </p:sp>
          <p:sp>
            <p:nvSpPr>
              <p:cNvPr id="37" name="TextBox 37"/>
              <p:cNvSpPr txBox="1"/>
              <p:nvPr/>
            </p:nvSpPr>
            <p:spPr>
              <a:xfrm>
                <a:off x="8568023" y="3752374"/>
                <a:ext cx="1532954"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to automatic evaluation</a:t>
                </a:r>
              </a:p>
            </p:txBody>
          </p:sp>
        </p:grpSp>
      </p:grpSp>
      <p:grpSp>
        <p:nvGrpSpPr>
          <p:cNvPr id="46" name="Group 46"/>
          <p:cNvGrpSpPr/>
          <p:nvPr/>
        </p:nvGrpSpPr>
        <p:grpSpPr>
          <a:xfrm>
            <a:off x="1129665" y="4762500"/>
            <a:ext cx="9919335" cy="921544"/>
            <a:chOff x="1129665" y="4762500"/>
            <a:chExt cx="9919335" cy="921544"/>
          </a:xfrm>
        </p:grpSpPr>
        <p:sp>
          <p:nvSpPr>
            <p:cNvPr id="40" name="Line 40"/>
            <p:cNvSpPr/>
            <p:nvPr/>
          </p:nvSpPr>
          <p:spPr>
            <a:xfrm>
              <a:off x="1143000" y="4762500"/>
              <a:ext cx="9906000" cy="9525"/>
            </a:xfrm>
            <a:custGeom>
              <a:avLst/>
              <a:gdLst/>
              <a:ahLst/>
              <a:cxnLst/>
              <a:rect l="l" t="t" r="r" b="b"/>
              <a:pathLst>
                <a:path w="9906000" h="9525">
                  <a:moveTo>
                    <a:pt x="0" y="0"/>
                  </a:moveTo>
                  <a:lnTo>
                    <a:pt x="9906000" y="0"/>
                  </a:lnTo>
                </a:path>
              </a:pathLst>
            </a:custGeom>
            <a:noFill/>
            <a:ln w="9525">
              <a:solidFill>
                <a:srgbClr val="DAE1E6"/>
              </a:solidFill>
            </a:ln>
          </p:spPr>
          <p:txBody>
            <a:bodyPr/>
            <a:lstStyle/>
            <a:p>
              <a:endParaRPr lang="zh-CN" altLang="en-US"/>
            </a:p>
          </p:txBody>
        </p:sp>
        <p:sp>
          <p:nvSpPr>
            <p:cNvPr id="41" name="TextBox 41"/>
            <p:cNvSpPr txBox="1"/>
            <p:nvPr/>
          </p:nvSpPr>
          <p:spPr>
            <a:xfrm>
              <a:off x="1129665" y="4992052"/>
              <a:ext cx="1511556" cy="213360"/>
            </a:xfrm>
            <a:prstGeom prst="rect">
              <a:avLst/>
            </a:prstGeom>
            <a:noFill/>
            <a:ln>
              <a:noFill/>
            </a:ln>
          </p:spPr>
          <p:txBody>
            <a:bodyPr wrap="none" lIns="0" tIns="0" rIns="0" bIns="0" anchor="t" anchorCtr="0">
              <a:spAutoFit/>
            </a:bodyPr>
            <a:lstStyle/>
            <a:p>
              <a:pPr algn="l"/>
              <a:r>
                <a:rPr lang="zh-CN" sz="1050" b="1" dirty="0">
                  <a:solidFill>
                    <a:srgbClr val="009682"/>
                  </a:solidFill>
                  <a:latin typeface="Arial"/>
                  <a:ea typeface="Microsoft YaHei"/>
                  <a:cs typeface="Arial"/>
                </a:rPr>
                <a:t>ADDITIONAL PROGRESS</a:t>
              </a:r>
            </a:p>
          </p:txBody>
        </p:sp>
        <p:sp>
          <p:nvSpPr>
            <p:cNvPr id="42" name="Ellipse 42"/>
            <p:cNvSpPr/>
            <p:nvPr/>
          </p:nvSpPr>
          <p:spPr>
            <a:xfrm>
              <a:off x="1314450" y="5438775"/>
              <a:ext cx="133350" cy="133350"/>
            </a:xfrm>
            <a:prstGeom prst="ellipse">
              <a:avLst/>
            </a:prstGeom>
            <a:solidFill>
              <a:srgbClr val="009682"/>
            </a:solidFill>
            <a:ln>
              <a:noFill/>
            </a:ln>
          </p:spPr>
          <p:txBody>
            <a:bodyPr/>
            <a:lstStyle/>
            <a:p>
              <a:endParaRPr lang="zh-CN" altLang="en-US"/>
            </a:p>
          </p:txBody>
        </p:sp>
        <p:sp>
          <p:nvSpPr>
            <p:cNvPr id="43" name="TextBox 43"/>
            <p:cNvSpPr txBox="1"/>
            <p:nvPr/>
          </p:nvSpPr>
          <p:spPr>
            <a:xfrm>
              <a:off x="1564958" y="5424964"/>
              <a:ext cx="3917371"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Initial reproduction of the first-version Agent</a:t>
              </a:r>
            </a:p>
          </p:txBody>
        </p:sp>
        <p:sp>
          <p:nvSpPr>
            <p:cNvPr id="44" name="Ellipse 44"/>
            <p:cNvSpPr/>
            <p:nvPr/>
          </p:nvSpPr>
          <p:spPr>
            <a:xfrm>
              <a:off x="6410325" y="5438775"/>
              <a:ext cx="133350" cy="133350"/>
            </a:xfrm>
            <a:prstGeom prst="ellipse">
              <a:avLst/>
            </a:prstGeom>
            <a:solidFill>
              <a:srgbClr val="23A1E0"/>
            </a:solidFill>
            <a:ln>
              <a:noFill/>
            </a:ln>
          </p:spPr>
          <p:txBody>
            <a:bodyPr/>
            <a:lstStyle/>
            <a:p>
              <a:endParaRPr lang="zh-CN" altLang="en-US"/>
            </a:p>
          </p:txBody>
        </p:sp>
        <p:sp>
          <p:nvSpPr>
            <p:cNvPr id="45" name="TextBox 45"/>
            <p:cNvSpPr txBox="1"/>
            <p:nvPr/>
          </p:nvSpPr>
          <p:spPr>
            <a:xfrm>
              <a:off x="6660832" y="5424964"/>
              <a:ext cx="3466814"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Initial review of KGQA dataset candidates</a:t>
              </a:r>
            </a:p>
          </p:txBody>
        </p:sp>
      </p:grpSp>
      <p:grpSp>
        <p:nvGrpSpPr>
          <p:cNvPr id="49" name="Group 49"/>
          <p:cNvGrpSpPr/>
          <p:nvPr/>
        </p:nvGrpSpPr>
        <p:grpSpPr>
          <a:xfrm>
            <a:off x="1130618" y="5914549"/>
            <a:ext cx="4929759" cy="198120"/>
            <a:chOff x="1130618" y="5914549"/>
            <a:chExt cx="4929759" cy="198120"/>
          </a:xfrm>
        </p:grpSpPr>
        <p:sp>
          <p:nvSpPr>
            <p:cNvPr id="47" name="TextBox 47"/>
            <p:cNvSpPr txBox="1"/>
            <p:nvPr/>
          </p:nvSpPr>
          <p:spPr>
            <a:xfrm>
              <a:off x="1130618" y="5914549"/>
              <a:ext cx="1116902" cy="198120"/>
            </a:xfrm>
            <a:prstGeom prst="rect">
              <a:avLst/>
            </a:prstGeom>
            <a:noFill/>
            <a:ln>
              <a:noFill/>
            </a:ln>
          </p:spPr>
          <p:txBody>
            <a:bodyPr wrap="none" lIns="0" tIns="0" rIns="0" bIns="0" anchor="t" anchorCtr="0">
              <a:spAutoFit/>
            </a:bodyPr>
            <a:lstStyle/>
            <a:p>
              <a:pPr algn="l"/>
              <a:r>
                <a:rPr lang="zh-CN" sz="975" b="1" dirty="0">
                  <a:solidFill>
                    <a:srgbClr val="526671"/>
                  </a:solidFill>
                  <a:latin typeface="Arial"/>
                  <a:ea typeface="Microsoft YaHei"/>
                  <a:cs typeface="Arial"/>
                </a:rPr>
                <a:t>Current status:</a:t>
              </a:r>
            </a:p>
          </p:txBody>
        </p:sp>
        <p:sp>
          <p:nvSpPr>
            <p:cNvPr id="48" name="TextBox 48"/>
            <p:cNvSpPr txBox="1"/>
            <p:nvPr/>
          </p:nvSpPr>
          <p:spPr>
            <a:xfrm>
              <a:off x="2083118" y="5914549"/>
              <a:ext cx="3977259"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the designs are preliminary and still need practical validation.</a:t>
              </a:r>
            </a:p>
          </p:txBody>
        </p:sp>
      </p:grpSp>
      <p:sp>
        <p:nvSpPr>
          <p:cNvPr id="50" name="Line 50"/>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55" name="TextBox 76">
            <a:extLst>
              <a:ext uri="{FF2B5EF4-FFF2-40B4-BE49-F238E27FC236}">
                <a16:creationId xmlns:a16="http://schemas.microsoft.com/office/drawing/2014/main" id="{A4F7CA58-F833-C0CF-8103-1E5237F48F18}"/>
              </a:ext>
            </a:extLst>
          </p:cNvPr>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6" name="TextBox 54">
            <a:extLst>
              <a:ext uri="{FF2B5EF4-FFF2-40B4-BE49-F238E27FC236}">
                <a16:creationId xmlns:a16="http://schemas.microsoft.com/office/drawing/2014/main" id="{C4343D5B-4B95-B321-7933-9DB698C77D43}"/>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a:t>
            </a:r>
            <a:r>
              <a:rPr lang="en-US" altLang="zh-CN" sz="750" dirty="0">
                <a:solidFill>
                  <a:srgbClr val="768993"/>
                </a:solidFill>
                <a:latin typeface="Arial"/>
                <a:ea typeface="Microsoft YaHei"/>
                <a:cs typeface="Arial"/>
              </a:rPr>
              <a:t>3</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77215" y="410528"/>
            <a:ext cx="6134529"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A Seven-Layer Evaluation Framework</a:t>
            </a:r>
          </a:p>
        </p:txBody>
      </p:sp>
      <p:sp>
        <p:nvSpPr>
          <p:cNvPr id="5" name="TextBox 5"/>
          <p:cNvSpPr txBox="1"/>
          <p:nvPr/>
        </p:nvSpPr>
        <p:spPr>
          <a:xfrm>
            <a:off x="592455" y="844868"/>
            <a:ext cx="6875145"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Each layer turns a research question into a concrete evaluation requirement.</a:t>
            </a:r>
          </a:p>
        </p:txBody>
      </p:sp>
      <p:sp>
        <p:nvSpPr>
          <p:cNvPr id="6" name="Freeform 6"/>
          <p:cNvSpPr/>
          <p:nvPr/>
        </p:nvSpPr>
        <p:spPr>
          <a:xfrm>
            <a:off x="2952750" y="2382679"/>
            <a:ext cx="400050" cy="9525"/>
          </a:xfrm>
          <a:custGeom>
            <a:avLst/>
            <a:gdLst/>
            <a:ahLst/>
            <a:cxnLst/>
            <a:rect l="l" t="t" r="r" b="b"/>
            <a:pathLst>
              <a:path w="400050" h="9525">
                <a:moveTo>
                  <a:pt x="0" y="0"/>
                </a:moveTo>
                <a:lnTo>
                  <a:pt x="400050" y="0"/>
                </a:lnTo>
              </a:path>
            </a:pathLst>
          </a:custGeom>
          <a:solidFill>
            <a:srgbClr val="000000"/>
          </a:solidFill>
          <a:ln w="28575">
            <a:solidFill>
              <a:srgbClr val="009682"/>
            </a:solidFill>
            <a:tailEnd type="triangle" w="lg" len="lg"/>
          </a:ln>
        </p:spPr>
        <p:txBody>
          <a:bodyPr/>
          <a:lstStyle/>
          <a:p>
            <a:endParaRPr lang="zh-CN" altLang="en-US"/>
          </a:p>
        </p:txBody>
      </p:sp>
      <p:sp>
        <p:nvSpPr>
          <p:cNvPr id="7" name="Freeform 7"/>
          <p:cNvSpPr/>
          <p:nvPr/>
        </p:nvSpPr>
        <p:spPr>
          <a:xfrm>
            <a:off x="5714999" y="2400300"/>
            <a:ext cx="400050" cy="9525"/>
          </a:xfrm>
          <a:custGeom>
            <a:avLst/>
            <a:gdLst/>
            <a:ahLst/>
            <a:cxnLst/>
            <a:rect l="l" t="t" r="r" b="b"/>
            <a:pathLst>
              <a:path w="400050" h="9525">
                <a:moveTo>
                  <a:pt x="0" y="0"/>
                </a:moveTo>
                <a:lnTo>
                  <a:pt x="400050" y="0"/>
                </a:lnTo>
              </a:path>
            </a:pathLst>
          </a:custGeom>
          <a:solidFill>
            <a:srgbClr val="000000"/>
          </a:solidFill>
          <a:ln w="28575">
            <a:solidFill>
              <a:srgbClr val="009682"/>
            </a:solidFill>
            <a:tailEnd type="triangle" w="lg" len="lg"/>
          </a:ln>
        </p:spPr>
        <p:txBody>
          <a:bodyPr/>
          <a:lstStyle/>
          <a:p>
            <a:endParaRPr lang="zh-CN" altLang="en-US"/>
          </a:p>
        </p:txBody>
      </p:sp>
      <p:sp>
        <p:nvSpPr>
          <p:cNvPr id="9" name="Freeform 9"/>
          <p:cNvSpPr/>
          <p:nvPr/>
        </p:nvSpPr>
        <p:spPr>
          <a:xfrm>
            <a:off x="8572497" y="4387096"/>
            <a:ext cx="1581150" cy="428625"/>
          </a:xfrm>
          <a:custGeom>
            <a:avLst/>
            <a:gdLst/>
            <a:ahLst/>
            <a:cxnLst/>
            <a:rect l="l" t="t" r="r" b="b"/>
            <a:pathLst>
              <a:path w="1581150" h="428625">
                <a:moveTo>
                  <a:pt x="1581150" y="0"/>
                </a:moveTo>
                <a:lnTo>
                  <a:pt x="1581150" y="428625"/>
                </a:lnTo>
                <a:lnTo>
                  <a:pt x="0" y="428625"/>
                </a:lnTo>
              </a:path>
            </a:pathLst>
          </a:custGeom>
          <a:noFill/>
          <a:ln w="28575">
            <a:solidFill>
              <a:srgbClr val="009682"/>
            </a:solidFill>
            <a:tailEnd type="triangle" w="lg" len="lg"/>
          </a:ln>
        </p:spPr>
        <p:txBody>
          <a:bodyPr/>
          <a:lstStyle/>
          <a:p>
            <a:endParaRPr lang="zh-CN" altLang="en-US"/>
          </a:p>
        </p:txBody>
      </p:sp>
      <p:sp>
        <p:nvSpPr>
          <p:cNvPr id="10" name="Freeform 10"/>
          <p:cNvSpPr/>
          <p:nvPr/>
        </p:nvSpPr>
        <p:spPr>
          <a:xfrm>
            <a:off x="5695950" y="4794885"/>
            <a:ext cx="400050" cy="9525"/>
          </a:xfrm>
          <a:custGeom>
            <a:avLst/>
            <a:gdLst/>
            <a:ahLst/>
            <a:cxnLst/>
            <a:rect l="l" t="t" r="r" b="b"/>
            <a:pathLst>
              <a:path w="400050" h="9525">
                <a:moveTo>
                  <a:pt x="400050" y="0"/>
                </a:moveTo>
                <a:lnTo>
                  <a:pt x="0" y="0"/>
                </a:lnTo>
              </a:path>
            </a:pathLst>
          </a:custGeom>
          <a:solidFill>
            <a:srgbClr val="000000"/>
          </a:solidFill>
          <a:ln w="28575">
            <a:solidFill>
              <a:srgbClr val="009682"/>
            </a:solidFill>
            <a:tailEnd type="triangle" w="lg" len="lg"/>
          </a:ln>
        </p:spPr>
        <p:txBody>
          <a:bodyPr/>
          <a:lstStyle/>
          <a:p>
            <a:endParaRPr lang="zh-CN" altLang="en-US"/>
          </a:p>
        </p:txBody>
      </p:sp>
      <p:sp>
        <p:nvSpPr>
          <p:cNvPr id="11" name="Freeform 11"/>
          <p:cNvSpPr/>
          <p:nvPr/>
        </p:nvSpPr>
        <p:spPr>
          <a:xfrm>
            <a:off x="2933700" y="4772023"/>
            <a:ext cx="400050" cy="9525"/>
          </a:xfrm>
          <a:custGeom>
            <a:avLst/>
            <a:gdLst/>
            <a:ahLst/>
            <a:cxnLst/>
            <a:rect l="l" t="t" r="r" b="b"/>
            <a:pathLst>
              <a:path w="400050" h="9525">
                <a:moveTo>
                  <a:pt x="400050" y="0"/>
                </a:moveTo>
                <a:lnTo>
                  <a:pt x="0" y="0"/>
                </a:lnTo>
              </a:path>
            </a:pathLst>
          </a:custGeom>
          <a:solidFill>
            <a:srgbClr val="000000"/>
          </a:solidFill>
          <a:ln w="28575">
            <a:solidFill>
              <a:srgbClr val="009682"/>
            </a:solidFill>
            <a:tailEnd type="triangle" w="lg" len="lg"/>
          </a:ln>
        </p:spPr>
        <p:txBody>
          <a:bodyPr/>
          <a:lstStyle/>
          <a:p>
            <a:endParaRPr lang="zh-CN" altLang="en-US"/>
          </a:p>
        </p:txBody>
      </p:sp>
      <p:sp>
        <p:nvSpPr>
          <p:cNvPr id="12" name="Freeform 12"/>
          <p:cNvSpPr/>
          <p:nvPr/>
        </p:nvSpPr>
        <p:spPr>
          <a:xfrm>
            <a:off x="609600" y="1504950"/>
            <a:ext cx="2324100" cy="1790700"/>
          </a:xfrm>
          <a:custGeom>
            <a:avLst/>
            <a:gdLst/>
            <a:ahLst/>
            <a:cxnLst/>
            <a:rect l="l" t="t" r="r" b="b"/>
            <a:pathLst>
              <a:path w="2095500" h="1790700">
                <a:moveTo>
                  <a:pt x="133350" y="0"/>
                </a:moveTo>
                <a:lnTo>
                  <a:pt x="1962150" y="0"/>
                </a:lnTo>
                <a:cubicBezTo>
                  <a:pt x="2035797" y="0"/>
                  <a:pt x="2095500" y="59703"/>
                  <a:pt x="2095500" y="133350"/>
                </a:cubicBezTo>
                <a:lnTo>
                  <a:pt x="2095500" y="1657350"/>
                </a:lnTo>
                <a:cubicBezTo>
                  <a:pt x="2095500" y="1730997"/>
                  <a:pt x="2035797" y="1790700"/>
                  <a:pt x="1962150" y="1790700"/>
                </a:cubicBezTo>
                <a:lnTo>
                  <a:pt x="133350" y="1790700"/>
                </a:lnTo>
                <a:cubicBezTo>
                  <a:pt x="59703" y="1790700"/>
                  <a:pt x="0" y="1730997"/>
                  <a:pt x="0" y="1657350"/>
                </a:cubicBezTo>
                <a:lnTo>
                  <a:pt x="0" y="133350"/>
                </a:lnTo>
                <a:cubicBezTo>
                  <a:pt x="0" y="59703"/>
                  <a:pt x="59703" y="0"/>
                  <a:pt x="133350" y="0"/>
                </a:cubicBezTo>
                <a:close/>
              </a:path>
            </a:pathLst>
          </a:custGeom>
          <a:solidFill>
            <a:srgbClr val="F4F7F8"/>
          </a:solidFill>
          <a:ln w="19050">
            <a:solidFill>
              <a:srgbClr val="DAE1E6"/>
            </a:solidFill>
          </a:ln>
        </p:spPr>
        <p:txBody>
          <a:bodyPr/>
          <a:lstStyle/>
          <a:p>
            <a:endParaRPr lang="zh-CN" altLang="en-US"/>
          </a:p>
        </p:txBody>
      </p:sp>
      <p:sp>
        <p:nvSpPr>
          <p:cNvPr id="13" name="Ellipse 13"/>
          <p:cNvSpPr/>
          <p:nvPr/>
        </p:nvSpPr>
        <p:spPr>
          <a:xfrm>
            <a:off x="742950" y="1638300"/>
            <a:ext cx="381000" cy="381000"/>
          </a:xfrm>
          <a:prstGeom prst="ellipse">
            <a:avLst/>
          </a:prstGeom>
          <a:solidFill>
            <a:srgbClr val="002D4C"/>
          </a:solidFill>
          <a:ln>
            <a:noFill/>
          </a:ln>
        </p:spPr>
        <p:txBody>
          <a:bodyPr/>
          <a:lstStyle/>
          <a:p>
            <a:endParaRPr lang="zh-CN" altLang="en-US"/>
          </a:p>
        </p:txBody>
      </p:sp>
      <p:sp>
        <p:nvSpPr>
          <p:cNvPr id="14" name="TextBox 14"/>
          <p:cNvSpPr txBox="1"/>
          <p:nvPr/>
        </p:nvSpPr>
        <p:spPr>
          <a:xfrm>
            <a:off x="887951" y="1749742"/>
            <a:ext cx="909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5" name="TextBox 15"/>
          <p:cNvSpPr txBox="1"/>
          <p:nvPr/>
        </p:nvSpPr>
        <p:spPr>
          <a:xfrm>
            <a:off x="1199198" y="1715929"/>
            <a:ext cx="1087511" cy="320040"/>
          </a:xfrm>
          <a:prstGeom prst="rect">
            <a:avLst/>
          </a:prstGeom>
          <a:noFill/>
          <a:ln>
            <a:noFill/>
          </a:ln>
        </p:spPr>
        <p:txBody>
          <a:bodyPr wrap="none" lIns="0" tIns="0" rIns="0" bIns="0" anchor="t" anchorCtr="0">
            <a:spAutoFit/>
          </a:bodyPr>
          <a:lstStyle/>
          <a:p>
            <a:pPr algn="l"/>
            <a:r>
              <a:rPr lang="zh-CN" sz="1575" b="1" dirty="0">
                <a:solidFill>
                  <a:srgbClr val="002D4C"/>
                </a:solidFill>
                <a:latin typeface="Arial"/>
                <a:ea typeface="Microsoft YaHei"/>
                <a:cs typeface="Arial"/>
              </a:rPr>
              <a:t>Capability</a:t>
            </a:r>
          </a:p>
        </p:txBody>
      </p:sp>
      <p:sp>
        <p:nvSpPr>
          <p:cNvPr id="16" name="TextBox 16"/>
          <p:cNvSpPr txBox="1"/>
          <p:nvPr/>
        </p:nvSpPr>
        <p:spPr>
          <a:xfrm>
            <a:off x="822008" y="2148364"/>
            <a:ext cx="11630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Core question</a:t>
            </a:r>
          </a:p>
        </p:txBody>
      </p:sp>
      <p:sp>
        <p:nvSpPr>
          <p:cNvPr id="17" name="TextBox 17"/>
          <p:cNvSpPr txBox="1"/>
          <p:nvPr/>
        </p:nvSpPr>
        <p:spPr>
          <a:xfrm>
            <a:off x="821055" y="2397442"/>
            <a:ext cx="2320576"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What should the Agent do?</a:t>
            </a:r>
          </a:p>
        </p:txBody>
      </p:sp>
      <p:sp>
        <p:nvSpPr>
          <p:cNvPr id="18" name="Line 18"/>
          <p:cNvSpPr/>
          <p:nvPr/>
        </p:nvSpPr>
        <p:spPr>
          <a:xfrm>
            <a:off x="838200" y="2724150"/>
            <a:ext cx="1638300" cy="9525"/>
          </a:xfrm>
          <a:custGeom>
            <a:avLst/>
            <a:gdLst/>
            <a:ahLst/>
            <a:cxnLst/>
            <a:rect l="l" t="t" r="r" b="b"/>
            <a:pathLst>
              <a:path w="1638300" h="9525">
                <a:moveTo>
                  <a:pt x="0" y="0"/>
                </a:moveTo>
                <a:lnTo>
                  <a:pt x="1638300" y="0"/>
                </a:lnTo>
              </a:path>
            </a:pathLst>
          </a:custGeom>
          <a:noFill/>
          <a:ln w="19050">
            <a:solidFill>
              <a:srgbClr val="DAE1E6"/>
            </a:solidFill>
          </a:ln>
        </p:spPr>
        <p:txBody>
          <a:bodyPr/>
          <a:lstStyle/>
          <a:p>
            <a:endParaRPr lang="zh-CN" altLang="en-US"/>
          </a:p>
        </p:txBody>
      </p:sp>
      <p:sp>
        <p:nvSpPr>
          <p:cNvPr id="19" name="TextBox 19"/>
          <p:cNvSpPr txBox="1"/>
          <p:nvPr/>
        </p:nvSpPr>
        <p:spPr>
          <a:xfrm>
            <a:off x="822008" y="2872264"/>
            <a:ext cx="2438186" cy="259080"/>
          </a:xfrm>
          <a:prstGeom prst="rect">
            <a:avLst/>
          </a:prstGeom>
          <a:noFill/>
          <a:ln>
            <a:noFill/>
          </a:ln>
        </p:spPr>
        <p:txBody>
          <a:bodyPr wrap="none" lIns="0" tIns="0" rIns="0" bIns="0" anchor="t" anchorCtr="0">
            <a:spAutoFit/>
          </a:bodyPr>
          <a:lstStyle/>
          <a:p>
            <a:pPr algn="l"/>
            <a:r>
              <a:rPr lang="zh-CN" sz="1275" dirty="0">
                <a:solidFill>
                  <a:srgbClr val="009682"/>
                </a:solidFill>
                <a:latin typeface="Arial"/>
                <a:ea typeface="Microsoft YaHei"/>
                <a:cs typeface="Arial"/>
              </a:rPr>
              <a:t>Output: capability definition</a:t>
            </a:r>
          </a:p>
        </p:txBody>
      </p:sp>
      <p:sp>
        <p:nvSpPr>
          <p:cNvPr id="20" name="Freeform 20"/>
          <p:cNvSpPr/>
          <p:nvPr/>
        </p:nvSpPr>
        <p:spPr>
          <a:xfrm>
            <a:off x="3371850" y="1504950"/>
            <a:ext cx="2324100" cy="1790700"/>
          </a:xfrm>
          <a:custGeom>
            <a:avLst/>
            <a:gdLst/>
            <a:ahLst/>
            <a:cxnLst/>
            <a:rect l="l" t="t" r="r" b="b"/>
            <a:pathLst>
              <a:path w="2095500" h="1790700">
                <a:moveTo>
                  <a:pt x="133350" y="0"/>
                </a:moveTo>
                <a:lnTo>
                  <a:pt x="1962150" y="0"/>
                </a:lnTo>
                <a:cubicBezTo>
                  <a:pt x="2035797" y="0"/>
                  <a:pt x="2095500" y="59703"/>
                  <a:pt x="2095500" y="133350"/>
                </a:cubicBezTo>
                <a:lnTo>
                  <a:pt x="2095500" y="1657350"/>
                </a:lnTo>
                <a:cubicBezTo>
                  <a:pt x="2095500" y="1730997"/>
                  <a:pt x="2035797" y="1790700"/>
                  <a:pt x="1962150" y="1790700"/>
                </a:cubicBezTo>
                <a:lnTo>
                  <a:pt x="133350" y="1790700"/>
                </a:lnTo>
                <a:cubicBezTo>
                  <a:pt x="59703" y="1790700"/>
                  <a:pt x="0" y="1730997"/>
                  <a:pt x="0" y="1657350"/>
                </a:cubicBezTo>
                <a:lnTo>
                  <a:pt x="0" y="133350"/>
                </a:lnTo>
                <a:cubicBezTo>
                  <a:pt x="0" y="59703"/>
                  <a:pt x="59703" y="0"/>
                  <a:pt x="133350" y="0"/>
                </a:cubicBezTo>
                <a:close/>
              </a:path>
            </a:pathLst>
          </a:custGeom>
          <a:solidFill>
            <a:srgbClr val="F4F7F8"/>
          </a:solidFill>
          <a:ln w="19050">
            <a:solidFill>
              <a:srgbClr val="DAE1E6"/>
            </a:solidFill>
          </a:ln>
        </p:spPr>
        <p:txBody>
          <a:bodyPr/>
          <a:lstStyle/>
          <a:p>
            <a:endParaRPr lang="zh-CN" altLang="en-US"/>
          </a:p>
        </p:txBody>
      </p:sp>
      <p:sp>
        <p:nvSpPr>
          <p:cNvPr id="21" name="Ellipse 21"/>
          <p:cNvSpPr/>
          <p:nvPr/>
        </p:nvSpPr>
        <p:spPr>
          <a:xfrm>
            <a:off x="3505200" y="1638300"/>
            <a:ext cx="381000" cy="381000"/>
          </a:xfrm>
          <a:prstGeom prst="ellipse">
            <a:avLst/>
          </a:prstGeom>
          <a:solidFill>
            <a:srgbClr val="002D4C"/>
          </a:solidFill>
          <a:ln>
            <a:noFill/>
          </a:ln>
        </p:spPr>
        <p:txBody>
          <a:bodyPr/>
          <a:lstStyle/>
          <a:p>
            <a:endParaRPr lang="zh-CN" altLang="en-US"/>
          </a:p>
        </p:txBody>
      </p:sp>
      <p:sp>
        <p:nvSpPr>
          <p:cNvPr id="22" name="TextBox 22"/>
          <p:cNvSpPr txBox="1"/>
          <p:nvPr/>
        </p:nvSpPr>
        <p:spPr>
          <a:xfrm>
            <a:off x="3626574" y="17497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3" name="TextBox 23"/>
          <p:cNvSpPr txBox="1"/>
          <p:nvPr/>
        </p:nvSpPr>
        <p:spPr>
          <a:xfrm>
            <a:off x="3961448" y="1715929"/>
            <a:ext cx="1076485" cy="320040"/>
          </a:xfrm>
          <a:prstGeom prst="rect">
            <a:avLst/>
          </a:prstGeom>
          <a:noFill/>
          <a:ln>
            <a:noFill/>
          </a:ln>
        </p:spPr>
        <p:txBody>
          <a:bodyPr wrap="none" lIns="0" tIns="0" rIns="0" bIns="0" anchor="t" anchorCtr="0">
            <a:spAutoFit/>
          </a:bodyPr>
          <a:lstStyle/>
          <a:p>
            <a:pPr algn="l"/>
            <a:r>
              <a:rPr lang="zh-CN" sz="1575" b="1" dirty="0">
                <a:solidFill>
                  <a:srgbClr val="002D4C"/>
                </a:solidFill>
                <a:latin typeface="Arial"/>
                <a:ea typeface="Microsoft YaHei"/>
                <a:cs typeface="Arial"/>
              </a:rPr>
              <a:t>Test Task</a:t>
            </a:r>
          </a:p>
        </p:txBody>
      </p:sp>
      <p:sp>
        <p:nvSpPr>
          <p:cNvPr id="24" name="TextBox 24"/>
          <p:cNvSpPr txBox="1"/>
          <p:nvPr/>
        </p:nvSpPr>
        <p:spPr>
          <a:xfrm>
            <a:off x="3584258" y="2148364"/>
            <a:ext cx="11630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Core question</a:t>
            </a:r>
          </a:p>
        </p:txBody>
      </p:sp>
      <p:sp>
        <p:nvSpPr>
          <p:cNvPr id="25" name="TextBox 25"/>
          <p:cNvSpPr txBox="1"/>
          <p:nvPr/>
        </p:nvSpPr>
        <p:spPr>
          <a:xfrm>
            <a:off x="3583305" y="2397442"/>
            <a:ext cx="1924526"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How can it be tested?</a:t>
            </a:r>
          </a:p>
        </p:txBody>
      </p:sp>
      <p:sp>
        <p:nvSpPr>
          <p:cNvPr id="26" name="Line 26"/>
          <p:cNvSpPr/>
          <p:nvPr/>
        </p:nvSpPr>
        <p:spPr>
          <a:xfrm>
            <a:off x="3600450" y="2724150"/>
            <a:ext cx="1638300" cy="9525"/>
          </a:xfrm>
          <a:custGeom>
            <a:avLst/>
            <a:gdLst/>
            <a:ahLst/>
            <a:cxnLst/>
            <a:rect l="l" t="t" r="r" b="b"/>
            <a:pathLst>
              <a:path w="1638300" h="9525">
                <a:moveTo>
                  <a:pt x="0" y="0"/>
                </a:moveTo>
                <a:lnTo>
                  <a:pt x="1638300" y="0"/>
                </a:lnTo>
              </a:path>
            </a:pathLst>
          </a:custGeom>
          <a:noFill/>
          <a:ln w="19050">
            <a:solidFill>
              <a:srgbClr val="DAE1E6"/>
            </a:solidFill>
          </a:ln>
        </p:spPr>
        <p:txBody>
          <a:bodyPr/>
          <a:lstStyle/>
          <a:p>
            <a:endParaRPr lang="zh-CN" altLang="en-US"/>
          </a:p>
        </p:txBody>
      </p:sp>
      <p:sp>
        <p:nvSpPr>
          <p:cNvPr id="27" name="TextBox 27"/>
          <p:cNvSpPr txBox="1"/>
          <p:nvPr/>
        </p:nvSpPr>
        <p:spPr>
          <a:xfrm>
            <a:off x="3584258" y="2872264"/>
            <a:ext cx="2514695" cy="259080"/>
          </a:xfrm>
          <a:prstGeom prst="rect">
            <a:avLst/>
          </a:prstGeom>
          <a:noFill/>
          <a:ln>
            <a:noFill/>
          </a:ln>
        </p:spPr>
        <p:txBody>
          <a:bodyPr wrap="none" lIns="0" tIns="0" rIns="0" bIns="0" anchor="t" anchorCtr="0">
            <a:spAutoFit/>
          </a:bodyPr>
          <a:lstStyle/>
          <a:p>
            <a:pPr algn="l"/>
            <a:r>
              <a:rPr lang="zh-CN" sz="1275" dirty="0">
                <a:solidFill>
                  <a:srgbClr val="009682"/>
                </a:solidFill>
                <a:latin typeface="Arial"/>
                <a:ea typeface="Microsoft YaHei"/>
                <a:cs typeface="Arial"/>
              </a:rPr>
              <a:t>Output: test cases and types</a:t>
            </a:r>
          </a:p>
        </p:txBody>
      </p:sp>
      <p:sp>
        <p:nvSpPr>
          <p:cNvPr id="28" name="Freeform 28"/>
          <p:cNvSpPr/>
          <p:nvPr/>
        </p:nvSpPr>
        <p:spPr>
          <a:xfrm>
            <a:off x="6134099" y="1504950"/>
            <a:ext cx="2324099" cy="1790700"/>
          </a:xfrm>
          <a:custGeom>
            <a:avLst/>
            <a:gdLst/>
            <a:ahLst/>
            <a:cxnLst/>
            <a:rect l="l" t="t" r="r" b="b"/>
            <a:pathLst>
              <a:path w="2095500" h="1790700">
                <a:moveTo>
                  <a:pt x="133350" y="0"/>
                </a:moveTo>
                <a:lnTo>
                  <a:pt x="1962150" y="0"/>
                </a:lnTo>
                <a:cubicBezTo>
                  <a:pt x="2035797" y="0"/>
                  <a:pt x="2095500" y="59703"/>
                  <a:pt x="2095500" y="133350"/>
                </a:cubicBezTo>
                <a:lnTo>
                  <a:pt x="2095500" y="1657350"/>
                </a:lnTo>
                <a:cubicBezTo>
                  <a:pt x="2095500" y="1730997"/>
                  <a:pt x="2035797" y="1790700"/>
                  <a:pt x="1962150" y="1790700"/>
                </a:cubicBezTo>
                <a:lnTo>
                  <a:pt x="133350" y="1790700"/>
                </a:lnTo>
                <a:cubicBezTo>
                  <a:pt x="59703" y="1790700"/>
                  <a:pt x="0" y="1730997"/>
                  <a:pt x="0" y="1657350"/>
                </a:cubicBezTo>
                <a:lnTo>
                  <a:pt x="0" y="133350"/>
                </a:lnTo>
                <a:cubicBezTo>
                  <a:pt x="0" y="59703"/>
                  <a:pt x="59703" y="0"/>
                  <a:pt x="133350" y="0"/>
                </a:cubicBezTo>
                <a:close/>
              </a:path>
            </a:pathLst>
          </a:custGeom>
          <a:solidFill>
            <a:srgbClr val="F4F7F8"/>
          </a:solidFill>
          <a:ln w="19050">
            <a:solidFill>
              <a:srgbClr val="DAE1E6"/>
            </a:solidFill>
          </a:ln>
        </p:spPr>
        <p:txBody>
          <a:bodyPr/>
          <a:lstStyle/>
          <a:p>
            <a:endParaRPr lang="zh-CN" altLang="en-US"/>
          </a:p>
        </p:txBody>
      </p:sp>
      <p:sp>
        <p:nvSpPr>
          <p:cNvPr id="29" name="Ellipse 29"/>
          <p:cNvSpPr/>
          <p:nvPr/>
        </p:nvSpPr>
        <p:spPr>
          <a:xfrm>
            <a:off x="6267450" y="1638300"/>
            <a:ext cx="381000" cy="381000"/>
          </a:xfrm>
          <a:prstGeom prst="ellipse">
            <a:avLst/>
          </a:prstGeom>
          <a:solidFill>
            <a:srgbClr val="002D4C"/>
          </a:solidFill>
          <a:ln>
            <a:noFill/>
          </a:ln>
        </p:spPr>
        <p:txBody>
          <a:bodyPr/>
          <a:lstStyle/>
          <a:p>
            <a:endParaRPr lang="zh-CN" altLang="en-US"/>
          </a:p>
        </p:txBody>
      </p:sp>
      <p:sp>
        <p:nvSpPr>
          <p:cNvPr id="30" name="TextBox 30"/>
          <p:cNvSpPr txBox="1"/>
          <p:nvPr/>
        </p:nvSpPr>
        <p:spPr>
          <a:xfrm>
            <a:off x="6388824" y="17497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1" name="TextBox 31"/>
          <p:cNvSpPr txBox="1"/>
          <p:nvPr/>
        </p:nvSpPr>
        <p:spPr>
          <a:xfrm>
            <a:off x="6724650" y="1647825"/>
            <a:ext cx="846701" cy="304800"/>
          </a:xfrm>
          <a:prstGeom prst="rect">
            <a:avLst/>
          </a:prstGeom>
          <a:noFill/>
          <a:ln>
            <a:noFill/>
          </a:ln>
        </p:spPr>
        <p:txBody>
          <a:bodyPr wrap="none" lIns="0" tIns="0" rIns="0" bIns="0" anchor="t" anchorCtr="0">
            <a:spAutoFit/>
          </a:bodyPr>
          <a:lstStyle/>
          <a:p>
            <a:pPr algn="l"/>
            <a:r>
              <a:rPr lang="zh-CN" sz="1500" b="1" dirty="0">
                <a:solidFill>
                  <a:srgbClr val="002D4C"/>
                </a:solidFill>
                <a:latin typeface="Arial"/>
                <a:ea typeface="Microsoft YaHei"/>
                <a:cs typeface="Arial"/>
              </a:rPr>
              <a:t>Dataset</a:t>
            </a:r>
          </a:p>
        </p:txBody>
      </p:sp>
      <p:sp>
        <p:nvSpPr>
          <p:cNvPr id="32" name="TextBox 32"/>
          <p:cNvSpPr txBox="1"/>
          <p:nvPr/>
        </p:nvSpPr>
        <p:spPr>
          <a:xfrm>
            <a:off x="6724650" y="1885950"/>
            <a:ext cx="1298258" cy="304800"/>
          </a:xfrm>
          <a:prstGeom prst="rect">
            <a:avLst/>
          </a:prstGeom>
          <a:noFill/>
          <a:ln>
            <a:noFill/>
          </a:ln>
        </p:spPr>
        <p:txBody>
          <a:bodyPr wrap="none" lIns="0" tIns="0" rIns="0" bIns="0" anchor="t" anchorCtr="0">
            <a:spAutoFit/>
          </a:bodyPr>
          <a:lstStyle/>
          <a:p>
            <a:pPr algn="l"/>
            <a:r>
              <a:rPr lang="zh-CN" sz="1500" b="1" dirty="0">
                <a:solidFill>
                  <a:srgbClr val="002D4C"/>
                </a:solidFill>
                <a:latin typeface="Arial"/>
                <a:ea typeface="Microsoft YaHei"/>
                <a:cs typeface="Arial"/>
              </a:rPr>
              <a:t>Requirement</a:t>
            </a:r>
          </a:p>
        </p:txBody>
      </p:sp>
      <p:sp>
        <p:nvSpPr>
          <p:cNvPr id="33" name="TextBox 33"/>
          <p:cNvSpPr txBox="1"/>
          <p:nvPr/>
        </p:nvSpPr>
        <p:spPr>
          <a:xfrm>
            <a:off x="6346508" y="2262664"/>
            <a:ext cx="11630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Core question</a:t>
            </a:r>
          </a:p>
        </p:txBody>
      </p:sp>
      <p:sp>
        <p:nvSpPr>
          <p:cNvPr id="34" name="TextBox 34"/>
          <p:cNvSpPr txBox="1"/>
          <p:nvPr/>
        </p:nvSpPr>
        <p:spPr>
          <a:xfrm>
            <a:off x="6345555" y="2511742"/>
            <a:ext cx="2023539"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What data is required?</a:t>
            </a:r>
          </a:p>
        </p:txBody>
      </p:sp>
      <p:sp>
        <p:nvSpPr>
          <p:cNvPr id="35" name="Line 35"/>
          <p:cNvSpPr/>
          <p:nvPr/>
        </p:nvSpPr>
        <p:spPr>
          <a:xfrm>
            <a:off x="6362700" y="2838450"/>
            <a:ext cx="1638300" cy="9525"/>
          </a:xfrm>
          <a:custGeom>
            <a:avLst/>
            <a:gdLst/>
            <a:ahLst/>
            <a:cxnLst/>
            <a:rect l="l" t="t" r="r" b="b"/>
            <a:pathLst>
              <a:path w="1638300" h="9525">
                <a:moveTo>
                  <a:pt x="0" y="0"/>
                </a:moveTo>
                <a:lnTo>
                  <a:pt x="1638300" y="0"/>
                </a:lnTo>
              </a:path>
            </a:pathLst>
          </a:custGeom>
          <a:noFill/>
          <a:ln w="19050">
            <a:solidFill>
              <a:srgbClr val="DAE1E6"/>
            </a:solidFill>
          </a:ln>
        </p:spPr>
        <p:txBody>
          <a:bodyPr/>
          <a:lstStyle/>
          <a:p>
            <a:endParaRPr lang="zh-CN" altLang="en-US"/>
          </a:p>
        </p:txBody>
      </p:sp>
      <p:sp>
        <p:nvSpPr>
          <p:cNvPr id="36" name="TextBox 36"/>
          <p:cNvSpPr txBox="1"/>
          <p:nvPr/>
        </p:nvSpPr>
        <p:spPr>
          <a:xfrm>
            <a:off x="6347460" y="2994660"/>
            <a:ext cx="2494788" cy="243840"/>
          </a:xfrm>
          <a:prstGeom prst="rect">
            <a:avLst/>
          </a:prstGeom>
          <a:noFill/>
          <a:ln>
            <a:noFill/>
          </a:ln>
        </p:spPr>
        <p:txBody>
          <a:bodyPr wrap="none" lIns="0" tIns="0" rIns="0" bIns="0" anchor="t" anchorCtr="0">
            <a:spAutoFit/>
          </a:bodyPr>
          <a:lstStyle/>
          <a:p>
            <a:pPr algn="l"/>
            <a:r>
              <a:rPr lang="zh-CN" sz="1200" dirty="0">
                <a:solidFill>
                  <a:srgbClr val="009682"/>
                </a:solidFill>
                <a:latin typeface="Arial"/>
                <a:ea typeface="Microsoft YaHei"/>
                <a:cs typeface="Arial"/>
              </a:rPr>
              <a:t>Output: content and resources</a:t>
            </a:r>
          </a:p>
        </p:txBody>
      </p:sp>
      <p:sp>
        <p:nvSpPr>
          <p:cNvPr id="37" name="Freeform 37"/>
          <p:cNvSpPr/>
          <p:nvPr/>
        </p:nvSpPr>
        <p:spPr>
          <a:xfrm>
            <a:off x="9045894" y="2679224"/>
            <a:ext cx="2324098" cy="1790700"/>
          </a:xfrm>
          <a:custGeom>
            <a:avLst/>
            <a:gdLst/>
            <a:ahLst/>
            <a:cxnLst/>
            <a:rect l="l" t="t" r="r" b="b"/>
            <a:pathLst>
              <a:path w="2095500" h="1790700">
                <a:moveTo>
                  <a:pt x="133350" y="0"/>
                </a:moveTo>
                <a:lnTo>
                  <a:pt x="1962150" y="0"/>
                </a:lnTo>
                <a:cubicBezTo>
                  <a:pt x="2035797" y="0"/>
                  <a:pt x="2095500" y="59703"/>
                  <a:pt x="2095500" y="133350"/>
                </a:cubicBezTo>
                <a:lnTo>
                  <a:pt x="2095500" y="1657350"/>
                </a:lnTo>
                <a:cubicBezTo>
                  <a:pt x="2095500" y="1730997"/>
                  <a:pt x="2035797" y="1790700"/>
                  <a:pt x="1962150" y="1790700"/>
                </a:cubicBezTo>
                <a:lnTo>
                  <a:pt x="133350" y="1790700"/>
                </a:lnTo>
                <a:cubicBezTo>
                  <a:pt x="59703" y="1790700"/>
                  <a:pt x="0" y="1730997"/>
                  <a:pt x="0" y="1657350"/>
                </a:cubicBezTo>
                <a:lnTo>
                  <a:pt x="0" y="133350"/>
                </a:lnTo>
                <a:cubicBezTo>
                  <a:pt x="0" y="59703"/>
                  <a:pt x="59703" y="0"/>
                  <a:pt x="133350" y="0"/>
                </a:cubicBezTo>
                <a:close/>
              </a:path>
            </a:pathLst>
          </a:custGeom>
          <a:solidFill>
            <a:srgbClr val="EAF6F4"/>
          </a:solidFill>
          <a:ln w="19050">
            <a:solidFill>
              <a:srgbClr val="009682"/>
            </a:solidFill>
          </a:ln>
        </p:spPr>
        <p:txBody>
          <a:bodyPr/>
          <a:lstStyle/>
          <a:p>
            <a:endParaRPr lang="zh-CN" altLang="en-US"/>
          </a:p>
        </p:txBody>
      </p:sp>
      <p:sp>
        <p:nvSpPr>
          <p:cNvPr id="38" name="Ellipse 38"/>
          <p:cNvSpPr/>
          <p:nvPr/>
        </p:nvSpPr>
        <p:spPr>
          <a:xfrm>
            <a:off x="9179244" y="2812574"/>
            <a:ext cx="381000" cy="381000"/>
          </a:xfrm>
          <a:prstGeom prst="ellipse">
            <a:avLst/>
          </a:prstGeom>
          <a:solidFill>
            <a:srgbClr val="009682"/>
          </a:solidFill>
          <a:ln>
            <a:noFill/>
          </a:ln>
        </p:spPr>
        <p:txBody>
          <a:bodyPr/>
          <a:lstStyle/>
          <a:p>
            <a:endParaRPr lang="zh-CN" altLang="en-US"/>
          </a:p>
        </p:txBody>
      </p:sp>
      <p:sp>
        <p:nvSpPr>
          <p:cNvPr id="39" name="TextBox 39"/>
          <p:cNvSpPr txBox="1"/>
          <p:nvPr/>
        </p:nvSpPr>
        <p:spPr>
          <a:xfrm>
            <a:off x="9300618" y="2924016"/>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40" name="TextBox 40"/>
          <p:cNvSpPr txBox="1"/>
          <p:nvPr/>
        </p:nvSpPr>
        <p:spPr>
          <a:xfrm>
            <a:off x="9637396" y="2830195"/>
            <a:ext cx="1472775"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Ground Truth /</a:t>
            </a:r>
          </a:p>
        </p:txBody>
      </p:sp>
      <p:sp>
        <p:nvSpPr>
          <p:cNvPr id="41" name="TextBox 41"/>
          <p:cNvSpPr txBox="1"/>
          <p:nvPr/>
        </p:nvSpPr>
        <p:spPr>
          <a:xfrm>
            <a:off x="9637396" y="3068320"/>
            <a:ext cx="1083701"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Annotation</a:t>
            </a:r>
          </a:p>
        </p:txBody>
      </p:sp>
      <p:sp>
        <p:nvSpPr>
          <p:cNvPr id="42" name="TextBox 42"/>
          <p:cNvSpPr txBox="1"/>
          <p:nvPr/>
        </p:nvSpPr>
        <p:spPr>
          <a:xfrm>
            <a:off x="9258302" y="3436938"/>
            <a:ext cx="11630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Core question</a:t>
            </a:r>
          </a:p>
        </p:txBody>
      </p:sp>
      <p:sp>
        <p:nvSpPr>
          <p:cNvPr id="43" name="TextBox 43"/>
          <p:cNvSpPr txBox="1"/>
          <p:nvPr/>
        </p:nvSpPr>
        <p:spPr>
          <a:xfrm>
            <a:off x="9257349" y="3686016"/>
            <a:ext cx="1618488"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What is expected?</a:t>
            </a:r>
          </a:p>
        </p:txBody>
      </p:sp>
      <p:sp>
        <p:nvSpPr>
          <p:cNvPr id="44" name="Line 44"/>
          <p:cNvSpPr/>
          <p:nvPr/>
        </p:nvSpPr>
        <p:spPr>
          <a:xfrm>
            <a:off x="9274494" y="4012724"/>
            <a:ext cx="1638300" cy="9525"/>
          </a:xfrm>
          <a:custGeom>
            <a:avLst/>
            <a:gdLst/>
            <a:ahLst/>
            <a:cxnLst/>
            <a:rect l="l" t="t" r="r" b="b"/>
            <a:pathLst>
              <a:path w="1638300" h="9525">
                <a:moveTo>
                  <a:pt x="0" y="0"/>
                </a:moveTo>
                <a:lnTo>
                  <a:pt x="1638300" y="0"/>
                </a:lnTo>
              </a:path>
            </a:pathLst>
          </a:custGeom>
          <a:noFill/>
          <a:ln w="19050">
            <a:solidFill>
              <a:srgbClr val="B8DCD6"/>
            </a:solidFill>
          </a:ln>
        </p:spPr>
        <p:txBody>
          <a:bodyPr/>
          <a:lstStyle/>
          <a:p>
            <a:endParaRPr lang="zh-CN" altLang="en-US"/>
          </a:p>
        </p:txBody>
      </p:sp>
      <p:sp>
        <p:nvSpPr>
          <p:cNvPr id="45" name="TextBox 45"/>
          <p:cNvSpPr txBox="1"/>
          <p:nvPr/>
        </p:nvSpPr>
        <p:spPr>
          <a:xfrm>
            <a:off x="9164004" y="4168934"/>
            <a:ext cx="2542794" cy="243840"/>
          </a:xfrm>
          <a:prstGeom prst="rect">
            <a:avLst/>
          </a:prstGeom>
          <a:noFill/>
          <a:ln>
            <a:noFill/>
          </a:ln>
        </p:spPr>
        <p:txBody>
          <a:bodyPr wrap="none" lIns="0" tIns="0" rIns="0" bIns="0" anchor="t" anchorCtr="0">
            <a:spAutoFit/>
          </a:bodyPr>
          <a:lstStyle/>
          <a:p>
            <a:pPr algn="l"/>
            <a:r>
              <a:rPr lang="zh-CN" sz="1200" dirty="0">
                <a:solidFill>
                  <a:srgbClr val="005A50"/>
                </a:solidFill>
                <a:latin typeface="Arial"/>
                <a:ea typeface="Microsoft YaHei"/>
                <a:cs typeface="Arial"/>
              </a:rPr>
              <a:t>Output: gold answers and labels</a:t>
            </a:r>
          </a:p>
        </p:txBody>
      </p:sp>
      <p:sp>
        <p:nvSpPr>
          <p:cNvPr id="46" name="Freeform 46"/>
          <p:cNvSpPr/>
          <p:nvPr/>
        </p:nvSpPr>
        <p:spPr>
          <a:xfrm>
            <a:off x="6134100" y="3876675"/>
            <a:ext cx="2324098" cy="1790700"/>
          </a:xfrm>
          <a:custGeom>
            <a:avLst/>
            <a:gdLst/>
            <a:ahLst/>
            <a:cxnLst/>
            <a:rect l="l" t="t" r="r" b="b"/>
            <a:pathLst>
              <a:path w="2095500" h="1790700">
                <a:moveTo>
                  <a:pt x="133350" y="0"/>
                </a:moveTo>
                <a:lnTo>
                  <a:pt x="1962150" y="0"/>
                </a:lnTo>
                <a:cubicBezTo>
                  <a:pt x="2035797" y="0"/>
                  <a:pt x="2095500" y="59703"/>
                  <a:pt x="2095500" y="133350"/>
                </a:cubicBezTo>
                <a:lnTo>
                  <a:pt x="2095500" y="1657350"/>
                </a:lnTo>
                <a:cubicBezTo>
                  <a:pt x="2095500" y="1730997"/>
                  <a:pt x="2035797" y="1790700"/>
                  <a:pt x="1962150" y="1790700"/>
                </a:cubicBezTo>
                <a:lnTo>
                  <a:pt x="133350" y="1790700"/>
                </a:lnTo>
                <a:cubicBezTo>
                  <a:pt x="59703" y="1790700"/>
                  <a:pt x="0" y="1730997"/>
                  <a:pt x="0" y="1657350"/>
                </a:cubicBezTo>
                <a:lnTo>
                  <a:pt x="0" y="133350"/>
                </a:lnTo>
                <a:cubicBezTo>
                  <a:pt x="0" y="59703"/>
                  <a:pt x="59703" y="0"/>
                  <a:pt x="133350" y="0"/>
                </a:cubicBezTo>
                <a:close/>
              </a:path>
            </a:pathLst>
          </a:custGeom>
          <a:solidFill>
            <a:srgbClr val="EAF6F4"/>
          </a:solidFill>
          <a:ln w="19050">
            <a:solidFill>
              <a:srgbClr val="009682"/>
            </a:solidFill>
          </a:ln>
        </p:spPr>
        <p:txBody>
          <a:bodyPr/>
          <a:lstStyle/>
          <a:p>
            <a:endParaRPr lang="zh-CN" altLang="en-US"/>
          </a:p>
        </p:txBody>
      </p:sp>
      <p:sp>
        <p:nvSpPr>
          <p:cNvPr id="47" name="Ellipse 47"/>
          <p:cNvSpPr/>
          <p:nvPr/>
        </p:nvSpPr>
        <p:spPr>
          <a:xfrm>
            <a:off x="6267450" y="4010025"/>
            <a:ext cx="381000" cy="381000"/>
          </a:xfrm>
          <a:prstGeom prst="ellipse">
            <a:avLst/>
          </a:prstGeom>
          <a:solidFill>
            <a:srgbClr val="009682"/>
          </a:solidFill>
          <a:ln>
            <a:noFill/>
          </a:ln>
        </p:spPr>
        <p:txBody>
          <a:bodyPr/>
          <a:lstStyle/>
          <a:p>
            <a:endParaRPr lang="zh-CN" altLang="en-US"/>
          </a:p>
        </p:txBody>
      </p:sp>
      <p:sp>
        <p:nvSpPr>
          <p:cNvPr id="48" name="TextBox 48"/>
          <p:cNvSpPr txBox="1"/>
          <p:nvPr/>
        </p:nvSpPr>
        <p:spPr>
          <a:xfrm>
            <a:off x="6388824" y="41214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49" name="TextBox 49"/>
          <p:cNvSpPr txBox="1"/>
          <p:nvPr/>
        </p:nvSpPr>
        <p:spPr>
          <a:xfrm>
            <a:off x="6723698" y="4087654"/>
            <a:ext cx="833904" cy="320040"/>
          </a:xfrm>
          <a:prstGeom prst="rect">
            <a:avLst/>
          </a:prstGeom>
          <a:noFill/>
          <a:ln>
            <a:noFill/>
          </a:ln>
        </p:spPr>
        <p:txBody>
          <a:bodyPr wrap="none" lIns="0" tIns="0" rIns="0" bIns="0" anchor="t" anchorCtr="0">
            <a:spAutoFit/>
          </a:bodyPr>
          <a:lstStyle/>
          <a:p>
            <a:pPr algn="l"/>
            <a:r>
              <a:rPr lang="zh-CN" sz="1575" b="1" dirty="0">
                <a:solidFill>
                  <a:srgbClr val="002D4C"/>
                </a:solidFill>
                <a:latin typeface="Arial"/>
                <a:ea typeface="Microsoft YaHei"/>
                <a:cs typeface="Arial"/>
              </a:rPr>
              <a:t>Logging</a:t>
            </a:r>
          </a:p>
        </p:txBody>
      </p:sp>
      <p:sp>
        <p:nvSpPr>
          <p:cNvPr id="50" name="TextBox 50"/>
          <p:cNvSpPr txBox="1"/>
          <p:nvPr/>
        </p:nvSpPr>
        <p:spPr>
          <a:xfrm>
            <a:off x="6346508" y="4520089"/>
            <a:ext cx="11630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Core question</a:t>
            </a:r>
          </a:p>
        </p:txBody>
      </p:sp>
      <p:sp>
        <p:nvSpPr>
          <p:cNvPr id="51" name="TextBox 51"/>
          <p:cNvSpPr txBox="1"/>
          <p:nvPr/>
        </p:nvSpPr>
        <p:spPr>
          <a:xfrm>
            <a:off x="6345555" y="4769168"/>
            <a:ext cx="2266569"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What should be recorded?</a:t>
            </a:r>
          </a:p>
        </p:txBody>
      </p:sp>
      <p:sp>
        <p:nvSpPr>
          <p:cNvPr id="52" name="Line 52"/>
          <p:cNvSpPr/>
          <p:nvPr/>
        </p:nvSpPr>
        <p:spPr>
          <a:xfrm>
            <a:off x="6362700" y="5095875"/>
            <a:ext cx="1638300" cy="9525"/>
          </a:xfrm>
          <a:custGeom>
            <a:avLst/>
            <a:gdLst/>
            <a:ahLst/>
            <a:cxnLst/>
            <a:rect l="l" t="t" r="r" b="b"/>
            <a:pathLst>
              <a:path w="1638300" h="9525">
                <a:moveTo>
                  <a:pt x="0" y="0"/>
                </a:moveTo>
                <a:lnTo>
                  <a:pt x="1638300" y="0"/>
                </a:lnTo>
              </a:path>
            </a:pathLst>
          </a:custGeom>
          <a:noFill/>
          <a:ln w="19050">
            <a:solidFill>
              <a:srgbClr val="B8DCD6"/>
            </a:solidFill>
          </a:ln>
        </p:spPr>
        <p:txBody>
          <a:bodyPr/>
          <a:lstStyle/>
          <a:p>
            <a:endParaRPr lang="zh-CN" altLang="en-US"/>
          </a:p>
        </p:txBody>
      </p:sp>
      <p:sp>
        <p:nvSpPr>
          <p:cNvPr id="53" name="TextBox 53"/>
          <p:cNvSpPr txBox="1"/>
          <p:nvPr/>
        </p:nvSpPr>
        <p:spPr>
          <a:xfrm>
            <a:off x="6346508" y="5243989"/>
            <a:ext cx="2327672" cy="259080"/>
          </a:xfrm>
          <a:prstGeom prst="rect">
            <a:avLst/>
          </a:prstGeom>
          <a:noFill/>
          <a:ln>
            <a:noFill/>
          </a:ln>
        </p:spPr>
        <p:txBody>
          <a:bodyPr wrap="none" lIns="0" tIns="0" rIns="0" bIns="0" anchor="t" anchorCtr="0">
            <a:spAutoFit/>
          </a:bodyPr>
          <a:lstStyle/>
          <a:p>
            <a:pPr algn="l"/>
            <a:r>
              <a:rPr lang="zh-CN" sz="1275" dirty="0">
                <a:solidFill>
                  <a:srgbClr val="005A50"/>
                </a:solidFill>
                <a:latin typeface="Arial"/>
                <a:ea typeface="Microsoft YaHei"/>
                <a:cs typeface="Arial"/>
              </a:rPr>
              <a:t>Output: structured run log</a:t>
            </a:r>
          </a:p>
        </p:txBody>
      </p:sp>
      <p:sp>
        <p:nvSpPr>
          <p:cNvPr id="54" name="Freeform 54"/>
          <p:cNvSpPr/>
          <p:nvPr/>
        </p:nvSpPr>
        <p:spPr>
          <a:xfrm>
            <a:off x="3371850" y="3876675"/>
            <a:ext cx="2344976" cy="1790700"/>
          </a:xfrm>
          <a:custGeom>
            <a:avLst/>
            <a:gdLst/>
            <a:ahLst/>
            <a:cxnLst/>
            <a:rect l="l" t="t" r="r" b="b"/>
            <a:pathLst>
              <a:path w="2095500" h="1790700">
                <a:moveTo>
                  <a:pt x="133350" y="0"/>
                </a:moveTo>
                <a:lnTo>
                  <a:pt x="1962150" y="0"/>
                </a:lnTo>
                <a:cubicBezTo>
                  <a:pt x="2035797" y="0"/>
                  <a:pt x="2095500" y="59703"/>
                  <a:pt x="2095500" y="133350"/>
                </a:cubicBezTo>
                <a:lnTo>
                  <a:pt x="2095500" y="1657350"/>
                </a:lnTo>
                <a:cubicBezTo>
                  <a:pt x="2095500" y="1730997"/>
                  <a:pt x="2035797" y="1790700"/>
                  <a:pt x="1962150" y="1790700"/>
                </a:cubicBezTo>
                <a:lnTo>
                  <a:pt x="133350" y="1790700"/>
                </a:lnTo>
                <a:cubicBezTo>
                  <a:pt x="59703" y="1790700"/>
                  <a:pt x="0" y="1730997"/>
                  <a:pt x="0" y="1657350"/>
                </a:cubicBezTo>
                <a:lnTo>
                  <a:pt x="0" y="133350"/>
                </a:lnTo>
                <a:cubicBezTo>
                  <a:pt x="0" y="59703"/>
                  <a:pt x="59703" y="0"/>
                  <a:pt x="133350" y="0"/>
                </a:cubicBezTo>
                <a:close/>
              </a:path>
            </a:pathLst>
          </a:custGeom>
          <a:solidFill>
            <a:srgbClr val="F4F7F8"/>
          </a:solidFill>
          <a:ln w="19050">
            <a:solidFill>
              <a:srgbClr val="DAE1E6"/>
            </a:solidFill>
          </a:ln>
        </p:spPr>
        <p:txBody>
          <a:bodyPr/>
          <a:lstStyle/>
          <a:p>
            <a:endParaRPr lang="zh-CN" altLang="en-US"/>
          </a:p>
        </p:txBody>
      </p:sp>
      <p:sp>
        <p:nvSpPr>
          <p:cNvPr id="55" name="Ellipse 55"/>
          <p:cNvSpPr/>
          <p:nvPr/>
        </p:nvSpPr>
        <p:spPr>
          <a:xfrm>
            <a:off x="3505200" y="4010025"/>
            <a:ext cx="381000" cy="381000"/>
          </a:xfrm>
          <a:prstGeom prst="ellipse">
            <a:avLst/>
          </a:prstGeom>
          <a:solidFill>
            <a:srgbClr val="002D4C"/>
          </a:solidFill>
          <a:ln>
            <a:noFill/>
          </a:ln>
        </p:spPr>
        <p:txBody>
          <a:bodyPr/>
          <a:lstStyle/>
          <a:p>
            <a:endParaRPr lang="zh-CN" altLang="en-US"/>
          </a:p>
        </p:txBody>
      </p:sp>
      <p:sp>
        <p:nvSpPr>
          <p:cNvPr id="56" name="TextBox 56"/>
          <p:cNvSpPr txBox="1"/>
          <p:nvPr/>
        </p:nvSpPr>
        <p:spPr>
          <a:xfrm>
            <a:off x="3626574" y="41214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6</a:t>
            </a:r>
          </a:p>
        </p:txBody>
      </p:sp>
      <p:sp>
        <p:nvSpPr>
          <p:cNvPr id="57" name="TextBox 57"/>
          <p:cNvSpPr txBox="1"/>
          <p:nvPr/>
        </p:nvSpPr>
        <p:spPr>
          <a:xfrm>
            <a:off x="3961448" y="4087654"/>
            <a:ext cx="756720" cy="320040"/>
          </a:xfrm>
          <a:prstGeom prst="rect">
            <a:avLst/>
          </a:prstGeom>
          <a:noFill/>
          <a:ln>
            <a:noFill/>
          </a:ln>
        </p:spPr>
        <p:txBody>
          <a:bodyPr wrap="none" lIns="0" tIns="0" rIns="0" bIns="0" anchor="t" anchorCtr="0">
            <a:spAutoFit/>
          </a:bodyPr>
          <a:lstStyle/>
          <a:p>
            <a:pPr algn="l"/>
            <a:r>
              <a:rPr lang="zh-CN" sz="1575" b="1" dirty="0">
                <a:solidFill>
                  <a:srgbClr val="002D4C"/>
                </a:solidFill>
                <a:latin typeface="Arial"/>
                <a:ea typeface="Microsoft YaHei"/>
                <a:cs typeface="Arial"/>
              </a:rPr>
              <a:t>Metric</a:t>
            </a:r>
          </a:p>
        </p:txBody>
      </p:sp>
      <p:sp>
        <p:nvSpPr>
          <p:cNvPr id="58" name="TextBox 58"/>
          <p:cNvSpPr txBox="1"/>
          <p:nvPr/>
        </p:nvSpPr>
        <p:spPr>
          <a:xfrm>
            <a:off x="3584258" y="4520089"/>
            <a:ext cx="11630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Core question</a:t>
            </a:r>
          </a:p>
        </p:txBody>
      </p:sp>
      <p:sp>
        <p:nvSpPr>
          <p:cNvPr id="59" name="TextBox 59"/>
          <p:cNvSpPr txBox="1"/>
          <p:nvPr/>
        </p:nvSpPr>
        <p:spPr>
          <a:xfrm>
            <a:off x="3583305" y="4769168"/>
            <a:ext cx="1762506"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How is it measured?</a:t>
            </a:r>
          </a:p>
        </p:txBody>
      </p:sp>
      <p:sp>
        <p:nvSpPr>
          <p:cNvPr id="60" name="Line 60"/>
          <p:cNvSpPr/>
          <p:nvPr/>
        </p:nvSpPr>
        <p:spPr>
          <a:xfrm>
            <a:off x="3600450" y="5095875"/>
            <a:ext cx="1638300" cy="9525"/>
          </a:xfrm>
          <a:custGeom>
            <a:avLst/>
            <a:gdLst/>
            <a:ahLst/>
            <a:cxnLst/>
            <a:rect l="l" t="t" r="r" b="b"/>
            <a:pathLst>
              <a:path w="1638300" h="9525">
                <a:moveTo>
                  <a:pt x="0" y="0"/>
                </a:moveTo>
                <a:lnTo>
                  <a:pt x="1638300" y="0"/>
                </a:lnTo>
              </a:path>
            </a:pathLst>
          </a:custGeom>
          <a:noFill/>
          <a:ln w="19050">
            <a:solidFill>
              <a:srgbClr val="DAE1E6"/>
            </a:solidFill>
          </a:ln>
        </p:spPr>
        <p:txBody>
          <a:bodyPr/>
          <a:lstStyle/>
          <a:p>
            <a:endParaRPr lang="zh-CN" altLang="en-US"/>
          </a:p>
        </p:txBody>
      </p:sp>
      <p:sp>
        <p:nvSpPr>
          <p:cNvPr id="61" name="TextBox 61"/>
          <p:cNvSpPr txBox="1"/>
          <p:nvPr/>
        </p:nvSpPr>
        <p:spPr>
          <a:xfrm>
            <a:off x="3585210" y="5252085"/>
            <a:ext cx="2542794" cy="243840"/>
          </a:xfrm>
          <a:prstGeom prst="rect">
            <a:avLst/>
          </a:prstGeom>
          <a:noFill/>
          <a:ln>
            <a:noFill/>
          </a:ln>
        </p:spPr>
        <p:txBody>
          <a:bodyPr wrap="none" lIns="0" tIns="0" rIns="0" bIns="0" anchor="t" anchorCtr="0">
            <a:spAutoFit/>
          </a:bodyPr>
          <a:lstStyle/>
          <a:p>
            <a:pPr algn="l"/>
            <a:r>
              <a:rPr lang="zh-CN" sz="1200" dirty="0">
                <a:solidFill>
                  <a:srgbClr val="009682"/>
                </a:solidFill>
                <a:latin typeface="Arial"/>
                <a:ea typeface="Microsoft YaHei"/>
                <a:cs typeface="Arial"/>
              </a:rPr>
              <a:t>Output: scores and error types</a:t>
            </a:r>
          </a:p>
        </p:txBody>
      </p:sp>
      <p:sp>
        <p:nvSpPr>
          <p:cNvPr id="62" name="Freeform 62"/>
          <p:cNvSpPr/>
          <p:nvPr/>
        </p:nvSpPr>
        <p:spPr>
          <a:xfrm>
            <a:off x="609600" y="3876675"/>
            <a:ext cx="2324100" cy="1790700"/>
          </a:xfrm>
          <a:custGeom>
            <a:avLst/>
            <a:gdLst/>
            <a:ahLst/>
            <a:cxnLst/>
            <a:rect l="l" t="t" r="r" b="b"/>
            <a:pathLst>
              <a:path w="2095500" h="1790700">
                <a:moveTo>
                  <a:pt x="133350" y="0"/>
                </a:moveTo>
                <a:lnTo>
                  <a:pt x="1962150" y="0"/>
                </a:lnTo>
                <a:cubicBezTo>
                  <a:pt x="2035797" y="0"/>
                  <a:pt x="2095500" y="59703"/>
                  <a:pt x="2095500" y="133350"/>
                </a:cubicBezTo>
                <a:lnTo>
                  <a:pt x="2095500" y="1657350"/>
                </a:lnTo>
                <a:cubicBezTo>
                  <a:pt x="2095500" y="1730997"/>
                  <a:pt x="2035797" y="1790700"/>
                  <a:pt x="1962150" y="1790700"/>
                </a:cubicBezTo>
                <a:lnTo>
                  <a:pt x="133350" y="1790700"/>
                </a:lnTo>
                <a:cubicBezTo>
                  <a:pt x="59703" y="1790700"/>
                  <a:pt x="0" y="1730997"/>
                  <a:pt x="0" y="1657350"/>
                </a:cubicBezTo>
                <a:lnTo>
                  <a:pt x="0" y="133350"/>
                </a:lnTo>
                <a:cubicBezTo>
                  <a:pt x="0" y="59703"/>
                  <a:pt x="59703" y="0"/>
                  <a:pt x="133350" y="0"/>
                </a:cubicBezTo>
                <a:close/>
              </a:path>
            </a:pathLst>
          </a:custGeom>
          <a:solidFill>
            <a:srgbClr val="F4F7F8"/>
          </a:solidFill>
          <a:ln w="19050">
            <a:solidFill>
              <a:srgbClr val="DAE1E6"/>
            </a:solidFill>
          </a:ln>
        </p:spPr>
        <p:txBody>
          <a:bodyPr/>
          <a:lstStyle/>
          <a:p>
            <a:endParaRPr lang="zh-CN" altLang="en-US"/>
          </a:p>
        </p:txBody>
      </p:sp>
      <p:sp>
        <p:nvSpPr>
          <p:cNvPr id="63" name="Ellipse 63"/>
          <p:cNvSpPr/>
          <p:nvPr/>
        </p:nvSpPr>
        <p:spPr>
          <a:xfrm>
            <a:off x="742950" y="4010025"/>
            <a:ext cx="381000" cy="381000"/>
          </a:xfrm>
          <a:prstGeom prst="ellipse">
            <a:avLst/>
          </a:prstGeom>
          <a:solidFill>
            <a:srgbClr val="002D4C"/>
          </a:solidFill>
          <a:ln>
            <a:noFill/>
          </a:ln>
        </p:spPr>
        <p:txBody>
          <a:bodyPr/>
          <a:lstStyle/>
          <a:p>
            <a:endParaRPr lang="zh-CN" altLang="en-US"/>
          </a:p>
        </p:txBody>
      </p:sp>
      <p:sp>
        <p:nvSpPr>
          <p:cNvPr id="64" name="TextBox 64"/>
          <p:cNvSpPr txBox="1"/>
          <p:nvPr/>
        </p:nvSpPr>
        <p:spPr>
          <a:xfrm>
            <a:off x="864324" y="41214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7</a:t>
            </a:r>
          </a:p>
        </p:txBody>
      </p:sp>
      <p:sp>
        <p:nvSpPr>
          <p:cNvPr id="65" name="TextBox 65"/>
          <p:cNvSpPr txBox="1"/>
          <p:nvPr/>
        </p:nvSpPr>
        <p:spPr>
          <a:xfrm>
            <a:off x="1200150" y="4095750"/>
            <a:ext cx="1581793" cy="304800"/>
          </a:xfrm>
          <a:prstGeom prst="rect">
            <a:avLst/>
          </a:prstGeom>
          <a:noFill/>
          <a:ln>
            <a:noFill/>
          </a:ln>
        </p:spPr>
        <p:txBody>
          <a:bodyPr wrap="none" lIns="0" tIns="0" rIns="0" bIns="0" anchor="t" anchorCtr="0">
            <a:spAutoFit/>
          </a:bodyPr>
          <a:lstStyle/>
          <a:p>
            <a:pPr algn="l"/>
            <a:r>
              <a:rPr lang="zh-CN" sz="1500" b="1" dirty="0">
                <a:solidFill>
                  <a:srgbClr val="002D4C"/>
                </a:solidFill>
                <a:latin typeface="Arial"/>
                <a:ea typeface="Microsoft YaHei"/>
                <a:cs typeface="Arial"/>
              </a:rPr>
              <a:t>Implementation</a:t>
            </a:r>
          </a:p>
        </p:txBody>
      </p:sp>
      <p:sp>
        <p:nvSpPr>
          <p:cNvPr id="66" name="TextBox 66"/>
          <p:cNvSpPr txBox="1"/>
          <p:nvPr/>
        </p:nvSpPr>
        <p:spPr>
          <a:xfrm>
            <a:off x="822008" y="4520089"/>
            <a:ext cx="11630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Core question</a:t>
            </a:r>
          </a:p>
        </p:txBody>
      </p:sp>
      <p:sp>
        <p:nvSpPr>
          <p:cNvPr id="67" name="TextBox 67"/>
          <p:cNvSpPr txBox="1"/>
          <p:nvPr/>
        </p:nvSpPr>
        <p:spPr>
          <a:xfrm>
            <a:off x="821055" y="4769168"/>
            <a:ext cx="1726502"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How is it executed?</a:t>
            </a:r>
          </a:p>
        </p:txBody>
      </p:sp>
      <p:sp>
        <p:nvSpPr>
          <p:cNvPr id="68" name="Line 68"/>
          <p:cNvSpPr/>
          <p:nvPr/>
        </p:nvSpPr>
        <p:spPr>
          <a:xfrm>
            <a:off x="838200" y="5095875"/>
            <a:ext cx="1638300" cy="9525"/>
          </a:xfrm>
          <a:custGeom>
            <a:avLst/>
            <a:gdLst/>
            <a:ahLst/>
            <a:cxnLst/>
            <a:rect l="l" t="t" r="r" b="b"/>
            <a:pathLst>
              <a:path w="1638300" h="9525">
                <a:moveTo>
                  <a:pt x="0" y="0"/>
                </a:moveTo>
                <a:lnTo>
                  <a:pt x="1638300" y="0"/>
                </a:lnTo>
              </a:path>
            </a:pathLst>
          </a:custGeom>
          <a:noFill/>
          <a:ln w="19050">
            <a:solidFill>
              <a:srgbClr val="DAE1E6"/>
            </a:solidFill>
          </a:ln>
        </p:spPr>
        <p:txBody>
          <a:bodyPr/>
          <a:lstStyle/>
          <a:p>
            <a:endParaRPr lang="zh-CN" altLang="en-US"/>
          </a:p>
        </p:txBody>
      </p:sp>
      <p:sp>
        <p:nvSpPr>
          <p:cNvPr id="69" name="TextBox 69"/>
          <p:cNvSpPr txBox="1"/>
          <p:nvPr/>
        </p:nvSpPr>
        <p:spPr>
          <a:xfrm>
            <a:off x="822960" y="5252085"/>
            <a:ext cx="2462784" cy="243840"/>
          </a:xfrm>
          <a:prstGeom prst="rect">
            <a:avLst/>
          </a:prstGeom>
          <a:noFill/>
          <a:ln>
            <a:noFill/>
          </a:ln>
        </p:spPr>
        <p:txBody>
          <a:bodyPr wrap="none" lIns="0" tIns="0" rIns="0" bIns="0" anchor="t" anchorCtr="0">
            <a:spAutoFit/>
          </a:bodyPr>
          <a:lstStyle/>
          <a:p>
            <a:pPr algn="l"/>
            <a:r>
              <a:rPr lang="zh-CN" sz="1200" dirty="0">
                <a:solidFill>
                  <a:srgbClr val="009682"/>
                </a:solidFill>
                <a:latin typeface="Arial"/>
                <a:ea typeface="Microsoft YaHei"/>
                <a:cs typeface="Arial"/>
              </a:rPr>
              <a:t>Output: program and workflow</a:t>
            </a:r>
          </a:p>
        </p:txBody>
      </p:sp>
      <p:sp>
        <p:nvSpPr>
          <p:cNvPr id="70" name="Freeform 70"/>
          <p:cNvSpPr/>
          <p:nvPr/>
        </p:nvSpPr>
        <p:spPr>
          <a:xfrm>
            <a:off x="609600" y="5943600"/>
            <a:ext cx="10382250" cy="400050"/>
          </a:xfrm>
          <a:custGeom>
            <a:avLst/>
            <a:gdLst/>
            <a:ahLst/>
            <a:cxnLst/>
            <a:rect l="l" t="t" r="r" b="b"/>
            <a:pathLst>
              <a:path w="10382250" h="400050">
                <a:moveTo>
                  <a:pt x="76200" y="0"/>
                </a:moveTo>
                <a:lnTo>
                  <a:pt x="10306050" y="0"/>
                </a:lnTo>
                <a:cubicBezTo>
                  <a:pt x="10348134" y="0"/>
                  <a:pt x="10382250" y="34116"/>
                  <a:pt x="10382250" y="76200"/>
                </a:cubicBezTo>
                <a:lnTo>
                  <a:pt x="10382250" y="323850"/>
                </a:lnTo>
                <a:cubicBezTo>
                  <a:pt x="10382250" y="365934"/>
                  <a:pt x="10348134" y="400050"/>
                  <a:pt x="10306050" y="400050"/>
                </a:cubicBezTo>
                <a:lnTo>
                  <a:pt x="76200" y="400050"/>
                </a:lnTo>
                <a:cubicBezTo>
                  <a:pt x="34116" y="400050"/>
                  <a:pt x="0" y="365934"/>
                  <a:pt x="0" y="323850"/>
                </a:cubicBezTo>
                <a:lnTo>
                  <a:pt x="0" y="76200"/>
                </a:lnTo>
                <a:cubicBezTo>
                  <a:pt x="0" y="34116"/>
                  <a:pt x="34116" y="0"/>
                  <a:pt x="76200" y="0"/>
                </a:cubicBezTo>
                <a:close/>
              </a:path>
            </a:pathLst>
          </a:custGeom>
          <a:solidFill>
            <a:srgbClr val="002D4C"/>
          </a:solidFill>
          <a:ln>
            <a:noFill/>
          </a:ln>
        </p:spPr>
        <p:txBody>
          <a:bodyPr/>
          <a:lstStyle/>
          <a:p>
            <a:endParaRPr lang="zh-CN" altLang="en-US"/>
          </a:p>
        </p:txBody>
      </p:sp>
      <p:sp>
        <p:nvSpPr>
          <p:cNvPr id="71" name="TextBox 71"/>
          <p:cNvSpPr txBox="1"/>
          <p:nvPr/>
        </p:nvSpPr>
        <p:spPr>
          <a:xfrm>
            <a:off x="1589056" y="6055042"/>
            <a:ext cx="8423338"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The framework connects research goals, data, Agent records, metrics, and executable tests.</a:t>
            </a:r>
          </a:p>
        </p:txBody>
      </p:sp>
      <p:sp>
        <p:nvSpPr>
          <p:cNvPr id="72" name="TextBox 72"/>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3" name="TextBox 73"/>
          <p:cNvSpPr txBox="1"/>
          <p:nvPr/>
        </p:nvSpPr>
        <p:spPr>
          <a:xfrm>
            <a:off x="10872311" y="6529388"/>
            <a:ext cx="129064" cy="152400"/>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04</a:t>
            </a:r>
          </a:p>
        </p:txBody>
      </p:sp>
      <p:cxnSp>
        <p:nvCxnSpPr>
          <p:cNvPr id="81" name="肘形连接符 80">
            <a:extLst>
              <a:ext uri="{FF2B5EF4-FFF2-40B4-BE49-F238E27FC236}">
                <a16:creationId xmlns:a16="http://schemas.microsoft.com/office/drawing/2014/main" id="{059FC336-4983-D326-6B52-6E5FF18CE9EF}"/>
              </a:ext>
            </a:extLst>
          </p:cNvPr>
          <p:cNvCxnSpPr>
            <a:cxnSpLocks/>
          </p:cNvCxnSpPr>
          <p:nvPr/>
        </p:nvCxnSpPr>
        <p:spPr>
          <a:xfrm>
            <a:off x="8580550" y="2382679"/>
            <a:ext cx="1567122" cy="261065"/>
          </a:xfrm>
          <a:prstGeom prst="bentConnector3">
            <a:avLst>
              <a:gd name="adj1" fmla="val 100013"/>
            </a:avLst>
          </a:prstGeom>
          <a:ln w="28575">
            <a:solidFill>
              <a:srgbClr val="009682"/>
            </a:solidFill>
            <a:tailEnd type="triangle" w="lg" len="lg"/>
          </a:ln>
          <a:effectLst/>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77215" y="372428"/>
            <a:ext cx="5454444"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Capability 1: Multi-hop Reasoning</a:t>
            </a:r>
          </a:p>
        </p:txBody>
      </p:sp>
      <p:sp>
        <p:nvSpPr>
          <p:cNvPr id="5" name="TextBox 5"/>
          <p:cNvSpPr txBox="1"/>
          <p:nvPr/>
        </p:nvSpPr>
        <p:spPr>
          <a:xfrm>
            <a:off x="592455" y="806768"/>
            <a:ext cx="5966031"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Can the Agent connect several graph facts to answer one question?</a:t>
            </a:r>
          </a:p>
        </p:txBody>
      </p:sp>
      <p:sp>
        <p:nvSpPr>
          <p:cNvPr id="6" name="Freeform 6"/>
          <p:cNvSpPr/>
          <p:nvPr/>
        </p:nvSpPr>
        <p:spPr>
          <a:xfrm>
            <a:off x="609600" y="1219200"/>
            <a:ext cx="3600450" cy="1676400"/>
          </a:xfrm>
          <a:custGeom>
            <a:avLst/>
            <a:gdLst/>
            <a:ahLst/>
            <a:cxnLst/>
            <a:rect l="l" t="t" r="r" b="b"/>
            <a:pathLst>
              <a:path w="3409950" h="1676400">
                <a:moveTo>
                  <a:pt x="114300" y="0"/>
                </a:moveTo>
                <a:lnTo>
                  <a:pt x="3295650" y="0"/>
                </a:lnTo>
                <a:cubicBezTo>
                  <a:pt x="3358776" y="0"/>
                  <a:pt x="3409950" y="51174"/>
                  <a:pt x="3409950" y="114300"/>
                </a:cubicBezTo>
                <a:lnTo>
                  <a:pt x="3409950" y="1562100"/>
                </a:lnTo>
                <a:cubicBezTo>
                  <a:pt x="3409950" y="1625226"/>
                  <a:pt x="3358776" y="1676400"/>
                  <a:pt x="3295650" y="1676400"/>
                </a:cubicBezTo>
                <a:lnTo>
                  <a:pt x="114300" y="1676400"/>
                </a:lnTo>
                <a:cubicBezTo>
                  <a:pt x="51174" y="1676400"/>
                  <a:pt x="0" y="1625226"/>
                  <a:pt x="0" y="1562100"/>
                </a:cubicBezTo>
                <a:lnTo>
                  <a:pt x="0" y="114300"/>
                </a:lnTo>
                <a:cubicBezTo>
                  <a:pt x="0" y="51174"/>
                  <a:pt x="51174" y="0"/>
                  <a:pt x="114300" y="0"/>
                </a:cubicBezTo>
                <a:close/>
              </a:path>
            </a:pathLst>
          </a:custGeom>
          <a:solidFill>
            <a:srgbClr val="F4F7F8"/>
          </a:solidFill>
          <a:ln w="19050">
            <a:solidFill>
              <a:srgbClr val="DAE1E6"/>
            </a:solidFill>
          </a:ln>
        </p:spPr>
        <p:txBody>
          <a:bodyPr/>
          <a:lstStyle/>
          <a:p>
            <a:endParaRPr lang="zh-CN" altLang="en-US"/>
          </a:p>
        </p:txBody>
      </p:sp>
      <p:sp>
        <p:nvSpPr>
          <p:cNvPr id="7" name="Freeform 7"/>
          <p:cNvSpPr/>
          <p:nvPr/>
        </p:nvSpPr>
        <p:spPr>
          <a:xfrm>
            <a:off x="609600" y="1219200"/>
            <a:ext cx="3600450" cy="381000"/>
          </a:xfrm>
          <a:custGeom>
            <a:avLst/>
            <a:gdLst/>
            <a:ahLst/>
            <a:cxnLst/>
            <a:rect l="l" t="t" r="r" b="b"/>
            <a:pathLst>
              <a:path w="3409950" h="381000">
                <a:moveTo>
                  <a:pt x="114300" y="0"/>
                </a:moveTo>
                <a:lnTo>
                  <a:pt x="3295650" y="0"/>
                </a:lnTo>
                <a:cubicBezTo>
                  <a:pt x="3358776" y="0"/>
                  <a:pt x="3409950" y="51174"/>
                  <a:pt x="3409950" y="114300"/>
                </a:cubicBezTo>
                <a:lnTo>
                  <a:pt x="3409950" y="266700"/>
                </a:lnTo>
                <a:cubicBezTo>
                  <a:pt x="3409950" y="329826"/>
                  <a:pt x="3358776" y="381000"/>
                  <a:pt x="3295650" y="381000"/>
                </a:cubicBezTo>
                <a:lnTo>
                  <a:pt x="114300" y="381000"/>
                </a:lnTo>
                <a:cubicBezTo>
                  <a:pt x="51174" y="381000"/>
                  <a:pt x="0" y="329826"/>
                  <a:pt x="0" y="266700"/>
                </a:cubicBezTo>
                <a:lnTo>
                  <a:pt x="0" y="114300"/>
                </a:lnTo>
                <a:cubicBezTo>
                  <a:pt x="0" y="51174"/>
                  <a:pt x="51174" y="0"/>
                  <a:pt x="114300" y="0"/>
                </a:cubicBezTo>
                <a:close/>
              </a:path>
            </a:pathLst>
          </a:custGeom>
          <a:solidFill>
            <a:srgbClr val="002D4C"/>
          </a:solidFill>
          <a:ln>
            <a:noFill/>
          </a:ln>
        </p:spPr>
        <p:txBody>
          <a:bodyPr/>
          <a:lstStyle/>
          <a:p>
            <a:endParaRPr lang="zh-CN" altLang="en-US"/>
          </a:p>
        </p:txBody>
      </p:sp>
      <p:sp>
        <p:nvSpPr>
          <p:cNvPr id="8" name="Rectangle 8"/>
          <p:cNvSpPr/>
          <p:nvPr/>
        </p:nvSpPr>
        <p:spPr>
          <a:xfrm>
            <a:off x="609600" y="1485900"/>
            <a:ext cx="3600450" cy="114300"/>
          </a:xfrm>
          <a:prstGeom prst="rect">
            <a:avLst/>
          </a:prstGeom>
          <a:solidFill>
            <a:srgbClr val="002D4C"/>
          </a:solidFill>
          <a:ln>
            <a:noFill/>
          </a:ln>
        </p:spPr>
        <p:txBody>
          <a:bodyPr/>
          <a:lstStyle/>
          <a:p>
            <a:endParaRPr lang="zh-CN" altLang="en-US"/>
          </a:p>
        </p:txBody>
      </p:sp>
      <p:sp>
        <p:nvSpPr>
          <p:cNvPr id="9" name="TextBox 9"/>
          <p:cNvSpPr txBox="1"/>
          <p:nvPr/>
        </p:nvSpPr>
        <p:spPr>
          <a:xfrm>
            <a:off x="801052" y="1322546"/>
            <a:ext cx="1144243" cy="219291"/>
          </a:xfrm>
          <a:prstGeom prst="rect">
            <a:avLst/>
          </a:prstGeom>
          <a:noFill/>
          <a:ln>
            <a:noFill/>
          </a:ln>
        </p:spPr>
        <p:txBody>
          <a:bodyPr wrap="square" lIns="0" tIns="0" rIns="0" bIns="0" anchor="t" anchorCtr="0">
            <a:spAutoFit/>
          </a:bodyPr>
          <a:lstStyle/>
          <a:p>
            <a:pPr algn="l"/>
            <a:r>
              <a:rPr lang="zh-CN" sz="1425" b="1" dirty="0">
                <a:solidFill>
                  <a:srgbClr val="FFFFFF"/>
                </a:solidFill>
                <a:latin typeface="Arial"/>
                <a:ea typeface="Microsoft YaHei"/>
                <a:cs typeface="Arial"/>
              </a:rPr>
              <a:t>Test tasks</a:t>
            </a:r>
          </a:p>
        </p:txBody>
      </p:sp>
      <p:sp>
        <p:nvSpPr>
          <p:cNvPr id="10" name="Ellipse 10"/>
          <p:cNvSpPr/>
          <p:nvPr/>
        </p:nvSpPr>
        <p:spPr>
          <a:xfrm>
            <a:off x="800099" y="1809750"/>
            <a:ext cx="80457" cy="76200"/>
          </a:xfrm>
          <a:prstGeom prst="ellipse">
            <a:avLst/>
          </a:prstGeom>
          <a:solidFill>
            <a:srgbClr val="009682"/>
          </a:solidFill>
          <a:ln>
            <a:noFill/>
          </a:ln>
        </p:spPr>
        <p:txBody>
          <a:bodyPr/>
          <a:lstStyle/>
          <a:p>
            <a:endParaRPr lang="zh-CN" altLang="en-US"/>
          </a:p>
        </p:txBody>
      </p:sp>
      <p:sp>
        <p:nvSpPr>
          <p:cNvPr id="11" name="TextBox 11"/>
          <p:cNvSpPr txBox="1"/>
          <p:nvPr/>
        </p:nvSpPr>
        <p:spPr>
          <a:xfrm>
            <a:off x="955358" y="1767364"/>
            <a:ext cx="336480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Answer questions with 2, 3, and 4+ hops</a:t>
            </a:r>
          </a:p>
        </p:txBody>
      </p:sp>
      <p:sp>
        <p:nvSpPr>
          <p:cNvPr id="12" name="Ellipse 12"/>
          <p:cNvSpPr/>
          <p:nvPr/>
        </p:nvSpPr>
        <p:spPr>
          <a:xfrm>
            <a:off x="800099" y="2171700"/>
            <a:ext cx="80457" cy="76200"/>
          </a:xfrm>
          <a:prstGeom prst="ellipse">
            <a:avLst/>
          </a:prstGeom>
          <a:solidFill>
            <a:srgbClr val="009682"/>
          </a:solidFill>
          <a:ln>
            <a:noFill/>
          </a:ln>
        </p:spPr>
        <p:txBody>
          <a:bodyPr/>
          <a:lstStyle/>
          <a:p>
            <a:endParaRPr lang="zh-CN" altLang="en-US"/>
          </a:p>
        </p:txBody>
      </p:sp>
      <p:sp>
        <p:nvSpPr>
          <p:cNvPr id="13" name="TextBox 13"/>
          <p:cNvSpPr txBox="1"/>
          <p:nvPr/>
        </p:nvSpPr>
        <p:spPr>
          <a:xfrm>
            <a:off x="955358" y="2129314"/>
            <a:ext cx="339030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Compare performance across hop groups</a:t>
            </a:r>
          </a:p>
        </p:txBody>
      </p:sp>
      <p:sp>
        <p:nvSpPr>
          <p:cNvPr id="14" name="Ellipse 14"/>
          <p:cNvSpPr/>
          <p:nvPr/>
        </p:nvSpPr>
        <p:spPr>
          <a:xfrm>
            <a:off x="800099" y="2533650"/>
            <a:ext cx="80457" cy="76200"/>
          </a:xfrm>
          <a:prstGeom prst="ellipse">
            <a:avLst/>
          </a:prstGeom>
          <a:solidFill>
            <a:srgbClr val="009682"/>
          </a:solidFill>
          <a:ln>
            <a:noFill/>
          </a:ln>
        </p:spPr>
        <p:txBody>
          <a:bodyPr/>
          <a:lstStyle/>
          <a:p>
            <a:endParaRPr lang="zh-CN" altLang="en-US"/>
          </a:p>
        </p:txBody>
      </p:sp>
      <p:sp>
        <p:nvSpPr>
          <p:cNvPr id="15" name="TextBox 15"/>
          <p:cNvSpPr txBox="1"/>
          <p:nvPr/>
        </p:nvSpPr>
        <p:spPr>
          <a:xfrm>
            <a:off x="918210" y="2499360"/>
            <a:ext cx="3798951"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Review selected branching or intersection cases</a:t>
            </a:r>
          </a:p>
        </p:txBody>
      </p:sp>
      <p:sp>
        <p:nvSpPr>
          <p:cNvPr id="16" name="Freeform 16"/>
          <p:cNvSpPr/>
          <p:nvPr/>
        </p:nvSpPr>
        <p:spPr>
          <a:xfrm>
            <a:off x="4551950" y="1219200"/>
            <a:ext cx="3574947" cy="1676400"/>
          </a:xfrm>
          <a:custGeom>
            <a:avLst/>
            <a:gdLst/>
            <a:ahLst/>
            <a:cxnLst/>
            <a:rect l="l" t="t" r="r" b="b"/>
            <a:pathLst>
              <a:path w="3409950" h="1676400">
                <a:moveTo>
                  <a:pt x="114300" y="0"/>
                </a:moveTo>
                <a:lnTo>
                  <a:pt x="3295650" y="0"/>
                </a:lnTo>
                <a:cubicBezTo>
                  <a:pt x="3358776" y="0"/>
                  <a:pt x="3409950" y="51174"/>
                  <a:pt x="3409950" y="114300"/>
                </a:cubicBezTo>
                <a:lnTo>
                  <a:pt x="3409950" y="1562100"/>
                </a:lnTo>
                <a:cubicBezTo>
                  <a:pt x="3409950" y="1625226"/>
                  <a:pt x="3358776" y="1676400"/>
                  <a:pt x="3295650" y="1676400"/>
                </a:cubicBezTo>
                <a:lnTo>
                  <a:pt x="114300" y="1676400"/>
                </a:lnTo>
                <a:cubicBezTo>
                  <a:pt x="51174" y="1676400"/>
                  <a:pt x="0" y="1625226"/>
                  <a:pt x="0" y="1562100"/>
                </a:cubicBezTo>
                <a:lnTo>
                  <a:pt x="0" y="114300"/>
                </a:lnTo>
                <a:cubicBezTo>
                  <a:pt x="0" y="51174"/>
                  <a:pt x="51174" y="0"/>
                  <a:pt x="114300" y="0"/>
                </a:cubicBezTo>
                <a:close/>
              </a:path>
            </a:pathLst>
          </a:custGeom>
          <a:solidFill>
            <a:srgbClr val="F4F7F8"/>
          </a:solidFill>
          <a:ln w="19050">
            <a:solidFill>
              <a:srgbClr val="DAE1E6"/>
            </a:solidFill>
          </a:ln>
        </p:spPr>
        <p:txBody>
          <a:bodyPr/>
          <a:lstStyle/>
          <a:p>
            <a:endParaRPr lang="zh-CN" altLang="en-US"/>
          </a:p>
        </p:txBody>
      </p:sp>
      <p:sp>
        <p:nvSpPr>
          <p:cNvPr id="17" name="Freeform 17"/>
          <p:cNvSpPr/>
          <p:nvPr/>
        </p:nvSpPr>
        <p:spPr>
          <a:xfrm>
            <a:off x="4551950" y="1219200"/>
            <a:ext cx="3574947" cy="381000"/>
          </a:xfrm>
          <a:custGeom>
            <a:avLst/>
            <a:gdLst/>
            <a:ahLst/>
            <a:cxnLst/>
            <a:rect l="l" t="t" r="r" b="b"/>
            <a:pathLst>
              <a:path w="3409950" h="381000">
                <a:moveTo>
                  <a:pt x="114300" y="0"/>
                </a:moveTo>
                <a:lnTo>
                  <a:pt x="3295650" y="0"/>
                </a:lnTo>
                <a:cubicBezTo>
                  <a:pt x="3358776" y="0"/>
                  <a:pt x="3409950" y="51174"/>
                  <a:pt x="3409950" y="114300"/>
                </a:cubicBezTo>
                <a:lnTo>
                  <a:pt x="3409950" y="266700"/>
                </a:lnTo>
                <a:cubicBezTo>
                  <a:pt x="3409950" y="329826"/>
                  <a:pt x="3358776" y="381000"/>
                  <a:pt x="3295650" y="381000"/>
                </a:cubicBezTo>
                <a:lnTo>
                  <a:pt x="114300" y="381000"/>
                </a:lnTo>
                <a:cubicBezTo>
                  <a:pt x="51174" y="381000"/>
                  <a:pt x="0" y="329826"/>
                  <a:pt x="0" y="266700"/>
                </a:cubicBezTo>
                <a:lnTo>
                  <a:pt x="0" y="114300"/>
                </a:lnTo>
                <a:cubicBezTo>
                  <a:pt x="0" y="51174"/>
                  <a:pt x="51174" y="0"/>
                  <a:pt x="114300" y="0"/>
                </a:cubicBezTo>
                <a:close/>
              </a:path>
            </a:pathLst>
          </a:custGeom>
          <a:solidFill>
            <a:srgbClr val="009682"/>
          </a:solidFill>
          <a:ln>
            <a:noFill/>
          </a:ln>
        </p:spPr>
        <p:txBody>
          <a:bodyPr/>
          <a:lstStyle/>
          <a:p>
            <a:endParaRPr lang="zh-CN" altLang="en-US"/>
          </a:p>
        </p:txBody>
      </p:sp>
      <p:sp>
        <p:nvSpPr>
          <p:cNvPr id="18" name="Rectangle 18"/>
          <p:cNvSpPr/>
          <p:nvPr/>
        </p:nvSpPr>
        <p:spPr>
          <a:xfrm>
            <a:off x="4551951" y="1485900"/>
            <a:ext cx="3409950" cy="114300"/>
          </a:xfrm>
          <a:prstGeom prst="rect">
            <a:avLst/>
          </a:prstGeom>
          <a:solidFill>
            <a:srgbClr val="009682"/>
          </a:solidFill>
          <a:ln>
            <a:noFill/>
          </a:ln>
        </p:spPr>
        <p:txBody>
          <a:bodyPr/>
          <a:lstStyle/>
          <a:p>
            <a:endParaRPr lang="zh-CN" altLang="en-US"/>
          </a:p>
        </p:txBody>
      </p:sp>
      <p:sp>
        <p:nvSpPr>
          <p:cNvPr id="19" name="TextBox 19"/>
          <p:cNvSpPr txBox="1"/>
          <p:nvPr/>
        </p:nvSpPr>
        <p:spPr>
          <a:xfrm>
            <a:off x="4743403" y="1322546"/>
            <a:ext cx="1851872"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Evaluation metrics</a:t>
            </a:r>
          </a:p>
        </p:txBody>
      </p:sp>
      <p:sp>
        <p:nvSpPr>
          <p:cNvPr id="20" name="TextBox 20"/>
          <p:cNvSpPr txBox="1"/>
          <p:nvPr/>
        </p:nvSpPr>
        <p:spPr>
          <a:xfrm>
            <a:off x="4764359" y="1767364"/>
            <a:ext cx="3040486"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Answer Accuracy / F1 by hop_count</a:t>
            </a:r>
          </a:p>
        </p:txBody>
      </p:sp>
      <p:sp>
        <p:nvSpPr>
          <p:cNvPr id="21" name="TextBox 21"/>
          <p:cNvSpPr txBox="1"/>
          <p:nvPr/>
        </p:nvSpPr>
        <p:spPr>
          <a:xfrm>
            <a:off x="4764359" y="2062639"/>
            <a:ext cx="219165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Optional: Hop Degradation</a:t>
            </a:r>
          </a:p>
        </p:txBody>
      </p:sp>
      <p:sp>
        <p:nvSpPr>
          <p:cNvPr id="22" name="TextBox 22"/>
          <p:cNvSpPr txBox="1"/>
          <p:nvPr/>
        </p:nvSpPr>
        <p:spPr>
          <a:xfrm>
            <a:off x="4764359" y="2357914"/>
            <a:ext cx="1877116"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Selected case analysis</a:t>
            </a:r>
          </a:p>
        </p:txBody>
      </p:sp>
      <p:sp>
        <p:nvSpPr>
          <p:cNvPr id="23" name="TextBox 23"/>
          <p:cNvSpPr txBox="1"/>
          <p:nvPr/>
        </p:nvSpPr>
        <p:spPr>
          <a:xfrm>
            <a:off x="4717161" y="2618423"/>
            <a:ext cx="3827740" cy="198120"/>
          </a:xfrm>
          <a:prstGeom prst="rect">
            <a:avLst/>
          </a:prstGeom>
          <a:noFill/>
          <a:ln>
            <a:noFill/>
          </a:ln>
        </p:spPr>
        <p:txBody>
          <a:bodyPr wrap="none" lIns="0" tIns="0" rIns="0" bIns="0" anchor="t" anchorCtr="0">
            <a:spAutoFit/>
          </a:bodyPr>
          <a:lstStyle/>
          <a:p>
            <a:pPr algn="l"/>
            <a:r>
              <a:rPr lang="zh-CN" sz="975" dirty="0">
                <a:solidFill>
                  <a:srgbClr val="768993"/>
                </a:solidFill>
                <a:latin typeface="Arial"/>
                <a:ea typeface="Microsoft YaHei"/>
                <a:cs typeface="Arial"/>
              </a:rPr>
              <a:t>Reasoning quality is observed through answer performance.</a:t>
            </a:r>
          </a:p>
        </p:txBody>
      </p:sp>
      <p:sp>
        <p:nvSpPr>
          <p:cNvPr id="24" name="Freeform 24"/>
          <p:cNvSpPr/>
          <p:nvPr/>
        </p:nvSpPr>
        <p:spPr>
          <a:xfrm>
            <a:off x="8418931" y="1219200"/>
            <a:ext cx="3181350" cy="1676400"/>
          </a:xfrm>
          <a:custGeom>
            <a:avLst/>
            <a:gdLst/>
            <a:ahLst/>
            <a:cxnLst/>
            <a:rect l="l" t="t" r="r" b="b"/>
            <a:pathLst>
              <a:path w="3181350" h="1676400">
                <a:moveTo>
                  <a:pt x="114300" y="0"/>
                </a:moveTo>
                <a:lnTo>
                  <a:pt x="3067050" y="0"/>
                </a:lnTo>
                <a:cubicBezTo>
                  <a:pt x="3130176" y="0"/>
                  <a:pt x="3181350" y="51174"/>
                  <a:pt x="3181350" y="114300"/>
                </a:cubicBezTo>
                <a:lnTo>
                  <a:pt x="3181350" y="1562100"/>
                </a:lnTo>
                <a:cubicBezTo>
                  <a:pt x="3181350" y="1625226"/>
                  <a:pt x="3130176" y="1676400"/>
                  <a:pt x="3067050" y="1676400"/>
                </a:cubicBezTo>
                <a:lnTo>
                  <a:pt x="114300" y="1676400"/>
                </a:lnTo>
                <a:cubicBezTo>
                  <a:pt x="51174" y="1676400"/>
                  <a:pt x="0" y="1625226"/>
                  <a:pt x="0" y="1562100"/>
                </a:cubicBezTo>
                <a:lnTo>
                  <a:pt x="0" y="114300"/>
                </a:lnTo>
                <a:cubicBezTo>
                  <a:pt x="0" y="51174"/>
                  <a:pt x="51174" y="0"/>
                  <a:pt x="114300" y="0"/>
                </a:cubicBezTo>
                <a:close/>
              </a:path>
            </a:pathLst>
          </a:custGeom>
          <a:solidFill>
            <a:srgbClr val="EAF6F4"/>
          </a:solidFill>
          <a:ln w="19050">
            <a:solidFill>
              <a:srgbClr val="009682"/>
            </a:solidFill>
          </a:ln>
        </p:spPr>
        <p:txBody>
          <a:bodyPr/>
          <a:lstStyle/>
          <a:p>
            <a:endParaRPr lang="zh-CN" altLang="en-US"/>
          </a:p>
        </p:txBody>
      </p:sp>
      <p:sp>
        <p:nvSpPr>
          <p:cNvPr id="25" name="TextBox 25"/>
          <p:cNvSpPr txBox="1"/>
          <p:nvPr/>
        </p:nvSpPr>
        <p:spPr>
          <a:xfrm>
            <a:off x="8629433" y="1427321"/>
            <a:ext cx="1482751"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Evaluation idea</a:t>
            </a:r>
          </a:p>
        </p:txBody>
      </p:sp>
      <p:sp>
        <p:nvSpPr>
          <p:cNvPr id="26" name="TextBox 26"/>
          <p:cNvSpPr txBox="1"/>
          <p:nvPr/>
        </p:nvSpPr>
        <p:spPr>
          <a:xfrm>
            <a:off x="8631339" y="1805464"/>
            <a:ext cx="1588079"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Group questions by</a:t>
            </a:r>
          </a:p>
        </p:txBody>
      </p:sp>
      <p:sp>
        <p:nvSpPr>
          <p:cNvPr id="27" name="TextBox 27"/>
          <p:cNvSpPr txBox="1"/>
          <p:nvPr/>
        </p:nvSpPr>
        <p:spPr>
          <a:xfrm>
            <a:off x="8631339" y="2053114"/>
            <a:ext cx="873990" cy="259080"/>
          </a:xfrm>
          <a:prstGeom prst="rect">
            <a:avLst/>
          </a:prstGeom>
          <a:noFill/>
          <a:ln>
            <a:noFill/>
          </a:ln>
        </p:spPr>
        <p:txBody>
          <a:bodyPr wrap="none" lIns="0" tIns="0" rIns="0" bIns="0" anchor="t" anchorCtr="0">
            <a:spAutoFit/>
          </a:bodyPr>
          <a:lstStyle/>
          <a:p>
            <a:pPr algn="l"/>
            <a:r>
              <a:rPr lang="zh-CN" sz="1275" dirty="0">
                <a:solidFill>
                  <a:srgbClr val="005A50"/>
                </a:solidFill>
                <a:latin typeface="Consolas"/>
                <a:ea typeface="Microsoft YaHei"/>
                <a:cs typeface="Consolas"/>
              </a:rPr>
              <a:t>hop_count</a:t>
            </a:r>
          </a:p>
        </p:txBody>
      </p:sp>
      <p:sp>
        <p:nvSpPr>
          <p:cNvPr id="28" name="TextBox 28"/>
          <p:cNvSpPr txBox="1"/>
          <p:nvPr/>
        </p:nvSpPr>
        <p:spPr>
          <a:xfrm>
            <a:off x="8631339" y="2357914"/>
            <a:ext cx="2378678"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Then compare accuracy or F1</a:t>
            </a:r>
          </a:p>
        </p:txBody>
      </p:sp>
      <p:sp>
        <p:nvSpPr>
          <p:cNvPr id="29" name="TextBox 29"/>
          <p:cNvSpPr txBox="1"/>
          <p:nvPr/>
        </p:nvSpPr>
        <p:spPr>
          <a:xfrm>
            <a:off x="8631339" y="2586514"/>
            <a:ext cx="2803731"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as the number of hops increases.</a:t>
            </a:r>
          </a:p>
        </p:txBody>
      </p:sp>
      <p:sp>
        <p:nvSpPr>
          <p:cNvPr id="30" name="TextBox 30"/>
          <p:cNvSpPr txBox="1"/>
          <p:nvPr/>
        </p:nvSpPr>
        <p:spPr>
          <a:xfrm>
            <a:off x="588645" y="3079432"/>
            <a:ext cx="1716869" cy="335280"/>
          </a:xfrm>
          <a:prstGeom prst="rect">
            <a:avLst/>
          </a:prstGeom>
          <a:noFill/>
          <a:ln>
            <a:noFill/>
          </a:ln>
        </p:spPr>
        <p:txBody>
          <a:bodyPr wrap="none" lIns="0" tIns="0" rIns="0" bIns="0" anchor="t" anchorCtr="0">
            <a:spAutoFit/>
          </a:bodyPr>
          <a:lstStyle/>
          <a:p>
            <a:pPr algn="l"/>
            <a:r>
              <a:rPr lang="zh-CN" sz="1650" b="1" dirty="0">
                <a:solidFill>
                  <a:srgbClr val="002D4C"/>
                </a:solidFill>
                <a:latin typeface="Arial"/>
                <a:ea typeface="Microsoft YaHei"/>
                <a:cs typeface="Arial"/>
              </a:rPr>
              <a:t>Required fields</a:t>
            </a:r>
          </a:p>
        </p:txBody>
      </p:sp>
      <p:sp>
        <p:nvSpPr>
          <p:cNvPr id="31" name="Freeform 31"/>
          <p:cNvSpPr/>
          <p:nvPr/>
        </p:nvSpPr>
        <p:spPr>
          <a:xfrm>
            <a:off x="609600" y="3448050"/>
            <a:ext cx="10382250" cy="2305050"/>
          </a:xfrm>
          <a:custGeom>
            <a:avLst/>
            <a:gdLst/>
            <a:ahLst/>
            <a:cxnLst/>
            <a:rect l="l" t="t" r="r" b="b"/>
            <a:pathLst>
              <a:path w="10382250" h="2305050">
                <a:moveTo>
                  <a:pt x="95250" y="0"/>
                </a:moveTo>
                <a:lnTo>
                  <a:pt x="10287000" y="0"/>
                </a:lnTo>
                <a:cubicBezTo>
                  <a:pt x="10339605" y="0"/>
                  <a:pt x="10382250" y="42645"/>
                  <a:pt x="10382250" y="95250"/>
                </a:cubicBezTo>
                <a:lnTo>
                  <a:pt x="10382250" y="2209800"/>
                </a:lnTo>
                <a:cubicBezTo>
                  <a:pt x="10382250" y="2262405"/>
                  <a:pt x="10339605" y="2305050"/>
                  <a:pt x="10287000" y="2305050"/>
                </a:cubicBezTo>
                <a:lnTo>
                  <a:pt x="95250" y="2305050"/>
                </a:lnTo>
                <a:cubicBezTo>
                  <a:pt x="42645" y="2305050"/>
                  <a:pt x="0" y="2262405"/>
                  <a:pt x="0" y="2209800"/>
                </a:cubicBezTo>
                <a:lnTo>
                  <a:pt x="0" y="95250"/>
                </a:lnTo>
                <a:cubicBezTo>
                  <a:pt x="0" y="42645"/>
                  <a:pt x="42645" y="0"/>
                  <a:pt x="95250" y="0"/>
                </a:cubicBezTo>
                <a:close/>
              </a:path>
            </a:pathLst>
          </a:custGeom>
          <a:solidFill>
            <a:srgbClr val="FFFFFF"/>
          </a:solidFill>
          <a:ln w="19050">
            <a:solidFill>
              <a:srgbClr val="DAE1E6"/>
            </a:solidFill>
          </a:ln>
        </p:spPr>
        <p:txBody>
          <a:bodyPr/>
          <a:lstStyle/>
          <a:p>
            <a:endParaRPr lang="zh-CN" altLang="en-US"/>
          </a:p>
        </p:txBody>
      </p:sp>
      <p:sp>
        <p:nvSpPr>
          <p:cNvPr id="32" name="Freeform 32"/>
          <p:cNvSpPr/>
          <p:nvPr/>
        </p:nvSpPr>
        <p:spPr>
          <a:xfrm>
            <a:off x="609600" y="3448050"/>
            <a:ext cx="2038350" cy="457200"/>
          </a:xfrm>
          <a:custGeom>
            <a:avLst/>
            <a:gdLst/>
            <a:ahLst/>
            <a:cxnLst/>
            <a:rect l="l" t="t" r="r" b="b"/>
            <a:pathLst>
              <a:path w="2038350" h="457200">
                <a:moveTo>
                  <a:pt x="95250" y="0"/>
                </a:moveTo>
                <a:lnTo>
                  <a:pt x="1943100" y="0"/>
                </a:lnTo>
                <a:cubicBezTo>
                  <a:pt x="1995705" y="0"/>
                  <a:pt x="2038350" y="42645"/>
                  <a:pt x="2038350" y="95250"/>
                </a:cubicBezTo>
                <a:lnTo>
                  <a:pt x="2038350" y="361950"/>
                </a:lnTo>
                <a:cubicBezTo>
                  <a:pt x="2038350" y="414555"/>
                  <a:pt x="1995705" y="457200"/>
                  <a:pt x="1943100" y="457200"/>
                </a:cubicBezTo>
                <a:lnTo>
                  <a:pt x="95250" y="457200"/>
                </a:lnTo>
                <a:cubicBezTo>
                  <a:pt x="42645" y="457200"/>
                  <a:pt x="0" y="414555"/>
                  <a:pt x="0" y="361950"/>
                </a:cubicBez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33" name="Rectangle 33"/>
          <p:cNvSpPr/>
          <p:nvPr/>
        </p:nvSpPr>
        <p:spPr>
          <a:xfrm>
            <a:off x="609599" y="3790950"/>
            <a:ext cx="2182617" cy="114300"/>
          </a:xfrm>
          <a:prstGeom prst="rect">
            <a:avLst/>
          </a:prstGeom>
          <a:solidFill>
            <a:srgbClr val="002D4C"/>
          </a:solidFill>
          <a:ln>
            <a:noFill/>
          </a:ln>
        </p:spPr>
        <p:txBody>
          <a:bodyPr/>
          <a:lstStyle/>
          <a:p>
            <a:endParaRPr lang="zh-CN" altLang="en-US"/>
          </a:p>
        </p:txBody>
      </p:sp>
      <p:sp>
        <p:nvSpPr>
          <p:cNvPr id="34" name="Freeform 34"/>
          <p:cNvSpPr/>
          <p:nvPr/>
        </p:nvSpPr>
        <p:spPr>
          <a:xfrm>
            <a:off x="2647950" y="3448050"/>
            <a:ext cx="8934450" cy="457200"/>
          </a:xfrm>
          <a:custGeom>
            <a:avLst/>
            <a:gdLst/>
            <a:ahLst/>
            <a:cxnLst/>
            <a:rect l="l" t="t" r="r" b="b"/>
            <a:pathLst>
              <a:path w="8343900" h="457200">
                <a:moveTo>
                  <a:pt x="95250" y="0"/>
                </a:moveTo>
                <a:lnTo>
                  <a:pt x="8248650" y="0"/>
                </a:lnTo>
                <a:cubicBezTo>
                  <a:pt x="8301255" y="0"/>
                  <a:pt x="8343900" y="42645"/>
                  <a:pt x="8343900" y="95250"/>
                </a:cubicBezTo>
                <a:lnTo>
                  <a:pt x="8343900" y="361950"/>
                </a:lnTo>
                <a:cubicBezTo>
                  <a:pt x="8343900" y="414555"/>
                  <a:pt x="8301255" y="457200"/>
                  <a:pt x="8248650" y="457200"/>
                </a:cubicBezTo>
                <a:lnTo>
                  <a:pt x="95250" y="457200"/>
                </a:lnTo>
                <a:cubicBezTo>
                  <a:pt x="42645" y="457200"/>
                  <a:pt x="0" y="414555"/>
                  <a:pt x="0" y="361950"/>
                </a:cubicBez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35" name="Rectangle 35"/>
          <p:cNvSpPr/>
          <p:nvPr/>
        </p:nvSpPr>
        <p:spPr>
          <a:xfrm>
            <a:off x="2647950" y="3790950"/>
            <a:ext cx="8934450" cy="114300"/>
          </a:xfrm>
          <a:prstGeom prst="rect">
            <a:avLst/>
          </a:prstGeom>
          <a:solidFill>
            <a:srgbClr val="002D4C"/>
          </a:solidFill>
          <a:ln>
            <a:noFill/>
          </a:ln>
        </p:spPr>
        <p:txBody>
          <a:bodyPr/>
          <a:lstStyle/>
          <a:p>
            <a:endParaRPr lang="zh-CN" altLang="en-US"/>
          </a:p>
        </p:txBody>
      </p:sp>
      <p:sp>
        <p:nvSpPr>
          <p:cNvPr id="36" name="TextBox 36"/>
          <p:cNvSpPr txBox="1"/>
          <p:nvPr/>
        </p:nvSpPr>
        <p:spPr>
          <a:xfrm>
            <a:off x="783908" y="3605689"/>
            <a:ext cx="665497" cy="196208"/>
          </a:xfrm>
          <a:prstGeom prst="rect">
            <a:avLst/>
          </a:prstGeom>
          <a:noFill/>
          <a:ln>
            <a:noFill/>
          </a:ln>
        </p:spPr>
        <p:txBody>
          <a:bodyPr wrap="square" lIns="0" tIns="0" rIns="0" bIns="0" anchor="t" anchorCtr="0">
            <a:spAutoFit/>
          </a:bodyPr>
          <a:lstStyle/>
          <a:p>
            <a:pPr algn="l"/>
            <a:r>
              <a:rPr lang="zh-CN" sz="1275" b="1" dirty="0">
                <a:solidFill>
                  <a:srgbClr val="FFFFFF"/>
                </a:solidFill>
                <a:latin typeface="Arial"/>
                <a:ea typeface="Microsoft YaHei"/>
                <a:cs typeface="Arial"/>
              </a:rPr>
              <a:t>Source</a:t>
            </a:r>
          </a:p>
        </p:txBody>
      </p:sp>
      <p:sp>
        <p:nvSpPr>
          <p:cNvPr id="37" name="TextBox 37"/>
          <p:cNvSpPr txBox="1"/>
          <p:nvPr/>
        </p:nvSpPr>
        <p:spPr>
          <a:xfrm>
            <a:off x="2860357" y="3605689"/>
            <a:ext cx="1735979" cy="196208"/>
          </a:xfrm>
          <a:prstGeom prst="rect">
            <a:avLst/>
          </a:prstGeom>
          <a:noFill/>
          <a:ln>
            <a:noFill/>
          </a:ln>
        </p:spPr>
        <p:txBody>
          <a:bodyPr wrap="square" lIns="0" tIns="0" rIns="0" bIns="0" anchor="t" anchorCtr="0">
            <a:spAutoFit/>
          </a:bodyPr>
          <a:lstStyle/>
          <a:p>
            <a:pPr algn="l"/>
            <a:r>
              <a:rPr lang="zh-CN" sz="1275" b="1" dirty="0">
                <a:solidFill>
                  <a:srgbClr val="FFFFFF"/>
                </a:solidFill>
                <a:latin typeface="Arial"/>
                <a:ea typeface="Microsoft YaHei"/>
                <a:cs typeface="Arial"/>
              </a:rPr>
              <a:t>Fields and purpose</a:t>
            </a:r>
          </a:p>
        </p:txBody>
      </p:sp>
      <p:sp>
        <p:nvSpPr>
          <p:cNvPr id="38" name="Rectangle 38"/>
          <p:cNvSpPr/>
          <p:nvPr/>
        </p:nvSpPr>
        <p:spPr>
          <a:xfrm>
            <a:off x="609599" y="3905250"/>
            <a:ext cx="2182617" cy="723900"/>
          </a:xfrm>
          <a:prstGeom prst="rect">
            <a:avLst/>
          </a:prstGeom>
          <a:solidFill>
            <a:srgbClr val="EAF6F4"/>
          </a:solidFill>
          <a:ln>
            <a:noFill/>
          </a:ln>
        </p:spPr>
        <p:txBody>
          <a:bodyPr/>
          <a:lstStyle/>
          <a:p>
            <a:endParaRPr lang="zh-CN" altLang="en-US"/>
          </a:p>
        </p:txBody>
      </p:sp>
      <p:sp>
        <p:nvSpPr>
          <p:cNvPr id="39" name="Rectangle 39"/>
          <p:cNvSpPr/>
          <p:nvPr/>
        </p:nvSpPr>
        <p:spPr>
          <a:xfrm>
            <a:off x="2647950" y="3905250"/>
            <a:ext cx="8934450" cy="723900"/>
          </a:xfrm>
          <a:prstGeom prst="rect">
            <a:avLst/>
          </a:prstGeom>
          <a:solidFill>
            <a:srgbClr val="EAF6F4"/>
          </a:solidFill>
          <a:ln>
            <a:noFill/>
          </a:ln>
        </p:spPr>
        <p:txBody>
          <a:bodyPr/>
          <a:lstStyle/>
          <a:p>
            <a:endParaRPr lang="zh-CN" altLang="en-US"/>
          </a:p>
        </p:txBody>
      </p:sp>
      <p:sp>
        <p:nvSpPr>
          <p:cNvPr id="40" name="TextBox 40"/>
          <p:cNvSpPr txBox="1"/>
          <p:nvPr/>
        </p:nvSpPr>
        <p:spPr>
          <a:xfrm>
            <a:off x="783907" y="4081939"/>
            <a:ext cx="1735979" cy="196208"/>
          </a:xfrm>
          <a:prstGeom prst="rect">
            <a:avLst/>
          </a:prstGeom>
          <a:noFill/>
          <a:ln>
            <a:noFill/>
          </a:ln>
        </p:spPr>
        <p:txBody>
          <a:bodyPr wrap="square" lIns="0" tIns="0" rIns="0" bIns="0" anchor="t" anchorCtr="0">
            <a:spAutoFit/>
          </a:bodyPr>
          <a:lstStyle/>
          <a:p>
            <a:pPr algn="l"/>
            <a:r>
              <a:rPr lang="zh-CN" sz="1275" b="1" dirty="0">
                <a:solidFill>
                  <a:srgbClr val="002D4C"/>
                </a:solidFill>
                <a:latin typeface="Arial"/>
                <a:ea typeface="Microsoft YaHei"/>
                <a:cs typeface="Arial"/>
              </a:rPr>
              <a:t>Self-built dataset</a:t>
            </a:r>
          </a:p>
        </p:txBody>
      </p:sp>
      <p:sp>
        <p:nvSpPr>
          <p:cNvPr id="41" name="TextBox 41"/>
          <p:cNvSpPr txBox="1"/>
          <p:nvPr/>
        </p:nvSpPr>
        <p:spPr>
          <a:xfrm>
            <a:off x="2862262" y="4050506"/>
            <a:ext cx="5436016" cy="173124"/>
          </a:xfrm>
          <a:prstGeom prst="rect">
            <a:avLst/>
          </a:prstGeom>
          <a:noFill/>
          <a:ln>
            <a:noFill/>
          </a:ln>
        </p:spPr>
        <p:txBody>
          <a:bodyPr wrap="square" lIns="0" tIns="0" rIns="0" bIns="0" anchor="t" anchorCtr="0">
            <a:spAutoFit/>
          </a:bodyPr>
          <a:lstStyle/>
          <a:p>
            <a:pPr algn="l"/>
            <a:r>
              <a:rPr lang="zh-CN" sz="1125" dirty="0">
                <a:solidFill>
                  <a:srgbClr val="005A50"/>
                </a:solidFill>
                <a:latin typeface="Consolas"/>
                <a:ea typeface="Microsoft YaHei"/>
                <a:cs typeface="Consolas"/>
              </a:rPr>
              <a:t>id · question · gold_answer / answer_set · answer_type · hop_count</a:t>
            </a:r>
          </a:p>
        </p:txBody>
      </p:sp>
      <p:sp>
        <p:nvSpPr>
          <p:cNvPr id="42" name="TextBox 42"/>
          <p:cNvSpPr txBox="1"/>
          <p:nvPr/>
        </p:nvSpPr>
        <p:spPr>
          <a:xfrm>
            <a:off x="2863215" y="4325302"/>
            <a:ext cx="5785770" cy="161583"/>
          </a:xfrm>
          <a:prstGeom prst="rect">
            <a:avLst/>
          </a:prstGeom>
          <a:noFill/>
          <a:ln>
            <a:noFill/>
          </a:ln>
        </p:spPr>
        <p:txBody>
          <a:bodyPr wrap="square" lIns="0" tIns="0" rIns="0" bIns="0" anchor="t" anchorCtr="0">
            <a:spAutoFit/>
          </a:bodyPr>
          <a:lstStyle/>
          <a:p>
            <a:pPr algn="l"/>
            <a:r>
              <a:rPr lang="zh-CN" sz="1050" dirty="0">
                <a:solidFill>
                  <a:srgbClr val="526671"/>
                </a:solidFill>
                <a:latin typeface="Arial"/>
                <a:ea typeface="Microsoft YaHei"/>
                <a:cs typeface="Arial"/>
              </a:rPr>
              <a:t>hop_count groups the samples; answer_type selects the correct scoring rule.</a:t>
            </a:r>
          </a:p>
        </p:txBody>
      </p:sp>
      <p:sp>
        <p:nvSpPr>
          <p:cNvPr id="43" name="Rectangle 43"/>
          <p:cNvSpPr/>
          <p:nvPr/>
        </p:nvSpPr>
        <p:spPr>
          <a:xfrm>
            <a:off x="609599" y="4629150"/>
            <a:ext cx="2182617" cy="552450"/>
          </a:xfrm>
          <a:prstGeom prst="rect">
            <a:avLst/>
          </a:prstGeom>
          <a:solidFill>
            <a:srgbClr val="F4F7F8"/>
          </a:solidFill>
          <a:ln>
            <a:noFill/>
          </a:ln>
        </p:spPr>
        <p:txBody>
          <a:bodyPr/>
          <a:lstStyle/>
          <a:p>
            <a:endParaRPr lang="zh-CN" altLang="en-US"/>
          </a:p>
        </p:txBody>
      </p:sp>
      <p:sp>
        <p:nvSpPr>
          <p:cNvPr id="44" name="Rectangle 44"/>
          <p:cNvSpPr/>
          <p:nvPr/>
        </p:nvSpPr>
        <p:spPr>
          <a:xfrm>
            <a:off x="2647950" y="4629150"/>
            <a:ext cx="8934450" cy="552450"/>
          </a:xfrm>
          <a:prstGeom prst="rect">
            <a:avLst/>
          </a:prstGeom>
          <a:solidFill>
            <a:srgbClr val="F4F7F8"/>
          </a:solidFill>
          <a:ln>
            <a:noFill/>
          </a:ln>
        </p:spPr>
        <p:txBody>
          <a:bodyPr/>
          <a:lstStyle/>
          <a:p>
            <a:endParaRPr lang="zh-CN" altLang="en-US"/>
          </a:p>
        </p:txBody>
      </p:sp>
      <p:sp>
        <p:nvSpPr>
          <p:cNvPr id="45" name="TextBox 45"/>
          <p:cNvSpPr txBox="1"/>
          <p:nvPr/>
        </p:nvSpPr>
        <p:spPr>
          <a:xfrm>
            <a:off x="783907" y="4824889"/>
            <a:ext cx="1573495" cy="196208"/>
          </a:xfrm>
          <a:prstGeom prst="rect">
            <a:avLst/>
          </a:prstGeom>
          <a:noFill/>
          <a:ln>
            <a:noFill/>
          </a:ln>
        </p:spPr>
        <p:txBody>
          <a:bodyPr wrap="square" lIns="0" tIns="0" rIns="0" bIns="0" anchor="t" anchorCtr="0">
            <a:spAutoFit/>
          </a:bodyPr>
          <a:lstStyle/>
          <a:p>
            <a:pPr algn="l"/>
            <a:r>
              <a:rPr lang="zh-CN" sz="1275" b="1" dirty="0">
                <a:solidFill>
                  <a:srgbClr val="002D4C"/>
                </a:solidFill>
                <a:latin typeface="Arial"/>
                <a:ea typeface="Microsoft YaHei"/>
                <a:cs typeface="Arial"/>
              </a:rPr>
              <a:t>Existing dataset</a:t>
            </a:r>
          </a:p>
        </p:txBody>
      </p:sp>
      <p:sp>
        <p:nvSpPr>
          <p:cNvPr id="46" name="TextBox 46"/>
          <p:cNvSpPr txBox="1"/>
          <p:nvPr/>
        </p:nvSpPr>
        <p:spPr>
          <a:xfrm>
            <a:off x="2862262" y="4841081"/>
            <a:ext cx="2689131" cy="173124"/>
          </a:xfrm>
          <a:prstGeom prst="rect">
            <a:avLst/>
          </a:prstGeom>
          <a:noFill/>
          <a:ln>
            <a:noFill/>
          </a:ln>
        </p:spPr>
        <p:txBody>
          <a:bodyPr wrap="square" lIns="0" tIns="0" rIns="0" bIns="0" anchor="t" anchorCtr="0">
            <a:spAutoFit/>
          </a:bodyPr>
          <a:lstStyle/>
          <a:p>
            <a:pPr algn="l"/>
            <a:r>
              <a:rPr lang="zh-CN" sz="1125" dirty="0">
                <a:solidFill>
                  <a:srgbClr val="002D4C"/>
                </a:solidFill>
                <a:latin typeface="Consolas"/>
                <a:ea typeface="Microsoft YaHei"/>
                <a:cs typeface="Consolas"/>
              </a:rPr>
              <a:t>question · answer(s) · hop_count</a:t>
            </a:r>
          </a:p>
        </p:txBody>
      </p:sp>
      <p:sp>
        <p:nvSpPr>
          <p:cNvPr id="47" name="Rectangle 47"/>
          <p:cNvSpPr/>
          <p:nvPr/>
        </p:nvSpPr>
        <p:spPr>
          <a:xfrm>
            <a:off x="609599" y="5181600"/>
            <a:ext cx="2182617" cy="571500"/>
          </a:xfrm>
          <a:prstGeom prst="rect">
            <a:avLst/>
          </a:prstGeom>
          <a:solidFill>
            <a:srgbClr val="EAF6F4"/>
          </a:solidFill>
          <a:ln>
            <a:noFill/>
          </a:ln>
        </p:spPr>
        <p:txBody>
          <a:bodyPr/>
          <a:lstStyle/>
          <a:p>
            <a:endParaRPr lang="zh-CN" altLang="en-US"/>
          </a:p>
        </p:txBody>
      </p:sp>
      <p:sp>
        <p:nvSpPr>
          <p:cNvPr id="48" name="Rectangle 48"/>
          <p:cNvSpPr/>
          <p:nvPr/>
        </p:nvSpPr>
        <p:spPr>
          <a:xfrm>
            <a:off x="2647950" y="5181600"/>
            <a:ext cx="8934450" cy="571500"/>
          </a:xfrm>
          <a:prstGeom prst="rect">
            <a:avLst/>
          </a:prstGeom>
          <a:solidFill>
            <a:srgbClr val="EAF6F4"/>
          </a:solidFill>
          <a:ln>
            <a:noFill/>
          </a:ln>
        </p:spPr>
        <p:txBody>
          <a:bodyPr/>
          <a:lstStyle/>
          <a:p>
            <a:endParaRPr lang="zh-CN" altLang="en-US"/>
          </a:p>
        </p:txBody>
      </p:sp>
      <p:sp>
        <p:nvSpPr>
          <p:cNvPr id="49" name="TextBox 49"/>
          <p:cNvSpPr txBox="1"/>
          <p:nvPr/>
        </p:nvSpPr>
        <p:spPr>
          <a:xfrm>
            <a:off x="783907" y="5386864"/>
            <a:ext cx="1583053" cy="196208"/>
          </a:xfrm>
          <a:prstGeom prst="rect">
            <a:avLst/>
          </a:prstGeom>
          <a:noFill/>
          <a:ln>
            <a:noFill/>
          </a:ln>
        </p:spPr>
        <p:txBody>
          <a:bodyPr wrap="square" lIns="0" tIns="0" rIns="0" bIns="0" anchor="t" anchorCtr="0">
            <a:spAutoFit/>
          </a:bodyPr>
          <a:lstStyle/>
          <a:p>
            <a:pPr algn="l"/>
            <a:r>
              <a:rPr lang="zh-CN" sz="1275" b="1" dirty="0">
                <a:solidFill>
                  <a:srgbClr val="002D4C"/>
                </a:solidFill>
                <a:latin typeface="Arial"/>
                <a:ea typeface="Microsoft YaHei"/>
                <a:cs typeface="Arial"/>
              </a:rPr>
              <a:t>Unified Agent log</a:t>
            </a:r>
          </a:p>
        </p:txBody>
      </p:sp>
      <p:sp>
        <p:nvSpPr>
          <p:cNvPr id="50" name="TextBox 50"/>
          <p:cNvSpPr txBox="1"/>
          <p:nvPr/>
        </p:nvSpPr>
        <p:spPr>
          <a:xfrm>
            <a:off x="2862262" y="5403056"/>
            <a:ext cx="5291443" cy="173124"/>
          </a:xfrm>
          <a:prstGeom prst="rect">
            <a:avLst/>
          </a:prstGeom>
          <a:noFill/>
          <a:ln>
            <a:noFill/>
          </a:ln>
        </p:spPr>
        <p:txBody>
          <a:bodyPr wrap="square" lIns="0" tIns="0" rIns="0" bIns="0" anchor="t" anchorCtr="0">
            <a:spAutoFit/>
          </a:bodyPr>
          <a:lstStyle/>
          <a:p>
            <a:pPr algn="l"/>
            <a:r>
              <a:rPr lang="zh-CN" sz="1125" dirty="0">
                <a:solidFill>
                  <a:srgbClr val="005A50"/>
                </a:solidFill>
                <a:latin typeface="Consolas"/>
                <a:ea typeface="Microsoft YaHei"/>
                <a:cs typeface="Consolas"/>
              </a:rPr>
              <a:t>sample_id · predicted_answer · answer_status · execution_status</a:t>
            </a:r>
          </a:p>
        </p:txBody>
      </p:sp>
      <p:sp>
        <p:nvSpPr>
          <p:cNvPr id="51" name="Freeform 51"/>
          <p:cNvSpPr/>
          <p:nvPr/>
        </p:nvSpPr>
        <p:spPr>
          <a:xfrm>
            <a:off x="609600" y="5924550"/>
            <a:ext cx="10990682" cy="400050"/>
          </a:xfrm>
          <a:custGeom>
            <a:avLst/>
            <a:gdLst/>
            <a:ahLst/>
            <a:cxnLst/>
            <a:rect l="l" t="t" r="r" b="b"/>
            <a:pathLst>
              <a:path w="10382250" h="400050">
                <a:moveTo>
                  <a:pt x="76200" y="0"/>
                </a:moveTo>
                <a:lnTo>
                  <a:pt x="10306050" y="0"/>
                </a:lnTo>
                <a:cubicBezTo>
                  <a:pt x="10348134" y="0"/>
                  <a:pt x="10382250" y="34116"/>
                  <a:pt x="10382250" y="76200"/>
                </a:cubicBezTo>
                <a:lnTo>
                  <a:pt x="10382250" y="323850"/>
                </a:lnTo>
                <a:cubicBezTo>
                  <a:pt x="10382250" y="365934"/>
                  <a:pt x="10348134" y="400050"/>
                  <a:pt x="10306050" y="400050"/>
                </a:cubicBezTo>
                <a:lnTo>
                  <a:pt x="76200" y="400050"/>
                </a:lnTo>
                <a:cubicBezTo>
                  <a:pt x="34116" y="400050"/>
                  <a:pt x="0" y="365934"/>
                  <a:pt x="0" y="323850"/>
                </a:cubicBezTo>
                <a:lnTo>
                  <a:pt x="0" y="76200"/>
                </a:lnTo>
                <a:cubicBezTo>
                  <a:pt x="0" y="34116"/>
                  <a:pt x="34116" y="0"/>
                  <a:pt x="76200" y="0"/>
                </a:cubicBezTo>
                <a:close/>
              </a:path>
            </a:pathLst>
          </a:custGeom>
          <a:solidFill>
            <a:srgbClr val="002D4C"/>
          </a:solidFill>
          <a:ln>
            <a:noFill/>
          </a:ln>
        </p:spPr>
        <p:txBody>
          <a:bodyPr/>
          <a:lstStyle/>
          <a:p>
            <a:endParaRPr lang="zh-CN" altLang="en-US"/>
          </a:p>
        </p:txBody>
      </p:sp>
      <p:sp>
        <p:nvSpPr>
          <p:cNvPr id="52" name="TextBox 52"/>
          <p:cNvSpPr txBox="1"/>
          <p:nvPr/>
        </p:nvSpPr>
        <p:spPr>
          <a:xfrm>
            <a:off x="2086570" y="6044089"/>
            <a:ext cx="7954057" cy="196208"/>
          </a:xfrm>
          <a:prstGeom prst="rect">
            <a:avLst/>
          </a:prstGeom>
          <a:noFill/>
          <a:ln>
            <a:noFill/>
          </a:ln>
        </p:spPr>
        <p:txBody>
          <a:bodyPr wrap="square" lIns="0" tIns="0" rIns="0" bIns="0" anchor="t" anchorCtr="0">
            <a:spAutoFit/>
          </a:bodyPr>
          <a:lstStyle/>
          <a:p>
            <a:pPr algn="ctr"/>
            <a:r>
              <a:rPr lang="zh-CN" sz="1275" dirty="0">
                <a:solidFill>
                  <a:srgbClr val="FFFFFF"/>
                </a:solidFill>
                <a:latin typeface="Arial"/>
                <a:ea typeface="Microsoft YaHei"/>
                <a:cs typeface="Arial"/>
              </a:rPr>
              <a:t>A complete gold reasoning path is not required; selected cases can be reviewed manually.</a:t>
            </a:r>
          </a:p>
        </p:txBody>
      </p:sp>
      <p:sp>
        <p:nvSpPr>
          <p:cNvPr id="53" name="TextBox 53"/>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4" name="TextBox 54"/>
          <p:cNvSpPr txBox="1"/>
          <p:nvPr/>
        </p:nvSpPr>
        <p:spPr>
          <a:xfrm>
            <a:off x="10872311" y="6529388"/>
            <a:ext cx="129064" cy="152400"/>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77215" y="372428"/>
            <a:ext cx="4315301"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Capability 2: Final Answer</a:t>
            </a:r>
          </a:p>
        </p:txBody>
      </p:sp>
      <p:sp>
        <p:nvSpPr>
          <p:cNvPr id="5" name="TextBox 5"/>
          <p:cNvSpPr txBox="1"/>
          <p:nvPr/>
        </p:nvSpPr>
        <p:spPr>
          <a:xfrm>
            <a:off x="592455" y="806768"/>
            <a:ext cx="6173057"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Is the final answer correct, complete, and suitable for the question?</a:t>
            </a:r>
          </a:p>
        </p:txBody>
      </p:sp>
      <p:sp>
        <p:nvSpPr>
          <p:cNvPr id="6" name="Freeform 6"/>
          <p:cNvSpPr/>
          <p:nvPr/>
        </p:nvSpPr>
        <p:spPr>
          <a:xfrm>
            <a:off x="609600" y="1219200"/>
            <a:ext cx="3333750" cy="1562100"/>
          </a:xfrm>
          <a:custGeom>
            <a:avLst/>
            <a:gdLst/>
            <a:ahLst/>
            <a:cxnLst/>
            <a:rect l="l" t="t" r="r" b="b"/>
            <a:pathLst>
              <a:path w="3333750" h="1562100">
                <a:moveTo>
                  <a:pt x="114300" y="0"/>
                </a:moveTo>
                <a:lnTo>
                  <a:pt x="3219450" y="0"/>
                </a:lnTo>
                <a:cubicBezTo>
                  <a:pt x="3282576" y="0"/>
                  <a:pt x="3333750" y="51174"/>
                  <a:pt x="3333750" y="114300"/>
                </a:cubicBezTo>
                <a:lnTo>
                  <a:pt x="3333750" y="1447800"/>
                </a:lnTo>
                <a:cubicBezTo>
                  <a:pt x="3333750" y="1510926"/>
                  <a:pt x="3282576" y="1562100"/>
                  <a:pt x="3219450" y="1562100"/>
                </a:cubicBezTo>
                <a:lnTo>
                  <a:pt x="114300" y="1562100"/>
                </a:lnTo>
                <a:cubicBezTo>
                  <a:pt x="51174" y="1562100"/>
                  <a:pt x="0" y="1510926"/>
                  <a:pt x="0" y="1447800"/>
                </a:cubicBezTo>
                <a:lnTo>
                  <a:pt x="0" y="114300"/>
                </a:lnTo>
                <a:cubicBezTo>
                  <a:pt x="0" y="51174"/>
                  <a:pt x="51174" y="0"/>
                  <a:pt x="114300" y="0"/>
                </a:cubicBezTo>
                <a:close/>
              </a:path>
            </a:pathLst>
          </a:custGeom>
          <a:solidFill>
            <a:srgbClr val="F4F7F8"/>
          </a:solidFill>
          <a:ln w="19050">
            <a:solidFill>
              <a:srgbClr val="DAE1E6"/>
            </a:solidFill>
          </a:ln>
        </p:spPr>
        <p:txBody>
          <a:bodyPr/>
          <a:lstStyle/>
          <a:p>
            <a:endParaRPr lang="zh-CN" altLang="en-US"/>
          </a:p>
        </p:txBody>
      </p:sp>
      <p:sp>
        <p:nvSpPr>
          <p:cNvPr id="7" name="Freeform 7"/>
          <p:cNvSpPr/>
          <p:nvPr/>
        </p:nvSpPr>
        <p:spPr>
          <a:xfrm>
            <a:off x="609600" y="1219200"/>
            <a:ext cx="3333750" cy="381000"/>
          </a:xfrm>
          <a:custGeom>
            <a:avLst/>
            <a:gdLst/>
            <a:ahLst/>
            <a:cxnLst/>
            <a:rect l="l" t="t" r="r" b="b"/>
            <a:pathLst>
              <a:path w="3333750" h="381000">
                <a:moveTo>
                  <a:pt x="114300" y="0"/>
                </a:moveTo>
                <a:lnTo>
                  <a:pt x="3219450" y="0"/>
                </a:lnTo>
                <a:cubicBezTo>
                  <a:pt x="3282576" y="0"/>
                  <a:pt x="3333750" y="51174"/>
                  <a:pt x="3333750" y="114300"/>
                </a:cubicBezTo>
                <a:lnTo>
                  <a:pt x="3333750" y="266700"/>
                </a:lnTo>
                <a:cubicBezTo>
                  <a:pt x="3333750" y="329826"/>
                  <a:pt x="3282576" y="381000"/>
                  <a:pt x="3219450" y="381000"/>
                </a:cubicBezTo>
                <a:lnTo>
                  <a:pt x="114300" y="381000"/>
                </a:lnTo>
                <a:cubicBezTo>
                  <a:pt x="51174" y="381000"/>
                  <a:pt x="0" y="329826"/>
                  <a:pt x="0" y="266700"/>
                </a:cubicBezTo>
                <a:lnTo>
                  <a:pt x="0" y="114300"/>
                </a:lnTo>
                <a:cubicBezTo>
                  <a:pt x="0" y="51174"/>
                  <a:pt x="51174" y="0"/>
                  <a:pt x="114300" y="0"/>
                </a:cubicBezTo>
                <a:close/>
              </a:path>
            </a:pathLst>
          </a:custGeom>
          <a:solidFill>
            <a:srgbClr val="002D4C"/>
          </a:solidFill>
          <a:ln>
            <a:noFill/>
          </a:ln>
        </p:spPr>
        <p:txBody>
          <a:bodyPr/>
          <a:lstStyle/>
          <a:p>
            <a:endParaRPr lang="zh-CN" altLang="en-US"/>
          </a:p>
        </p:txBody>
      </p:sp>
      <p:sp>
        <p:nvSpPr>
          <p:cNvPr id="8" name="Rectangle 8"/>
          <p:cNvSpPr/>
          <p:nvPr/>
        </p:nvSpPr>
        <p:spPr>
          <a:xfrm>
            <a:off x="609600" y="1485900"/>
            <a:ext cx="3333750" cy="114300"/>
          </a:xfrm>
          <a:prstGeom prst="rect">
            <a:avLst/>
          </a:prstGeom>
          <a:solidFill>
            <a:srgbClr val="002D4C"/>
          </a:solidFill>
          <a:ln>
            <a:noFill/>
          </a:ln>
        </p:spPr>
        <p:txBody>
          <a:bodyPr/>
          <a:lstStyle/>
          <a:p>
            <a:endParaRPr lang="zh-CN" altLang="en-US"/>
          </a:p>
        </p:txBody>
      </p:sp>
      <p:sp>
        <p:nvSpPr>
          <p:cNvPr id="9" name="TextBox 9"/>
          <p:cNvSpPr txBox="1"/>
          <p:nvPr/>
        </p:nvSpPr>
        <p:spPr>
          <a:xfrm>
            <a:off x="801052" y="1322546"/>
            <a:ext cx="1083701"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Test tasks</a:t>
            </a:r>
          </a:p>
        </p:txBody>
      </p:sp>
      <p:sp>
        <p:nvSpPr>
          <p:cNvPr id="10" name="TextBox 10"/>
          <p:cNvSpPr txBox="1"/>
          <p:nvPr/>
        </p:nvSpPr>
        <p:spPr>
          <a:xfrm>
            <a:off x="822960" y="1765935"/>
            <a:ext cx="3070860"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 Answer entity, entity-set, numeric,</a:t>
            </a:r>
          </a:p>
        </p:txBody>
      </p:sp>
      <p:sp>
        <p:nvSpPr>
          <p:cNvPr id="11" name="TextBox 11"/>
          <p:cNvSpPr txBox="1"/>
          <p:nvPr/>
        </p:nvSpPr>
        <p:spPr>
          <a:xfrm>
            <a:off x="975360" y="2004060"/>
            <a:ext cx="2206752"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Boolean, and date questions</a:t>
            </a:r>
          </a:p>
        </p:txBody>
      </p:sp>
      <p:sp>
        <p:nvSpPr>
          <p:cNvPr id="12" name="TextBox 12"/>
          <p:cNvSpPr txBox="1"/>
          <p:nvPr/>
        </p:nvSpPr>
        <p:spPr>
          <a:xfrm>
            <a:off x="822960" y="2280285"/>
            <a:ext cx="3422904"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 Detect missing or incorrect answer items</a:t>
            </a:r>
          </a:p>
        </p:txBody>
      </p:sp>
      <p:sp>
        <p:nvSpPr>
          <p:cNvPr id="13" name="TextBox 13"/>
          <p:cNvSpPr txBox="1"/>
          <p:nvPr/>
        </p:nvSpPr>
        <p:spPr>
          <a:xfrm>
            <a:off x="822960" y="2518410"/>
            <a:ext cx="2654808"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 Review clarity in selected cases</a:t>
            </a:r>
          </a:p>
        </p:txBody>
      </p:sp>
      <p:sp>
        <p:nvSpPr>
          <p:cNvPr id="14" name="Freeform 14"/>
          <p:cNvSpPr/>
          <p:nvPr/>
        </p:nvSpPr>
        <p:spPr>
          <a:xfrm>
            <a:off x="4133850" y="1219200"/>
            <a:ext cx="3333750" cy="1562100"/>
          </a:xfrm>
          <a:custGeom>
            <a:avLst/>
            <a:gdLst/>
            <a:ahLst/>
            <a:cxnLst/>
            <a:rect l="l" t="t" r="r" b="b"/>
            <a:pathLst>
              <a:path w="3333750" h="1562100">
                <a:moveTo>
                  <a:pt x="114300" y="0"/>
                </a:moveTo>
                <a:lnTo>
                  <a:pt x="3219450" y="0"/>
                </a:lnTo>
                <a:cubicBezTo>
                  <a:pt x="3282576" y="0"/>
                  <a:pt x="3333750" y="51174"/>
                  <a:pt x="3333750" y="114300"/>
                </a:cubicBezTo>
                <a:lnTo>
                  <a:pt x="3333750" y="1447800"/>
                </a:lnTo>
                <a:cubicBezTo>
                  <a:pt x="3333750" y="1510926"/>
                  <a:pt x="3282576" y="1562100"/>
                  <a:pt x="3219450" y="1562100"/>
                </a:cubicBezTo>
                <a:lnTo>
                  <a:pt x="114300" y="1562100"/>
                </a:lnTo>
                <a:cubicBezTo>
                  <a:pt x="51174" y="1562100"/>
                  <a:pt x="0" y="1510926"/>
                  <a:pt x="0" y="1447800"/>
                </a:cubicBezTo>
                <a:lnTo>
                  <a:pt x="0" y="114300"/>
                </a:lnTo>
                <a:cubicBezTo>
                  <a:pt x="0" y="51174"/>
                  <a:pt x="51174" y="0"/>
                  <a:pt x="114300" y="0"/>
                </a:cubicBezTo>
                <a:close/>
              </a:path>
            </a:pathLst>
          </a:custGeom>
          <a:solidFill>
            <a:srgbClr val="F4F7F8"/>
          </a:solidFill>
          <a:ln w="19050">
            <a:solidFill>
              <a:srgbClr val="DAE1E6"/>
            </a:solidFill>
          </a:ln>
        </p:spPr>
        <p:txBody>
          <a:bodyPr/>
          <a:lstStyle/>
          <a:p>
            <a:endParaRPr lang="zh-CN" altLang="en-US"/>
          </a:p>
        </p:txBody>
      </p:sp>
      <p:sp>
        <p:nvSpPr>
          <p:cNvPr id="15" name="Freeform 15"/>
          <p:cNvSpPr/>
          <p:nvPr/>
        </p:nvSpPr>
        <p:spPr>
          <a:xfrm>
            <a:off x="4133850" y="1219200"/>
            <a:ext cx="3333750" cy="381000"/>
          </a:xfrm>
          <a:custGeom>
            <a:avLst/>
            <a:gdLst/>
            <a:ahLst/>
            <a:cxnLst/>
            <a:rect l="l" t="t" r="r" b="b"/>
            <a:pathLst>
              <a:path w="3333750" h="381000">
                <a:moveTo>
                  <a:pt x="114300" y="0"/>
                </a:moveTo>
                <a:lnTo>
                  <a:pt x="3219450" y="0"/>
                </a:lnTo>
                <a:cubicBezTo>
                  <a:pt x="3282576" y="0"/>
                  <a:pt x="3333750" y="51174"/>
                  <a:pt x="3333750" y="114300"/>
                </a:cubicBezTo>
                <a:lnTo>
                  <a:pt x="3333750" y="266700"/>
                </a:lnTo>
                <a:cubicBezTo>
                  <a:pt x="3333750" y="329826"/>
                  <a:pt x="3282576" y="381000"/>
                  <a:pt x="3219450" y="381000"/>
                </a:cubicBezTo>
                <a:lnTo>
                  <a:pt x="114300" y="381000"/>
                </a:lnTo>
                <a:cubicBezTo>
                  <a:pt x="51174" y="381000"/>
                  <a:pt x="0" y="329826"/>
                  <a:pt x="0" y="266700"/>
                </a:cubicBezTo>
                <a:lnTo>
                  <a:pt x="0" y="114300"/>
                </a:lnTo>
                <a:cubicBezTo>
                  <a:pt x="0" y="51174"/>
                  <a:pt x="51174" y="0"/>
                  <a:pt x="114300" y="0"/>
                </a:cubicBezTo>
                <a:close/>
              </a:path>
            </a:pathLst>
          </a:custGeom>
          <a:solidFill>
            <a:srgbClr val="009682"/>
          </a:solidFill>
          <a:ln>
            <a:noFill/>
          </a:ln>
        </p:spPr>
        <p:txBody>
          <a:bodyPr/>
          <a:lstStyle/>
          <a:p>
            <a:endParaRPr lang="zh-CN" altLang="en-US"/>
          </a:p>
        </p:txBody>
      </p:sp>
      <p:sp>
        <p:nvSpPr>
          <p:cNvPr id="16" name="Rectangle 16"/>
          <p:cNvSpPr/>
          <p:nvPr/>
        </p:nvSpPr>
        <p:spPr>
          <a:xfrm>
            <a:off x="4133850" y="1485900"/>
            <a:ext cx="3333750" cy="114300"/>
          </a:xfrm>
          <a:prstGeom prst="rect">
            <a:avLst/>
          </a:prstGeom>
          <a:solidFill>
            <a:srgbClr val="009682"/>
          </a:solidFill>
          <a:ln>
            <a:noFill/>
          </a:ln>
        </p:spPr>
        <p:txBody>
          <a:bodyPr/>
          <a:lstStyle/>
          <a:p>
            <a:endParaRPr lang="zh-CN" altLang="en-US"/>
          </a:p>
        </p:txBody>
      </p:sp>
      <p:sp>
        <p:nvSpPr>
          <p:cNvPr id="17" name="TextBox 17"/>
          <p:cNvSpPr txBox="1"/>
          <p:nvPr/>
        </p:nvSpPr>
        <p:spPr>
          <a:xfrm>
            <a:off x="4325302" y="1322546"/>
            <a:ext cx="1851872"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Evaluation metrics</a:t>
            </a:r>
          </a:p>
        </p:txBody>
      </p:sp>
      <p:sp>
        <p:nvSpPr>
          <p:cNvPr id="18" name="TextBox 18"/>
          <p:cNvSpPr txBox="1"/>
          <p:nvPr/>
        </p:nvSpPr>
        <p:spPr>
          <a:xfrm>
            <a:off x="4347210" y="1775460"/>
            <a:ext cx="3222879"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Single answer: Exact Match / Accuracy</a:t>
            </a:r>
          </a:p>
        </p:txBody>
      </p:sp>
      <p:sp>
        <p:nvSpPr>
          <p:cNvPr id="19" name="TextBox 19"/>
          <p:cNvSpPr txBox="1"/>
          <p:nvPr/>
        </p:nvSpPr>
        <p:spPr>
          <a:xfrm>
            <a:off x="4347210" y="2070735"/>
            <a:ext cx="3197676"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Multiple answers: Precision, Recall, F1</a:t>
            </a:r>
          </a:p>
        </p:txBody>
      </p:sp>
      <p:sp>
        <p:nvSpPr>
          <p:cNvPr id="20" name="TextBox 20"/>
          <p:cNvSpPr txBox="1"/>
          <p:nvPr/>
        </p:nvSpPr>
        <p:spPr>
          <a:xfrm>
            <a:off x="4347210" y="2366010"/>
            <a:ext cx="3398901"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Type-specific normalization before scoring</a:t>
            </a:r>
          </a:p>
        </p:txBody>
      </p:sp>
      <p:sp>
        <p:nvSpPr>
          <p:cNvPr id="21" name="Freeform 21"/>
          <p:cNvSpPr/>
          <p:nvPr/>
        </p:nvSpPr>
        <p:spPr>
          <a:xfrm>
            <a:off x="7658100" y="1219200"/>
            <a:ext cx="3333750" cy="1562100"/>
          </a:xfrm>
          <a:custGeom>
            <a:avLst/>
            <a:gdLst/>
            <a:ahLst/>
            <a:cxnLst/>
            <a:rect l="l" t="t" r="r" b="b"/>
            <a:pathLst>
              <a:path w="3333750" h="1562100">
                <a:moveTo>
                  <a:pt x="114300" y="0"/>
                </a:moveTo>
                <a:lnTo>
                  <a:pt x="3219450" y="0"/>
                </a:lnTo>
                <a:cubicBezTo>
                  <a:pt x="3282576" y="0"/>
                  <a:pt x="3333750" y="51174"/>
                  <a:pt x="3333750" y="114300"/>
                </a:cubicBezTo>
                <a:lnTo>
                  <a:pt x="3333750" y="1447800"/>
                </a:lnTo>
                <a:cubicBezTo>
                  <a:pt x="3333750" y="1510926"/>
                  <a:pt x="3282576" y="1562100"/>
                  <a:pt x="3219450" y="1562100"/>
                </a:cubicBezTo>
                <a:lnTo>
                  <a:pt x="114300" y="1562100"/>
                </a:lnTo>
                <a:cubicBezTo>
                  <a:pt x="51174" y="1562100"/>
                  <a:pt x="0" y="1510926"/>
                  <a:pt x="0" y="1447800"/>
                </a:cubicBezTo>
                <a:lnTo>
                  <a:pt x="0" y="114300"/>
                </a:lnTo>
                <a:cubicBezTo>
                  <a:pt x="0" y="51174"/>
                  <a:pt x="51174" y="0"/>
                  <a:pt x="114300" y="0"/>
                </a:cubicBezTo>
                <a:close/>
              </a:path>
            </a:pathLst>
          </a:custGeom>
          <a:solidFill>
            <a:srgbClr val="EAF6F4"/>
          </a:solidFill>
          <a:ln w="19050">
            <a:solidFill>
              <a:srgbClr val="009682"/>
            </a:solidFill>
          </a:ln>
        </p:spPr>
        <p:txBody>
          <a:bodyPr/>
          <a:lstStyle/>
          <a:p>
            <a:endParaRPr lang="zh-CN" altLang="en-US"/>
          </a:p>
        </p:txBody>
      </p:sp>
      <p:sp>
        <p:nvSpPr>
          <p:cNvPr id="22" name="TextBox 22"/>
          <p:cNvSpPr txBox="1"/>
          <p:nvPr/>
        </p:nvSpPr>
        <p:spPr>
          <a:xfrm>
            <a:off x="7868602" y="1408271"/>
            <a:ext cx="2829544"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Why answer_type is required</a:t>
            </a:r>
          </a:p>
        </p:txBody>
      </p:sp>
      <p:sp>
        <p:nvSpPr>
          <p:cNvPr id="23" name="TextBox 23"/>
          <p:cNvSpPr txBox="1"/>
          <p:nvPr/>
        </p:nvSpPr>
        <p:spPr>
          <a:xfrm>
            <a:off x="7871460" y="1775460"/>
            <a:ext cx="2998851"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It tells the evaluation program how to</a:t>
            </a:r>
          </a:p>
        </p:txBody>
      </p:sp>
      <p:sp>
        <p:nvSpPr>
          <p:cNvPr id="24" name="TextBox 24"/>
          <p:cNvSpPr txBox="1"/>
          <p:nvPr/>
        </p:nvSpPr>
        <p:spPr>
          <a:xfrm>
            <a:off x="7871460" y="2013585"/>
            <a:ext cx="3142869"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compare the answer. A Boolean answer,</a:t>
            </a:r>
          </a:p>
        </p:txBody>
      </p:sp>
      <p:sp>
        <p:nvSpPr>
          <p:cNvPr id="25" name="TextBox 25"/>
          <p:cNvSpPr txBox="1"/>
          <p:nvPr/>
        </p:nvSpPr>
        <p:spPr>
          <a:xfrm>
            <a:off x="7871460" y="2251710"/>
            <a:ext cx="3086862"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a number, and an entity need different</a:t>
            </a:r>
          </a:p>
        </p:txBody>
      </p:sp>
      <p:sp>
        <p:nvSpPr>
          <p:cNvPr id="26" name="TextBox 26"/>
          <p:cNvSpPr txBox="1"/>
          <p:nvPr/>
        </p:nvSpPr>
        <p:spPr>
          <a:xfrm>
            <a:off x="7871460" y="2489835"/>
            <a:ext cx="2558796"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normalization and scoring rules.</a:t>
            </a:r>
          </a:p>
        </p:txBody>
      </p:sp>
      <p:sp>
        <p:nvSpPr>
          <p:cNvPr id="27" name="TextBox 27"/>
          <p:cNvSpPr txBox="1"/>
          <p:nvPr/>
        </p:nvSpPr>
        <p:spPr>
          <a:xfrm>
            <a:off x="588645" y="2965132"/>
            <a:ext cx="1716869" cy="335280"/>
          </a:xfrm>
          <a:prstGeom prst="rect">
            <a:avLst/>
          </a:prstGeom>
          <a:noFill/>
          <a:ln>
            <a:noFill/>
          </a:ln>
        </p:spPr>
        <p:txBody>
          <a:bodyPr wrap="none" lIns="0" tIns="0" rIns="0" bIns="0" anchor="t" anchorCtr="0">
            <a:spAutoFit/>
          </a:bodyPr>
          <a:lstStyle/>
          <a:p>
            <a:pPr algn="l"/>
            <a:r>
              <a:rPr lang="zh-CN" sz="1650" b="1" dirty="0">
                <a:solidFill>
                  <a:srgbClr val="002D4C"/>
                </a:solidFill>
                <a:latin typeface="Arial"/>
                <a:ea typeface="Microsoft YaHei"/>
                <a:cs typeface="Arial"/>
              </a:rPr>
              <a:t>Required fields</a:t>
            </a:r>
          </a:p>
        </p:txBody>
      </p:sp>
      <p:sp>
        <p:nvSpPr>
          <p:cNvPr id="28" name="Freeform 28"/>
          <p:cNvSpPr/>
          <p:nvPr/>
        </p:nvSpPr>
        <p:spPr>
          <a:xfrm>
            <a:off x="609600" y="3333750"/>
            <a:ext cx="10382250" cy="2266950"/>
          </a:xfrm>
          <a:custGeom>
            <a:avLst/>
            <a:gdLst/>
            <a:ahLst/>
            <a:cxnLst/>
            <a:rect l="l" t="t" r="r" b="b"/>
            <a:pathLst>
              <a:path w="10382250" h="2266950">
                <a:moveTo>
                  <a:pt x="95250" y="0"/>
                </a:moveTo>
                <a:lnTo>
                  <a:pt x="10287000" y="0"/>
                </a:lnTo>
                <a:cubicBezTo>
                  <a:pt x="10339605" y="0"/>
                  <a:pt x="10382250" y="42645"/>
                  <a:pt x="10382250" y="95250"/>
                </a:cubicBezTo>
                <a:lnTo>
                  <a:pt x="10382250" y="2171700"/>
                </a:lnTo>
                <a:cubicBezTo>
                  <a:pt x="10382250" y="2224305"/>
                  <a:pt x="10339605" y="2266950"/>
                  <a:pt x="10287000" y="2266950"/>
                </a:cubicBezTo>
                <a:lnTo>
                  <a:pt x="95250" y="2266950"/>
                </a:lnTo>
                <a:cubicBezTo>
                  <a:pt x="42645" y="2266950"/>
                  <a:pt x="0" y="2224305"/>
                  <a:pt x="0" y="2171700"/>
                </a:cubicBezTo>
                <a:lnTo>
                  <a:pt x="0" y="95250"/>
                </a:lnTo>
                <a:cubicBezTo>
                  <a:pt x="0" y="42645"/>
                  <a:pt x="42645" y="0"/>
                  <a:pt x="95250" y="0"/>
                </a:cubicBezTo>
                <a:close/>
              </a:path>
            </a:pathLst>
          </a:custGeom>
          <a:solidFill>
            <a:srgbClr val="FFFFFF"/>
          </a:solidFill>
          <a:ln w="19050">
            <a:solidFill>
              <a:srgbClr val="DAE1E6"/>
            </a:solidFill>
          </a:ln>
        </p:spPr>
        <p:txBody>
          <a:bodyPr/>
          <a:lstStyle/>
          <a:p>
            <a:endParaRPr lang="zh-CN" altLang="en-US"/>
          </a:p>
        </p:txBody>
      </p:sp>
      <p:sp>
        <p:nvSpPr>
          <p:cNvPr id="29" name="Freeform 29"/>
          <p:cNvSpPr/>
          <p:nvPr/>
        </p:nvSpPr>
        <p:spPr>
          <a:xfrm>
            <a:off x="609600" y="3333750"/>
            <a:ext cx="2038350" cy="457200"/>
          </a:xfrm>
          <a:custGeom>
            <a:avLst/>
            <a:gdLst/>
            <a:ahLst/>
            <a:cxnLst/>
            <a:rect l="l" t="t" r="r" b="b"/>
            <a:pathLst>
              <a:path w="2038350" h="457200">
                <a:moveTo>
                  <a:pt x="95250" y="0"/>
                </a:moveTo>
                <a:lnTo>
                  <a:pt x="1943100" y="0"/>
                </a:lnTo>
                <a:cubicBezTo>
                  <a:pt x="1995705" y="0"/>
                  <a:pt x="2038350" y="42645"/>
                  <a:pt x="2038350" y="95250"/>
                </a:cubicBezTo>
                <a:lnTo>
                  <a:pt x="2038350" y="361950"/>
                </a:lnTo>
                <a:cubicBezTo>
                  <a:pt x="2038350" y="414555"/>
                  <a:pt x="1995705" y="457200"/>
                  <a:pt x="1943100" y="457200"/>
                </a:cubicBezTo>
                <a:lnTo>
                  <a:pt x="95250" y="457200"/>
                </a:lnTo>
                <a:cubicBezTo>
                  <a:pt x="42645" y="457200"/>
                  <a:pt x="0" y="414555"/>
                  <a:pt x="0" y="361950"/>
                </a:cubicBez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30" name="Rectangle 30"/>
          <p:cNvSpPr/>
          <p:nvPr/>
        </p:nvSpPr>
        <p:spPr>
          <a:xfrm>
            <a:off x="609600" y="3676650"/>
            <a:ext cx="2038350" cy="114300"/>
          </a:xfrm>
          <a:prstGeom prst="rect">
            <a:avLst/>
          </a:prstGeom>
          <a:solidFill>
            <a:srgbClr val="002D4C"/>
          </a:solidFill>
          <a:ln>
            <a:noFill/>
          </a:ln>
        </p:spPr>
        <p:txBody>
          <a:bodyPr/>
          <a:lstStyle/>
          <a:p>
            <a:endParaRPr lang="zh-CN" altLang="en-US"/>
          </a:p>
        </p:txBody>
      </p:sp>
      <p:sp>
        <p:nvSpPr>
          <p:cNvPr id="31" name="Freeform 31"/>
          <p:cNvSpPr/>
          <p:nvPr/>
        </p:nvSpPr>
        <p:spPr>
          <a:xfrm>
            <a:off x="2647950" y="3333750"/>
            <a:ext cx="8343900" cy="457200"/>
          </a:xfrm>
          <a:custGeom>
            <a:avLst/>
            <a:gdLst/>
            <a:ahLst/>
            <a:cxnLst/>
            <a:rect l="l" t="t" r="r" b="b"/>
            <a:pathLst>
              <a:path w="8343900" h="457200">
                <a:moveTo>
                  <a:pt x="95250" y="0"/>
                </a:moveTo>
                <a:lnTo>
                  <a:pt x="8248650" y="0"/>
                </a:lnTo>
                <a:cubicBezTo>
                  <a:pt x="8301255" y="0"/>
                  <a:pt x="8343900" y="42645"/>
                  <a:pt x="8343900" y="95250"/>
                </a:cubicBezTo>
                <a:lnTo>
                  <a:pt x="8343900" y="361950"/>
                </a:lnTo>
                <a:cubicBezTo>
                  <a:pt x="8343900" y="414555"/>
                  <a:pt x="8301255" y="457200"/>
                  <a:pt x="8248650" y="457200"/>
                </a:cubicBezTo>
                <a:lnTo>
                  <a:pt x="95250" y="457200"/>
                </a:lnTo>
                <a:cubicBezTo>
                  <a:pt x="42645" y="457200"/>
                  <a:pt x="0" y="414555"/>
                  <a:pt x="0" y="361950"/>
                </a:cubicBez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32" name="Rectangle 32"/>
          <p:cNvSpPr/>
          <p:nvPr/>
        </p:nvSpPr>
        <p:spPr>
          <a:xfrm>
            <a:off x="2647950" y="3676650"/>
            <a:ext cx="8343900" cy="114300"/>
          </a:xfrm>
          <a:prstGeom prst="rect">
            <a:avLst/>
          </a:prstGeom>
          <a:solidFill>
            <a:srgbClr val="002D4C"/>
          </a:solidFill>
          <a:ln>
            <a:noFill/>
          </a:ln>
        </p:spPr>
        <p:txBody>
          <a:bodyPr/>
          <a:lstStyle/>
          <a:p>
            <a:endParaRPr lang="zh-CN" altLang="en-US"/>
          </a:p>
        </p:txBody>
      </p:sp>
      <p:sp>
        <p:nvSpPr>
          <p:cNvPr id="33" name="TextBox 33"/>
          <p:cNvSpPr txBox="1"/>
          <p:nvPr/>
        </p:nvSpPr>
        <p:spPr>
          <a:xfrm>
            <a:off x="783908" y="3491389"/>
            <a:ext cx="62150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Source</a:t>
            </a:r>
          </a:p>
        </p:txBody>
      </p:sp>
      <p:sp>
        <p:nvSpPr>
          <p:cNvPr id="34" name="TextBox 34"/>
          <p:cNvSpPr txBox="1"/>
          <p:nvPr/>
        </p:nvSpPr>
        <p:spPr>
          <a:xfrm>
            <a:off x="2860358" y="3491389"/>
            <a:ext cx="162123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Fields and purpose</a:t>
            </a:r>
          </a:p>
        </p:txBody>
      </p:sp>
      <p:sp>
        <p:nvSpPr>
          <p:cNvPr id="35" name="Rectangle 35"/>
          <p:cNvSpPr/>
          <p:nvPr/>
        </p:nvSpPr>
        <p:spPr>
          <a:xfrm>
            <a:off x="609600" y="3790950"/>
            <a:ext cx="2038350" cy="704850"/>
          </a:xfrm>
          <a:prstGeom prst="rect">
            <a:avLst/>
          </a:prstGeom>
          <a:solidFill>
            <a:srgbClr val="EAF6F4"/>
          </a:solidFill>
          <a:ln>
            <a:noFill/>
          </a:ln>
        </p:spPr>
        <p:txBody>
          <a:bodyPr/>
          <a:lstStyle/>
          <a:p>
            <a:endParaRPr lang="zh-CN" altLang="en-US"/>
          </a:p>
        </p:txBody>
      </p:sp>
      <p:sp>
        <p:nvSpPr>
          <p:cNvPr id="36" name="Rectangle 36"/>
          <p:cNvSpPr/>
          <p:nvPr/>
        </p:nvSpPr>
        <p:spPr>
          <a:xfrm>
            <a:off x="2647950" y="3790950"/>
            <a:ext cx="8343900" cy="704850"/>
          </a:xfrm>
          <a:prstGeom prst="rect">
            <a:avLst/>
          </a:prstGeom>
          <a:solidFill>
            <a:srgbClr val="EAF6F4"/>
          </a:solidFill>
          <a:ln>
            <a:noFill/>
          </a:ln>
        </p:spPr>
        <p:txBody>
          <a:bodyPr/>
          <a:lstStyle/>
          <a:p>
            <a:endParaRPr lang="zh-CN" altLang="en-US"/>
          </a:p>
        </p:txBody>
      </p:sp>
      <p:sp>
        <p:nvSpPr>
          <p:cNvPr id="37" name="TextBox 37"/>
          <p:cNvSpPr txBox="1"/>
          <p:nvPr/>
        </p:nvSpPr>
        <p:spPr>
          <a:xfrm>
            <a:off x="783908" y="3967639"/>
            <a:ext cx="1621234"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Self-built dataset</a:t>
            </a:r>
          </a:p>
        </p:txBody>
      </p:sp>
      <p:sp>
        <p:nvSpPr>
          <p:cNvPr id="38" name="TextBox 38"/>
          <p:cNvSpPr txBox="1"/>
          <p:nvPr/>
        </p:nvSpPr>
        <p:spPr>
          <a:xfrm>
            <a:off x="2863215" y="3944302"/>
            <a:ext cx="3884152" cy="213360"/>
          </a:xfrm>
          <a:prstGeom prst="rect">
            <a:avLst/>
          </a:prstGeom>
          <a:noFill/>
          <a:ln>
            <a:noFill/>
          </a:ln>
        </p:spPr>
        <p:txBody>
          <a:bodyPr wrap="none" lIns="0" tIns="0" rIns="0" bIns="0" anchor="t" anchorCtr="0">
            <a:spAutoFit/>
          </a:bodyPr>
          <a:lstStyle/>
          <a:p>
            <a:pPr algn="l"/>
            <a:r>
              <a:rPr lang="zh-CN" sz="1050" dirty="0">
                <a:solidFill>
                  <a:srgbClr val="005A50"/>
                </a:solidFill>
                <a:latin typeface="Consolas"/>
                <a:ea typeface="Microsoft YaHei"/>
                <a:cs typeface="Consolas"/>
              </a:rPr>
              <a:t>id · question · gold_answer / answer_set · answer_type</a:t>
            </a:r>
          </a:p>
        </p:txBody>
      </p:sp>
      <p:sp>
        <p:nvSpPr>
          <p:cNvPr id="39" name="TextBox 39"/>
          <p:cNvSpPr txBox="1"/>
          <p:nvPr/>
        </p:nvSpPr>
        <p:spPr>
          <a:xfrm>
            <a:off x="2863215" y="4191952"/>
            <a:ext cx="2701004" cy="213360"/>
          </a:xfrm>
          <a:prstGeom prst="rect">
            <a:avLst/>
          </a:prstGeom>
          <a:noFill/>
          <a:ln>
            <a:noFill/>
          </a:ln>
        </p:spPr>
        <p:txBody>
          <a:bodyPr wrap="none" lIns="0" tIns="0" rIns="0" bIns="0" anchor="t" anchorCtr="0">
            <a:spAutoFit/>
          </a:bodyPr>
          <a:lstStyle/>
          <a:p>
            <a:pPr algn="l"/>
            <a:r>
              <a:rPr lang="zh-CN" sz="1050" dirty="0">
                <a:solidFill>
                  <a:srgbClr val="005A50"/>
                </a:solidFill>
                <a:latin typeface="Consolas"/>
                <a:ea typeface="Microsoft YaHei"/>
                <a:cs typeface="Consolas"/>
              </a:rPr>
              <a:t>optional: acceptable_answers · aliases</a:t>
            </a:r>
          </a:p>
        </p:txBody>
      </p:sp>
      <p:sp>
        <p:nvSpPr>
          <p:cNvPr id="40" name="Rectangle 40"/>
          <p:cNvSpPr/>
          <p:nvPr/>
        </p:nvSpPr>
        <p:spPr>
          <a:xfrm>
            <a:off x="609600" y="4495800"/>
            <a:ext cx="2038350" cy="552450"/>
          </a:xfrm>
          <a:prstGeom prst="rect">
            <a:avLst/>
          </a:prstGeom>
          <a:solidFill>
            <a:srgbClr val="F4F7F8"/>
          </a:solidFill>
          <a:ln>
            <a:noFill/>
          </a:ln>
        </p:spPr>
        <p:txBody>
          <a:bodyPr/>
          <a:lstStyle/>
          <a:p>
            <a:endParaRPr lang="zh-CN" altLang="en-US"/>
          </a:p>
        </p:txBody>
      </p:sp>
      <p:sp>
        <p:nvSpPr>
          <p:cNvPr id="41" name="Rectangle 41"/>
          <p:cNvSpPr/>
          <p:nvPr/>
        </p:nvSpPr>
        <p:spPr>
          <a:xfrm>
            <a:off x="2647950" y="4495800"/>
            <a:ext cx="8343900" cy="552450"/>
          </a:xfrm>
          <a:prstGeom prst="rect">
            <a:avLst/>
          </a:prstGeom>
          <a:solidFill>
            <a:srgbClr val="F4F7F8"/>
          </a:solidFill>
          <a:ln>
            <a:noFill/>
          </a:ln>
        </p:spPr>
        <p:txBody>
          <a:bodyPr/>
          <a:lstStyle/>
          <a:p>
            <a:endParaRPr lang="zh-CN" altLang="en-US"/>
          </a:p>
        </p:txBody>
      </p:sp>
      <p:sp>
        <p:nvSpPr>
          <p:cNvPr id="42" name="TextBox 42"/>
          <p:cNvSpPr txBox="1"/>
          <p:nvPr/>
        </p:nvSpPr>
        <p:spPr>
          <a:xfrm>
            <a:off x="783908" y="4691539"/>
            <a:ext cx="1469490"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Existing dataset</a:t>
            </a:r>
          </a:p>
        </p:txBody>
      </p:sp>
      <p:sp>
        <p:nvSpPr>
          <p:cNvPr id="43" name="TextBox 43"/>
          <p:cNvSpPr txBox="1"/>
          <p:nvPr/>
        </p:nvSpPr>
        <p:spPr>
          <a:xfrm>
            <a:off x="2863215" y="4715828"/>
            <a:ext cx="452823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Consolas"/>
                <a:ea typeface="Microsoft YaHei"/>
                <a:cs typeface="Consolas"/>
              </a:rPr>
              <a:t>question · answer(s) · answer_type · optional entity_id / aliases</a:t>
            </a:r>
          </a:p>
        </p:txBody>
      </p:sp>
      <p:sp>
        <p:nvSpPr>
          <p:cNvPr id="44" name="Rectangle 44"/>
          <p:cNvSpPr/>
          <p:nvPr/>
        </p:nvSpPr>
        <p:spPr>
          <a:xfrm>
            <a:off x="609600" y="5048250"/>
            <a:ext cx="2038350" cy="552450"/>
          </a:xfrm>
          <a:prstGeom prst="rect">
            <a:avLst/>
          </a:prstGeom>
          <a:solidFill>
            <a:srgbClr val="EAF6F4"/>
          </a:solidFill>
          <a:ln>
            <a:noFill/>
          </a:ln>
        </p:spPr>
        <p:txBody>
          <a:bodyPr/>
          <a:lstStyle/>
          <a:p>
            <a:endParaRPr lang="zh-CN" altLang="en-US"/>
          </a:p>
        </p:txBody>
      </p:sp>
      <p:sp>
        <p:nvSpPr>
          <p:cNvPr id="45" name="Rectangle 45"/>
          <p:cNvSpPr/>
          <p:nvPr/>
        </p:nvSpPr>
        <p:spPr>
          <a:xfrm>
            <a:off x="2647950" y="5048250"/>
            <a:ext cx="8343900" cy="552450"/>
          </a:xfrm>
          <a:prstGeom prst="rect">
            <a:avLst/>
          </a:prstGeom>
          <a:solidFill>
            <a:srgbClr val="EAF6F4"/>
          </a:solidFill>
          <a:ln>
            <a:noFill/>
          </a:ln>
        </p:spPr>
        <p:txBody>
          <a:bodyPr/>
          <a:lstStyle/>
          <a:p>
            <a:endParaRPr lang="zh-CN" altLang="en-US"/>
          </a:p>
        </p:txBody>
      </p:sp>
      <p:sp>
        <p:nvSpPr>
          <p:cNvPr id="46" name="TextBox 46"/>
          <p:cNvSpPr txBox="1"/>
          <p:nvPr/>
        </p:nvSpPr>
        <p:spPr>
          <a:xfrm>
            <a:off x="783908" y="5243989"/>
            <a:ext cx="1478416"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Unified Agent log</a:t>
            </a:r>
          </a:p>
        </p:txBody>
      </p:sp>
      <p:sp>
        <p:nvSpPr>
          <p:cNvPr id="47" name="TextBox 47"/>
          <p:cNvSpPr txBox="1"/>
          <p:nvPr/>
        </p:nvSpPr>
        <p:spPr>
          <a:xfrm>
            <a:off x="2863215" y="5268278"/>
            <a:ext cx="4458224" cy="213360"/>
          </a:xfrm>
          <a:prstGeom prst="rect">
            <a:avLst/>
          </a:prstGeom>
          <a:noFill/>
          <a:ln>
            <a:noFill/>
          </a:ln>
        </p:spPr>
        <p:txBody>
          <a:bodyPr wrap="none" lIns="0" tIns="0" rIns="0" bIns="0" anchor="t" anchorCtr="0">
            <a:spAutoFit/>
          </a:bodyPr>
          <a:lstStyle/>
          <a:p>
            <a:pPr algn="l"/>
            <a:r>
              <a:rPr lang="zh-CN" sz="1050" dirty="0">
                <a:solidFill>
                  <a:srgbClr val="005A50"/>
                </a:solidFill>
                <a:latin typeface="Consolas"/>
                <a:ea typeface="Microsoft YaHei"/>
                <a:cs typeface="Consolas"/>
              </a:rPr>
              <a:t>sample_id · answer_payload · answer_status · execution_status</a:t>
            </a:r>
          </a:p>
        </p:txBody>
      </p:sp>
      <p:sp>
        <p:nvSpPr>
          <p:cNvPr id="48" name="TextBox 48"/>
          <p:cNvSpPr txBox="1"/>
          <p:nvPr/>
        </p:nvSpPr>
        <p:spPr>
          <a:xfrm>
            <a:off x="593408" y="5767864"/>
            <a:ext cx="2130022"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Structured answer flow</a:t>
            </a:r>
          </a:p>
        </p:txBody>
      </p:sp>
      <p:sp>
        <p:nvSpPr>
          <p:cNvPr id="49" name="Freeform 49"/>
          <p:cNvSpPr/>
          <p:nvPr/>
        </p:nvSpPr>
        <p:spPr>
          <a:xfrm>
            <a:off x="2514600" y="5715000"/>
            <a:ext cx="2095500" cy="400050"/>
          </a:xfrm>
          <a:custGeom>
            <a:avLst/>
            <a:gdLst/>
            <a:ahLst/>
            <a:cxnLst/>
            <a:rect l="l" t="t" r="r" b="b"/>
            <a:pathLst>
              <a:path w="2095500" h="400050">
                <a:moveTo>
                  <a:pt x="76200" y="0"/>
                </a:moveTo>
                <a:lnTo>
                  <a:pt x="2019300" y="0"/>
                </a:lnTo>
                <a:cubicBezTo>
                  <a:pt x="2061384" y="0"/>
                  <a:pt x="2095500" y="34116"/>
                  <a:pt x="2095500" y="76200"/>
                </a:cubicBezTo>
                <a:lnTo>
                  <a:pt x="2095500" y="323850"/>
                </a:lnTo>
                <a:cubicBezTo>
                  <a:pt x="2095500" y="365934"/>
                  <a:pt x="2061384" y="400050"/>
                  <a:pt x="2019300" y="400050"/>
                </a:cubicBezTo>
                <a:lnTo>
                  <a:pt x="76200" y="400050"/>
                </a:lnTo>
                <a:cubicBezTo>
                  <a:pt x="34116" y="400050"/>
                  <a:pt x="0" y="365934"/>
                  <a:pt x="0" y="323850"/>
                </a:cubicBezTo>
                <a:lnTo>
                  <a:pt x="0" y="76200"/>
                </a:lnTo>
                <a:cubicBezTo>
                  <a:pt x="0" y="34116"/>
                  <a:pt x="34116" y="0"/>
                  <a:pt x="76200" y="0"/>
                </a:cubicBezTo>
                <a:close/>
              </a:path>
            </a:pathLst>
          </a:custGeom>
          <a:solidFill>
            <a:srgbClr val="F4F7F8"/>
          </a:solidFill>
          <a:ln w="19050">
            <a:solidFill>
              <a:srgbClr val="DAE1E6"/>
            </a:solidFill>
          </a:ln>
        </p:spPr>
        <p:txBody>
          <a:bodyPr/>
          <a:lstStyle/>
          <a:p>
            <a:endParaRPr lang="zh-CN" altLang="en-US"/>
          </a:p>
        </p:txBody>
      </p:sp>
      <p:sp>
        <p:nvSpPr>
          <p:cNvPr id="50" name="TextBox 50"/>
          <p:cNvSpPr txBox="1"/>
          <p:nvPr/>
        </p:nvSpPr>
        <p:spPr>
          <a:xfrm>
            <a:off x="2935034" y="5842635"/>
            <a:ext cx="1254633" cy="243840"/>
          </a:xfrm>
          <a:prstGeom prst="rect">
            <a:avLst/>
          </a:prstGeom>
          <a:noFill/>
          <a:ln>
            <a:noFill/>
          </a:ln>
        </p:spPr>
        <p:txBody>
          <a:bodyPr wrap="none" lIns="0" tIns="0" rIns="0" bIns="0" anchor="t" anchorCtr="0">
            <a:spAutoFit/>
          </a:bodyPr>
          <a:lstStyle/>
          <a:p>
            <a:pPr algn="ctr"/>
            <a:r>
              <a:rPr lang="zh-CN" sz="1200" dirty="0">
                <a:solidFill>
                  <a:srgbClr val="002D4C"/>
                </a:solidFill>
                <a:latin typeface="Consolas"/>
                <a:ea typeface="Microsoft YaHei"/>
                <a:cs typeface="Consolas"/>
              </a:rPr>
              <a:t>answer_payload</a:t>
            </a:r>
          </a:p>
        </p:txBody>
      </p:sp>
      <p:sp>
        <p:nvSpPr>
          <p:cNvPr id="51" name="Freeform 51"/>
          <p:cNvSpPr/>
          <p:nvPr/>
        </p:nvSpPr>
        <p:spPr>
          <a:xfrm>
            <a:off x="4610100" y="5915025"/>
            <a:ext cx="381000" cy="9525"/>
          </a:xfrm>
          <a:custGeom>
            <a:avLst/>
            <a:gdLst/>
            <a:ahLst/>
            <a:cxnLst/>
            <a:rect l="l" t="t" r="r" b="b"/>
            <a:pathLst>
              <a:path w="381000" h="9525">
                <a:moveTo>
                  <a:pt x="0" y="0"/>
                </a:moveTo>
                <a:lnTo>
                  <a:pt x="381000" y="0"/>
                </a:lnTo>
              </a:path>
            </a:pathLst>
          </a:custGeom>
          <a:solidFill>
            <a:srgbClr val="000000"/>
          </a:solidFill>
          <a:ln w="28575">
            <a:solidFill>
              <a:srgbClr val="009682"/>
            </a:solidFill>
            <a:tailEnd type="triangle" w="lg" len="lg"/>
          </a:ln>
        </p:spPr>
        <p:txBody>
          <a:bodyPr/>
          <a:lstStyle/>
          <a:p>
            <a:endParaRPr lang="zh-CN" altLang="en-US"/>
          </a:p>
        </p:txBody>
      </p:sp>
      <p:sp>
        <p:nvSpPr>
          <p:cNvPr id="52" name="Freeform 52"/>
          <p:cNvSpPr/>
          <p:nvPr/>
        </p:nvSpPr>
        <p:spPr>
          <a:xfrm>
            <a:off x="5067300" y="5715000"/>
            <a:ext cx="2095500" cy="400050"/>
          </a:xfrm>
          <a:custGeom>
            <a:avLst/>
            <a:gdLst/>
            <a:ahLst/>
            <a:cxnLst/>
            <a:rect l="l" t="t" r="r" b="b"/>
            <a:pathLst>
              <a:path w="2095500" h="400050">
                <a:moveTo>
                  <a:pt x="76200" y="0"/>
                </a:moveTo>
                <a:lnTo>
                  <a:pt x="2019300" y="0"/>
                </a:lnTo>
                <a:cubicBezTo>
                  <a:pt x="2061384" y="0"/>
                  <a:pt x="2095500" y="34116"/>
                  <a:pt x="2095500" y="76200"/>
                </a:cubicBezTo>
                <a:lnTo>
                  <a:pt x="2095500" y="323850"/>
                </a:lnTo>
                <a:cubicBezTo>
                  <a:pt x="2095500" y="365934"/>
                  <a:pt x="2061384" y="400050"/>
                  <a:pt x="2019300" y="400050"/>
                </a:cubicBezTo>
                <a:lnTo>
                  <a:pt x="76200" y="400050"/>
                </a:lnTo>
                <a:cubicBezTo>
                  <a:pt x="34116" y="400050"/>
                  <a:pt x="0" y="365934"/>
                  <a:pt x="0" y="323850"/>
                </a:cubicBezTo>
                <a:lnTo>
                  <a:pt x="0" y="76200"/>
                </a:lnTo>
                <a:cubicBezTo>
                  <a:pt x="0" y="34116"/>
                  <a:pt x="34116" y="0"/>
                  <a:pt x="76200" y="0"/>
                </a:cubicBezTo>
                <a:close/>
              </a:path>
            </a:pathLst>
          </a:custGeom>
          <a:solidFill>
            <a:srgbClr val="EAF6F4"/>
          </a:solidFill>
          <a:ln w="19050">
            <a:solidFill>
              <a:srgbClr val="009682"/>
            </a:solidFill>
          </a:ln>
        </p:spPr>
        <p:txBody>
          <a:bodyPr/>
          <a:lstStyle/>
          <a:p>
            <a:endParaRPr lang="zh-CN" altLang="en-US"/>
          </a:p>
        </p:txBody>
      </p:sp>
      <p:sp>
        <p:nvSpPr>
          <p:cNvPr id="53" name="TextBox 53"/>
          <p:cNvSpPr txBox="1"/>
          <p:nvPr/>
        </p:nvSpPr>
        <p:spPr>
          <a:xfrm>
            <a:off x="5399722" y="5842635"/>
            <a:ext cx="1430655" cy="243840"/>
          </a:xfrm>
          <a:prstGeom prst="rect">
            <a:avLst/>
          </a:prstGeom>
          <a:noFill/>
          <a:ln>
            <a:noFill/>
          </a:ln>
        </p:spPr>
        <p:txBody>
          <a:bodyPr wrap="none" lIns="0" tIns="0" rIns="0" bIns="0" anchor="t" anchorCtr="0">
            <a:spAutoFit/>
          </a:bodyPr>
          <a:lstStyle/>
          <a:p>
            <a:pPr algn="ctr"/>
            <a:r>
              <a:rPr lang="zh-CN" sz="1200" dirty="0">
                <a:solidFill>
                  <a:srgbClr val="005A50"/>
                </a:solidFill>
                <a:latin typeface="Consolas"/>
                <a:ea typeface="Microsoft YaHei"/>
                <a:cs typeface="Consolas"/>
              </a:rPr>
              <a:t>predicted_answer</a:t>
            </a:r>
          </a:p>
        </p:txBody>
      </p:sp>
      <p:sp>
        <p:nvSpPr>
          <p:cNvPr id="54" name="Freeform 54"/>
          <p:cNvSpPr/>
          <p:nvPr/>
        </p:nvSpPr>
        <p:spPr>
          <a:xfrm>
            <a:off x="7162800" y="5915025"/>
            <a:ext cx="381000" cy="9525"/>
          </a:xfrm>
          <a:custGeom>
            <a:avLst/>
            <a:gdLst/>
            <a:ahLst/>
            <a:cxnLst/>
            <a:rect l="l" t="t" r="r" b="b"/>
            <a:pathLst>
              <a:path w="381000" h="9525">
                <a:moveTo>
                  <a:pt x="0" y="0"/>
                </a:moveTo>
                <a:lnTo>
                  <a:pt x="381000" y="0"/>
                </a:lnTo>
              </a:path>
            </a:pathLst>
          </a:custGeom>
          <a:solidFill>
            <a:srgbClr val="000000"/>
          </a:solidFill>
          <a:ln w="28575">
            <a:solidFill>
              <a:srgbClr val="009682"/>
            </a:solidFill>
            <a:tailEnd type="triangle" w="lg" len="lg"/>
          </a:ln>
        </p:spPr>
        <p:txBody>
          <a:bodyPr/>
          <a:lstStyle/>
          <a:p>
            <a:endParaRPr lang="zh-CN" altLang="en-US"/>
          </a:p>
        </p:txBody>
      </p:sp>
      <p:sp>
        <p:nvSpPr>
          <p:cNvPr id="55" name="Freeform 55"/>
          <p:cNvSpPr/>
          <p:nvPr/>
        </p:nvSpPr>
        <p:spPr>
          <a:xfrm>
            <a:off x="7620000" y="5715000"/>
            <a:ext cx="2286000" cy="400050"/>
          </a:xfrm>
          <a:custGeom>
            <a:avLst/>
            <a:gdLst/>
            <a:ahLst/>
            <a:cxnLst/>
            <a:rect l="l" t="t" r="r" b="b"/>
            <a:pathLst>
              <a:path w="2286000" h="400050">
                <a:moveTo>
                  <a:pt x="76200" y="0"/>
                </a:moveTo>
                <a:lnTo>
                  <a:pt x="2209800" y="0"/>
                </a:lnTo>
                <a:cubicBezTo>
                  <a:pt x="2251884" y="0"/>
                  <a:pt x="2286000" y="34116"/>
                  <a:pt x="2286000" y="76200"/>
                </a:cubicBezTo>
                <a:lnTo>
                  <a:pt x="2286000" y="323850"/>
                </a:lnTo>
                <a:cubicBezTo>
                  <a:pt x="2286000" y="365934"/>
                  <a:pt x="2251884" y="400050"/>
                  <a:pt x="2209800" y="400050"/>
                </a:cubicBezTo>
                <a:lnTo>
                  <a:pt x="76200" y="400050"/>
                </a:lnTo>
                <a:cubicBezTo>
                  <a:pt x="34116" y="400050"/>
                  <a:pt x="0" y="365934"/>
                  <a:pt x="0" y="323850"/>
                </a:cubicBezTo>
                <a:lnTo>
                  <a:pt x="0" y="76200"/>
                </a:lnTo>
                <a:cubicBezTo>
                  <a:pt x="0" y="34116"/>
                  <a:pt x="34116" y="0"/>
                  <a:pt x="76200" y="0"/>
                </a:cubicBezTo>
                <a:close/>
              </a:path>
            </a:pathLst>
          </a:custGeom>
          <a:solidFill>
            <a:srgbClr val="F4F7F8"/>
          </a:solidFill>
          <a:ln w="19050">
            <a:solidFill>
              <a:srgbClr val="DAE1E6"/>
            </a:solidFill>
          </a:ln>
        </p:spPr>
        <p:txBody>
          <a:bodyPr/>
          <a:lstStyle/>
          <a:p>
            <a:endParaRPr lang="zh-CN" altLang="en-US"/>
          </a:p>
        </p:txBody>
      </p:sp>
      <p:sp>
        <p:nvSpPr>
          <p:cNvPr id="56" name="TextBox 56"/>
          <p:cNvSpPr txBox="1"/>
          <p:nvPr/>
        </p:nvSpPr>
        <p:spPr>
          <a:xfrm>
            <a:off x="8023670" y="5842635"/>
            <a:ext cx="1478661" cy="243840"/>
          </a:xfrm>
          <a:prstGeom prst="rect">
            <a:avLst/>
          </a:prstGeom>
          <a:noFill/>
          <a:ln>
            <a:noFill/>
          </a:ln>
        </p:spPr>
        <p:txBody>
          <a:bodyPr wrap="none" lIns="0" tIns="0" rIns="0" bIns="0" anchor="t" anchorCtr="0">
            <a:spAutoFit/>
          </a:bodyPr>
          <a:lstStyle/>
          <a:p>
            <a:pPr algn="ctr"/>
            <a:r>
              <a:rPr lang="zh-CN" sz="1200" dirty="0">
                <a:solidFill>
                  <a:srgbClr val="002D4C"/>
                </a:solidFill>
                <a:latin typeface="Consolas"/>
                <a:ea typeface="Microsoft YaHei"/>
                <a:cs typeface="Consolas"/>
              </a:rPr>
              <a:t>final_answer_text</a:t>
            </a:r>
          </a:p>
        </p:txBody>
      </p:sp>
      <p:sp>
        <p:nvSpPr>
          <p:cNvPr id="57" name="TextBox 57"/>
          <p:cNvSpPr txBox="1"/>
          <p:nvPr/>
        </p:nvSpPr>
        <p:spPr>
          <a:xfrm>
            <a:off x="4282440" y="6190774"/>
            <a:ext cx="3665220" cy="198120"/>
          </a:xfrm>
          <a:prstGeom prst="rect">
            <a:avLst/>
          </a:prstGeom>
          <a:noFill/>
          <a:ln>
            <a:noFill/>
          </a:ln>
        </p:spPr>
        <p:txBody>
          <a:bodyPr wrap="none" lIns="0" tIns="0" rIns="0" bIns="0" anchor="t" anchorCtr="0">
            <a:spAutoFit/>
          </a:bodyPr>
          <a:lstStyle/>
          <a:p>
            <a:pPr algn="ctr"/>
            <a:r>
              <a:rPr lang="zh-CN" sz="975" dirty="0">
                <a:solidFill>
                  <a:srgbClr val="526671"/>
                </a:solidFill>
                <a:latin typeface="Arial"/>
                <a:ea typeface="Microsoft YaHei"/>
                <a:cs typeface="Arial"/>
              </a:rPr>
              <a:t>Automatic metrics use the normalized predicted_answer.</a:t>
            </a:r>
          </a:p>
        </p:txBody>
      </p:sp>
      <p:sp>
        <p:nvSpPr>
          <p:cNvPr id="58" name="TextBox 58"/>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9" name="TextBox 59"/>
          <p:cNvSpPr txBox="1"/>
          <p:nvPr/>
        </p:nvSpPr>
        <p:spPr>
          <a:xfrm>
            <a:off x="10872311" y="6529388"/>
            <a:ext cx="129064" cy="152400"/>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06</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7215" y="372428"/>
            <a:ext cx="7079409" cy="708660"/>
            <a:chOff x="577215" y="372428"/>
            <a:chExt cx="7079409" cy="708660"/>
          </a:xfrm>
        </p:grpSpPr>
        <p:sp>
          <p:nvSpPr>
            <p:cNvPr id="5" name="TextBox 5"/>
            <p:cNvSpPr txBox="1"/>
            <p:nvPr/>
          </p:nvSpPr>
          <p:spPr>
            <a:xfrm>
              <a:off x="577215" y="372428"/>
              <a:ext cx="3482197"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Capability 3: Refusal</a:t>
              </a:r>
            </a:p>
          </p:txBody>
        </p:sp>
        <p:sp>
          <p:nvSpPr>
            <p:cNvPr id="6" name="TextBox 6"/>
            <p:cNvSpPr txBox="1"/>
            <p:nvPr/>
          </p:nvSpPr>
          <p:spPr>
            <a:xfrm>
              <a:off x="592455" y="806768"/>
              <a:ext cx="7064169"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Can the Agent avoid fabrication when the target KG does not contain an answer?</a:t>
              </a:r>
            </a:p>
          </p:txBody>
        </p:sp>
      </p:grpSp>
      <p:grpSp>
        <p:nvGrpSpPr>
          <p:cNvPr id="15" name="Group 15"/>
          <p:cNvGrpSpPr/>
          <p:nvPr/>
        </p:nvGrpSpPr>
        <p:grpSpPr>
          <a:xfrm>
            <a:off x="609600" y="1219200"/>
            <a:ext cx="5048250" cy="1752600"/>
            <a:chOff x="609600" y="1219200"/>
            <a:chExt cx="5048250" cy="1752600"/>
          </a:xfrm>
        </p:grpSpPr>
        <p:sp>
          <p:nvSpPr>
            <p:cNvPr id="8" name="Rectangle 8"/>
            <p:cNvSpPr/>
            <p:nvPr/>
          </p:nvSpPr>
          <p:spPr>
            <a:xfrm>
              <a:off x="609600" y="1219200"/>
              <a:ext cx="5048250" cy="1752600"/>
            </a:xfrm>
            <a:prstGeom prst="roundRect">
              <a:avLst>
                <a:gd name="adj" fmla="val 6522"/>
              </a:avLst>
            </a:prstGeom>
            <a:solidFill>
              <a:srgbClr val="F4F7F8"/>
            </a:solidFill>
            <a:ln w="19050">
              <a:solidFill>
                <a:srgbClr val="DAE1E6"/>
              </a:solidFill>
            </a:ln>
          </p:spPr>
          <p:txBody>
            <a:bodyPr/>
            <a:lstStyle/>
            <a:p>
              <a:endParaRPr lang="zh-CN" altLang="en-US"/>
            </a:p>
          </p:txBody>
        </p:sp>
        <p:sp>
          <p:nvSpPr>
            <p:cNvPr id="9" name="Freeform 9"/>
            <p:cNvSpPr/>
            <p:nvPr/>
          </p:nvSpPr>
          <p:spPr>
            <a:xfrm>
              <a:off x="609600" y="1219200"/>
              <a:ext cx="5048250" cy="381000"/>
            </a:xfrm>
            <a:custGeom>
              <a:avLst/>
              <a:gdLst/>
              <a:ahLst/>
              <a:cxnLst/>
              <a:rect l="l" t="t" r="r" b="b"/>
              <a:pathLst>
                <a:path w="5048250" h="381000">
                  <a:moveTo>
                    <a:pt x="114300" y="0"/>
                  </a:moveTo>
                  <a:lnTo>
                    <a:pt x="4933950" y="0"/>
                  </a:lnTo>
                  <a:cubicBezTo>
                    <a:pt x="4997076" y="0"/>
                    <a:pt x="5048250" y="51174"/>
                    <a:pt x="5048250" y="114300"/>
                  </a:cubicBezTo>
                  <a:lnTo>
                    <a:pt x="5048250" y="381000"/>
                  </a:lnTo>
                  <a:lnTo>
                    <a:pt x="0" y="381000"/>
                  </a:lnTo>
                  <a:lnTo>
                    <a:pt x="0" y="114300"/>
                  </a:lnTo>
                  <a:cubicBezTo>
                    <a:pt x="0" y="51174"/>
                    <a:pt x="51174" y="0"/>
                    <a:pt x="114300" y="0"/>
                  </a:cubicBezTo>
                  <a:close/>
                </a:path>
              </a:pathLst>
            </a:custGeom>
            <a:solidFill>
              <a:srgbClr val="002D4C"/>
            </a:solidFill>
            <a:ln>
              <a:noFill/>
            </a:ln>
          </p:spPr>
          <p:txBody>
            <a:bodyPr/>
            <a:lstStyle/>
            <a:p>
              <a:endParaRPr lang="zh-CN" altLang="en-US"/>
            </a:p>
          </p:txBody>
        </p:sp>
        <p:sp>
          <p:nvSpPr>
            <p:cNvPr id="10" name="TextBox 10"/>
            <p:cNvSpPr txBox="1"/>
            <p:nvPr/>
          </p:nvSpPr>
          <p:spPr>
            <a:xfrm>
              <a:off x="820102" y="1332071"/>
              <a:ext cx="1083701"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Test tasks</a:t>
              </a:r>
            </a:p>
          </p:txBody>
        </p:sp>
        <p:sp>
          <p:nvSpPr>
            <p:cNvPr id="11" name="TextBox 11"/>
            <p:cNvSpPr txBox="1"/>
            <p:nvPr/>
          </p:nvSpPr>
          <p:spPr>
            <a:xfrm>
              <a:off x="822008" y="1786414"/>
              <a:ext cx="291424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 Missing entity, relation, or fact</a:t>
              </a:r>
            </a:p>
          </p:txBody>
        </p:sp>
        <p:sp>
          <p:nvSpPr>
            <p:cNvPr id="12" name="TextBox 12"/>
            <p:cNvSpPr txBox="1"/>
            <p:nvPr/>
          </p:nvSpPr>
          <p:spPr>
            <a:xfrm>
              <a:off x="822008" y="2072164"/>
              <a:ext cx="3373303"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 Questions outside the target KG scope</a:t>
              </a:r>
            </a:p>
          </p:txBody>
        </p:sp>
        <p:sp>
          <p:nvSpPr>
            <p:cNvPr id="13" name="TextBox 13"/>
            <p:cNvSpPr txBox="1"/>
            <p:nvPr/>
          </p:nvSpPr>
          <p:spPr>
            <a:xfrm>
              <a:off x="822008" y="2357914"/>
              <a:ext cx="384936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 Unanswerable question vs. execution failure</a:t>
              </a:r>
            </a:p>
          </p:txBody>
        </p:sp>
        <p:sp>
          <p:nvSpPr>
            <p:cNvPr id="14" name="TextBox 14"/>
            <p:cNvSpPr txBox="1"/>
            <p:nvPr/>
          </p:nvSpPr>
          <p:spPr>
            <a:xfrm>
              <a:off x="822008" y="2643664"/>
              <a:ext cx="411289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 Answerable questions that are wrongly refused</a:t>
              </a:r>
            </a:p>
          </p:txBody>
        </p:sp>
      </p:grpSp>
      <p:grpSp>
        <p:nvGrpSpPr>
          <p:cNvPr id="28" name="Group 28"/>
          <p:cNvGrpSpPr/>
          <p:nvPr/>
        </p:nvGrpSpPr>
        <p:grpSpPr>
          <a:xfrm>
            <a:off x="5848350" y="1219200"/>
            <a:ext cx="5143500" cy="1752600"/>
            <a:chOff x="5848350" y="1219200"/>
            <a:chExt cx="5143500" cy="1752600"/>
          </a:xfrm>
        </p:grpSpPr>
        <p:sp>
          <p:nvSpPr>
            <p:cNvPr id="16" name="Rectangle 16"/>
            <p:cNvSpPr/>
            <p:nvPr/>
          </p:nvSpPr>
          <p:spPr>
            <a:xfrm>
              <a:off x="5848350" y="1219200"/>
              <a:ext cx="5143500" cy="1752600"/>
            </a:xfrm>
            <a:prstGeom prst="roundRect">
              <a:avLst>
                <a:gd name="adj" fmla="val 6522"/>
              </a:avLst>
            </a:prstGeom>
            <a:solidFill>
              <a:srgbClr val="EAF6F4"/>
            </a:solidFill>
            <a:ln w="19050">
              <a:solidFill>
                <a:srgbClr val="009682"/>
              </a:solidFill>
            </a:ln>
          </p:spPr>
          <p:txBody>
            <a:bodyPr/>
            <a:lstStyle/>
            <a:p>
              <a:endParaRPr lang="zh-CN" altLang="en-US"/>
            </a:p>
          </p:txBody>
        </p:sp>
        <p:sp>
          <p:nvSpPr>
            <p:cNvPr id="17" name="Freeform 17"/>
            <p:cNvSpPr/>
            <p:nvPr/>
          </p:nvSpPr>
          <p:spPr>
            <a:xfrm>
              <a:off x="5848350" y="1219200"/>
              <a:ext cx="5143500" cy="381000"/>
            </a:xfrm>
            <a:custGeom>
              <a:avLst/>
              <a:gdLst/>
              <a:ahLst/>
              <a:cxnLst/>
              <a:rect l="l" t="t" r="r" b="b"/>
              <a:pathLst>
                <a:path w="5143500" h="381000">
                  <a:moveTo>
                    <a:pt x="114300" y="0"/>
                  </a:moveTo>
                  <a:lnTo>
                    <a:pt x="5029200" y="0"/>
                  </a:lnTo>
                  <a:cubicBezTo>
                    <a:pt x="5092326" y="0"/>
                    <a:pt x="5143500" y="51174"/>
                    <a:pt x="5143500" y="114300"/>
                  </a:cubicBezTo>
                  <a:lnTo>
                    <a:pt x="5143500" y="381000"/>
                  </a:lnTo>
                  <a:lnTo>
                    <a:pt x="0" y="381000"/>
                  </a:lnTo>
                  <a:lnTo>
                    <a:pt x="0" y="114300"/>
                  </a:lnTo>
                  <a:cubicBezTo>
                    <a:pt x="0" y="51174"/>
                    <a:pt x="51174" y="0"/>
                    <a:pt x="114300" y="0"/>
                  </a:cubicBezTo>
                  <a:close/>
                </a:path>
              </a:pathLst>
            </a:custGeom>
            <a:solidFill>
              <a:srgbClr val="009682"/>
            </a:solidFill>
            <a:ln>
              <a:noFill/>
            </a:ln>
          </p:spPr>
          <p:txBody>
            <a:bodyPr/>
            <a:lstStyle/>
            <a:p>
              <a:endParaRPr lang="zh-CN" altLang="en-US"/>
            </a:p>
          </p:txBody>
        </p:sp>
        <p:sp>
          <p:nvSpPr>
            <p:cNvPr id="18" name="TextBox 18"/>
            <p:cNvSpPr txBox="1"/>
            <p:nvPr/>
          </p:nvSpPr>
          <p:spPr>
            <a:xfrm>
              <a:off x="6058852" y="1332071"/>
              <a:ext cx="1851872" cy="289560"/>
            </a:xfrm>
            <a:prstGeom prst="rect">
              <a:avLst/>
            </a:prstGeom>
            <a:noFill/>
            <a:ln>
              <a:noFill/>
            </a:ln>
          </p:spPr>
          <p:txBody>
            <a:bodyPr wrap="none" lIns="0" tIns="0" rIns="0" bIns="0" anchor="t" anchorCtr="0">
              <a:spAutoFit/>
            </a:bodyPr>
            <a:lstStyle/>
            <a:p>
              <a:pPr algn="l"/>
              <a:r>
                <a:rPr lang="zh-CN" sz="1425" b="1" dirty="0">
                  <a:solidFill>
                    <a:srgbClr val="FFFFFF"/>
                  </a:solidFill>
                  <a:latin typeface="Arial"/>
                  <a:ea typeface="Microsoft YaHei"/>
                  <a:cs typeface="Arial"/>
                </a:rPr>
                <a:t>Evaluation metrics</a:t>
              </a:r>
            </a:p>
          </p:txBody>
        </p:sp>
        <p:sp>
          <p:nvSpPr>
            <p:cNvPr id="19" name="TextBox 19"/>
            <p:cNvSpPr txBox="1"/>
            <p:nvPr/>
          </p:nvSpPr>
          <p:spPr>
            <a:xfrm>
              <a:off x="6060758" y="1805464"/>
              <a:ext cx="2049687"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Answerability Accuracy</a:t>
              </a:r>
            </a:p>
          </p:txBody>
        </p:sp>
        <p:sp>
          <p:nvSpPr>
            <p:cNvPr id="20" name="TextBox 20"/>
            <p:cNvSpPr txBox="1"/>
            <p:nvPr/>
          </p:nvSpPr>
          <p:spPr>
            <a:xfrm>
              <a:off x="8216265" y="1835055"/>
              <a:ext cx="2628925" cy="161583"/>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correct answerable /</a:t>
              </a:r>
              <a:r>
                <a:rPr lang="en-US" altLang="zh-CN" sz="1050" dirty="0">
                  <a:solidFill>
                    <a:srgbClr val="526671"/>
                  </a:solidFill>
                  <a:latin typeface="Arial"/>
                  <a:ea typeface="Microsoft YaHei"/>
                  <a:cs typeface="Arial"/>
                </a:rPr>
                <a:t> unanswerable decision</a:t>
              </a:r>
              <a:endParaRPr lang="zh-CN" sz="1050" dirty="0">
                <a:solidFill>
                  <a:srgbClr val="526671"/>
                </a:solidFill>
                <a:latin typeface="Arial"/>
                <a:ea typeface="Microsoft YaHei"/>
                <a:cs typeface="Arial"/>
              </a:endParaRPr>
            </a:p>
          </p:txBody>
        </p:sp>
        <p:sp>
          <p:nvSpPr>
            <p:cNvPr id="22" name="TextBox 22"/>
            <p:cNvSpPr txBox="1"/>
            <p:nvPr/>
          </p:nvSpPr>
          <p:spPr>
            <a:xfrm>
              <a:off x="6060758" y="2186464"/>
              <a:ext cx="1576603"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Hallucination Rate</a:t>
              </a:r>
            </a:p>
          </p:txBody>
        </p:sp>
        <p:sp>
          <p:nvSpPr>
            <p:cNvPr id="23" name="TextBox 23"/>
            <p:cNvSpPr txBox="1"/>
            <p:nvPr/>
          </p:nvSpPr>
          <p:spPr>
            <a:xfrm>
              <a:off x="8216265" y="2204084"/>
              <a:ext cx="2651367" cy="161583"/>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specific answer on an</a:t>
              </a:r>
              <a:r>
                <a:rPr lang="zh-CN" altLang="en-US" sz="1050" dirty="0">
                  <a:solidFill>
                    <a:srgbClr val="526671"/>
                  </a:solidFill>
                  <a:latin typeface="Arial"/>
                  <a:ea typeface="Microsoft YaHei"/>
                  <a:cs typeface="Arial"/>
                </a:rPr>
                <a:t> </a:t>
              </a:r>
              <a:r>
                <a:rPr lang="en-US" altLang="zh-CN" sz="1050" dirty="0">
                  <a:solidFill>
                    <a:srgbClr val="526671"/>
                  </a:solidFill>
                  <a:latin typeface="Arial"/>
                  <a:ea typeface="Microsoft YaHei"/>
                  <a:cs typeface="Arial"/>
                </a:rPr>
                <a:t>unanswerable sample</a:t>
              </a:r>
              <a:endParaRPr lang="zh-CN" sz="1050" dirty="0">
                <a:solidFill>
                  <a:srgbClr val="526671"/>
                </a:solidFill>
                <a:latin typeface="Arial"/>
                <a:ea typeface="Microsoft YaHei"/>
                <a:cs typeface="Arial"/>
              </a:endParaRPr>
            </a:p>
          </p:txBody>
        </p:sp>
        <p:sp>
          <p:nvSpPr>
            <p:cNvPr id="25" name="TextBox 25"/>
            <p:cNvSpPr txBox="1"/>
            <p:nvPr/>
          </p:nvSpPr>
          <p:spPr>
            <a:xfrm>
              <a:off x="6060758" y="2567464"/>
              <a:ext cx="1621234"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False Refusal Rate</a:t>
              </a:r>
            </a:p>
          </p:txBody>
        </p:sp>
        <p:sp>
          <p:nvSpPr>
            <p:cNvPr id="26" name="TextBox 26"/>
            <p:cNvSpPr txBox="1"/>
            <p:nvPr/>
          </p:nvSpPr>
          <p:spPr>
            <a:xfrm>
              <a:off x="8216265" y="2599546"/>
              <a:ext cx="2499082" cy="161583"/>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incorrect refusal of an</a:t>
              </a:r>
              <a:r>
                <a:rPr lang="en-US" altLang="zh-CN" sz="1050" dirty="0">
                  <a:solidFill>
                    <a:srgbClr val="526671"/>
                  </a:solidFill>
                  <a:latin typeface="Arial"/>
                  <a:ea typeface="Microsoft YaHei"/>
                  <a:cs typeface="Arial"/>
                </a:rPr>
                <a:t> answerable sample</a:t>
              </a:r>
              <a:endParaRPr lang="zh-CN" sz="1050" dirty="0">
                <a:solidFill>
                  <a:srgbClr val="526671"/>
                </a:solidFill>
                <a:latin typeface="Arial"/>
                <a:ea typeface="Microsoft YaHei"/>
                <a:cs typeface="Arial"/>
              </a:endParaRPr>
            </a:p>
          </p:txBody>
        </p:sp>
      </p:grpSp>
      <p:grpSp>
        <p:nvGrpSpPr>
          <p:cNvPr id="44" name="Group 44"/>
          <p:cNvGrpSpPr/>
          <p:nvPr/>
        </p:nvGrpSpPr>
        <p:grpSpPr>
          <a:xfrm>
            <a:off x="588645" y="3155632"/>
            <a:ext cx="10403205" cy="2521268"/>
            <a:chOff x="588645" y="3155632"/>
            <a:chExt cx="10403205" cy="2521268"/>
          </a:xfrm>
        </p:grpSpPr>
        <p:sp>
          <p:nvSpPr>
            <p:cNvPr id="29" name="TextBox 29"/>
            <p:cNvSpPr txBox="1"/>
            <p:nvPr/>
          </p:nvSpPr>
          <p:spPr>
            <a:xfrm>
              <a:off x="588645" y="3155632"/>
              <a:ext cx="1716869" cy="335280"/>
            </a:xfrm>
            <a:prstGeom prst="rect">
              <a:avLst/>
            </a:prstGeom>
            <a:noFill/>
            <a:ln>
              <a:noFill/>
            </a:ln>
          </p:spPr>
          <p:txBody>
            <a:bodyPr wrap="none" lIns="0" tIns="0" rIns="0" bIns="0" anchor="t" anchorCtr="0">
              <a:spAutoFit/>
            </a:bodyPr>
            <a:lstStyle/>
            <a:p>
              <a:pPr algn="l"/>
              <a:r>
                <a:rPr lang="zh-CN" sz="1650" b="1" dirty="0">
                  <a:solidFill>
                    <a:srgbClr val="002D4C"/>
                  </a:solidFill>
                  <a:latin typeface="Arial"/>
                  <a:ea typeface="Microsoft YaHei"/>
                  <a:cs typeface="Arial"/>
                </a:rPr>
                <a:t>Required fields</a:t>
              </a:r>
            </a:p>
          </p:txBody>
        </p:sp>
        <p:sp>
          <p:nvSpPr>
            <p:cNvPr id="30" name="Rectangle 30"/>
            <p:cNvSpPr/>
            <p:nvPr/>
          </p:nvSpPr>
          <p:spPr>
            <a:xfrm>
              <a:off x="609600" y="3524250"/>
              <a:ext cx="10382250" cy="2152650"/>
            </a:xfrm>
            <a:prstGeom prst="roundRect">
              <a:avLst>
                <a:gd name="adj" fmla="val 4425"/>
              </a:avLst>
            </a:prstGeom>
            <a:solidFill>
              <a:srgbClr val="FFFFFF"/>
            </a:solidFill>
            <a:ln w="19050">
              <a:solidFill>
                <a:srgbClr val="DAE1E6"/>
              </a:solidFill>
            </a:ln>
          </p:spPr>
          <p:txBody>
            <a:bodyPr/>
            <a:lstStyle/>
            <a:p>
              <a:endParaRPr lang="zh-CN" altLang="en-US"/>
            </a:p>
          </p:txBody>
        </p:sp>
        <p:sp>
          <p:nvSpPr>
            <p:cNvPr id="31" name="Freeform 31"/>
            <p:cNvSpPr/>
            <p:nvPr/>
          </p:nvSpPr>
          <p:spPr>
            <a:xfrm>
              <a:off x="609600" y="3524250"/>
              <a:ext cx="10382250" cy="457200"/>
            </a:xfrm>
            <a:custGeom>
              <a:avLst/>
              <a:gdLst/>
              <a:ahLst/>
              <a:cxnLst/>
              <a:rect l="l" t="t" r="r" b="b"/>
              <a:pathLst>
                <a:path w="10382250" h="457200">
                  <a:moveTo>
                    <a:pt x="95250" y="0"/>
                  </a:moveTo>
                  <a:lnTo>
                    <a:pt x="10287000" y="0"/>
                  </a:lnTo>
                  <a:cubicBezTo>
                    <a:pt x="10339605" y="0"/>
                    <a:pt x="10382250" y="42645"/>
                    <a:pt x="10382250" y="95250"/>
                  </a:cubicBezTo>
                  <a:lnTo>
                    <a:pt x="10382250" y="457200"/>
                  </a:lnTo>
                  <a:lnTo>
                    <a:pt x="0" y="457200"/>
                  </a:ln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32" name="TextBox 32"/>
            <p:cNvSpPr txBox="1"/>
            <p:nvPr/>
          </p:nvSpPr>
          <p:spPr>
            <a:xfrm>
              <a:off x="802958" y="3681889"/>
              <a:ext cx="62150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Source</a:t>
              </a:r>
            </a:p>
          </p:txBody>
        </p:sp>
        <p:sp>
          <p:nvSpPr>
            <p:cNvPr id="33" name="TextBox 33"/>
            <p:cNvSpPr txBox="1"/>
            <p:nvPr/>
          </p:nvSpPr>
          <p:spPr>
            <a:xfrm>
              <a:off x="2936558" y="3681889"/>
              <a:ext cx="162123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Fields and purpose</a:t>
              </a:r>
            </a:p>
          </p:txBody>
        </p:sp>
        <p:sp>
          <p:nvSpPr>
            <p:cNvPr id="34" name="Rectangle 34"/>
            <p:cNvSpPr/>
            <p:nvPr/>
          </p:nvSpPr>
          <p:spPr>
            <a:xfrm>
              <a:off x="609600" y="3981450"/>
              <a:ext cx="10382250" cy="647700"/>
            </a:xfrm>
            <a:prstGeom prst="rect">
              <a:avLst/>
            </a:prstGeom>
            <a:solidFill>
              <a:srgbClr val="EAF6F4"/>
            </a:solidFill>
            <a:ln>
              <a:noFill/>
            </a:ln>
          </p:spPr>
          <p:txBody>
            <a:bodyPr/>
            <a:lstStyle/>
            <a:p>
              <a:endParaRPr lang="zh-CN" altLang="en-US"/>
            </a:p>
          </p:txBody>
        </p:sp>
        <p:sp>
          <p:nvSpPr>
            <p:cNvPr id="35" name="TextBox 35"/>
            <p:cNvSpPr txBox="1"/>
            <p:nvPr/>
          </p:nvSpPr>
          <p:spPr>
            <a:xfrm>
              <a:off x="802958" y="4215289"/>
              <a:ext cx="1621234"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Self-built dataset</a:t>
              </a:r>
            </a:p>
          </p:txBody>
        </p:sp>
        <p:sp>
          <p:nvSpPr>
            <p:cNvPr id="36" name="TextBox 36"/>
            <p:cNvSpPr txBox="1"/>
            <p:nvPr/>
          </p:nvSpPr>
          <p:spPr>
            <a:xfrm>
              <a:off x="2938462" y="4126706"/>
              <a:ext cx="3013948" cy="228600"/>
            </a:xfrm>
            <a:prstGeom prst="rect">
              <a:avLst/>
            </a:prstGeom>
            <a:noFill/>
            <a:ln>
              <a:noFill/>
            </a:ln>
          </p:spPr>
          <p:txBody>
            <a:bodyPr wrap="none" lIns="0" tIns="0" rIns="0" bIns="0" anchor="t" anchorCtr="0">
              <a:spAutoFit/>
            </a:bodyPr>
            <a:lstStyle/>
            <a:p>
              <a:pPr algn="l"/>
              <a:r>
                <a:rPr lang="zh-CN" sz="1125" dirty="0">
                  <a:solidFill>
                    <a:srgbClr val="005A50"/>
                  </a:solidFill>
                  <a:latin typeface="Consolas"/>
                  <a:ea typeface="Microsoft YaHei"/>
                  <a:cs typeface="Consolas"/>
                </a:rPr>
                <a:t>id · question · answerable · gold_answer</a:t>
              </a:r>
            </a:p>
          </p:txBody>
        </p:sp>
        <p:sp>
          <p:nvSpPr>
            <p:cNvPr id="37" name="TextBox 37"/>
            <p:cNvSpPr txBox="1"/>
            <p:nvPr/>
          </p:nvSpPr>
          <p:spPr>
            <a:xfrm>
              <a:off x="2939415" y="4382452"/>
              <a:ext cx="2147935"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Consolas"/>
                  <a:ea typeface="Microsoft YaHei"/>
                  <a:cs typeface="Consolas"/>
                </a:rPr>
                <a:t>optional: unanswerable_reason</a:t>
              </a:r>
            </a:p>
          </p:txBody>
        </p:sp>
        <p:sp>
          <p:nvSpPr>
            <p:cNvPr id="38" name="Rectangle 38"/>
            <p:cNvSpPr/>
            <p:nvPr/>
          </p:nvSpPr>
          <p:spPr>
            <a:xfrm>
              <a:off x="609600" y="4629150"/>
              <a:ext cx="10382250" cy="514350"/>
            </a:xfrm>
            <a:prstGeom prst="rect">
              <a:avLst/>
            </a:prstGeom>
            <a:solidFill>
              <a:srgbClr val="F4F7F8"/>
            </a:solidFill>
            <a:ln>
              <a:noFill/>
            </a:ln>
          </p:spPr>
          <p:txBody>
            <a:bodyPr/>
            <a:lstStyle/>
            <a:p>
              <a:endParaRPr lang="zh-CN" altLang="en-US"/>
            </a:p>
          </p:txBody>
        </p:sp>
        <p:sp>
          <p:nvSpPr>
            <p:cNvPr id="39" name="TextBox 39"/>
            <p:cNvSpPr txBox="1"/>
            <p:nvPr/>
          </p:nvSpPr>
          <p:spPr>
            <a:xfrm>
              <a:off x="802958" y="4815364"/>
              <a:ext cx="1469490"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Existing dataset</a:t>
              </a:r>
            </a:p>
          </p:txBody>
        </p:sp>
        <p:sp>
          <p:nvSpPr>
            <p:cNvPr id="40" name="TextBox 40"/>
            <p:cNvSpPr txBox="1"/>
            <p:nvPr/>
          </p:nvSpPr>
          <p:spPr>
            <a:xfrm>
              <a:off x="2939415" y="4839652"/>
              <a:ext cx="381414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Consolas"/>
                  <a:ea typeface="Microsoft YaHei"/>
                  <a:cs typeface="Consolas"/>
                </a:rPr>
                <a:t>question · answer(s) · answerability / no-answer label</a:t>
              </a:r>
            </a:p>
          </p:txBody>
        </p:sp>
        <p:sp>
          <p:nvSpPr>
            <p:cNvPr id="41" name="Rectangle 41"/>
            <p:cNvSpPr/>
            <p:nvPr/>
          </p:nvSpPr>
          <p:spPr>
            <a:xfrm>
              <a:off x="609600" y="5143500"/>
              <a:ext cx="10382250" cy="533400"/>
            </a:xfrm>
            <a:prstGeom prst="rect">
              <a:avLst/>
            </a:prstGeom>
            <a:solidFill>
              <a:srgbClr val="EAF6F4"/>
            </a:solidFill>
            <a:ln>
              <a:noFill/>
            </a:ln>
          </p:spPr>
          <p:txBody>
            <a:bodyPr/>
            <a:lstStyle/>
            <a:p>
              <a:endParaRPr lang="zh-CN" altLang="en-US"/>
            </a:p>
          </p:txBody>
        </p:sp>
        <p:sp>
          <p:nvSpPr>
            <p:cNvPr id="42" name="TextBox 42"/>
            <p:cNvSpPr txBox="1"/>
            <p:nvPr/>
          </p:nvSpPr>
          <p:spPr>
            <a:xfrm>
              <a:off x="802958" y="5339239"/>
              <a:ext cx="1478416"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Unified Agent log</a:t>
              </a:r>
            </a:p>
          </p:txBody>
        </p:sp>
        <p:sp>
          <p:nvSpPr>
            <p:cNvPr id="43" name="TextBox 43"/>
            <p:cNvSpPr txBox="1"/>
            <p:nvPr/>
          </p:nvSpPr>
          <p:spPr>
            <a:xfrm>
              <a:off x="2939415" y="5363528"/>
              <a:ext cx="4731258" cy="213360"/>
            </a:xfrm>
            <a:prstGeom prst="rect">
              <a:avLst/>
            </a:prstGeom>
            <a:noFill/>
            <a:ln>
              <a:noFill/>
            </a:ln>
          </p:spPr>
          <p:txBody>
            <a:bodyPr wrap="none" lIns="0" tIns="0" rIns="0" bIns="0" anchor="t" anchorCtr="0">
              <a:spAutoFit/>
            </a:bodyPr>
            <a:lstStyle/>
            <a:p>
              <a:pPr algn="l"/>
              <a:r>
                <a:rPr lang="zh-CN" sz="1050" dirty="0">
                  <a:solidFill>
                    <a:srgbClr val="005A50"/>
                  </a:solidFill>
                  <a:latin typeface="Consolas"/>
                  <a:ea typeface="Microsoft YaHei"/>
                  <a:cs typeface="Consolas"/>
                </a:rPr>
                <a:t>predicted_answer · answer_status · execution_status · error_type</a:t>
              </a:r>
            </a:p>
          </p:txBody>
        </p:sp>
      </p:grpSp>
      <p:grpSp>
        <p:nvGrpSpPr>
          <p:cNvPr id="48" name="Group 48"/>
          <p:cNvGrpSpPr/>
          <p:nvPr/>
        </p:nvGrpSpPr>
        <p:grpSpPr>
          <a:xfrm>
            <a:off x="609600" y="5848350"/>
            <a:ext cx="10382250" cy="502444"/>
            <a:chOff x="609600" y="5848350"/>
            <a:chExt cx="10382250" cy="502444"/>
          </a:xfrm>
        </p:grpSpPr>
        <p:sp>
          <p:nvSpPr>
            <p:cNvPr id="45" name="Rectangle 45"/>
            <p:cNvSpPr/>
            <p:nvPr/>
          </p:nvSpPr>
          <p:spPr>
            <a:xfrm>
              <a:off x="609600" y="5848350"/>
              <a:ext cx="10382250" cy="476250"/>
            </a:xfrm>
            <a:prstGeom prst="roundRect">
              <a:avLst>
                <a:gd name="adj" fmla="val 16000"/>
              </a:avLst>
            </a:prstGeom>
            <a:solidFill>
              <a:srgbClr val="002D4C"/>
            </a:solidFill>
            <a:ln>
              <a:noFill/>
            </a:ln>
          </p:spPr>
          <p:txBody>
            <a:bodyPr/>
            <a:lstStyle/>
            <a:p>
              <a:endParaRPr lang="zh-CN" altLang="en-US"/>
            </a:p>
          </p:txBody>
        </p:sp>
        <p:sp>
          <p:nvSpPr>
            <p:cNvPr id="46" name="TextBox 46"/>
            <p:cNvSpPr txBox="1"/>
            <p:nvPr/>
          </p:nvSpPr>
          <p:spPr>
            <a:xfrm>
              <a:off x="2562630" y="5939314"/>
              <a:ext cx="6476190" cy="259080"/>
            </a:xfrm>
            <a:prstGeom prst="rect">
              <a:avLst/>
            </a:prstGeom>
            <a:noFill/>
            <a:ln>
              <a:noFill/>
            </a:ln>
          </p:spPr>
          <p:txBody>
            <a:bodyPr wrap="none" lIns="0" tIns="0" rIns="0" bIns="0" anchor="t" anchorCtr="0">
              <a:spAutoFit/>
            </a:bodyPr>
            <a:lstStyle/>
            <a:p>
              <a:pPr algn="ctr"/>
              <a:r>
                <a:rPr lang="zh-CN" sz="1275" dirty="0">
                  <a:solidFill>
                    <a:srgbClr val="FFFFFF"/>
                  </a:solidFill>
                  <a:latin typeface="Arial"/>
                  <a:ea typeface="Microsoft YaHei"/>
                  <a:cs typeface="Arial"/>
                </a:rPr>
                <a:t>A correct refusal requires an unanswerable sample and successful execution.</a:t>
              </a:r>
            </a:p>
          </p:txBody>
        </p:sp>
        <p:sp>
          <p:nvSpPr>
            <p:cNvPr id="47" name="TextBox 47"/>
            <p:cNvSpPr txBox="1"/>
            <p:nvPr/>
          </p:nvSpPr>
          <p:spPr>
            <a:xfrm>
              <a:off x="3753588" y="6152674"/>
              <a:ext cx="4094274" cy="198120"/>
            </a:xfrm>
            <a:prstGeom prst="rect">
              <a:avLst/>
            </a:prstGeom>
            <a:noFill/>
            <a:ln>
              <a:noFill/>
            </a:ln>
          </p:spPr>
          <p:txBody>
            <a:bodyPr wrap="none" lIns="0" tIns="0" rIns="0" bIns="0" anchor="t" anchorCtr="0">
              <a:spAutoFit/>
            </a:bodyPr>
            <a:lstStyle/>
            <a:p>
              <a:pPr algn="ctr"/>
              <a:r>
                <a:rPr lang="zh-CN" sz="975" dirty="0">
                  <a:solidFill>
                    <a:srgbClr val="B8DCD6"/>
                  </a:solidFill>
                  <a:latin typeface="Arial"/>
                  <a:ea typeface="Microsoft YaHei"/>
                  <a:cs typeface="Arial"/>
                </a:rPr>
                <a:t>Query or tool failure must not be counted as a correct refusal.</a:t>
              </a:r>
            </a:p>
          </p:txBody>
        </p:sp>
      </p:grpSp>
      <p:grpSp>
        <p:nvGrpSpPr>
          <p:cNvPr id="51" name="Group 51"/>
          <p:cNvGrpSpPr/>
          <p:nvPr/>
        </p:nvGrpSpPr>
        <p:grpSpPr>
          <a:xfrm>
            <a:off x="600075" y="6529388"/>
            <a:ext cx="10401300" cy="152400"/>
            <a:chOff x="600075" y="6529388"/>
            <a:chExt cx="10401300" cy="152400"/>
          </a:xfrm>
        </p:grpSpPr>
        <p:sp>
          <p:nvSpPr>
            <p:cNvPr id="49" name="TextBox 49"/>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0" name="TextBox 50"/>
            <p:cNvSpPr txBox="1"/>
            <p:nvPr/>
          </p:nvSpPr>
          <p:spPr>
            <a:xfrm>
              <a:off x="10872311" y="6529388"/>
              <a:ext cx="129064" cy="152400"/>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07</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400"/>
                                        <p:tgtEl>
                                          <p:spTgt spid="4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8" grpId="0"/>
      <p:bldP spid="44"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9120" y="388620"/>
            <a:ext cx="7671578" cy="692468"/>
            <a:chOff x="579120" y="388620"/>
            <a:chExt cx="7671578" cy="692468"/>
          </a:xfrm>
        </p:grpSpPr>
        <p:sp>
          <p:nvSpPr>
            <p:cNvPr id="5" name="TextBox 5"/>
            <p:cNvSpPr txBox="1"/>
            <p:nvPr/>
          </p:nvSpPr>
          <p:spPr>
            <a:xfrm>
              <a:off x="579120" y="388620"/>
              <a:ext cx="4832756" cy="487680"/>
            </a:xfrm>
            <a:prstGeom prst="rect">
              <a:avLst/>
            </a:prstGeom>
            <a:noFill/>
            <a:ln>
              <a:noFill/>
            </a:ln>
          </p:spPr>
          <p:txBody>
            <a:bodyPr wrap="none" lIns="0" tIns="0" rIns="0" bIns="0" anchor="t" anchorCtr="0">
              <a:spAutoFit/>
            </a:bodyPr>
            <a:lstStyle/>
            <a:p>
              <a:pPr algn="l"/>
              <a:r>
                <a:rPr lang="zh-CN" sz="2400" b="1" dirty="0">
                  <a:solidFill>
                    <a:srgbClr val="002D4C"/>
                  </a:solidFill>
                  <a:latin typeface="Arial"/>
                  <a:ea typeface="Microsoft YaHei"/>
                  <a:cs typeface="Arial"/>
                </a:rPr>
                <a:t>Capability 4: Graph Grounding</a:t>
              </a:r>
            </a:p>
          </p:txBody>
        </p:sp>
        <p:sp>
          <p:nvSpPr>
            <p:cNvPr id="6" name="TextBox 6"/>
            <p:cNvSpPr txBox="1"/>
            <p:nvPr/>
          </p:nvSpPr>
          <p:spPr>
            <a:xfrm>
              <a:off x="592455" y="806768"/>
              <a:ext cx="7658243"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Does the answer come from actual KG retrieval rather than model memory or guessing?</a:t>
              </a:r>
            </a:p>
          </p:txBody>
        </p:sp>
      </p:grpSp>
      <p:grpSp>
        <p:nvGrpSpPr>
          <p:cNvPr id="14" name="Group 14"/>
          <p:cNvGrpSpPr/>
          <p:nvPr/>
        </p:nvGrpSpPr>
        <p:grpSpPr>
          <a:xfrm>
            <a:off x="609600" y="1200150"/>
            <a:ext cx="3676650" cy="1828800"/>
            <a:chOff x="609600" y="1200150"/>
            <a:chExt cx="3676650" cy="1828800"/>
          </a:xfrm>
        </p:grpSpPr>
        <p:sp>
          <p:nvSpPr>
            <p:cNvPr id="8" name="Rectangle 8"/>
            <p:cNvSpPr/>
            <p:nvPr/>
          </p:nvSpPr>
          <p:spPr>
            <a:xfrm>
              <a:off x="609600" y="1200150"/>
              <a:ext cx="3676650" cy="1828800"/>
            </a:xfrm>
            <a:prstGeom prst="roundRect">
              <a:avLst>
                <a:gd name="adj" fmla="val 6250"/>
              </a:avLst>
            </a:prstGeom>
            <a:solidFill>
              <a:srgbClr val="F4F7F8"/>
            </a:solidFill>
            <a:ln w="19050">
              <a:solidFill>
                <a:srgbClr val="DAE1E6"/>
              </a:solidFill>
            </a:ln>
          </p:spPr>
          <p:txBody>
            <a:bodyPr/>
            <a:lstStyle/>
            <a:p>
              <a:endParaRPr lang="zh-CN" altLang="en-US"/>
            </a:p>
          </p:txBody>
        </p:sp>
        <p:sp>
          <p:nvSpPr>
            <p:cNvPr id="9" name="TextBox 9"/>
            <p:cNvSpPr txBox="1"/>
            <p:nvPr/>
          </p:nvSpPr>
          <p:spPr>
            <a:xfrm>
              <a:off x="819150" y="1409700"/>
              <a:ext cx="1140738" cy="304800"/>
            </a:xfrm>
            <a:prstGeom prst="rect">
              <a:avLst/>
            </a:prstGeom>
            <a:noFill/>
            <a:ln>
              <a:noFill/>
            </a:ln>
          </p:spPr>
          <p:txBody>
            <a:bodyPr wrap="none" lIns="0" tIns="0" rIns="0" bIns="0" anchor="t" anchorCtr="0">
              <a:spAutoFit/>
            </a:bodyPr>
            <a:lstStyle/>
            <a:p>
              <a:pPr algn="l"/>
              <a:r>
                <a:rPr lang="zh-CN" sz="1500" b="1" dirty="0">
                  <a:solidFill>
                    <a:srgbClr val="002D4C"/>
                  </a:solidFill>
                  <a:latin typeface="Arial"/>
                  <a:ea typeface="Microsoft YaHei"/>
                  <a:cs typeface="Arial"/>
                </a:rPr>
                <a:t>Test tasks</a:t>
              </a:r>
            </a:p>
          </p:txBody>
        </p:sp>
        <p:sp>
          <p:nvSpPr>
            <p:cNvPr id="10" name="TextBox 10"/>
            <p:cNvSpPr txBox="1"/>
            <p:nvPr/>
          </p:nvSpPr>
          <p:spPr>
            <a:xfrm>
              <a:off x="822960" y="1823085"/>
              <a:ext cx="2974848"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 Validate retrieved entities or facts</a:t>
              </a:r>
            </a:p>
          </p:txBody>
        </p:sp>
        <p:sp>
          <p:nvSpPr>
            <p:cNvPr id="11" name="TextBox 11"/>
            <p:cNvSpPr txBox="1"/>
            <p:nvPr/>
          </p:nvSpPr>
          <p:spPr>
            <a:xfrm>
              <a:off x="822960" y="2127885"/>
              <a:ext cx="3054858"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 Compare the structured answer with</a:t>
              </a:r>
            </a:p>
          </p:txBody>
        </p:sp>
        <p:sp>
          <p:nvSpPr>
            <p:cNvPr id="12" name="TextBox 12"/>
            <p:cNvSpPr txBox="1"/>
            <p:nvPr/>
          </p:nvSpPr>
          <p:spPr>
            <a:xfrm>
              <a:off x="975360" y="2366010"/>
              <a:ext cx="2878836"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the Agent's actual retrieval results</a:t>
              </a:r>
            </a:p>
          </p:txBody>
        </p:sp>
        <p:sp>
          <p:nvSpPr>
            <p:cNvPr id="13" name="TextBox 13"/>
            <p:cNvSpPr txBox="1"/>
            <p:nvPr/>
          </p:nvSpPr>
          <p:spPr>
            <a:xfrm>
              <a:off x="822960" y="2670810"/>
              <a:ext cx="2774823"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 Review selected execution traces</a:t>
              </a:r>
            </a:p>
          </p:txBody>
        </p:sp>
      </p:grpSp>
      <p:grpSp>
        <p:nvGrpSpPr>
          <p:cNvPr id="23" name="Group 23"/>
          <p:cNvGrpSpPr/>
          <p:nvPr/>
        </p:nvGrpSpPr>
        <p:grpSpPr>
          <a:xfrm>
            <a:off x="4476750" y="1200150"/>
            <a:ext cx="3308223" cy="1828800"/>
            <a:chOff x="4476750" y="1200150"/>
            <a:chExt cx="3308223" cy="1828800"/>
          </a:xfrm>
        </p:grpSpPr>
        <p:sp>
          <p:nvSpPr>
            <p:cNvPr id="15" name="Rectangle 15"/>
            <p:cNvSpPr/>
            <p:nvPr/>
          </p:nvSpPr>
          <p:spPr>
            <a:xfrm>
              <a:off x="4476750" y="1200150"/>
              <a:ext cx="3162300" cy="1828800"/>
            </a:xfrm>
            <a:prstGeom prst="roundRect">
              <a:avLst>
                <a:gd name="adj" fmla="val 6250"/>
              </a:avLst>
            </a:prstGeom>
            <a:solidFill>
              <a:srgbClr val="EAF6F4"/>
            </a:solidFill>
            <a:ln w="19050">
              <a:solidFill>
                <a:srgbClr val="009682"/>
              </a:solidFill>
            </a:ln>
          </p:spPr>
          <p:txBody>
            <a:bodyPr/>
            <a:lstStyle/>
            <a:p>
              <a:endParaRPr lang="zh-CN" altLang="en-US"/>
            </a:p>
          </p:txBody>
        </p:sp>
        <p:sp>
          <p:nvSpPr>
            <p:cNvPr id="16" name="TextBox 16"/>
            <p:cNvSpPr txBox="1"/>
            <p:nvPr/>
          </p:nvSpPr>
          <p:spPr>
            <a:xfrm>
              <a:off x="4687252" y="1417796"/>
              <a:ext cx="2450447"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Answer–Retrieved Result</a:t>
              </a:r>
            </a:p>
          </p:txBody>
        </p:sp>
        <p:sp>
          <p:nvSpPr>
            <p:cNvPr id="17" name="TextBox 17"/>
            <p:cNvSpPr txBox="1"/>
            <p:nvPr/>
          </p:nvSpPr>
          <p:spPr>
            <a:xfrm>
              <a:off x="4687252" y="1655921"/>
              <a:ext cx="1193440"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Consistency</a:t>
              </a:r>
            </a:p>
          </p:txBody>
        </p:sp>
        <p:sp>
          <p:nvSpPr>
            <p:cNvPr id="18" name="TextBox 18"/>
            <p:cNvSpPr txBox="1"/>
            <p:nvPr/>
          </p:nvSpPr>
          <p:spPr>
            <a:xfrm>
              <a:off x="4690110" y="2061210"/>
              <a:ext cx="2726817"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Can the normalized final answer be</a:t>
              </a:r>
            </a:p>
          </p:txBody>
        </p:sp>
        <p:sp>
          <p:nvSpPr>
            <p:cNvPr id="19" name="TextBox 19"/>
            <p:cNvSpPr txBox="1"/>
            <p:nvPr/>
          </p:nvSpPr>
          <p:spPr>
            <a:xfrm>
              <a:off x="4690110" y="2299335"/>
              <a:ext cx="2926842"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found in or directly supported by the</a:t>
              </a:r>
            </a:p>
          </p:txBody>
        </p:sp>
        <p:sp>
          <p:nvSpPr>
            <p:cNvPr id="20" name="TextBox 20"/>
            <p:cNvSpPr txBox="1"/>
            <p:nvPr/>
          </p:nvSpPr>
          <p:spPr>
            <a:xfrm>
              <a:off x="4690110" y="2537460"/>
              <a:ext cx="3094863"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Agent's recorded KG retrieval results?</a:t>
              </a:r>
            </a:p>
          </p:txBody>
        </p:sp>
        <p:sp>
          <p:nvSpPr>
            <p:cNvPr id="21" name="Rectangle 21"/>
            <p:cNvSpPr/>
            <p:nvPr/>
          </p:nvSpPr>
          <p:spPr>
            <a:xfrm>
              <a:off x="5881351" y="1678521"/>
              <a:ext cx="1466850" cy="209550"/>
            </a:xfrm>
            <a:prstGeom prst="roundRect">
              <a:avLst>
                <a:gd name="adj" fmla="val 50000"/>
              </a:avLst>
            </a:prstGeom>
            <a:solidFill>
              <a:srgbClr val="009682"/>
            </a:solidFill>
            <a:ln>
              <a:noFill/>
            </a:ln>
          </p:spPr>
          <p:txBody>
            <a:bodyPr/>
            <a:lstStyle/>
            <a:p>
              <a:endParaRPr lang="zh-CN" altLang="en-US"/>
            </a:p>
          </p:txBody>
        </p:sp>
        <p:sp>
          <p:nvSpPr>
            <p:cNvPr id="22" name="TextBox 22"/>
            <p:cNvSpPr txBox="1"/>
            <p:nvPr/>
          </p:nvSpPr>
          <p:spPr>
            <a:xfrm>
              <a:off x="5948064" y="1724241"/>
              <a:ext cx="133342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Initial common metric</a:t>
              </a:r>
            </a:p>
          </p:txBody>
        </p:sp>
      </p:grpSp>
      <p:grpSp>
        <p:nvGrpSpPr>
          <p:cNvPr id="31" name="Group 31"/>
          <p:cNvGrpSpPr/>
          <p:nvPr/>
        </p:nvGrpSpPr>
        <p:grpSpPr>
          <a:xfrm>
            <a:off x="7829550" y="1200150"/>
            <a:ext cx="3162300" cy="1828800"/>
            <a:chOff x="7829550" y="1200150"/>
            <a:chExt cx="3162300" cy="1828800"/>
          </a:xfrm>
        </p:grpSpPr>
        <p:sp>
          <p:nvSpPr>
            <p:cNvPr id="24" name="Rectangle 24"/>
            <p:cNvSpPr/>
            <p:nvPr/>
          </p:nvSpPr>
          <p:spPr>
            <a:xfrm>
              <a:off x="7829550" y="1200150"/>
              <a:ext cx="3162300" cy="1828800"/>
            </a:xfrm>
            <a:prstGeom prst="roundRect">
              <a:avLst>
                <a:gd name="adj" fmla="val 6250"/>
              </a:avLst>
            </a:prstGeom>
            <a:solidFill>
              <a:srgbClr val="F4F7F8"/>
            </a:solidFill>
            <a:ln w="19050">
              <a:solidFill>
                <a:srgbClr val="DAE1E6"/>
              </a:solidFill>
            </a:ln>
          </p:spPr>
          <p:txBody>
            <a:bodyPr/>
            <a:lstStyle/>
            <a:p>
              <a:endParaRPr lang="zh-CN" altLang="en-US"/>
            </a:p>
          </p:txBody>
        </p:sp>
        <p:sp>
          <p:nvSpPr>
            <p:cNvPr id="25" name="TextBox 25"/>
            <p:cNvSpPr txBox="1"/>
            <p:nvPr/>
          </p:nvSpPr>
          <p:spPr>
            <a:xfrm>
              <a:off x="8040052" y="1417796"/>
              <a:ext cx="2759710"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Retrieved Fact Validity Rate</a:t>
              </a:r>
            </a:p>
          </p:txBody>
        </p:sp>
        <p:sp>
          <p:nvSpPr>
            <p:cNvPr id="26" name="TextBox 26"/>
            <p:cNvSpPr txBox="1"/>
            <p:nvPr/>
          </p:nvSpPr>
          <p:spPr>
            <a:xfrm>
              <a:off x="8042910" y="1870710"/>
              <a:ext cx="1774698"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Valid retrieved triples</a:t>
              </a:r>
            </a:p>
          </p:txBody>
        </p:sp>
        <p:sp>
          <p:nvSpPr>
            <p:cNvPr id="27" name="Line 27"/>
            <p:cNvSpPr/>
            <p:nvPr/>
          </p:nvSpPr>
          <p:spPr>
            <a:xfrm>
              <a:off x="8058150" y="2105025"/>
              <a:ext cx="1847850" cy="9525"/>
            </a:xfrm>
            <a:custGeom>
              <a:avLst/>
              <a:gdLst/>
              <a:ahLst/>
              <a:cxnLst/>
              <a:rect l="l" t="t" r="r" b="b"/>
              <a:pathLst>
                <a:path w="1847850" h="9525">
                  <a:moveTo>
                    <a:pt x="0" y="0"/>
                  </a:moveTo>
                  <a:lnTo>
                    <a:pt x="1847850" y="0"/>
                  </a:lnTo>
                </a:path>
              </a:pathLst>
            </a:custGeom>
            <a:noFill/>
            <a:ln w="19050">
              <a:solidFill>
                <a:srgbClr val="DAE1E6"/>
              </a:solidFill>
            </a:ln>
          </p:spPr>
          <p:txBody>
            <a:bodyPr/>
            <a:lstStyle/>
            <a:p>
              <a:endParaRPr lang="zh-CN" altLang="en-US"/>
            </a:p>
          </p:txBody>
        </p:sp>
        <p:sp>
          <p:nvSpPr>
            <p:cNvPr id="28" name="TextBox 28"/>
            <p:cNvSpPr txBox="1"/>
            <p:nvPr/>
          </p:nvSpPr>
          <p:spPr>
            <a:xfrm>
              <a:off x="8042910" y="2194560"/>
              <a:ext cx="2350770"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All recorded retrieved triples</a:t>
              </a:r>
            </a:p>
          </p:txBody>
        </p:sp>
        <p:sp>
          <p:nvSpPr>
            <p:cNvPr id="29" name="TextBox 29"/>
            <p:cNvSpPr txBox="1"/>
            <p:nvPr/>
          </p:nvSpPr>
          <p:spPr>
            <a:xfrm>
              <a:off x="8043862" y="2545556"/>
              <a:ext cx="2376368" cy="228600"/>
            </a:xfrm>
            <a:prstGeom prst="rect">
              <a:avLst/>
            </a:prstGeom>
            <a:noFill/>
            <a:ln>
              <a:noFill/>
            </a:ln>
          </p:spPr>
          <p:txBody>
            <a:bodyPr wrap="none" lIns="0" tIns="0" rIns="0" bIns="0" anchor="t" anchorCtr="0">
              <a:spAutoFit/>
            </a:bodyPr>
            <a:lstStyle/>
            <a:p>
              <a:pPr algn="l"/>
              <a:r>
                <a:rPr lang="zh-CN" sz="1125" dirty="0">
                  <a:solidFill>
                    <a:srgbClr val="005A50"/>
                  </a:solidFill>
                  <a:latin typeface="Arial"/>
                  <a:ea typeface="Microsoft YaHei"/>
                  <a:cs typeface="Arial"/>
                </a:rPr>
                <a:t>Only calculated when normalized</a:t>
              </a:r>
            </a:p>
          </p:txBody>
        </p:sp>
        <p:sp>
          <p:nvSpPr>
            <p:cNvPr id="30" name="TextBox 30"/>
            <p:cNvSpPr txBox="1"/>
            <p:nvPr/>
          </p:nvSpPr>
          <p:spPr>
            <a:xfrm>
              <a:off x="8043862" y="2755106"/>
              <a:ext cx="1581269" cy="228600"/>
            </a:xfrm>
            <a:prstGeom prst="rect">
              <a:avLst/>
            </a:prstGeom>
            <a:noFill/>
            <a:ln>
              <a:noFill/>
            </a:ln>
          </p:spPr>
          <p:txBody>
            <a:bodyPr wrap="none" lIns="0" tIns="0" rIns="0" bIns="0" anchor="t" anchorCtr="0">
              <a:spAutoFit/>
            </a:bodyPr>
            <a:lstStyle/>
            <a:p>
              <a:pPr algn="l"/>
              <a:r>
                <a:rPr lang="zh-CN" sz="1125" dirty="0">
                  <a:solidFill>
                    <a:srgbClr val="005A50"/>
                  </a:solidFill>
                  <a:latin typeface="Arial"/>
                  <a:ea typeface="Microsoft YaHei"/>
                  <a:cs typeface="Arial"/>
                </a:rPr>
                <a:t>triples are available.</a:t>
              </a:r>
            </a:p>
          </p:txBody>
        </p:sp>
      </p:grpSp>
      <p:grpSp>
        <p:nvGrpSpPr>
          <p:cNvPr id="48" name="Group 48"/>
          <p:cNvGrpSpPr/>
          <p:nvPr/>
        </p:nvGrpSpPr>
        <p:grpSpPr>
          <a:xfrm>
            <a:off x="588645" y="3222308"/>
            <a:ext cx="10403205" cy="2454592"/>
            <a:chOff x="588645" y="3222308"/>
            <a:chExt cx="10403205" cy="2454592"/>
          </a:xfrm>
        </p:grpSpPr>
        <p:sp>
          <p:nvSpPr>
            <p:cNvPr id="32" name="TextBox 32"/>
            <p:cNvSpPr txBox="1"/>
            <p:nvPr/>
          </p:nvSpPr>
          <p:spPr>
            <a:xfrm>
              <a:off x="588645" y="3222308"/>
              <a:ext cx="2548573" cy="335280"/>
            </a:xfrm>
            <a:prstGeom prst="rect">
              <a:avLst/>
            </a:prstGeom>
            <a:noFill/>
            <a:ln>
              <a:noFill/>
            </a:ln>
          </p:spPr>
          <p:txBody>
            <a:bodyPr wrap="none" lIns="0" tIns="0" rIns="0" bIns="0" anchor="t" anchorCtr="0">
              <a:spAutoFit/>
            </a:bodyPr>
            <a:lstStyle/>
            <a:p>
              <a:pPr algn="l"/>
              <a:r>
                <a:rPr lang="zh-CN" sz="1650" b="1" dirty="0">
                  <a:solidFill>
                    <a:srgbClr val="002D4C"/>
                  </a:solidFill>
                  <a:latin typeface="Arial"/>
                  <a:ea typeface="Microsoft YaHei"/>
                  <a:cs typeface="Arial"/>
                </a:rPr>
                <a:t>Required data and logs</a:t>
              </a:r>
            </a:p>
          </p:txBody>
        </p:sp>
        <p:sp>
          <p:nvSpPr>
            <p:cNvPr id="33" name="Rectangle 33"/>
            <p:cNvSpPr/>
            <p:nvPr/>
          </p:nvSpPr>
          <p:spPr>
            <a:xfrm>
              <a:off x="609600" y="3581400"/>
              <a:ext cx="10382250" cy="2095500"/>
            </a:xfrm>
            <a:prstGeom prst="roundRect">
              <a:avLst>
                <a:gd name="adj" fmla="val 4545"/>
              </a:avLst>
            </a:prstGeom>
            <a:solidFill>
              <a:srgbClr val="FFFFFF"/>
            </a:solidFill>
            <a:ln w="19050">
              <a:solidFill>
                <a:srgbClr val="DAE1E6"/>
              </a:solidFill>
            </a:ln>
          </p:spPr>
          <p:txBody>
            <a:bodyPr/>
            <a:lstStyle/>
            <a:p>
              <a:endParaRPr lang="zh-CN" altLang="en-US"/>
            </a:p>
          </p:txBody>
        </p:sp>
        <p:sp>
          <p:nvSpPr>
            <p:cNvPr id="34" name="Freeform 34"/>
            <p:cNvSpPr/>
            <p:nvPr/>
          </p:nvSpPr>
          <p:spPr>
            <a:xfrm>
              <a:off x="609600" y="3581400"/>
              <a:ext cx="10382250" cy="457200"/>
            </a:xfrm>
            <a:custGeom>
              <a:avLst/>
              <a:gdLst/>
              <a:ahLst/>
              <a:cxnLst/>
              <a:rect l="l" t="t" r="r" b="b"/>
              <a:pathLst>
                <a:path w="10382250" h="457200">
                  <a:moveTo>
                    <a:pt x="95250" y="0"/>
                  </a:moveTo>
                  <a:lnTo>
                    <a:pt x="10287000" y="0"/>
                  </a:lnTo>
                  <a:cubicBezTo>
                    <a:pt x="10339605" y="0"/>
                    <a:pt x="10382250" y="42645"/>
                    <a:pt x="10382250" y="95250"/>
                  </a:cubicBezTo>
                  <a:lnTo>
                    <a:pt x="10382250" y="457200"/>
                  </a:lnTo>
                  <a:lnTo>
                    <a:pt x="0" y="457200"/>
                  </a:ln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35" name="TextBox 35"/>
            <p:cNvSpPr txBox="1"/>
            <p:nvPr/>
          </p:nvSpPr>
          <p:spPr>
            <a:xfrm>
              <a:off x="802958" y="3739039"/>
              <a:ext cx="62150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Source</a:t>
              </a:r>
            </a:p>
          </p:txBody>
        </p:sp>
        <p:sp>
          <p:nvSpPr>
            <p:cNvPr id="36" name="TextBox 36"/>
            <p:cNvSpPr txBox="1"/>
            <p:nvPr/>
          </p:nvSpPr>
          <p:spPr>
            <a:xfrm>
              <a:off x="2936558" y="3739039"/>
              <a:ext cx="1719421"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Fields or resources</a:t>
              </a:r>
            </a:p>
          </p:txBody>
        </p:sp>
        <p:sp>
          <p:nvSpPr>
            <p:cNvPr id="37" name="Rectangle 37"/>
            <p:cNvSpPr/>
            <p:nvPr/>
          </p:nvSpPr>
          <p:spPr>
            <a:xfrm>
              <a:off x="609600" y="4038600"/>
              <a:ext cx="10382250" cy="609600"/>
            </a:xfrm>
            <a:prstGeom prst="rect">
              <a:avLst/>
            </a:prstGeom>
            <a:solidFill>
              <a:srgbClr val="EAF6F4"/>
            </a:solidFill>
            <a:ln>
              <a:noFill/>
            </a:ln>
          </p:spPr>
          <p:txBody>
            <a:bodyPr/>
            <a:lstStyle/>
            <a:p>
              <a:endParaRPr lang="zh-CN" altLang="en-US"/>
            </a:p>
          </p:txBody>
        </p:sp>
        <p:sp>
          <p:nvSpPr>
            <p:cNvPr id="38" name="TextBox 38"/>
            <p:cNvSpPr txBox="1"/>
            <p:nvPr/>
          </p:nvSpPr>
          <p:spPr>
            <a:xfrm>
              <a:off x="802958" y="4262914"/>
              <a:ext cx="1621234"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Self-built dataset</a:t>
              </a:r>
            </a:p>
          </p:txBody>
        </p:sp>
        <p:sp>
          <p:nvSpPr>
            <p:cNvPr id="39" name="TextBox 39"/>
            <p:cNvSpPr txBox="1"/>
            <p:nvPr/>
          </p:nvSpPr>
          <p:spPr>
            <a:xfrm>
              <a:off x="2939415" y="4172902"/>
              <a:ext cx="4388215" cy="213360"/>
            </a:xfrm>
            <a:prstGeom prst="rect">
              <a:avLst/>
            </a:prstGeom>
            <a:noFill/>
            <a:ln>
              <a:noFill/>
            </a:ln>
          </p:spPr>
          <p:txBody>
            <a:bodyPr wrap="none" lIns="0" tIns="0" rIns="0" bIns="0" anchor="t" anchorCtr="0">
              <a:spAutoFit/>
            </a:bodyPr>
            <a:lstStyle/>
            <a:p>
              <a:pPr algn="l"/>
              <a:r>
                <a:rPr lang="zh-CN" sz="1050" dirty="0">
                  <a:solidFill>
                    <a:srgbClr val="005A50"/>
                  </a:solidFill>
                  <a:latin typeface="Consolas"/>
                  <a:ea typeface="Microsoft YaHei"/>
                  <a:cs typeface="Consolas"/>
                </a:rPr>
                <a:t>id · question · gold_answer · accessible KG / structured triples</a:t>
              </a:r>
            </a:p>
          </p:txBody>
        </p:sp>
        <p:sp>
          <p:nvSpPr>
            <p:cNvPr id="40" name="TextBox 40"/>
            <p:cNvSpPr txBox="1"/>
            <p:nvPr/>
          </p:nvSpPr>
          <p:spPr>
            <a:xfrm>
              <a:off x="2939415" y="4420552"/>
              <a:ext cx="2133933"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Consolas"/>
                  <a:ea typeface="Microsoft YaHei"/>
                  <a:cs typeface="Consolas"/>
                </a:rPr>
                <a:t>conditional: kg_id · kg_version</a:t>
              </a:r>
            </a:p>
          </p:txBody>
        </p:sp>
        <p:sp>
          <p:nvSpPr>
            <p:cNvPr id="41" name="Rectangle 41"/>
            <p:cNvSpPr/>
            <p:nvPr/>
          </p:nvSpPr>
          <p:spPr>
            <a:xfrm>
              <a:off x="609600" y="4648200"/>
              <a:ext cx="10382250" cy="514350"/>
            </a:xfrm>
            <a:prstGeom prst="rect">
              <a:avLst/>
            </a:prstGeom>
            <a:solidFill>
              <a:srgbClr val="F4F7F8"/>
            </a:solidFill>
            <a:ln>
              <a:noFill/>
            </a:ln>
          </p:spPr>
          <p:txBody>
            <a:bodyPr/>
            <a:lstStyle/>
            <a:p>
              <a:endParaRPr lang="zh-CN" altLang="en-US"/>
            </a:p>
          </p:txBody>
        </p:sp>
        <p:sp>
          <p:nvSpPr>
            <p:cNvPr id="42" name="TextBox 42"/>
            <p:cNvSpPr txBox="1"/>
            <p:nvPr/>
          </p:nvSpPr>
          <p:spPr>
            <a:xfrm>
              <a:off x="802958" y="4834414"/>
              <a:ext cx="1469490"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Existing dataset</a:t>
              </a:r>
            </a:p>
          </p:txBody>
        </p:sp>
        <p:sp>
          <p:nvSpPr>
            <p:cNvPr id="43" name="TextBox 43"/>
            <p:cNvSpPr txBox="1"/>
            <p:nvPr/>
          </p:nvSpPr>
          <p:spPr>
            <a:xfrm>
              <a:off x="2939415" y="4858702"/>
              <a:ext cx="4458224"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Consolas"/>
                  <a:ea typeface="Microsoft YaHei"/>
                  <a:cs typeface="Consolas"/>
                </a:rPr>
                <a:t>question · answer(s) · accessible KG / subgraph · optional query</a:t>
              </a:r>
            </a:p>
          </p:txBody>
        </p:sp>
        <p:sp>
          <p:nvSpPr>
            <p:cNvPr id="44" name="Rectangle 44"/>
            <p:cNvSpPr/>
            <p:nvPr/>
          </p:nvSpPr>
          <p:spPr>
            <a:xfrm>
              <a:off x="609600" y="5162550"/>
              <a:ext cx="10382250" cy="514350"/>
            </a:xfrm>
            <a:prstGeom prst="rect">
              <a:avLst/>
            </a:prstGeom>
            <a:solidFill>
              <a:srgbClr val="EAF6F4"/>
            </a:solidFill>
            <a:ln>
              <a:noFill/>
            </a:ln>
          </p:spPr>
          <p:txBody>
            <a:bodyPr/>
            <a:lstStyle/>
            <a:p>
              <a:endParaRPr lang="zh-CN" altLang="en-US"/>
            </a:p>
          </p:txBody>
        </p:sp>
        <p:sp>
          <p:nvSpPr>
            <p:cNvPr id="45" name="TextBox 45"/>
            <p:cNvSpPr txBox="1"/>
            <p:nvPr/>
          </p:nvSpPr>
          <p:spPr>
            <a:xfrm>
              <a:off x="803910" y="5242560"/>
              <a:ext cx="1105814"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Unified Agent</a:t>
              </a:r>
            </a:p>
          </p:txBody>
        </p:sp>
        <p:sp>
          <p:nvSpPr>
            <p:cNvPr id="46" name="TextBox 46"/>
            <p:cNvSpPr txBox="1"/>
            <p:nvPr/>
          </p:nvSpPr>
          <p:spPr>
            <a:xfrm>
              <a:off x="803910" y="5423535"/>
              <a:ext cx="265709"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log</a:t>
              </a:r>
            </a:p>
          </p:txBody>
        </p:sp>
        <p:sp>
          <p:nvSpPr>
            <p:cNvPr id="47" name="TextBox 47"/>
            <p:cNvSpPr txBox="1"/>
            <p:nvPr/>
          </p:nvSpPr>
          <p:spPr>
            <a:xfrm>
              <a:off x="2939415" y="5373052"/>
              <a:ext cx="4563237" cy="213360"/>
            </a:xfrm>
            <a:prstGeom prst="rect">
              <a:avLst/>
            </a:prstGeom>
            <a:noFill/>
            <a:ln>
              <a:noFill/>
            </a:ln>
          </p:spPr>
          <p:txBody>
            <a:bodyPr wrap="none" lIns="0" tIns="0" rIns="0" bIns="0" anchor="t" anchorCtr="0">
              <a:spAutoFit/>
            </a:bodyPr>
            <a:lstStyle/>
            <a:p>
              <a:pPr algn="l"/>
              <a:r>
                <a:rPr lang="zh-CN" sz="1050" dirty="0">
                  <a:solidFill>
                    <a:srgbClr val="005A50"/>
                  </a:solidFill>
                  <a:latin typeface="Consolas"/>
                  <a:ea typeface="Microsoft YaHei"/>
                  <a:cs typeface="Consolas"/>
                </a:rPr>
                <a:t>predicted_answer · retrieved_entities · optional retrieved_facts</a:t>
              </a:r>
            </a:p>
          </p:txBody>
        </p:sp>
      </p:grpSp>
      <p:grpSp>
        <p:nvGrpSpPr>
          <p:cNvPr id="52" name="Group 52"/>
          <p:cNvGrpSpPr/>
          <p:nvPr/>
        </p:nvGrpSpPr>
        <p:grpSpPr>
          <a:xfrm>
            <a:off x="609600" y="5848350"/>
            <a:ext cx="10382250" cy="502444"/>
            <a:chOff x="609600" y="5848350"/>
            <a:chExt cx="10382250" cy="502444"/>
          </a:xfrm>
        </p:grpSpPr>
        <p:sp>
          <p:nvSpPr>
            <p:cNvPr id="49" name="Rectangle 49"/>
            <p:cNvSpPr/>
            <p:nvPr/>
          </p:nvSpPr>
          <p:spPr>
            <a:xfrm>
              <a:off x="609600" y="5848350"/>
              <a:ext cx="10382250" cy="476250"/>
            </a:xfrm>
            <a:prstGeom prst="roundRect">
              <a:avLst>
                <a:gd name="adj" fmla="val 16000"/>
              </a:avLst>
            </a:prstGeom>
            <a:solidFill>
              <a:srgbClr val="002D4C"/>
            </a:solidFill>
            <a:ln>
              <a:noFill/>
            </a:ln>
          </p:spPr>
          <p:txBody>
            <a:bodyPr/>
            <a:lstStyle/>
            <a:p>
              <a:endParaRPr lang="zh-CN" altLang="en-US"/>
            </a:p>
          </p:txBody>
        </p:sp>
        <p:sp>
          <p:nvSpPr>
            <p:cNvPr id="50" name="TextBox 50"/>
            <p:cNvSpPr txBox="1"/>
            <p:nvPr/>
          </p:nvSpPr>
          <p:spPr>
            <a:xfrm>
              <a:off x="1810286" y="5939314"/>
              <a:ext cx="7980878" cy="259080"/>
            </a:xfrm>
            <a:prstGeom prst="rect">
              <a:avLst/>
            </a:prstGeom>
            <a:noFill/>
            <a:ln>
              <a:noFill/>
            </a:ln>
          </p:spPr>
          <p:txBody>
            <a:bodyPr wrap="none" lIns="0" tIns="0" rIns="0" bIns="0" anchor="t" anchorCtr="0">
              <a:spAutoFit/>
            </a:bodyPr>
            <a:lstStyle/>
            <a:p>
              <a:pPr algn="ctr"/>
              <a:r>
                <a:rPr lang="zh-CN" sz="1275" dirty="0">
                  <a:solidFill>
                    <a:srgbClr val="FFFFFF"/>
                  </a:solidFill>
                  <a:latin typeface="Arial"/>
                  <a:ea typeface="Microsoft YaHei"/>
                  <a:cs typeface="Arial"/>
                </a:rPr>
                <a:t>Structured answers provide a common final-answer input, but retrieval logs are still required.</a:t>
              </a:r>
            </a:p>
          </p:txBody>
        </p:sp>
        <p:sp>
          <p:nvSpPr>
            <p:cNvPr id="51" name="TextBox 51"/>
            <p:cNvSpPr txBox="1"/>
            <p:nvPr/>
          </p:nvSpPr>
          <p:spPr>
            <a:xfrm>
              <a:off x="3487055" y="6152674"/>
              <a:ext cx="4627340" cy="198120"/>
            </a:xfrm>
            <a:prstGeom prst="rect">
              <a:avLst/>
            </a:prstGeom>
            <a:noFill/>
            <a:ln>
              <a:noFill/>
            </a:ln>
          </p:spPr>
          <p:txBody>
            <a:bodyPr wrap="none" lIns="0" tIns="0" rIns="0" bIns="0" anchor="t" anchorCtr="0">
              <a:spAutoFit/>
            </a:bodyPr>
            <a:lstStyle/>
            <a:p>
              <a:pPr algn="ctr"/>
              <a:r>
                <a:rPr lang="zh-CN" sz="975" dirty="0">
                  <a:solidFill>
                    <a:srgbClr val="B8DCD6"/>
                  </a:solidFill>
                  <a:latin typeface="Arial"/>
                  <a:ea typeface="Microsoft YaHei"/>
                  <a:cs typeface="Arial"/>
                </a:rPr>
                <a:t>Access to the target KG determines how far grounding can be evaluated.</a:t>
              </a:r>
            </a:p>
          </p:txBody>
        </p:sp>
      </p:grpSp>
      <p:grpSp>
        <p:nvGrpSpPr>
          <p:cNvPr id="55" name="Group 55"/>
          <p:cNvGrpSpPr/>
          <p:nvPr/>
        </p:nvGrpSpPr>
        <p:grpSpPr>
          <a:xfrm>
            <a:off x="600075" y="6529388"/>
            <a:ext cx="10401300" cy="152400"/>
            <a:chOff x="600075" y="6529388"/>
            <a:chExt cx="10401300" cy="152400"/>
          </a:xfrm>
        </p:grpSpPr>
        <p:sp>
          <p:nvSpPr>
            <p:cNvPr id="53" name="TextBox 53"/>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4" name="TextBox 54"/>
            <p:cNvSpPr txBox="1"/>
            <p:nvPr/>
          </p:nvSpPr>
          <p:spPr>
            <a:xfrm>
              <a:off x="10872311" y="6529388"/>
              <a:ext cx="129064" cy="152400"/>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08</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400"/>
                                        <p:tgtEl>
                                          <p:spTgt spid="2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slide(fromBottom)">
                                      <p:cBhvr>
                                        <p:cTn id="15" dur="400"/>
                                        <p:tgtEl>
                                          <p:spTgt spid="31"/>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wipe(left)">
                                      <p:cBhvr>
                                        <p:cTn id="19" dur="400"/>
                                        <p:tgtEl>
                                          <p:spTgt spid="48"/>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31" grpId="0"/>
      <p:bldP spid="48" grpId="0"/>
      <p:bldP spid="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sp>
        <p:nvSpPr>
          <p:cNvPr id="6" name="TextBox 6"/>
          <p:cNvSpPr txBox="1"/>
          <p:nvPr/>
        </p:nvSpPr>
        <p:spPr>
          <a:xfrm>
            <a:off x="592455" y="806768"/>
            <a:ext cx="4661533" cy="415498"/>
          </a:xfrm>
          <a:prstGeom prst="rect">
            <a:avLst/>
          </a:prstGeom>
          <a:noFill/>
          <a:ln>
            <a:noFill/>
          </a:ln>
        </p:spPr>
        <p:txBody>
          <a:bodyPr wrap="none" lIns="0" tIns="0" rIns="0" bIns="0" anchor="t" anchorCtr="0">
            <a:spAutoFit/>
          </a:bodyPr>
          <a:lstStyle/>
          <a:p>
            <a:r>
              <a:rPr lang="zh-CN" altLang="zh-CN" sz="1350" dirty="0">
                <a:solidFill>
                  <a:srgbClr val="526671"/>
                </a:solidFill>
                <a:latin typeface="Arial"/>
                <a:ea typeface="Microsoft YaHei"/>
                <a:cs typeface="Arial"/>
              </a:rPr>
              <a:t>Automatic Grounding Metrics Provide Only Partial Evidence</a:t>
            </a:r>
          </a:p>
          <a:p>
            <a:endParaRPr lang="zh-CN" sz="1350" dirty="0">
              <a:solidFill>
                <a:srgbClr val="526671"/>
              </a:solidFill>
              <a:latin typeface="Arial"/>
              <a:ea typeface="Microsoft YaHei"/>
              <a:cs typeface="Arial"/>
            </a:endParaRPr>
          </a:p>
        </p:txBody>
      </p:sp>
      <p:grpSp>
        <p:nvGrpSpPr>
          <p:cNvPr id="41" name="Group 41"/>
          <p:cNvGrpSpPr/>
          <p:nvPr/>
        </p:nvGrpSpPr>
        <p:grpSpPr>
          <a:xfrm>
            <a:off x="609600" y="1257300"/>
            <a:ext cx="10382250" cy="3524250"/>
            <a:chOff x="609600" y="1257300"/>
            <a:chExt cx="10382250" cy="3524250"/>
          </a:xfrm>
        </p:grpSpPr>
        <p:sp>
          <p:nvSpPr>
            <p:cNvPr id="8" name="Rectangle 8"/>
            <p:cNvSpPr/>
            <p:nvPr/>
          </p:nvSpPr>
          <p:spPr>
            <a:xfrm>
              <a:off x="609600" y="1257300"/>
              <a:ext cx="10382250" cy="3524250"/>
            </a:xfrm>
            <a:prstGeom prst="roundRect">
              <a:avLst>
                <a:gd name="adj" fmla="val 2703"/>
              </a:avLst>
            </a:prstGeom>
            <a:solidFill>
              <a:srgbClr val="FFFFFF"/>
            </a:solidFill>
            <a:ln w="19050">
              <a:solidFill>
                <a:srgbClr val="DAE1E6"/>
              </a:solidFill>
            </a:ln>
          </p:spPr>
          <p:txBody>
            <a:bodyPr/>
            <a:lstStyle/>
            <a:p>
              <a:endParaRPr lang="zh-CN" altLang="en-US"/>
            </a:p>
          </p:txBody>
        </p:sp>
        <p:sp>
          <p:nvSpPr>
            <p:cNvPr id="9" name="Freeform 9"/>
            <p:cNvSpPr/>
            <p:nvPr/>
          </p:nvSpPr>
          <p:spPr>
            <a:xfrm>
              <a:off x="609600" y="1257300"/>
              <a:ext cx="10382250" cy="533400"/>
            </a:xfrm>
            <a:custGeom>
              <a:avLst/>
              <a:gdLst/>
              <a:ahLst/>
              <a:cxnLst/>
              <a:rect l="l" t="t" r="r" b="b"/>
              <a:pathLst>
                <a:path w="10382250" h="533400">
                  <a:moveTo>
                    <a:pt x="95250" y="0"/>
                  </a:moveTo>
                  <a:lnTo>
                    <a:pt x="10287000" y="0"/>
                  </a:lnTo>
                  <a:cubicBezTo>
                    <a:pt x="10339605" y="0"/>
                    <a:pt x="10382250" y="42645"/>
                    <a:pt x="10382250" y="95250"/>
                  </a:cubicBezTo>
                  <a:lnTo>
                    <a:pt x="10382250" y="533400"/>
                  </a:lnTo>
                  <a:lnTo>
                    <a:pt x="0" y="533400"/>
                  </a:ln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10" name="TextBox 10"/>
            <p:cNvSpPr txBox="1"/>
            <p:nvPr/>
          </p:nvSpPr>
          <p:spPr>
            <a:xfrm>
              <a:off x="822008" y="1453039"/>
              <a:ext cx="1719421"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Evaluation question</a:t>
              </a:r>
            </a:p>
          </p:txBody>
        </p:sp>
        <p:sp>
          <p:nvSpPr>
            <p:cNvPr id="11" name="TextBox 11"/>
            <p:cNvSpPr txBox="1"/>
            <p:nvPr/>
          </p:nvSpPr>
          <p:spPr>
            <a:xfrm>
              <a:off x="3921233" y="1375410"/>
              <a:ext cx="206353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Answer–Retrieved Result</a:t>
              </a:r>
            </a:p>
          </p:txBody>
        </p:sp>
        <p:sp>
          <p:nvSpPr>
            <p:cNvPr id="12" name="TextBox 12"/>
            <p:cNvSpPr txBox="1"/>
            <p:nvPr/>
          </p:nvSpPr>
          <p:spPr>
            <a:xfrm>
              <a:off x="4450499" y="1565910"/>
              <a:ext cx="100500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Consistency</a:t>
              </a:r>
            </a:p>
          </p:txBody>
        </p:sp>
        <p:sp>
          <p:nvSpPr>
            <p:cNvPr id="13" name="TextBox 13"/>
            <p:cNvSpPr txBox="1"/>
            <p:nvPr/>
          </p:nvSpPr>
          <p:spPr>
            <a:xfrm>
              <a:off x="7857134" y="1375410"/>
              <a:ext cx="124023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Retrieved Fact</a:t>
              </a:r>
            </a:p>
          </p:txBody>
        </p:sp>
        <p:sp>
          <p:nvSpPr>
            <p:cNvPr id="14" name="TextBox 14"/>
            <p:cNvSpPr txBox="1"/>
            <p:nvPr/>
          </p:nvSpPr>
          <p:spPr>
            <a:xfrm>
              <a:off x="7945345" y="1565910"/>
              <a:ext cx="106380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Validity Rate</a:t>
              </a:r>
            </a:p>
          </p:txBody>
        </p:sp>
        <p:sp>
          <p:nvSpPr>
            <p:cNvPr id="15" name="Line 15"/>
            <p:cNvSpPr/>
            <p:nvPr/>
          </p:nvSpPr>
          <p:spPr>
            <a:xfrm>
              <a:off x="3695700" y="1257300"/>
              <a:ext cx="9525" cy="3524250"/>
            </a:xfrm>
            <a:custGeom>
              <a:avLst/>
              <a:gdLst/>
              <a:ahLst/>
              <a:cxnLst/>
              <a:rect l="l" t="t" r="r" b="b"/>
              <a:pathLst>
                <a:path w="9525" h="3524250">
                  <a:moveTo>
                    <a:pt x="0" y="0"/>
                  </a:moveTo>
                  <a:lnTo>
                    <a:pt x="0" y="3524250"/>
                  </a:lnTo>
                </a:path>
              </a:pathLst>
            </a:custGeom>
            <a:noFill/>
            <a:ln w="14288">
              <a:solidFill>
                <a:srgbClr val="DAE1E6"/>
              </a:solidFill>
            </a:ln>
          </p:spPr>
          <p:txBody>
            <a:bodyPr/>
            <a:lstStyle/>
            <a:p>
              <a:endParaRPr lang="zh-CN" altLang="en-US"/>
            </a:p>
          </p:txBody>
        </p:sp>
        <p:sp>
          <p:nvSpPr>
            <p:cNvPr id="16" name="Line 16"/>
            <p:cNvSpPr/>
            <p:nvPr/>
          </p:nvSpPr>
          <p:spPr>
            <a:xfrm>
              <a:off x="6572250" y="1257300"/>
              <a:ext cx="9525" cy="3524250"/>
            </a:xfrm>
            <a:custGeom>
              <a:avLst/>
              <a:gdLst/>
              <a:ahLst/>
              <a:cxnLst/>
              <a:rect l="l" t="t" r="r" b="b"/>
              <a:pathLst>
                <a:path w="9525" h="3524250">
                  <a:moveTo>
                    <a:pt x="0" y="0"/>
                  </a:moveTo>
                  <a:lnTo>
                    <a:pt x="0" y="3524250"/>
                  </a:lnTo>
                </a:path>
              </a:pathLst>
            </a:custGeom>
            <a:noFill/>
            <a:ln w="14288">
              <a:solidFill>
                <a:srgbClr val="DAE1E6"/>
              </a:solidFill>
            </a:ln>
          </p:spPr>
          <p:txBody>
            <a:bodyPr/>
            <a:lstStyle/>
            <a:p>
              <a:endParaRPr lang="zh-CN" altLang="en-US"/>
            </a:p>
          </p:txBody>
        </p:sp>
        <p:sp>
          <p:nvSpPr>
            <p:cNvPr id="17" name="Rectangle 17"/>
            <p:cNvSpPr/>
            <p:nvPr/>
          </p:nvSpPr>
          <p:spPr>
            <a:xfrm>
              <a:off x="609600" y="1790700"/>
              <a:ext cx="10382250" cy="723900"/>
            </a:xfrm>
            <a:prstGeom prst="rect">
              <a:avLst/>
            </a:prstGeom>
            <a:solidFill>
              <a:srgbClr val="EAF6F4"/>
            </a:solidFill>
            <a:ln>
              <a:noFill/>
            </a:ln>
          </p:spPr>
          <p:txBody>
            <a:bodyPr/>
            <a:lstStyle/>
            <a:p>
              <a:endParaRPr lang="zh-CN" altLang="en-US"/>
            </a:p>
          </p:txBody>
        </p:sp>
        <p:sp>
          <p:nvSpPr>
            <p:cNvPr id="18" name="TextBox 18"/>
            <p:cNvSpPr txBox="1"/>
            <p:nvPr/>
          </p:nvSpPr>
          <p:spPr>
            <a:xfrm>
              <a:off x="822960" y="1956435"/>
              <a:ext cx="1559471"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What can it check?</a:t>
              </a:r>
            </a:p>
          </p:txBody>
        </p:sp>
        <p:sp>
          <p:nvSpPr>
            <p:cNvPr id="19" name="TextBox 19"/>
            <p:cNvSpPr txBox="1"/>
            <p:nvPr/>
          </p:nvSpPr>
          <p:spPr>
            <a:xfrm>
              <a:off x="3910012" y="1916906"/>
              <a:ext cx="2293858"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Whether the answer appears in</a:t>
              </a:r>
            </a:p>
          </p:txBody>
        </p:sp>
        <p:sp>
          <p:nvSpPr>
            <p:cNvPr id="20" name="TextBox 20"/>
            <p:cNvSpPr txBox="1"/>
            <p:nvPr/>
          </p:nvSpPr>
          <p:spPr>
            <a:xfrm>
              <a:off x="3910012" y="2145506"/>
              <a:ext cx="227885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the recorded retrieval results</a:t>
              </a:r>
            </a:p>
          </p:txBody>
        </p:sp>
        <p:sp>
          <p:nvSpPr>
            <p:cNvPr id="21" name="TextBox 21"/>
            <p:cNvSpPr txBox="1"/>
            <p:nvPr/>
          </p:nvSpPr>
          <p:spPr>
            <a:xfrm>
              <a:off x="6786562" y="1916906"/>
              <a:ext cx="2308860"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Whether recorded triples exist</a:t>
              </a:r>
            </a:p>
          </p:txBody>
        </p:sp>
        <p:sp>
          <p:nvSpPr>
            <p:cNvPr id="22" name="TextBox 22"/>
            <p:cNvSpPr txBox="1"/>
            <p:nvPr/>
          </p:nvSpPr>
          <p:spPr>
            <a:xfrm>
              <a:off x="6786562" y="2145506"/>
              <a:ext cx="1198721"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in the target KG</a:t>
              </a:r>
            </a:p>
          </p:txBody>
        </p:sp>
        <p:sp>
          <p:nvSpPr>
            <p:cNvPr id="23" name="Rectangle 23"/>
            <p:cNvSpPr/>
            <p:nvPr/>
          </p:nvSpPr>
          <p:spPr>
            <a:xfrm>
              <a:off x="609600" y="2514600"/>
              <a:ext cx="10382250" cy="723900"/>
            </a:xfrm>
            <a:prstGeom prst="rect">
              <a:avLst/>
            </a:prstGeom>
            <a:solidFill>
              <a:srgbClr val="F4F7F8"/>
            </a:solidFill>
            <a:ln>
              <a:noFill/>
            </a:ln>
          </p:spPr>
          <p:txBody>
            <a:bodyPr/>
            <a:lstStyle/>
            <a:p>
              <a:endParaRPr lang="zh-CN" altLang="en-US"/>
            </a:p>
          </p:txBody>
        </p:sp>
        <p:sp>
          <p:nvSpPr>
            <p:cNvPr id="24" name="TextBox 24"/>
            <p:cNvSpPr txBox="1"/>
            <p:nvPr/>
          </p:nvSpPr>
          <p:spPr>
            <a:xfrm>
              <a:off x="822960" y="2680335"/>
              <a:ext cx="2071935"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Architecture dependence</a:t>
              </a:r>
            </a:p>
          </p:txBody>
        </p:sp>
        <p:sp>
          <p:nvSpPr>
            <p:cNvPr id="25" name="TextBox 25"/>
            <p:cNvSpPr txBox="1"/>
            <p:nvPr/>
          </p:nvSpPr>
          <p:spPr>
            <a:xfrm>
              <a:off x="3910012" y="2640806"/>
              <a:ext cx="2226350"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Requires normalized retrieved</a:t>
              </a:r>
            </a:p>
          </p:txBody>
        </p:sp>
        <p:sp>
          <p:nvSpPr>
            <p:cNvPr id="26" name="TextBox 26"/>
            <p:cNvSpPr txBox="1"/>
            <p:nvPr/>
          </p:nvSpPr>
          <p:spPr>
            <a:xfrm>
              <a:off x="3910012" y="2869406"/>
              <a:ext cx="2271355"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entities or comparable objects</a:t>
              </a:r>
            </a:p>
          </p:txBody>
        </p:sp>
        <p:sp>
          <p:nvSpPr>
            <p:cNvPr id="27" name="TextBox 27"/>
            <p:cNvSpPr txBox="1"/>
            <p:nvPr/>
          </p:nvSpPr>
          <p:spPr>
            <a:xfrm>
              <a:off x="6786562" y="2640806"/>
              <a:ext cx="219634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Requires tools that expose or</a:t>
              </a:r>
            </a:p>
          </p:txBody>
        </p:sp>
        <p:sp>
          <p:nvSpPr>
            <p:cNvPr id="28" name="TextBox 28"/>
            <p:cNvSpPr txBox="1"/>
            <p:nvPr/>
          </p:nvSpPr>
          <p:spPr>
            <a:xfrm>
              <a:off x="6786562" y="2869406"/>
              <a:ext cx="2308860"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reconstruct normalized triples</a:t>
              </a:r>
            </a:p>
          </p:txBody>
        </p:sp>
        <p:sp>
          <p:nvSpPr>
            <p:cNvPr id="29" name="Rectangle 29"/>
            <p:cNvSpPr/>
            <p:nvPr/>
          </p:nvSpPr>
          <p:spPr>
            <a:xfrm>
              <a:off x="609600" y="3238500"/>
              <a:ext cx="10382250" cy="723900"/>
            </a:xfrm>
            <a:prstGeom prst="rect">
              <a:avLst/>
            </a:prstGeom>
            <a:solidFill>
              <a:srgbClr val="EAF6F4"/>
            </a:solidFill>
            <a:ln>
              <a:noFill/>
            </a:ln>
          </p:spPr>
          <p:txBody>
            <a:bodyPr/>
            <a:lstStyle/>
            <a:p>
              <a:endParaRPr lang="zh-CN" altLang="en-US"/>
            </a:p>
          </p:txBody>
        </p:sp>
        <p:sp>
          <p:nvSpPr>
            <p:cNvPr id="30" name="TextBox 30"/>
            <p:cNvSpPr txBox="1"/>
            <p:nvPr/>
          </p:nvSpPr>
          <p:spPr>
            <a:xfrm>
              <a:off x="822960" y="3404235"/>
              <a:ext cx="1887112"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What can it not prove?</a:t>
              </a:r>
            </a:p>
          </p:txBody>
        </p:sp>
        <p:sp>
          <p:nvSpPr>
            <p:cNvPr id="31" name="TextBox 31"/>
            <p:cNvSpPr txBox="1"/>
            <p:nvPr/>
          </p:nvSpPr>
          <p:spPr>
            <a:xfrm>
              <a:off x="3910012" y="3364706"/>
              <a:ext cx="2481382"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The Agent used the correct facts</a:t>
              </a:r>
            </a:p>
          </p:txBody>
        </p:sp>
        <p:sp>
          <p:nvSpPr>
            <p:cNvPr id="32" name="TextBox 32"/>
            <p:cNvSpPr txBox="1"/>
            <p:nvPr/>
          </p:nvSpPr>
          <p:spPr>
            <a:xfrm>
              <a:off x="3910012" y="3593306"/>
              <a:ext cx="2421374"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or reasoning to form the answer</a:t>
              </a:r>
            </a:p>
          </p:txBody>
        </p:sp>
        <p:sp>
          <p:nvSpPr>
            <p:cNvPr id="33" name="TextBox 33"/>
            <p:cNvSpPr txBox="1"/>
            <p:nvPr/>
          </p:nvSpPr>
          <p:spPr>
            <a:xfrm>
              <a:off x="6786562" y="3364706"/>
              <a:ext cx="2398871"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The valid facts were relevant to</a:t>
              </a:r>
            </a:p>
          </p:txBody>
        </p:sp>
        <p:sp>
          <p:nvSpPr>
            <p:cNvPr id="34" name="TextBox 34"/>
            <p:cNvSpPr txBox="1"/>
            <p:nvPr/>
          </p:nvSpPr>
          <p:spPr>
            <a:xfrm>
              <a:off x="6786562" y="3593306"/>
              <a:ext cx="1228725"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the final answer</a:t>
              </a:r>
            </a:p>
          </p:txBody>
        </p:sp>
        <p:sp>
          <p:nvSpPr>
            <p:cNvPr id="35" name="Rectangle 35"/>
            <p:cNvSpPr/>
            <p:nvPr/>
          </p:nvSpPr>
          <p:spPr>
            <a:xfrm>
              <a:off x="609600" y="3962400"/>
              <a:ext cx="10382250" cy="819150"/>
            </a:xfrm>
            <a:prstGeom prst="rect">
              <a:avLst/>
            </a:prstGeom>
            <a:solidFill>
              <a:srgbClr val="F4F7F8"/>
            </a:solidFill>
            <a:ln>
              <a:noFill/>
            </a:ln>
          </p:spPr>
          <p:txBody>
            <a:bodyPr/>
            <a:lstStyle/>
            <a:p>
              <a:endParaRPr lang="zh-CN" altLang="en-US"/>
            </a:p>
          </p:txBody>
        </p:sp>
        <p:sp>
          <p:nvSpPr>
            <p:cNvPr id="36" name="TextBox 36"/>
            <p:cNvSpPr txBox="1"/>
            <p:nvPr/>
          </p:nvSpPr>
          <p:spPr>
            <a:xfrm>
              <a:off x="822960" y="4137660"/>
              <a:ext cx="1920716"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Answer-type limitation</a:t>
              </a:r>
            </a:p>
          </p:txBody>
        </p:sp>
        <p:sp>
          <p:nvSpPr>
            <p:cNvPr id="37" name="TextBox 37"/>
            <p:cNvSpPr txBox="1"/>
            <p:nvPr/>
          </p:nvSpPr>
          <p:spPr>
            <a:xfrm>
              <a:off x="3910012" y="4098131"/>
              <a:ext cx="2368868" cy="228600"/>
            </a:xfrm>
            <a:prstGeom prst="rect">
              <a:avLst/>
            </a:prstGeom>
            <a:noFill/>
            <a:ln>
              <a:noFill/>
            </a:ln>
          </p:spPr>
          <p:txBody>
            <a:bodyPr wrap="none" lIns="0" tIns="0" rIns="0" bIns="0" anchor="t" anchorCtr="0">
              <a:spAutoFit/>
            </a:bodyPr>
            <a:lstStyle/>
            <a:p>
              <a:pPr algn="l"/>
              <a:r>
                <a:rPr lang="zh-CN" sz="1125" dirty="0">
                  <a:solidFill>
                    <a:srgbClr val="D30015"/>
                  </a:solidFill>
                  <a:latin typeface="Arial"/>
                  <a:ea typeface="Microsoft YaHei"/>
                  <a:cs typeface="Arial"/>
                </a:rPr>
                <a:t>Numeric or Boolean answers may</a:t>
              </a:r>
            </a:p>
          </p:txBody>
        </p:sp>
        <p:sp>
          <p:nvSpPr>
            <p:cNvPr id="38" name="TextBox 38"/>
            <p:cNvSpPr txBox="1"/>
            <p:nvPr/>
          </p:nvSpPr>
          <p:spPr>
            <a:xfrm>
              <a:off x="3910012" y="4326731"/>
              <a:ext cx="2143839" cy="228600"/>
            </a:xfrm>
            <a:prstGeom prst="rect">
              <a:avLst/>
            </a:prstGeom>
            <a:noFill/>
            <a:ln>
              <a:noFill/>
            </a:ln>
          </p:spPr>
          <p:txBody>
            <a:bodyPr wrap="none" lIns="0" tIns="0" rIns="0" bIns="0" anchor="t" anchorCtr="0">
              <a:spAutoFit/>
            </a:bodyPr>
            <a:lstStyle/>
            <a:p>
              <a:pPr algn="l"/>
              <a:r>
                <a:rPr lang="zh-CN" sz="1125" dirty="0">
                  <a:solidFill>
                    <a:srgbClr val="D30015"/>
                  </a:solidFill>
                  <a:latin typeface="Arial"/>
                  <a:ea typeface="Microsoft YaHei"/>
                  <a:cs typeface="Arial"/>
                </a:rPr>
                <a:t>not match retrieved entities</a:t>
              </a:r>
            </a:p>
          </p:txBody>
        </p:sp>
        <p:sp>
          <p:nvSpPr>
            <p:cNvPr id="39" name="TextBox 39"/>
            <p:cNvSpPr txBox="1"/>
            <p:nvPr/>
          </p:nvSpPr>
          <p:spPr>
            <a:xfrm>
              <a:off x="6786562" y="4098131"/>
              <a:ext cx="2473881" cy="228600"/>
            </a:xfrm>
            <a:prstGeom prst="rect">
              <a:avLst/>
            </a:prstGeom>
            <a:noFill/>
            <a:ln>
              <a:noFill/>
            </a:ln>
          </p:spPr>
          <p:txBody>
            <a:bodyPr wrap="none" lIns="0" tIns="0" rIns="0" bIns="0" anchor="t" anchorCtr="0">
              <a:spAutoFit/>
            </a:bodyPr>
            <a:lstStyle/>
            <a:p>
              <a:pPr algn="l"/>
              <a:r>
                <a:rPr lang="zh-CN" sz="1125" dirty="0">
                  <a:solidFill>
                    <a:srgbClr val="D30015"/>
                  </a:solidFill>
                  <a:latin typeface="Arial"/>
                  <a:ea typeface="Microsoft YaHei"/>
                  <a:cs typeface="Arial"/>
                </a:rPr>
                <a:t>Retrieved facts cannot always be</a:t>
              </a:r>
            </a:p>
          </p:txBody>
        </p:sp>
        <p:sp>
          <p:nvSpPr>
            <p:cNvPr id="40" name="TextBox 40"/>
            <p:cNvSpPr txBox="1"/>
            <p:nvPr/>
          </p:nvSpPr>
          <p:spPr>
            <a:xfrm>
              <a:off x="6786562" y="4326731"/>
              <a:ext cx="2968942" cy="228600"/>
            </a:xfrm>
            <a:prstGeom prst="rect">
              <a:avLst/>
            </a:prstGeom>
            <a:noFill/>
            <a:ln>
              <a:noFill/>
            </a:ln>
          </p:spPr>
          <p:txBody>
            <a:bodyPr wrap="none" lIns="0" tIns="0" rIns="0" bIns="0" anchor="t" anchorCtr="0">
              <a:spAutoFit/>
            </a:bodyPr>
            <a:lstStyle/>
            <a:p>
              <a:pPr algn="l"/>
              <a:r>
                <a:rPr lang="zh-CN" sz="1125" dirty="0">
                  <a:solidFill>
                    <a:srgbClr val="D30015"/>
                  </a:solidFill>
                  <a:latin typeface="Arial"/>
                  <a:ea typeface="Microsoft YaHei"/>
                  <a:cs typeface="Arial"/>
                </a:rPr>
                <a:t>directly compared with the output value</a:t>
              </a:r>
            </a:p>
          </p:txBody>
        </p:sp>
      </p:grpSp>
      <p:grpSp>
        <p:nvGrpSpPr>
          <p:cNvPr id="50" name="Group 50"/>
          <p:cNvGrpSpPr/>
          <p:nvPr/>
        </p:nvGrpSpPr>
        <p:grpSpPr>
          <a:xfrm>
            <a:off x="609600" y="5010150"/>
            <a:ext cx="10382250" cy="1181100"/>
            <a:chOff x="609600" y="5010150"/>
            <a:chExt cx="10382250" cy="1181100"/>
          </a:xfrm>
        </p:grpSpPr>
        <p:sp>
          <p:nvSpPr>
            <p:cNvPr id="42" name="Rectangle 42"/>
            <p:cNvSpPr/>
            <p:nvPr/>
          </p:nvSpPr>
          <p:spPr>
            <a:xfrm>
              <a:off x="609600" y="5010150"/>
              <a:ext cx="10382250" cy="1181100"/>
            </a:xfrm>
            <a:prstGeom prst="roundRect">
              <a:avLst>
                <a:gd name="adj" fmla="val 8065"/>
              </a:avLst>
            </a:prstGeom>
            <a:solidFill>
              <a:srgbClr val="002D4C"/>
            </a:solidFill>
            <a:ln>
              <a:noFill/>
            </a:ln>
          </p:spPr>
          <p:txBody>
            <a:bodyPr/>
            <a:lstStyle/>
            <a:p>
              <a:endParaRPr lang="zh-CN" altLang="en-US"/>
            </a:p>
          </p:txBody>
        </p:sp>
        <p:sp>
          <p:nvSpPr>
            <p:cNvPr id="43" name="TextBox 43"/>
            <p:cNvSpPr txBox="1"/>
            <p:nvPr/>
          </p:nvSpPr>
          <p:spPr>
            <a:xfrm>
              <a:off x="821055" y="5178742"/>
              <a:ext cx="1924526"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Practical implication</a:t>
              </a:r>
            </a:p>
          </p:txBody>
        </p:sp>
        <p:sp>
          <p:nvSpPr>
            <p:cNvPr id="44" name="TextBox 44"/>
            <p:cNvSpPr txBox="1"/>
            <p:nvPr/>
          </p:nvSpPr>
          <p:spPr>
            <a:xfrm>
              <a:off x="822008" y="5482114"/>
              <a:ext cx="634017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Use lightweight automatic signals where the required records are available.</a:t>
              </a:r>
            </a:p>
          </p:txBody>
        </p:sp>
        <p:sp>
          <p:nvSpPr>
            <p:cNvPr id="45" name="TextBox 45"/>
            <p:cNvSpPr txBox="1"/>
            <p:nvPr/>
          </p:nvSpPr>
          <p:spPr>
            <a:xfrm>
              <a:off x="822008" y="5767864"/>
              <a:ext cx="7317796"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Add a small number of manual cases for reasoning relevance and difficult answer types.</a:t>
              </a:r>
            </a:p>
          </p:txBody>
        </p:sp>
        <p:sp>
          <p:nvSpPr>
            <p:cNvPr id="46" name="Rectangle 46"/>
            <p:cNvSpPr/>
            <p:nvPr/>
          </p:nvSpPr>
          <p:spPr>
            <a:xfrm>
              <a:off x="8172450" y="5219700"/>
              <a:ext cx="2533650" cy="704850"/>
            </a:xfrm>
            <a:prstGeom prst="roundRect">
              <a:avLst>
                <a:gd name="adj" fmla="val 10811"/>
              </a:avLst>
            </a:prstGeom>
            <a:solidFill>
              <a:srgbClr val="EAF6F4"/>
            </a:solidFill>
            <a:ln>
              <a:noFill/>
            </a:ln>
          </p:spPr>
          <p:txBody>
            <a:bodyPr/>
            <a:lstStyle/>
            <a:p>
              <a:endParaRPr lang="zh-CN" altLang="en-US"/>
            </a:p>
          </p:txBody>
        </p:sp>
        <p:sp>
          <p:nvSpPr>
            <p:cNvPr id="47" name="TextBox 47"/>
            <p:cNvSpPr txBox="1"/>
            <p:nvPr/>
          </p:nvSpPr>
          <p:spPr>
            <a:xfrm>
              <a:off x="8814598" y="5276850"/>
              <a:ext cx="1249353" cy="228600"/>
            </a:xfrm>
            <a:prstGeom prst="rect">
              <a:avLst/>
            </a:prstGeom>
            <a:noFill/>
            <a:ln>
              <a:noFill/>
            </a:ln>
          </p:spPr>
          <p:txBody>
            <a:bodyPr wrap="none" lIns="0" tIns="0" rIns="0" bIns="0" anchor="t" anchorCtr="0">
              <a:spAutoFit/>
            </a:bodyPr>
            <a:lstStyle/>
            <a:p>
              <a:pPr algn="ctr"/>
              <a:r>
                <a:rPr lang="zh-CN" sz="1125" b="1" dirty="0">
                  <a:solidFill>
                    <a:srgbClr val="005A50"/>
                  </a:solidFill>
                  <a:latin typeface="Arial"/>
                  <a:ea typeface="Microsoft YaHei"/>
                  <a:cs typeface="Arial"/>
                </a:rPr>
                <a:t>Guidance needed</a:t>
              </a:r>
            </a:p>
          </p:txBody>
        </p:sp>
        <p:sp>
          <p:nvSpPr>
            <p:cNvPr id="48" name="TextBox 48"/>
            <p:cNvSpPr txBox="1"/>
            <p:nvPr/>
          </p:nvSpPr>
          <p:spPr>
            <a:xfrm>
              <a:off x="8368807" y="5482677"/>
              <a:ext cx="2140934" cy="213360"/>
            </a:xfrm>
            <a:prstGeom prst="rect">
              <a:avLst/>
            </a:prstGeom>
            <a:noFill/>
            <a:ln>
              <a:noFill/>
            </a:ln>
          </p:spPr>
          <p:txBody>
            <a:bodyPr wrap="none" lIns="0" tIns="0" rIns="0" bIns="0" anchor="t" anchorCtr="0">
              <a:spAutoFit/>
            </a:bodyPr>
            <a:lstStyle/>
            <a:p>
              <a:pPr algn="ctr"/>
              <a:r>
                <a:rPr lang="zh-CN" sz="1050" dirty="0">
                  <a:solidFill>
                    <a:srgbClr val="002D4C"/>
                  </a:solidFill>
                  <a:latin typeface="Arial"/>
                  <a:ea typeface="Microsoft YaHei"/>
                  <a:cs typeface="Arial"/>
                </a:rPr>
                <a:t>How should this be implemented</a:t>
              </a:r>
            </a:p>
          </p:txBody>
        </p:sp>
        <p:sp>
          <p:nvSpPr>
            <p:cNvPr id="49" name="TextBox 49"/>
            <p:cNvSpPr txBox="1"/>
            <p:nvPr/>
          </p:nvSpPr>
          <p:spPr>
            <a:xfrm>
              <a:off x="8554330" y="5675602"/>
              <a:ext cx="1769888" cy="213360"/>
            </a:xfrm>
            <a:prstGeom prst="rect">
              <a:avLst/>
            </a:prstGeom>
            <a:noFill/>
            <a:ln>
              <a:noFill/>
            </a:ln>
          </p:spPr>
          <p:txBody>
            <a:bodyPr wrap="none" lIns="0" tIns="0" rIns="0" bIns="0" anchor="t" anchorCtr="0">
              <a:spAutoFit/>
            </a:bodyPr>
            <a:lstStyle/>
            <a:p>
              <a:pPr algn="ctr"/>
              <a:r>
                <a:rPr lang="zh-CN" sz="1050" dirty="0">
                  <a:solidFill>
                    <a:srgbClr val="002D4C"/>
                  </a:solidFill>
                  <a:latin typeface="Arial"/>
                  <a:ea typeface="Microsoft YaHei"/>
                  <a:cs typeface="Arial"/>
                </a:rPr>
                <a:t>across different Agents?</a:t>
              </a:r>
            </a:p>
          </p:txBody>
        </p:sp>
      </p:grpSp>
      <p:grpSp>
        <p:nvGrpSpPr>
          <p:cNvPr id="53" name="Group 53"/>
          <p:cNvGrpSpPr/>
          <p:nvPr/>
        </p:nvGrpSpPr>
        <p:grpSpPr>
          <a:xfrm>
            <a:off x="600075" y="6529388"/>
            <a:ext cx="10401300" cy="152400"/>
            <a:chOff x="600075" y="6529388"/>
            <a:chExt cx="10401300" cy="152400"/>
          </a:xfrm>
        </p:grpSpPr>
        <p:sp>
          <p:nvSpPr>
            <p:cNvPr id="51" name="TextBox 51"/>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2" name="TextBox 52"/>
            <p:cNvSpPr txBox="1"/>
            <p:nvPr/>
          </p:nvSpPr>
          <p:spPr>
            <a:xfrm>
              <a:off x="10872311" y="6529388"/>
              <a:ext cx="129064" cy="152400"/>
            </a:xfrm>
            <a:prstGeom prst="rect">
              <a:avLst/>
            </a:prstGeom>
            <a:noFill/>
            <a:ln>
              <a:noFill/>
            </a:ln>
          </p:spPr>
          <p:txBody>
            <a:bodyPr wrap="none" lIns="0" tIns="0" rIns="0" bIns="0" anchor="t" anchorCtr="0">
              <a:spAutoFit/>
            </a:bodyPr>
            <a:lstStyle/>
            <a:p>
              <a:pPr algn="r"/>
              <a:r>
                <a:rPr lang="zh-CN" sz="750" dirty="0">
                  <a:solidFill>
                    <a:srgbClr val="768993"/>
                  </a:solidFill>
                  <a:latin typeface="Arial"/>
                  <a:ea typeface="Microsoft YaHei"/>
                  <a:cs typeface="Arial"/>
                </a:rPr>
                <a:t>09</a:t>
              </a:r>
            </a:p>
          </p:txBody>
        </p:sp>
      </p:grpSp>
      <p:sp>
        <p:nvSpPr>
          <p:cNvPr id="62" name="TextBox 5">
            <a:extLst>
              <a:ext uri="{FF2B5EF4-FFF2-40B4-BE49-F238E27FC236}">
                <a16:creationId xmlns:a16="http://schemas.microsoft.com/office/drawing/2014/main" id="{11095F8E-4FBA-E337-0CD1-7907CF637365}"/>
              </a:ext>
            </a:extLst>
          </p:cNvPr>
          <p:cNvSpPr txBox="1"/>
          <p:nvPr/>
        </p:nvSpPr>
        <p:spPr>
          <a:xfrm>
            <a:off x="579120" y="388620"/>
            <a:ext cx="4832756" cy="487680"/>
          </a:xfrm>
          <a:prstGeom prst="rect">
            <a:avLst/>
          </a:prstGeom>
          <a:noFill/>
          <a:ln>
            <a:noFill/>
          </a:ln>
        </p:spPr>
        <p:txBody>
          <a:bodyPr wrap="none" lIns="0" tIns="0" rIns="0" bIns="0" anchor="t" anchorCtr="0">
            <a:spAutoFit/>
          </a:bodyPr>
          <a:lstStyle/>
          <a:p>
            <a:pPr algn="l"/>
            <a:r>
              <a:rPr lang="zh-CN" sz="2400" b="1" dirty="0">
                <a:solidFill>
                  <a:srgbClr val="002D4C"/>
                </a:solidFill>
                <a:latin typeface="Arial"/>
                <a:ea typeface="Microsoft YaHei"/>
                <a:cs typeface="Arial"/>
              </a:rPr>
              <a:t>Capability 4: Graph Grounding</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400"/>
                                        <p:tgtEl>
                                          <p:spTgt spid="4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slide(fromBottom)">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7215" y="372428"/>
            <a:ext cx="9491188" cy="708660"/>
            <a:chOff x="577215" y="372428"/>
            <a:chExt cx="9491188" cy="708660"/>
          </a:xfrm>
        </p:grpSpPr>
        <p:sp>
          <p:nvSpPr>
            <p:cNvPr id="5" name="TextBox 5"/>
            <p:cNvSpPr txBox="1"/>
            <p:nvPr/>
          </p:nvSpPr>
          <p:spPr>
            <a:xfrm>
              <a:off x="577215" y="372428"/>
              <a:ext cx="9491188" cy="369332"/>
            </a:xfrm>
            <a:prstGeom prst="rect">
              <a:avLst/>
            </a:prstGeom>
            <a:noFill/>
            <a:ln>
              <a:noFill/>
            </a:ln>
          </p:spPr>
          <p:txBody>
            <a:bodyPr wrap="none" lIns="0" tIns="0" rIns="0" bIns="0" anchor="t" anchorCtr="0">
              <a:spAutoFit/>
            </a:bodyPr>
            <a:lstStyle/>
            <a:p>
              <a:r>
                <a:rPr lang="zh-CN" altLang="zh-CN" sz="2400" b="1" dirty="0">
                  <a:solidFill>
                    <a:srgbClr val="002D4C"/>
                  </a:solidFill>
                  <a:latin typeface="Arial"/>
                  <a:ea typeface="Microsoft YaHei"/>
                  <a:cs typeface="Arial"/>
                </a:rPr>
                <a:t>Capability </a:t>
              </a:r>
              <a:r>
                <a:rPr lang="en-US" altLang="zh-CN" sz="2400" b="1" dirty="0">
                  <a:solidFill>
                    <a:srgbClr val="002D4C"/>
                  </a:solidFill>
                  <a:latin typeface="Arial"/>
                  <a:ea typeface="Microsoft YaHei"/>
                  <a:cs typeface="Arial"/>
                </a:rPr>
                <a:t>5</a:t>
              </a:r>
              <a:r>
                <a:rPr lang="zh-CN" altLang="zh-CN" sz="2400" b="1" dirty="0">
                  <a:solidFill>
                    <a:srgbClr val="002D4C"/>
                  </a:solidFill>
                  <a:latin typeface="Arial"/>
                  <a:ea typeface="Microsoft YaHei"/>
                  <a:cs typeface="Arial"/>
                </a:rPr>
                <a:t>: </a:t>
              </a:r>
              <a:r>
                <a:rPr lang="en-US" altLang="zh-CN" sz="2400" b="1" dirty="0">
                  <a:solidFill>
                    <a:srgbClr val="002D4C"/>
                  </a:solidFill>
                  <a:latin typeface="Arial"/>
                  <a:ea typeface="Microsoft YaHei"/>
                  <a:cs typeface="Arial"/>
                </a:rPr>
                <a:t>Problem Understanding (Supporting Case Analysis)</a:t>
              </a:r>
              <a:endParaRPr lang="zh-CN" altLang="en-US" sz="2400" b="1" dirty="0">
                <a:solidFill>
                  <a:srgbClr val="002D4C"/>
                </a:solidFill>
                <a:latin typeface="Arial"/>
                <a:ea typeface="Microsoft YaHei"/>
                <a:cs typeface="Arial"/>
              </a:endParaRPr>
            </a:p>
          </p:txBody>
        </p:sp>
        <p:sp>
          <p:nvSpPr>
            <p:cNvPr id="6" name="TextBox 6"/>
            <p:cNvSpPr txBox="1"/>
            <p:nvPr/>
          </p:nvSpPr>
          <p:spPr>
            <a:xfrm>
              <a:off x="592455" y="806768"/>
              <a:ext cx="7118175"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Execution traces help explain errors that final-answer metrics cannot identify.</a:t>
              </a:r>
            </a:p>
          </p:txBody>
        </p:sp>
      </p:grpSp>
      <p:grpSp>
        <p:nvGrpSpPr>
          <p:cNvPr id="37" name="Group 37"/>
          <p:cNvGrpSpPr/>
          <p:nvPr/>
        </p:nvGrpSpPr>
        <p:grpSpPr>
          <a:xfrm>
            <a:off x="609600" y="1648301"/>
            <a:ext cx="10403205" cy="1683068"/>
            <a:chOff x="588645" y="3860482"/>
            <a:chExt cx="10403205" cy="1683068"/>
          </a:xfrm>
        </p:grpSpPr>
        <p:sp>
          <p:nvSpPr>
            <p:cNvPr id="27" name="Line 27"/>
            <p:cNvSpPr/>
            <p:nvPr/>
          </p:nvSpPr>
          <p:spPr>
            <a:xfrm>
              <a:off x="592975" y="5534025"/>
              <a:ext cx="10382250" cy="9525"/>
            </a:xfrm>
            <a:custGeom>
              <a:avLst/>
              <a:gdLst/>
              <a:ahLst/>
              <a:cxnLst/>
              <a:rect l="l" t="t" r="r" b="b"/>
              <a:pathLst>
                <a:path w="10382250" h="9525">
                  <a:moveTo>
                    <a:pt x="0" y="0"/>
                  </a:moveTo>
                  <a:lnTo>
                    <a:pt x="10382250" y="0"/>
                  </a:lnTo>
                </a:path>
              </a:pathLst>
            </a:custGeom>
            <a:noFill/>
            <a:ln w="19050">
              <a:solidFill>
                <a:srgbClr val="DAE1E6"/>
              </a:solidFill>
            </a:ln>
          </p:spPr>
          <p:txBody>
            <a:bodyPr/>
            <a:lstStyle/>
            <a:p>
              <a:endParaRPr lang="zh-CN" altLang="en-US"/>
            </a:p>
          </p:txBody>
        </p:sp>
        <p:sp>
          <p:nvSpPr>
            <p:cNvPr id="28" name="TextBox 28"/>
            <p:cNvSpPr txBox="1"/>
            <p:nvPr/>
          </p:nvSpPr>
          <p:spPr>
            <a:xfrm>
              <a:off x="588645" y="3860482"/>
              <a:ext cx="1016625" cy="253916"/>
            </a:xfrm>
            <a:prstGeom prst="rect">
              <a:avLst/>
            </a:prstGeom>
            <a:noFill/>
            <a:ln>
              <a:noFill/>
            </a:ln>
          </p:spPr>
          <p:txBody>
            <a:bodyPr wrap="none" lIns="0" tIns="0" rIns="0" bIns="0" anchor="t" anchorCtr="0">
              <a:spAutoFit/>
            </a:bodyPr>
            <a:lstStyle/>
            <a:p>
              <a:pPr algn="l"/>
              <a:r>
                <a:rPr lang="en-US" altLang="zh-CN" sz="1650" b="1" dirty="0">
                  <a:solidFill>
                    <a:srgbClr val="002D4C"/>
                  </a:solidFill>
                  <a:latin typeface="Arial"/>
                  <a:ea typeface="Microsoft YaHei"/>
                  <a:cs typeface="Arial"/>
                </a:rPr>
                <a:t>Test tasks</a:t>
              </a:r>
              <a:endParaRPr lang="zh-CN" sz="1650" b="1" dirty="0">
                <a:solidFill>
                  <a:srgbClr val="002D4C"/>
                </a:solidFill>
                <a:latin typeface="Arial"/>
                <a:ea typeface="Microsoft YaHei"/>
                <a:cs typeface="Arial"/>
              </a:endParaRPr>
            </a:p>
          </p:txBody>
        </p:sp>
        <p:sp>
          <p:nvSpPr>
            <p:cNvPr id="29" name="TextBox 29"/>
            <p:cNvSpPr txBox="1"/>
            <p:nvPr/>
          </p:nvSpPr>
          <p:spPr>
            <a:xfrm>
              <a:off x="592455" y="4264342"/>
              <a:ext cx="8405336"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Select a small number of representative complex questions and inspect their execution traces.</a:t>
              </a:r>
            </a:p>
          </p:txBody>
        </p:sp>
        <p:sp>
          <p:nvSpPr>
            <p:cNvPr id="30" name="TextBox 30"/>
            <p:cNvSpPr txBox="1"/>
            <p:nvPr/>
          </p:nvSpPr>
          <p:spPr>
            <a:xfrm>
              <a:off x="592455" y="4616768"/>
              <a:ext cx="6767131"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Use the pilot cases to adjust the categories before the formal experiments.</a:t>
              </a:r>
            </a:p>
          </p:txBody>
        </p:sp>
        <p:sp>
          <p:nvSpPr>
            <p:cNvPr id="31" name="TextBox 31"/>
            <p:cNvSpPr txBox="1"/>
            <p:nvPr/>
          </p:nvSpPr>
          <p:spPr>
            <a:xfrm>
              <a:off x="592455" y="4969192"/>
              <a:ext cx="8036290"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Apply the final categories only for targeted error analysis, not for every dataset sample.</a:t>
              </a:r>
            </a:p>
          </p:txBody>
        </p:sp>
        <p:sp>
          <p:nvSpPr>
            <p:cNvPr id="32" name="Rectangle 32"/>
            <p:cNvSpPr/>
            <p:nvPr/>
          </p:nvSpPr>
          <p:spPr>
            <a:xfrm>
              <a:off x="8096250" y="3905250"/>
              <a:ext cx="2895600" cy="1409700"/>
            </a:xfrm>
            <a:prstGeom prst="roundRect">
              <a:avLst>
                <a:gd name="adj" fmla="val 6757"/>
              </a:avLst>
            </a:prstGeom>
            <a:solidFill>
              <a:srgbClr val="EAF6F4"/>
            </a:solidFill>
            <a:ln w="19050">
              <a:solidFill>
                <a:srgbClr val="009682"/>
              </a:solidFill>
            </a:ln>
          </p:spPr>
          <p:txBody>
            <a:bodyPr/>
            <a:lstStyle/>
            <a:p>
              <a:endParaRPr lang="zh-CN" altLang="en-US"/>
            </a:p>
          </p:txBody>
        </p:sp>
        <p:sp>
          <p:nvSpPr>
            <p:cNvPr id="33" name="TextBox 33"/>
            <p:cNvSpPr txBox="1"/>
            <p:nvPr/>
          </p:nvSpPr>
          <p:spPr>
            <a:xfrm>
              <a:off x="8931481" y="4121468"/>
              <a:ext cx="1225139" cy="274320"/>
            </a:xfrm>
            <a:prstGeom prst="rect">
              <a:avLst/>
            </a:prstGeom>
            <a:noFill/>
            <a:ln>
              <a:noFill/>
            </a:ln>
          </p:spPr>
          <p:txBody>
            <a:bodyPr wrap="none" lIns="0" tIns="0" rIns="0" bIns="0" anchor="t" anchorCtr="0">
              <a:spAutoFit/>
            </a:bodyPr>
            <a:lstStyle/>
            <a:p>
              <a:pPr algn="ctr"/>
              <a:r>
                <a:rPr lang="zh-CN" sz="1350" b="1" dirty="0">
                  <a:solidFill>
                    <a:srgbClr val="005A50"/>
                  </a:solidFill>
                  <a:latin typeface="Arial"/>
                  <a:ea typeface="Microsoft YaHei"/>
                  <a:cs typeface="Arial"/>
                </a:rPr>
                <a:t>Main purpose</a:t>
              </a:r>
            </a:p>
          </p:txBody>
        </p:sp>
        <p:sp>
          <p:nvSpPr>
            <p:cNvPr id="34" name="TextBox 34"/>
            <p:cNvSpPr txBox="1"/>
            <p:nvPr/>
          </p:nvSpPr>
          <p:spPr>
            <a:xfrm>
              <a:off x="8440674" y="4461510"/>
              <a:ext cx="2206752" cy="243840"/>
            </a:xfrm>
            <a:prstGeom prst="rect">
              <a:avLst/>
            </a:prstGeom>
            <a:noFill/>
            <a:ln>
              <a:noFill/>
            </a:ln>
          </p:spPr>
          <p:txBody>
            <a:bodyPr wrap="none" lIns="0" tIns="0" rIns="0" bIns="0" anchor="t" anchorCtr="0">
              <a:spAutoFit/>
            </a:bodyPr>
            <a:lstStyle/>
            <a:p>
              <a:pPr algn="ctr"/>
              <a:r>
                <a:rPr lang="zh-CN" sz="1200" dirty="0">
                  <a:solidFill>
                    <a:srgbClr val="002D4C"/>
                  </a:solidFill>
                  <a:latin typeface="Arial"/>
                  <a:ea typeface="Microsoft YaHei"/>
                  <a:cs typeface="Arial"/>
                </a:rPr>
                <a:t>Explain why the Agent failed</a:t>
              </a:r>
            </a:p>
          </p:txBody>
        </p:sp>
        <p:sp>
          <p:nvSpPr>
            <p:cNvPr id="35" name="TextBox 35"/>
            <p:cNvSpPr txBox="1"/>
            <p:nvPr/>
          </p:nvSpPr>
          <p:spPr>
            <a:xfrm>
              <a:off x="8440674" y="4728210"/>
              <a:ext cx="2206752" cy="243840"/>
            </a:xfrm>
            <a:prstGeom prst="rect">
              <a:avLst/>
            </a:prstGeom>
            <a:noFill/>
            <a:ln>
              <a:noFill/>
            </a:ln>
          </p:spPr>
          <p:txBody>
            <a:bodyPr wrap="none" lIns="0" tIns="0" rIns="0" bIns="0" anchor="t" anchorCtr="0">
              <a:spAutoFit/>
            </a:bodyPr>
            <a:lstStyle/>
            <a:p>
              <a:pPr algn="ctr"/>
              <a:r>
                <a:rPr lang="zh-CN" sz="1200" dirty="0">
                  <a:solidFill>
                    <a:srgbClr val="002D4C"/>
                  </a:solidFill>
                  <a:latin typeface="Arial"/>
                  <a:ea typeface="Microsoft YaHei"/>
                  <a:cs typeface="Arial"/>
                </a:rPr>
                <a:t>and connect errors to later</a:t>
              </a:r>
            </a:p>
          </p:txBody>
        </p:sp>
        <p:sp>
          <p:nvSpPr>
            <p:cNvPr id="36" name="TextBox 36"/>
            <p:cNvSpPr txBox="1"/>
            <p:nvPr/>
          </p:nvSpPr>
          <p:spPr>
            <a:xfrm>
              <a:off x="8412670" y="4994910"/>
              <a:ext cx="2262759" cy="243840"/>
            </a:xfrm>
            <a:prstGeom prst="rect">
              <a:avLst/>
            </a:prstGeom>
            <a:noFill/>
            <a:ln>
              <a:noFill/>
            </a:ln>
          </p:spPr>
          <p:txBody>
            <a:bodyPr wrap="none" lIns="0" tIns="0" rIns="0" bIns="0" anchor="t" anchorCtr="0">
              <a:spAutoFit/>
            </a:bodyPr>
            <a:lstStyle/>
            <a:p>
              <a:pPr algn="ctr"/>
              <a:r>
                <a:rPr lang="zh-CN" sz="1200" dirty="0">
                  <a:solidFill>
                    <a:srgbClr val="002D4C"/>
                  </a:solidFill>
                  <a:latin typeface="Arial"/>
                  <a:ea typeface="Microsoft YaHei"/>
                  <a:cs typeface="Arial"/>
                </a:rPr>
                <a:t>architecture improvements.</a:t>
              </a:r>
            </a:p>
          </p:txBody>
        </p:sp>
      </p:grpSp>
      <p:grpSp>
        <p:nvGrpSpPr>
          <p:cNvPr id="40" name="Group 40"/>
          <p:cNvGrpSpPr/>
          <p:nvPr/>
        </p:nvGrpSpPr>
        <p:grpSpPr>
          <a:xfrm>
            <a:off x="609600" y="5715000"/>
            <a:ext cx="10382250" cy="514350"/>
            <a:chOff x="609600" y="5715000"/>
            <a:chExt cx="10382250" cy="514350"/>
          </a:xfrm>
        </p:grpSpPr>
        <p:sp>
          <p:nvSpPr>
            <p:cNvPr id="38" name="Rectangle 38"/>
            <p:cNvSpPr/>
            <p:nvPr/>
          </p:nvSpPr>
          <p:spPr>
            <a:xfrm>
              <a:off x="609600" y="5715000"/>
              <a:ext cx="10382250" cy="514350"/>
            </a:xfrm>
            <a:prstGeom prst="roundRect">
              <a:avLst>
                <a:gd name="adj" fmla="val 14815"/>
              </a:avLst>
            </a:prstGeom>
            <a:solidFill>
              <a:srgbClr val="002D4C"/>
            </a:solidFill>
            <a:ln>
              <a:noFill/>
            </a:ln>
          </p:spPr>
          <p:txBody>
            <a:bodyPr/>
            <a:lstStyle/>
            <a:p>
              <a:endParaRPr lang="zh-CN" altLang="en-US"/>
            </a:p>
          </p:txBody>
        </p:sp>
        <p:sp>
          <p:nvSpPr>
            <p:cNvPr id="39" name="TextBox 39"/>
            <p:cNvSpPr txBox="1"/>
            <p:nvPr/>
          </p:nvSpPr>
          <p:spPr>
            <a:xfrm>
              <a:off x="2417159" y="5883592"/>
              <a:ext cx="6767131"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Manual analysis stays lightweight and is calibrated with a small pilot sample.</a:t>
              </a:r>
            </a:p>
          </p:txBody>
        </p:sp>
      </p:grpSp>
      <p:sp>
        <p:nvSpPr>
          <p:cNvPr id="41" name="TextBox 41"/>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grpSp>
        <p:nvGrpSpPr>
          <p:cNvPr id="42" name="Group 26">
            <a:extLst>
              <a:ext uri="{FF2B5EF4-FFF2-40B4-BE49-F238E27FC236}">
                <a16:creationId xmlns:a16="http://schemas.microsoft.com/office/drawing/2014/main" id="{821CD4B1-5840-47B7-C6E5-977EC45CFCDB}"/>
              </a:ext>
            </a:extLst>
          </p:cNvPr>
          <p:cNvGrpSpPr/>
          <p:nvPr/>
        </p:nvGrpSpPr>
        <p:grpSpPr>
          <a:xfrm>
            <a:off x="466033" y="3637359"/>
            <a:ext cx="10669381" cy="1343025"/>
            <a:chOff x="535055" y="1647825"/>
            <a:chExt cx="10669381" cy="1343025"/>
          </a:xfrm>
        </p:grpSpPr>
        <p:sp>
          <p:nvSpPr>
            <p:cNvPr id="44" name="Ellipse 10">
              <a:extLst>
                <a:ext uri="{FF2B5EF4-FFF2-40B4-BE49-F238E27FC236}">
                  <a16:creationId xmlns:a16="http://schemas.microsoft.com/office/drawing/2014/main" id="{992DF539-1557-3536-6103-B24DF7CD1BF2}"/>
                </a:ext>
              </a:extLst>
            </p:cNvPr>
            <p:cNvSpPr/>
            <p:nvPr/>
          </p:nvSpPr>
          <p:spPr>
            <a:xfrm>
              <a:off x="1352550" y="2266950"/>
              <a:ext cx="723900" cy="723900"/>
            </a:xfrm>
            <a:prstGeom prst="ellipse">
              <a:avLst/>
            </a:prstGeom>
            <a:solidFill>
              <a:srgbClr val="002D4C"/>
            </a:solidFill>
            <a:ln>
              <a:noFill/>
            </a:ln>
          </p:spPr>
          <p:txBody>
            <a:bodyPr/>
            <a:lstStyle/>
            <a:p>
              <a:endParaRPr lang="zh-CN" altLang="en-US"/>
            </a:p>
          </p:txBody>
        </p:sp>
        <p:sp>
          <p:nvSpPr>
            <p:cNvPr id="45" name="TextBox 11">
              <a:extLst>
                <a:ext uri="{FF2B5EF4-FFF2-40B4-BE49-F238E27FC236}">
                  <a16:creationId xmlns:a16="http://schemas.microsoft.com/office/drawing/2014/main" id="{696A4782-3095-935B-78BF-587B8C763BB5}"/>
                </a:ext>
              </a:extLst>
            </p:cNvPr>
            <p:cNvSpPr txBox="1"/>
            <p:nvPr/>
          </p:nvSpPr>
          <p:spPr>
            <a:xfrm>
              <a:off x="1663946" y="2533650"/>
              <a:ext cx="10110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1</a:t>
              </a:r>
            </a:p>
          </p:txBody>
        </p:sp>
        <p:sp>
          <p:nvSpPr>
            <p:cNvPr id="46" name="Ellipse 12">
              <a:extLst>
                <a:ext uri="{FF2B5EF4-FFF2-40B4-BE49-F238E27FC236}">
                  <a16:creationId xmlns:a16="http://schemas.microsoft.com/office/drawing/2014/main" id="{D93A154E-26F6-9D88-D599-A9EF14ED5884}"/>
                </a:ext>
              </a:extLst>
            </p:cNvPr>
            <p:cNvSpPr/>
            <p:nvPr/>
          </p:nvSpPr>
          <p:spPr>
            <a:xfrm>
              <a:off x="4114800" y="2266950"/>
              <a:ext cx="723900" cy="723900"/>
            </a:xfrm>
            <a:prstGeom prst="ellipse">
              <a:avLst/>
            </a:prstGeom>
            <a:solidFill>
              <a:srgbClr val="009682"/>
            </a:solidFill>
            <a:ln>
              <a:noFill/>
            </a:ln>
          </p:spPr>
          <p:txBody>
            <a:bodyPr/>
            <a:lstStyle/>
            <a:p>
              <a:endParaRPr lang="zh-CN" altLang="en-US"/>
            </a:p>
          </p:txBody>
        </p:sp>
        <p:sp>
          <p:nvSpPr>
            <p:cNvPr id="47" name="TextBox 13">
              <a:extLst>
                <a:ext uri="{FF2B5EF4-FFF2-40B4-BE49-F238E27FC236}">
                  <a16:creationId xmlns:a16="http://schemas.microsoft.com/office/drawing/2014/main" id="{FBECDF4E-54F9-E466-78FA-80B9187A9927}"/>
                </a:ext>
              </a:extLst>
            </p:cNvPr>
            <p:cNvSpPr txBox="1"/>
            <p:nvPr/>
          </p:nvSpPr>
          <p:spPr>
            <a:xfrm>
              <a:off x="4399943" y="253365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2</a:t>
              </a:r>
            </a:p>
          </p:txBody>
        </p:sp>
        <p:sp>
          <p:nvSpPr>
            <p:cNvPr id="48" name="Ellipse 14">
              <a:extLst>
                <a:ext uri="{FF2B5EF4-FFF2-40B4-BE49-F238E27FC236}">
                  <a16:creationId xmlns:a16="http://schemas.microsoft.com/office/drawing/2014/main" id="{9DB83834-C6B3-9C21-57BE-F71B956EF401}"/>
                </a:ext>
              </a:extLst>
            </p:cNvPr>
            <p:cNvSpPr/>
            <p:nvPr/>
          </p:nvSpPr>
          <p:spPr>
            <a:xfrm>
              <a:off x="6877050" y="2266950"/>
              <a:ext cx="723900" cy="723900"/>
            </a:xfrm>
            <a:prstGeom prst="ellipse">
              <a:avLst/>
            </a:prstGeom>
            <a:solidFill>
              <a:srgbClr val="23A1E0"/>
            </a:solidFill>
            <a:ln>
              <a:noFill/>
            </a:ln>
          </p:spPr>
          <p:txBody>
            <a:bodyPr/>
            <a:lstStyle/>
            <a:p>
              <a:endParaRPr lang="zh-CN" altLang="en-US"/>
            </a:p>
          </p:txBody>
        </p:sp>
        <p:sp>
          <p:nvSpPr>
            <p:cNvPr id="49" name="TextBox 15">
              <a:extLst>
                <a:ext uri="{FF2B5EF4-FFF2-40B4-BE49-F238E27FC236}">
                  <a16:creationId xmlns:a16="http://schemas.microsoft.com/office/drawing/2014/main" id="{3365E7CD-F8F2-A1BA-3E88-1C4EC1673E1B}"/>
                </a:ext>
              </a:extLst>
            </p:cNvPr>
            <p:cNvSpPr txBox="1"/>
            <p:nvPr/>
          </p:nvSpPr>
          <p:spPr>
            <a:xfrm>
              <a:off x="7162193" y="253365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3</a:t>
              </a:r>
            </a:p>
          </p:txBody>
        </p:sp>
        <p:sp>
          <p:nvSpPr>
            <p:cNvPr id="50" name="Ellipse 16">
              <a:extLst>
                <a:ext uri="{FF2B5EF4-FFF2-40B4-BE49-F238E27FC236}">
                  <a16:creationId xmlns:a16="http://schemas.microsoft.com/office/drawing/2014/main" id="{CA8F6BF4-EEE4-29AF-439D-2B5BC6176A48}"/>
                </a:ext>
              </a:extLst>
            </p:cNvPr>
            <p:cNvSpPr/>
            <p:nvPr/>
          </p:nvSpPr>
          <p:spPr>
            <a:xfrm>
              <a:off x="9639300" y="2266950"/>
              <a:ext cx="723900" cy="723900"/>
            </a:xfrm>
            <a:prstGeom prst="ellipse">
              <a:avLst/>
            </a:prstGeom>
            <a:solidFill>
              <a:srgbClr val="005A50"/>
            </a:solidFill>
            <a:ln>
              <a:noFill/>
            </a:ln>
          </p:spPr>
          <p:txBody>
            <a:bodyPr/>
            <a:lstStyle/>
            <a:p>
              <a:endParaRPr lang="zh-CN" altLang="en-US"/>
            </a:p>
          </p:txBody>
        </p:sp>
        <p:sp>
          <p:nvSpPr>
            <p:cNvPr id="51" name="TextBox 17">
              <a:extLst>
                <a:ext uri="{FF2B5EF4-FFF2-40B4-BE49-F238E27FC236}">
                  <a16:creationId xmlns:a16="http://schemas.microsoft.com/office/drawing/2014/main" id="{39DD266E-2E89-FEEE-9255-EAEDBD5F621D}"/>
                </a:ext>
              </a:extLst>
            </p:cNvPr>
            <p:cNvSpPr txBox="1"/>
            <p:nvPr/>
          </p:nvSpPr>
          <p:spPr>
            <a:xfrm>
              <a:off x="9924443" y="253365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4</a:t>
              </a:r>
            </a:p>
          </p:txBody>
        </p:sp>
        <p:sp>
          <p:nvSpPr>
            <p:cNvPr id="52" name="TextBox 18">
              <a:extLst>
                <a:ext uri="{FF2B5EF4-FFF2-40B4-BE49-F238E27FC236}">
                  <a16:creationId xmlns:a16="http://schemas.microsoft.com/office/drawing/2014/main" id="{CAE43FE8-A446-D0B1-27FF-A06B2E80FF75}"/>
                </a:ext>
              </a:extLst>
            </p:cNvPr>
            <p:cNvSpPr txBox="1"/>
            <p:nvPr/>
          </p:nvSpPr>
          <p:spPr>
            <a:xfrm>
              <a:off x="535055" y="1647825"/>
              <a:ext cx="2358890" cy="304800"/>
            </a:xfrm>
            <a:prstGeom prst="rect">
              <a:avLst/>
            </a:prstGeom>
            <a:noFill/>
            <a:ln>
              <a:noFill/>
            </a:ln>
          </p:spPr>
          <p:txBody>
            <a:bodyPr wrap="none" lIns="0" tIns="0" rIns="0" bIns="0" anchor="t" anchorCtr="0">
              <a:spAutoFit/>
            </a:bodyPr>
            <a:lstStyle/>
            <a:p>
              <a:pPr algn="ctr"/>
              <a:r>
                <a:rPr lang="zh-CN" sz="1500" b="1" dirty="0">
                  <a:solidFill>
                    <a:srgbClr val="002D4C"/>
                  </a:solidFill>
                  <a:latin typeface="Arial"/>
                  <a:ea typeface="Microsoft YaHei"/>
                  <a:cs typeface="Arial"/>
                </a:rPr>
                <a:t>Correct understanding</a:t>
              </a:r>
            </a:p>
          </p:txBody>
        </p:sp>
        <p:sp>
          <p:nvSpPr>
            <p:cNvPr id="53" name="TextBox 19">
              <a:extLst>
                <a:ext uri="{FF2B5EF4-FFF2-40B4-BE49-F238E27FC236}">
                  <a16:creationId xmlns:a16="http://schemas.microsoft.com/office/drawing/2014/main" id="{B646D401-0F1D-B1B0-45D6-3AE77D8128CC}"/>
                </a:ext>
              </a:extLst>
            </p:cNvPr>
            <p:cNvSpPr txBox="1"/>
            <p:nvPr/>
          </p:nvSpPr>
          <p:spPr>
            <a:xfrm>
              <a:off x="616327" y="1955006"/>
              <a:ext cx="2196346" cy="228600"/>
            </a:xfrm>
            <a:prstGeom prst="rect">
              <a:avLst/>
            </a:prstGeom>
            <a:noFill/>
            <a:ln>
              <a:noFill/>
            </a:ln>
          </p:spPr>
          <p:txBody>
            <a:bodyPr wrap="none" lIns="0" tIns="0" rIns="0" bIns="0" anchor="t" anchorCtr="0">
              <a:spAutoFit/>
            </a:bodyPr>
            <a:lstStyle/>
            <a:p>
              <a:pPr algn="ctr"/>
              <a:r>
                <a:rPr lang="zh-CN" sz="1125" dirty="0">
                  <a:solidFill>
                    <a:srgbClr val="526671"/>
                  </a:solidFill>
                  <a:latin typeface="Arial"/>
                  <a:ea typeface="Microsoft YaHei"/>
                  <a:cs typeface="Arial"/>
                </a:rPr>
                <a:t>Goal and constraints retained</a:t>
              </a:r>
            </a:p>
          </p:txBody>
        </p:sp>
        <p:sp>
          <p:nvSpPr>
            <p:cNvPr id="54" name="TextBox 20">
              <a:extLst>
                <a:ext uri="{FF2B5EF4-FFF2-40B4-BE49-F238E27FC236}">
                  <a16:creationId xmlns:a16="http://schemas.microsoft.com/office/drawing/2014/main" id="{207A4D7C-9805-7DEC-3E97-1F457D9C0C54}"/>
                </a:ext>
              </a:extLst>
            </p:cNvPr>
            <p:cNvSpPr txBox="1"/>
            <p:nvPr/>
          </p:nvSpPr>
          <p:spPr>
            <a:xfrm>
              <a:off x="3349812" y="1647825"/>
              <a:ext cx="2253877" cy="304800"/>
            </a:xfrm>
            <a:prstGeom prst="rect">
              <a:avLst/>
            </a:prstGeom>
            <a:noFill/>
            <a:ln>
              <a:noFill/>
            </a:ln>
          </p:spPr>
          <p:txBody>
            <a:bodyPr wrap="none" lIns="0" tIns="0" rIns="0" bIns="0" anchor="t" anchorCtr="0">
              <a:spAutoFit/>
            </a:bodyPr>
            <a:lstStyle/>
            <a:p>
              <a:pPr algn="ctr"/>
              <a:r>
                <a:rPr lang="zh-CN" sz="1500" b="1" dirty="0">
                  <a:solidFill>
                    <a:srgbClr val="002D4C"/>
                  </a:solidFill>
                  <a:latin typeface="Arial"/>
                  <a:ea typeface="Microsoft YaHei"/>
                  <a:cs typeface="Arial"/>
                </a:rPr>
                <a:t>Partial understanding</a:t>
              </a:r>
            </a:p>
          </p:txBody>
        </p:sp>
        <p:sp>
          <p:nvSpPr>
            <p:cNvPr id="55" name="TextBox 21">
              <a:extLst>
                <a:ext uri="{FF2B5EF4-FFF2-40B4-BE49-F238E27FC236}">
                  <a16:creationId xmlns:a16="http://schemas.microsoft.com/office/drawing/2014/main" id="{0E2071F9-F9F5-C4F4-7B06-ECA27911E8B2}"/>
                </a:ext>
              </a:extLst>
            </p:cNvPr>
            <p:cNvSpPr txBox="1"/>
            <p:nvPr/>
          </p:nvSpPr>
          <p:spPr>
            <a:xfrm>
              <a:off x="3472339" y="1955006"/>
              <a:ext cx="2008822" cy="228600"/>
            </a:xfrm>
            <a:prstGeom prst="rect">
              <a:avLst/>
            </a:prstGeom>
            <a:noFill/>
            <a:ln>
              <a:noFill/>
            </a:ln>
          </p:spPr>
          <p:txBody>
            <a:bodyPr wrap="none" lIns="0" tIns="0" rIns="0" bIns="0" anchor="t" anchorCtr="0">
              <a:spAutoFit/>
            </a:bodyPr>
            <a:lstStyle/>
            <a:p>
              <a:pPr algn="ctr"/>
              <a:r>
                <a:rPr lang="zh-CN" sz="1125" dirty="0">
                  <a:solidFill>
                    <a:srgbClr val="526671"/>
                  </a:solidFill>
                  <a:latin typeface="Arial"/>
                  <a:ea typeface="Microsoft YaHei"/>
                  <a:cs typeface="Arial"/>
                </a:rPr>
                <a:t>Some conditions are missed</a:t>
              </a:r>
            </a:p>
          </p:txBody>
        </p:sp>
        <p:sp>
          <p:nvSpPr>
            <p:cNvPr id="56" name="TextBox 22">
              <a:extLst>
                <a:ext uri="{FF2B5EF4-FFF2-40B4-BE49-F238E27FC236}">
                  <a16:creationId xmlns:a16="http://schemas.microsoft.com/office/drawing/2014/main" id="{B59482F5-53A6-243E-011C-FA27C604753E}"/>
                </a:ext>
              </a:extLst>
            </p:cNvPr>
            <p:cNvSpPr txBox="1"/>
            <p:nvPr/>
          </p:nvSpPr>
          <p:spPr>
            <a:xfrm>
              <a:off x="5970294" y="1647825"/>
              <a:ext cx="2537412" cy="304800"/>
            </a:xfrm>
            <a:prstGeom prst="rect">
              <a:avLst/>
            </a:prstGeom>
            <a:noFill/>
            <a:ln>
              <a:noFill/>
            </a:ln>
          </p:spPr>
          <p:txBody>
            <a:bodyPr wrap="none" lIns="0" tIns="0" rIns="0" bIns="0" anchor="t" anchorCtr="0">
              <a:spAutoFit/>
            </a:bodyPr>
            <a:lstStyle/>
            <a:p>
              <a:pPr algn="ctr"/>
              <a:r>
                <a:rPr lang="zh-CN" sz="1500" b="1" dirty="0">
                  <a:solidFill>
                    <a:srgbClr val="002D4C"/>
                  </a:solidFill>
                  <a:latin typeface="Arial"/>
                  <a:ea typeface="Microsoft YaHei"/>
                  <a:cs typeface="Arial"/>
                </a:rPr>
                <a:t>Incorrect understanding</a:t>
              </a:r>
            </a:p>
          </p:txBody>
        </p:sp>
        <p:sp>
          <p:nvSpPr>
            <p:cNvPr id="57" name="TextBox 23">
              <a:extLst>
                <a:ext uri="{FF2B5EF4-FFF2-40B4-BE49-F238E27FC236}">
                  <a16:creationId xmlns:a16="http://schemas.microsoft.com/office/drawing/2014/main" id="{74781493-618A-03D5-73A7-335C16FBC1DC}"/>
                </a:ext>
              </a:extLst>
            </p:cNvPr>
            <p:cNvSpPr txBox="1"/>
            <p:nvPr/>
          </p:nvSpPr>
          <p:spPr>
            <a:xfrm>
              <a:off x="5979557" y="1955006"/>
              <a:ext cx="2518886" cy="228600"/>
            </a:xfrm>
            <a:prstGeom prst="rect">
              <a:avLst/>
            </a:prstGeom>
            <a:noFill/>
            <a:ln>
              <a:noFill/>
            </a:ln>
          </p:spPr>
          <p:txBody>
            <a:bodyPr wrap="none" lIns="0" tIns="0" rIns="0" bIns="0" anchor="t" anchorCtr="0">
              <a:spAutoFit/>
            </a:bodyPr>
            <a:lstStyle/>
            <a:p>
              <a:pPr algn="ctr"/>
              <a:r>
                <a:rPr lang="zh-CN" sz="1125" dirty="0">
                  <a:solidFill>
                    <a:srgbClr val="526671"/>
                  </a:solidFill>
                  <a:latin typeface="Arial"/>
                  <a:ea typeface="Microsoft YaHei"/>
                  <a:cs typeface="Arial"/>
                </a:rPr>
                <a:t>Wrong target, entity, or relation</a:t>
              </a:r>
            </a:p>
          </p:txBody>
        </p:sp>
        <p:sp>
          <p:nvSpPr>
            <p:cNvPr id="58" name="TextBox 24">
              <a:extLst>
                <a:ext uri="{FF2B5EF4-FFF2-40B4-BE49-F238E27FC236}">
                  <a16:creationId xmlns:a16="http://schemas.microsoft.com/office/drawing/2014/main" id="{229449C3-B1D7-18B4-ED8C-B22E9DF82A37}"/>
                </a:ext>
              </a:extLst>
            </p:cNvPr>
            <p:cNvSpPr txBox="1"/>
            <p:nvPr/>
          </p:nvSpPr>
          <p:spPr>
            <a:xfrm>
              <a:off x="8842808" y="1647825"/>
              <a:ext cx="2316885" cy="304800"/>
            </a:xfrm>
            <a:prstGeom prst="rect">
              <a:avLst/>
            </a:prstGeom>
            <a:noFill/>
            <a:ln>
              <a:noFill/>
            </a:ln>
          </p:spPr>
          <p:txBody>
            <a:bodyPr wrap="none" lIns="0" tIns="0" rIns="0" bIns="0" anchor="t" anchorCtr="0">
              <a:spAutoFit/>
            </a:bodyPr>
            <a:lstStyle/>
            <a:p>
              <a:pPr algn="ctr"/>
              <a:r>
                <a:rPr lang="zh-CN" sz="1500" b="1" dirty="0">
                  <a:solidFill>
                    <a:srgbClr val="002D4C"/>
                  </a:solidFill>
                  <a:latin typeface="Arial"/>
                  <a:ea typeface="Microsoft YaHei"/>
                  <a:cs typeface="Arial"/>
                </a:rPr>
                <a:t>Execution / tool error</a:t>
              </a:r>
            </a:p>
          </p:txBody>
        </p:sp>
        <p:sp>
          <p:nvSpPr>
            <p:cNvPr id="59" name="TextBox 25">
              <a:extLst>
                <a:ext uri="{FF2B5EF4-FFF2-40B4-BE49-F238E27FC236}">
                  <a16:creationId xmlns:a16="http://schemas.microsoft.com/office/drawing/2014/main" id="{61827440-98A7-3259-5DF1-B75D5EDEDABF}"/>
                </a:ext>
              </a:extLst>
            </p:cNvPr>
            <p:cNvSpPr txBox="1"/>
            <p:nvPr/>
          </p:nvSpPr>
          <p:spPr>
            <a:xfrm>
              <a:off x="8798064" y="1955006"/>
              <a:ext cx="2406372" cy="228600"/>
            </a:xfrm>
            <a:prstGeom prst="rect">
              <a:avLst/>
            </a:prstGeom>
            <a:noFill/>
            <a:ln>
              <a:noFill/>
            </a:ln>
          </p:spPr>
          <p:txBody>
            <a:bodyPr wrap="none" lIns="0" tIns="0" rIns="0" bIns="0" anchor="t" anchorCtr="0">
              <a:spAutoFit/>
            </a:bodyPr>
            <a:lstStyle/>
            <a:p>
              <a:pPr algn="ctr"/>
              <a:r>
                <a:rPr lang="zh-CN" sz="1125" dirty="0">
                  <a:solidFill>
                    <a:srgbClr val="526671"/>
                  </a:solidFill>
                  <a:latin typeface="Arial"/>
                  <a:ea typeface="Microsoft YaHei"/>
                  <a:cs typeface="Arial"/>
                </a:rPr>
                <a:t>Correct intent, failed execution</a:t>
              </a:r>
            </a:p>
          </p:txBody>
        </p:sp>
      </p:grpSp>
      <p:sp>
        <p:nvSpPr>
          <p:cNvPr id="60" name="TextBox 52">
            <a:extLst>
              <a:ext uri="{FF2B5EF4-FFF2-40B4-BE49-F238E27FC236}">
                <a16:creationId xmlns:a16="http://schemas.microsoft.com/office/drawing/2014/main" id="{40D106CA-35A3-36E5-BCA7-5D2D28BA894C}"/>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a:t>
            </a:r>
            <a:r>
              <a:rPr lang="zh-CN" sz="750" dirty="0">
                <a:solidFill>
                  <a:srgbClr val="768993"/>
                </a:solidFill>
                <a:latin typeface="Arial"/>
                <a:ea typeface="Microsoft YaHei"/>
                <a:cs typeface="Arial"/>
              </a:rPr>
              <a:t>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400"/>
                                        <p:tgtEl>
                                          <p:spTgt spid="40"/>
                                        </p:tgtEl>
                                      </p:cBhvr>
                                    </p:animEffect>
                                  </p:childTnLst>
                                </p:cTn>
                              </p:par>
                            </p:childTnLst>
                          </p:cTn>
                        </p:par>
                        <p:par>
                          <p:cTn id="12" fill="hold">
                            <p:stCondLst>
                              <p:cond delay="800"/>
                            </p:stCondLst>
                            <p:childTnLst>
                              <p:par>
                                <p:cTn id="13" presetID="23" presetClass="entr" presetSubtype="0"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image">
                                      <p:cBhvr>
                                        <p:cTn id="15"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0" grpId="0"/>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9120" y="350520"/>
            <a:ext cx="6022467" cy="678180"/>
            <a:chOff x="579120" y="350520"/>
            <a:chExt cx="6022467" cy="678180"/>
          </a:xfrm>
        </p:grpSpPr>
        <p:sp>
          <p:nvSpPr>
            <p:cNvPr id="5" name="TextBox 5"/>
            <p:cNvSpPr txBox="1"/>
            <p:nvPr/>
          </p:nvSpPr>
          <p:spPr>
            <a:xfrm>
              <a:off x="579120" y="350520"/>
              <a:ext cx="4841069" cy="369332"/>
            </a:xfrm>
            <a:prstGeom prst="rect">
              <a:avLst/>
            </a:prstGeom>
            <a:noFill/>
            <a:ln>
              <a:noFill/>
            </a:ln>
          </p:spPr>
          <p:txBody>
            <a:bodyPr wrap="none" lIns="0" tIns="0" rIns="0" bIns="0" anchor="t" anchorCtr="0">
              <a:spAutoFit/>
            </a:bodyPr>
            <a:lstStyle/>
            <a:p>
              <a:pPr algn="l"/>
              <a:r>
                <a:rPr lang="en-US" altLang="zh-CN" sz="2400" b="1" dirty="0">
                  <a:solidFill>
                    <a:srgbClr val="002D4C"/>
                  </a:solidFill>
                  <a:latin typeface="Arial"/>
                  <a:ea typeface="Microsoft YaHei"/>
                  <a:cs typeface="Arial"/>
                </a:rPr>
                <a:t>Core Dataset Field Requirements</a:t>
              </a:r>
            </a:p>
          </p:txBody>
        </p:sp>
        <p:sp>
          <p:nvSpPr>
            <p:cNvPr id="6" name="TextBox 6"/>
            <p:cNvSpPr txBox="1"/>
            <p:nvPr/>
          </p:nvSpPr>
          <p:spPr>
            <a:xfrm>
              <a:off x="594360" y="784860"/>
              <a:ext cx="6007227"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The minimum dataset structure needed by the current evaluation framework</a:t>
              </a:r>
            </a:p>
          </p:txBody>
        </p:sp>
      </p:grpSp>
      <p:grpSp>
        <p:nvGrpSpPr>
          <p:cNvPr id="14" name="Group 14"/>
          <p:cNvGrpSpPr/>
          <p:nvPr/>
        </p:nvGrpSpPr>
        <p:grpSpPr>
          <a:xfrm>
            <a:off x="609600" y="1181100"/>
            <a:ext cx="10972800" cy="457200"/>
            <a:chOff x="609600" y="1181100"/>
            <a:chExt cx="10972800" cy="457200"/>
          </a:xfrm>
        </p:grpSpPr>
        <p:sp>
          <p:nvSpPr>
            <p:cNvPr id="8" name="Rectangle 8"/>
            <p:cNvSpPr/>
            <p:nvPr/>
          </p:nvSpPr>
          <p:spPr>
            <a:xfrm>
              <a:off x="609600" y="1181100"/>
              <a:ext cx="10972800" cy="457200"/>
            </a:xfrm>
            <a:prstGeom prst="roundRect">
              <a:avLst>
                <a:gd name="adj" fmla="val 16667"/>
              </a:avLst>
            </a:prstGeom>
            <a:solidFill>
              <a:srgbClr val="002D4C"/>
            </a:solidFill>
            <a:ln>
              <a:noFill/>
            </a:ln>
          </p:spPr>
          <p:txBody>
            <a:bodyPr/>
            <a:lstStyle/>
            <a:p>
              <a:endParaRPr lang="zh-CN" altLang="en-US"/>
            </a:p>
          </p:txBody>
        </p:sp>
        <p:sp>
          <p:nvSpPr>
            <p:cNvPr id="9" name="TextBox 9"/>
            <p:cNvSpPr txBox="1"/>
            <p:nvPr/>
          </p:nvSpPr>
          <p:spPr>
            <a:xfrm>
              <a:off x="766762" y="1354931"/>
              <a:ext cx="38299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Field</a:t>
              </a:r>
            </a:p>
          </p:txBody>
        </p:sp>
        <p:sp>
          <p:nvSpPr>
            <p:cNvPr id="10" name="TextBox 10"/>
            <p:cNvSpPr txBox="1"/>
            <p:nvPr/>
          </p:nvSpPr>
          <p:spPr>
            <a:xfrm>
              <a:off x="2386012" y="1354931"/>
              <a:ext cx="973693"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Requirement</a:t>
              </a:r>
            </a:p>
          </p:txBody>
        </p:sp>
        <p:sp>
          <p:nvSpPr>
            <p:cNvPr id="11" name="TextBox 11"/>
            <p:cNvSpPr txBox="1"/>
            <p:nvPr/>
          </p:nvSpPr>
          <p:spPr>
            <a:xfrm>
              <a:off x="3529012" y="1354931"/>
              <a:ext cx="635026"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Purpose</a:t>
              </a:r>
            </a:p>
          </p:txBody>
        </p:sp>
        <p:sp>
          <p:nvSpPr>
            <p:cNvPr id="12" name="TextBox 12"/>
            <p:cNvSpPr txBox="1"/>
            <p:nvPr/>
          </p:nvSpPr>
          <p:spPr>
            <a:xfrm>
              <a:off x="6386512" y="1354931"/>
              <a:ext cx="129660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Evaluation areas</a:t>
              </a:r>
            </a:p>
          </p:txBody>
        </p:sp>
        <p:sp>
          <p:nvSpPr>
            <p:cNvPr id="13" name="TextBox 13"/>
            <p:cNvSpPr txBox="1"/>
            <p:nvPr/>
          </p:nvSpPr>
          <p:spPr>
            <a:xfrm>
              <a:off x="8767762" y="1354931"/>
              <a:ext cx="46175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Notes</a:t>
              </a:r>
            </a:p>
          </p:txBody>
        </p:sp>
      </p:grpSp>
      <p:grpSp>
        <p:nvGrpSpPr>
          <p:cNvPr id="21" name="Group 21"/>
          <p:cNvGrpSpPr/>
          <p:nvPr/>
        </p:nvGrpSpPr>
        <p:grpSpPr>
          <a:xfrm>
            <a:off x="609600" y="1638300"/>
            <a:ext cx="10972800" cy="552450"/>
            <a:chOff x="609600" y="1638300"/>
            <a:chExt cx="10972800" cy="552450"/>
          </a:xfrm>
        </p:grpSpPr>
        <p:sp>
          <p:nvSpPr>
            <p:cNvPr id="15" name="Rectangle 15"/>
            <p:cNvSpPr/>
            <p:nvPr/>
          </p:nvSpPr>
          <p:spPr>
            <a:xfrm>
              <a:off x="609600" y="1638300"/>
              <a:ext cx="10972800" cy="552450"/>
            </a:xfrm>
            <a:prstGeom prst="rect">
              <a:avLst/>
            </a:prstGeom>
            <a:solidFill>
              <a:srgbClr val="EAF6F4"/>
            </a:solidFill>
            <a:ln>
              <a:noFill/>
            </a:ln>
          </p:spPr>
          <p:txBody>
            <a:bodyPr/>
            <a:lstStyle/>
            <a:p>
              <a:endParaRPr lang="zh-CN" altLang="en-US"/>
            </a:p>
          </p:txBody>
        </p:sp>
        <p:sp>
          <p:nvSpPr>
            <p:cNvPr id="16" name="TextBox 16"/>
            <p:cNvSpPr txBox="1"/>
            <p:nvPr/>
          </p:nvSpPr>
          <p:spPr>
            <a:xfrm>
              <a:off x="767715" y="1858328"/>
              <a:ext cx="151636"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id</a:t>
              </a:r>
            </a:p>
          </p:txBody>
        </p:sp>
        <p:sp>
          <p:nvSpPr>
            <p:cNvPr id="17" name="TextBox 17"/>
            <p:cNvSpPr txBox="1"/>
            <p:nvPr/>
          </p:nvSpPr>
          <p:spPr>
            <a:xfrm>
              <a:off x="2386965" y="1858328"/>
              <a:ext cx="60774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Required</a:t>
              </a:r>
            </a:p>
          </p:txBody>
        </p:sp>
        <p:sp>
          <p:nvSpPr>
            <p:cNvPr id="18" name="TextBox 18"/>
            <p:cNvSpPr txBox="1"/>
            <p:nvPr/>
          </p:nvSpPr>
          <p:spPr>
            <a:xfrm>
              <a:off x="3529965" y="1858328"/>
              <a:ext cx="1419844"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Identify each sample</a:t>
              </a:r>
            </a:p>
          </p:txBody>
        </p:sp>
        <p:sp>
          <p:nvSpPr>
            <p:cNvPr id="19" name="TextBox 19"/>
            <p:cNvSpPr txBox="1"/>
            <p:nvPr/>
          </p:nvSpPr>
          <p:spPr>
            <a:xfrm>
              <a:off x="6387465" y="1858328"/>
              <a:ext cx="187690"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All</a:t>
              </a:r>
            </a:p>
          </p:txBody>
        </p:sp>
        <p:sp>
          <p:nvSpPr>
            <p:cNvPr id="20" name="TextBox 20"/>
            <p:cNvSpPr txBox="1"/>
            <p:nvPr/>
          </p:nvSpPr>
          <p:spPr>
            <a:xfrm>
              <a:off x="8768715" y="1858328"/>
              <a:ext cx="1195816"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Stable and unique</a:t>
              </a:r>
            </a:p>
          </p:txBody>
        </p:sp>
      </p:grpSp>
      <p:grpSp>
        <p:nvGrpSpPr>
          <p:cNvPr id="28" name="Group 28"/>
          <p:cNvGrpSpPr/>
          <p:nvPr/>
        </p:nvGrpSpPr>
        <p:grpSpPr>
          <a:xfrm>
            <a:off x="609600" y="2190750"/>
            <a:ext cx="10972800" cy="552450"/>
            <a:chOff x="609600" y="2190750"/>
            <a:chExt cx="10972800" cy="552450"/>
          </a:xfrm>
        </p:grpSpPr>
        <p:sp>
          <p:nvSpPr>
            <p:cNvPr id="22" name="Rectangle 22"/>
            <p:cNvSpPr/>
            <p:nvPr/>
          </p:nvSpPr>
          <p:spPr>
            <a:xfrm>
              <a:off x="609600" y="2190750"/>
              <a:ext cx="10972800" cy="552450"/>
            </a:xfrm>
            <a:prstGeom prst="rect">
              <a:avLst/>
            </a:prstGeom>
            <a:solidFill>
              <a:srgbClr val="F4F7F8"/>
            </a:solidFill>
            <a:ln>
              <a:noFill/>
            </a:ln>
          </p:spPr>
          <p:txBody>
            <a:bodyPr/>
            <a:lstStyle/>
            <a:p>
              <a:endParaRPr lang="zh-CN" altLang="en-US"/>
            </a:p>
          </p:txBody>
        </p:sp>
        <p:sp>
          <p:nvSpPr>
            <p:cNvPr id="23" name="TextBox 23"/>
            <p:cNvSpPr txBox="1"/>
            <p:nvPr/>
          </p:nvSpPr>
          <p:spPr>
            <a:xfrm>
              <a:off x="767715" y="2410778"/>
              <a:ext cx="636796"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question</a:t>
              </a:r>
            </a:p>
          </p:txBody>
        </p:sp>
        <p:sp>
          <p:nvSpPr>
            <p:cNvPr id="24" name="TextBox 24"/>
            <p:cNvSpPr txBox="1"/>
            <p:nvPr/>
          </p:nvSpPr>
          <p:spPr>
            <a:xfrm>
              <a:off x="2386965" y="2410778"/>
              <a:ext cx="60774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Required</a:t>
              </a:r>
            </a:p>
          </p:txBody>
        </p:sp>
        <p:sp>
          <p:nvSpPr>
            <p:cNvPr id="25" name="TextBox 25"/>
            <p:cNvSpPr txBox="1"/>
            <p:nvPr/>
          </p:nvSpPr>
          <p:spPr>
            <a:xfrm>
              <a:off x="3529965" y="2410778"/>
              <a:ext cx="1979914"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Store the full input question</a:t>
              </a:r>
            </a:p>
          </p:txBody>
        </p:sp>
        <p:sp>
          <p:nvSpPr>
            <p:cNvPr id="26" name="TextBox 26"/>
            <p:cNvSpPr txBox="1"/>
            <p:nvPr/>
          </p:nvSpPr>
          <p:spPr>
            <a:xfrm>
              <a:off x="6387465" y="2410778"/>
              <a:ext cx="187690"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All</a:t>
              </a:r>
            </a:p>
          </p:txBody>
        </p:sp>
        <p:sp>
          <p:nvSpPr>
            <p:cNvPr id="27" name="TextBox 27"/>
            <p:cNvSpPr txBox="1"/>
            <p:nvPr/>
          </p:nvSpPr>
          <p:spPr>
            <a:xfrm>
              <a:off x="8768715" y="2410778"/>
              <a:ext cx="1391841"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Keep all constraints</a:t>
              </a:r>
            </a:p>
          </p:txBody>
        </p:sp>
      </p:grpSp>
      <p:grpSp>
        <p:nvGrpSpPr>
          <p:cNvPr id="37" name="Group 37"/>
          <p:cNvGrpSpPr/>
          <p:nvPr/>
        </p:nvGrpSpPr>
        <p:grpSpPr>
          <a:xfrm>
            <a:off x="609600" y="2743200"/>
            <a:ext cx="10972800" cy="666750"/>
            <a:chOff x="609600" y="2743200"/>
            <a:chExt cx="10972800" cy="666750"/>
          </a:xfrm>
        </p:grpSpPr>
        <p:sp>
          <p:nvSpPr>
            <p:cNvPr id="29" name="Rectangle 29"/>
            <p:cNvSpPr/>
            <p:nvPr/>
          </p:nvSpPr>
          <p:spPr>
            <a:xfrm>
              <a:off x="609600" y="2743200"/>
              <a:ext cx="10972800" cy="666750"/>
            </a:xfrm>
            <a:prstGeom prst="rect">
              <a:avLst/>
            </a:prstGeom>
            <a:solidFill>
              <a:srgbClr val="EAF6F4"/>
            </a:solidFill>
            <a:ln>
              <a:noFill/>
            </a:ln>
          </p:spPr>
          <p:txBody>
            <a:bodyPr/>
            <a:lstStyle/>
            <a:p>
              <a:endParaRPr lang="zh-CN" altLang="en-US"/>
            </a:p>
          </p:txBody>
        </p:sp>
        <p:sp>
          <p:nvSpPr>
            <p:cNvPr id="30" name="TextBox 30"/>
            <p:cNvSpPr txBox="1"/>
            <p:nvPr/>
          </p:nvSpPr>
          <p:spPr>
            <a:xfrm>
              <a:off x="767715" y="2896552"/>
              <a:ext cx="1033746"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gold_answer /</a:t>
              </a:r>
            </a:p>
          </p:txBody>
        </p:sp>
        <p:sp>
          <p:nvSpPr>
            <p:cNvPr id="31" name="TextBox 31"/>
            <p:cNvSpPr txBox="1"/>
            <p:nvPr/>
          </p:nvSpPr>
          <p:spPr>
            <a:xfrm>
              <a:off x="767715" y="3106102"/>
              <a:ext cx="864675"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answer_set</a:t>
              </a:r>
            </a:p>
          </p:txBody>
        </p:sp>
        <p:sp>
          <p:nvSpPr>
            <p:cNvPr id="32" name="TextBox 32"/>
            <p:cNvSpPr txBox="1"/>
            <p:nvPr/>
          </p:nvSpPr>
          <p:spPr>
            <a:xfrm>
              <a:off x="2386965" y="3010852"/>
              <a:ext cx="60774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Required</a:t>
              </a:r>
            </a:p>
          </p:txBody>
        </p:sp>
        <p:sp>
          <p:nvSpPr>
            <p:cNvPr id="33" name="TextBox 33"/>
            <p:cNvSpPr txBox="1"/>
            <p:nvPr/>
          </p:nvSpPr>
          <p:spPr>
            <a:xfrm>
              <a:off x="3529965" y="3010852"/>
              <a:ext cx="1930908"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Provide the expected result</a:t>
              </a:r>
            </a:p>
          </p:txBody>
        </p:sp>
        <p:sp>
          <p:nvSpPr>
            <p:cNvPr id="34" name="TextBox 34"/>
            <p:cNvSpPr txBox="1"/>
            <p:nvPr/>
          </p:nvSpPr>
          <p:spPr>
            <a:xfrm>
              <a:off x="6387465" y="2896552"/>
              <a:ext cx="1720882"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Multi-hop, Final Answer,</a:t>
              </a:r>
            </a:p>
          </p:txBody>
        </p:sp>
        <p:sp>
          <p:nvSpPr>
            <p:cNvPr id="35" name="TextBox 35"/>
            <p:cNvSpPr txBox="1"/>
            <p:nvPr/>
          </p:nvSpPr>
          <p:spPr>
            <a:xfrm>
              <a:off x="6387465" y="3106102"/>
              <a:ext cx="1111806"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Graph Grounding</a:t>
              </a:r>
            </a:p>
          </p:txBody>
        </p:sp>
        <p:sp>
          <p:nvSpPr>
            <p:cNvPr id="36" name="TextBox 36"/>
            <p:cNvSpPr txBox="1"/>
            <p:nvPr/>
          </p:nvSpPr>
          <p:spPr>
            <a:xfrm>
              <a:off x="8768715" y="3010852"/>
              <a:ext cx="1279827"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Single value or set</a:t>
              </a:r>
            </a:p>
          </p:txBody>
        </p:sp>
      </p:grpSp>
      <p:grpSp>
        <p:nvGrpSpPr>
          <p:cNvPr id="47" name="Group 47"/>
          <p:cNvGrpSpPr/>
          <p:nvPr/>
        </p:nvGrpSpPr>
        <p:grpSpPr>
          <a:xfrm>
            <a:off x="609600" y="3409950"/>
            <a:ext cx="10972800" cy="666750"/>
            <a:chOff x="609600" y="3409950"/>
            <a:chExt cx="10972800" cy="666750"/>
          </a:xfrm>
        </p:grpSpPr>
        <p:sp>
          <p:nvSpPr>
            <p:cNvPr id="38" name="Rectangle 38"/>
            <p:cNvSpPr/>
            <p:nvPr/>
          </p:nvSpPr>
          <p:spPr>
            <a:xfrm>
              <a:off x="609600" y="3409950"/>
              <a:ext cx="10972800" cy="666750"/>
            </a:xfrm>
            <a:prstGeom prst="rect">
              <a:avLst/>
            </a:prstGeom>
            <a:solidFill>
              <a:srgbClr val="F4F7F8"/>
            </a:solidFill>
            <a:ln>
              <a:noFill/>
            </a:ln>
          </p:spPr>
          <p:txBody>
            <a:bodyPr/>
            <a:lstStyle/>
            <a:p>
              <a:endParaRPr lang="zh-CN" altLang="en-US"/>
            </a:p>
          </p:txBody>
        </p:sp>
        <p:sp>
          <p:nvSpPr>
            <p:cNvPr id="39" name="TextBox 39"/>
            <p:cNvSpPr txBox="1"/>
            <p:nvPr/>
          </p:nvSpPr>
          <p:spPr>
            <a:xfrm>
              <a:off x="767715" y="3687128"/>
              <a:ext cx="945535"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answer_type</a:t>
              </a:r>
            </a:p>
          </p:txBody>
        </p:sp>
        <p:sp>
          <p:nvSpPr>
            <p:cNvPr id="40" name="TextBox 40"/>
            <p:cNvSpPr txBox="1"/>
            <p:nvPr/>
          </p:nvSpPr>
          <p:spPr>
            <a:xfrm>
              <a:off x="2386965" y="3687128"/>
              <a:ext cx="60774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Required</a:t>
              </a:r>
            </a:p>
          </p:txBody>
        </p:sp>
        <p:sp>
          <p:nvSpPr>
            <p:cNvPr id="41" name="TextBox 41"/>
            <p:cNvSpPr txBox="1"/>
            <p:nvPr/>
          </p:nvSpPr>
          <p:spPr>
            <a:xfrm>
              <a:off x="3529965" y="3572828"/>
              <a:ext cx="1468850"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Select the evaluation</a:t>
              </a:r>
            </a:p>
          </p:txBody>
        </p:sp>
        <p:sp>
          <p:nvSpPr>
            <p:cNvPr id="42" name="TextBox 42"/>
            <p:cNvSpPr txBox="1"/>
            <p:nvPr/>
          </p:nvSpPr>
          <p:spPr>
            <a:xfrm>
              <a:off x="3529965" y="3782378"/>
              <a:ext cx="516731"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method</a:t>
              </a:r>
            </a:p>
          </p:txBody>
        </p:sp>
        <p:sp>
          <p:nvSpPr>
            <p:cNvPr id="43" name="TextBox 43"/>
            <p:cNvSpPr txBox="1"/>
            <p:nvPr/>
          </p:nvSpPr>
          <p:spPr>
            <a:xfrm>
              <a:off x="6387465" y="3572828"/>
              <a:ext cx="950786"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Final Answer,</a:t>
              </a:r>
            </a:p>
          </p:txBody>
        </p:sp>
        <p:sp>
          <p:nvSpPr>
            <p:cNvPr id="44" name="TextBox 44"/>
            <p:cNvSpPr txBox="1"/>
            <p:nvPr/>
          </p:nvSpPr>
          <p:spPr>
            <a:xfrm>
              <a:off x="6387465" y="3782378"/>
              <a:ext cx="156686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Problem Understanding</a:t>
              </a:r>
            </a:p>
          </p:txBody>
        </p:sp>
        <p:sp>
          <p:nvSpPr>
            <p:cNvPr id="45" name="TextBox 45"/>
            <p:cNvSpPr txBox="1"/>
            <p:nvPr/>
          </p:nvSpPr>
          <p:spPr>
            <a:xfrm>
              <a:off x="8768715" y="3572828"/>
              <a:ext cx="2112931"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Entity, set, number, Boolean,</a:t>
              </a:r>
            </a:p>
          </p:txBody>
        </p:sp>
        <p:sp>
          <p:nvSpPr>
            <p:cNvPr id="46" name="TextBox 46"/>
            <p:cNvSpPr txBox="1"/>
            <p:nvPr/>
          </p:nvSpPr>
          <p:spPr>
            <a:xfrm>
              <a:off x="8768715" y="3782378"/>
              <a:ext cx="530733"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or date</a:t>
              </a:r>
            </a:p>
          </p:txBody>
        </p:sp>
      </p:grpSp>
      <p:grpSp>
        <p:nvGrpSpPr>
          <p:cNvPr id="56" name="Group 56"/>
          <p:cNvGrpSpPr/>
          <p:nvPr/>
        </p:nvGrpSpPr>
        <p:grpSpPr>
          <a:xfrm>
            <a:off x="609600" y="4076700"/>
            <a:ext cx="10972800" cy="666750"/>
            <a:chOff x="609600" y="4076700"/>
            <a:chExt cx="10972800" cy="666750"/>
          </a:xfrm>
        </p:grpSpPr>
        <p:sp>
          <p:nvSpPr>
            <p:cNvPr id="48" name="Rectangle 48"/>
            <p:cNvSpPr/>
            <p:nvPr/>
          </p:nvSpPr>
          <p:spPr>
            <a:xfrm>
              <a:off x="609600" y="4076700"/>
              <a:ext cx="10972800" cy="666750"/>
            </a:xfrm>
            <a:prstGeom prst="rect">
              <a:avLst/>
            </a:prstGeom>
            <a:solidFill>
              <a:srgbClr val="EAF6F4"/>
            </a:solidFill>
            <a:ln>
              <a:noFill/>
            </a:ln>
          </p:spPr>
          <p:txBody>
            <a:bodyPr/>
            <a:lstStyle/>
            <a:p>
              <a:endParaRPr lang="zh-CN" altLang="en-US"/>
            </a:p>
          </p:txBody>
        </p:sp>
        <p:sp>
          <p:nvSpPr>
            <p:cNvPr id="49" name="TextBox 49"/>
            <p:cNvSpPr txBox="1"/>
            <p:nvPr/>
          </p:nvSpPr>
          <p:spPr>
            <a:xfrm>
              <a:off x="767715" y="4353878"/>
              <a:ext cx="754411"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hop_count</a:t>
              </a:r>
            </a:p>
          </p:txBody>
        </p:sp>
        <p:sp>
          <p:nvSpPr>
            <p:cNvPr id="50" name="TextBox 50"/>
            <p:cNvSpPr txBox="1"/>
            <p:nvPr/>
          </p:nvSpPr>
          <p:spPr>
            <a:xfrm>
              <a:off x="2386965" y="4353878"/>
              <a:ext cx="76876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Conditional</a:t>
              </a:r>
            </a:p>
          </p:txBody>
        </p:sp>
        <p:sp>
          <p:nvSpPr>
            <p:cNvPr id="51" name="TextBox 51"/>
            <p:cNvSpPr txBox="1"/>
            <p:nvPr/>
          </p:nvSpPr>
          <p:spPr>
            <a:xfrm>
              <a:off x="3529965" y="4239578"/>
              <a:ext cx="1307830"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Group questions by</a:t>
              </a:r>
            </a:p>
          </p:txBody>
        </p:sp>
        <p:sp>
          <p:nvSpPr>
            <p:cNvPr id="52" name="TextBox 52"/>
            <p:cNvSpPr txBox="1"/>
            <p:nvPr/>
          </p:nvSpPr>
          <p:spPr>
            <a:xfrm>
              <a:off x="3529965" y="4449128"/>
              <a:ext cx="1034796"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reasoning hops</a:t>
              </a:r>
            </a:p>
          </p:txBody>
        </p:sp>
        <p:sp>
          <p:nvSpPr>
            <p:cNvPr id="53" name="TextBox 53"/>
            <p:cNvSpPr txBox="1"/>
            <p:nvPr/>
          </p:nvSpPr>
          <p:spPr>
            <a:xfrm>
              <a:off x="6387465" y="4353878"/>
              <a:ext cx="677751"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Multi-hop</a:t>
              </a:r>
            </a:p>
          </p:txBody>
        </p:sp>
        <p:sp>
          <p:nvSpPr>
            <p:cNvPr id="54" name="TextBox 54"/>
            <p:cNvSpPr txBox="1"/>
            <p:nvPr/>
          </p:nvSpPr>
          <p:spPr>
            <a:xfrm>
              <a:off x="8768715" y="4239578"/>
              <a:ext cx="1496854"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Needed for hop-based</a:t>
              </a:r>
            </a:p>
          </p:txBody>
        </p:sp>
        <p:sp>
          <p:nvSpPr>
            <p:cNvPr id="55" name="TextBox 55"/>
            <p:cNvSpPr txBox="1"/>
            <p:nvPr/>
          </p:nvSpPr>
          <p:spPr>
            <a:xfrm>
              <a:off x="8768715" y="4449128"/>
              <a:ext cx="726758"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evaluation</a:t>
              </a:r>
            </a:p>
          </p:txBody>
        </p:sp>
      </p:grpSp>
      <p:grpSp>
        <p:nvGrpSpPr>
          <p:cNvPr id="64" name="Group 64"/>
          <p:cNvGrpSpPr/>
          <p:nvPr/>
        </p:nvGrpSpPr>
        <p:grpSpPr>
          <a:xfrm>
            <a:off x="609600" y="4743450"/>
            <a:ext cx="10972800" cy="666750"/>
            <a:chOff x="609600" y="4743450"/>
            <a:chExt cx="10972800" cy="666750"/>
          </a:xfrm>
        </p:grpSpPr>
        <p:sp>
          <p:nvSpPr>
            <p:cNvPr id="57" name="Rectangle 57"/>
            <p:cNvSpPr/>
            <p:nvPr/>
          </p:nvSpPr>
          <p:spPr>
            <a:xfrm>
              <a:off x="609600" y="4743450"/>
              <a:ext cx="10972800" cy="666750"/>
            </a:xfrm>
            <a:prstGeom prst="rect">
              <a:avLst/>
            </a:prstGeom>
            <a:solidFill>
              <a:srgbClr val="F4F7F8"/>
            </a:solidFill>
            <a:ln>
              <a:noFill/>
            </a:ln>
          </p:spPr>
          <p:txBody>
            <a:bodyPr/>
            <a:lstStyle/>
            <a:p>
              <a:endParaRPr lang="zh-CN" altLang="en-US"/>
            </a:p>
          </p:txBody>
        </p:sp>
        <p:sp>
          <p:nvSpPr>
            <p:cNvPr id="58" name="TextBox 58"/>
            <p:cNvSpPr txBox="1"/>
            <p:nvPr/>
          </p:nvSpPr>
          <p:spPr>
            <a:xfrm>
              <a:off x="767715" y="5020628"/>
              <a:ext cx="827920"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answerable</a:t>
              </a:r>
            </a:p>
          </p:txBody>
        </p:sp>
        <p:sp>
          <p:nvSpPr>
            <p:cNvPr id="59" name="TextBox 59"/>
            <p:cNvSpPr txBox="1"/>
            <p:nvPr/>
          </p:nvSpPr>
          <p:spPr>
            <a:xfrm>
              <a:off x="2386965" y="5020628"/>
              <a:ext cx="76876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Conditional</a:t>
              </a:r>
            </a:p>
          </p:txBody>
        </p:sp>
        <p:sp>
          <p:nvSpPr>
            <p:cNvPr id="60" name="TextBox 60"/>
            <p:cNvSpPr txBox="1"/>
            <p:nvPr/>
          </p:nvSpPr>
          <p:spPr>
            <a:xfrm>
              <a:off x="3529965" y="4906328"/>
              <a:ext cx="1440847"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Mark whether the KG</a:t>
              </a:r>
            </a:p>
          </p:txBody>
        </p:sp>
        <p:sp>
          <p:nvSpPr>
            <p:cNvPr id="61" name="TextBox 61"/>
            <p:cNvSpPr txBox="1"/>
            <p:nvPr/>
          </p:nvSpPr>
          <p:spPr>
            <a:xfrm>
              <a:off x="3529965" y="5115878"/>
              <a:ext cx="1335834"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contains an answer</a:t>
              </a:r>
            </a:p>
          </p:txBody>
        </p:sp>
        <p:sp>
          <p:nvSpPr>
            <p:cNvPr id="62" name="TextBox 62"/>
            <p:cNvSpPr txBox="1"/>
            <p:nvPr/>
          </p:nvSpPr>
          <p:spPr>
            <a:xfrm>
              <a:off x="6387465" y="5020628"/>
              <a:ext cx="53073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Refusal</a:t>
              </a:r>
            </a:p>
          </p:txBody>
        </p:sp>
        <p:sp>
          <p:nvSpPr>
            <p:cNvPr id="63" name="TextBox 63"/>
            <p:cNvSpPr txBox="1"/>
            <p:nvPr/>
          </p:nvSpPr>
          <p:spPr>
            <a:xfrm>
              <a:off x="8768715" y="5020628"/>
              <a:ext cx="1657874"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Both classes are needed</a:t>
              </a:r>
            </a:p>
          </p:txBody>
        </p:sp>
      </p:grpSp>
      <p:grpSp>
        <p:nvGrpSpPr>
          <p:cNvPr id="73" name="Group 73"/>
          <p:cNvGrpSpPr/>
          <p:nvPr/>
        </p:nvGrpSpPr>
        <p:grpSpPr>
          <a:xfrm>
            <a:off x="609600" y="5410200"/>
            <a:ext cx="10972800" cy="666750"/>
            <a:chOff x="609600" y="5410200"/>
            <a:chExt cx="10972800" cy="666750"/>
          </a:xfrm>
        </p:grpSpPr>
        <p:sp>
          <p:nvSpPr>
            <p:cNvPr id="65" name="Rectangle 65"/>
            <p:cNvSpPr/>
            <p:nvPr/>
          </p:nvSpPr>
          <p:spPr>
            <a:xfrm>
              <a:off x="609600" y="5410200"/>
              <a:ext cx="10972800" cy="666750"/>
            </a:xfrm>
            <a:prstGeom prst="rect">
              <a:avLst/>
            </a:prstGeom>
            <a:solidFill>
              <a:srgbClr val="EAF6F4"/>
            </a:solidFill>
            <a:ln>
              <a:noFill/>
            </a:ln>
          </p:spPr>
          <p:txBody>
            <a:bodyPr/>
            <a:lstStyle/>
            <a:p>
              <a:endParaRPr lang="zh-CN" altLang="en-US"/>
            </a:p>
          </p:txBody>
        </p:sp>
        <p:sp>
          <p:nvSpPr>
            <p:cNvPr id="66" name="TextBox 66"/>
            <p:cNvSpPr txBox="1"/>
            <p:nvPr/>
          </p:nvSpPr>
          <p:spPr>
            <a:xfrm>
              <a:off x="768668" y="5581174"/>
              <a:ext cx="994036" cy="198120"/>
            </a:xfrm>
            <a:prstGeom prst="rect">
              <a:avLst/>
            </a:prstGeom>
            <a:noFill/>
            <a:ln>
              <a:noFill/>
            </a:ln>
          </p:spPr>
          <p:txBody>
            <a:bodyPr wrap="none" lIns="0" tIns="0" rIns="0" bIns="0" anchor="t" anchorCtr="0">
              <a:spAutoFit/>
            </a:bodyPr>
            <a:lstStyle/>
            <a:p>
              <a:pPr algn="l"/>
              <a:r>
                <a:rPr lang="zh-CN" sz="975" b="1" dirty="0">
                  <a:solidFill>
                    <a:srgbClr val="005A50"/>
                  </a:solidFill>
                  <a:latin typeface="Consolas"/>
                  <a:ea typeface="Microsoft YaHei"/>
                  <a:cs typeface="Consolas"/>
                </a:rPr>
                <a:t>unanswerable_</a:t>
              </a:r>
            </a:p>
          </p:txBody>
        </p:sp>
        <p:sp>
          <p:nvSpPr>
            <p:cNvPr id="67" name="TextBox 67"/>
            <p:cNvSpPr txBox="1"/>
            <p:nvPr/>
          </p:nvSpPr>
          <p:spPr>
            <a:xfrm>
              <a:off x="768668" y="5781199"/>
              <a:ext cx="475271" cy="198120"/>
            </a:xfrm>
            <a:prstGeom prst="rect">
              <a:avLst/>
            </a:prstGeom>
            <a:noFill/>
            <a:ln>
              <a:noFill/>
            </a:ln>
          </p:spPr>
          <p:txBody>
            <a:bodyPr wrap="none" lIns="0" tIns="0" rIns="0" bIns="0" anchor="t" anchorCtr="0">
              <a:spAutoFit/>
            </a:bodyPr>
            <a:lstStyle/>
            <a:p>
              <a:pPr algn="l"/>
              <a:r>
                <a:rPr lang="zh-CN" sz="975" b="1" dirty="0">
                  <a:solidFill>
                    <a:srgbClr val="005A50"/>
                  </a:solidFill>
                  <a:latin typeface="Consolas"/>
                  <a:ea typeface="Microsoft YaHei"/>
                  <a:cs typeface="Consolas"/>
                </a:rPr>
                <a:t>reason</a:t>
              </a:r>
            </a:p>
          </p:txBody>
        </p:sp>
        <p:sp>
          <p:nvSpPr>
            <p:cNvPr id="68" name="TextBox 68"/>
            <p:cNvSpPr txBox="1"/>
            <p:nvPr/>
          </p:nvSpPr>
          <p:spPr>
            <a:xfrm>
              <a:off x="2386965" y="5687378"/>
              <a:ext cx="600742"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Optional</a:t>
              </a:r>
            </a:p>
          </p:txBody>
        </p:sp>
        <p:sp>
          <p:nvSpPr>
            <p:cNvPr id="69" name="TextBox 69"/>
            <p:cNvSpPr txBox="1"/>
            <p:nvPr/>
          </p:nvSpPr>
          <p:spPr>
            <a:xfrm>
              <a:off x="3529965" y="5687378"/>
              <a:ext cx="2105930"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Describe why no answer exists</a:t>
              </a:r>
            </a:p>
          </p:txBody>
        </p:sp>
        <p:sp>
          <p:nvSpPr>
            <p:cNvPr id="70" name="TextBox 70"/>
            <p:cNvSpPr txBox="1"/>
            <p:nvPr/>
          </p:nvSpPr>
          <p:spPr>
            <a:xfrm>
              <a:off x="6387465" y="5687378"/>
              <a:ext cx="53073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Refusal</a:t>
              </a:r>
            </a:p>
          </p:txBody>
        </p:sp>
        <p:sp>
          <p:nvSpPr>
            <p:cNvPr id="71" name="TextBox 71"/>
            <p:cNvSpPr txBox="1"/>
            <p:nvPr/>
          </p:nvSpPr>
          <p:spPr>
            <a:xfrm>
              <a:off x="8768715" y="5573078"/>
              <a:ext cx="2035921"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Missing entity, missing fact,</a:t>
              </a:r>
            </a:p>
          </p:txBody>
        </p:sp>
        <p:sp>
          <p:nvSpPr>
            <p:cNvPr id="72" name="TextBox 72"/>
            <p:cNvSpPr txBox="1"/>
            <p:nvPr/>
          </p:nvSpPr>
          <p:spPr>
            <a:xfrm>
              <a:off x="8768715" y="5773102"/>
              <a:ext cx="1076801"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or out of scope</a:t>
              </a:r>
            </a:p>
          </p:txBody>
        </p:sp>
      </p:grpSp>
      <p:grpSp>
        <p:nvGrpSpPr>
          <p:cNvPr id="79" name="Group 79"/>
          <p:cNvGrpSpPr/>
          <p:nvPr/>
        </p:nvGrpSpPr>
        <p:grpSpPr>
          <a:xfrm>
            <a:off x="609600" y="1181100"/>
            <a:ext cx="10972800" cy="4905375"/>
            <a:chOff x="609600" y="1181100"/>
            <a:chExt cx="10972800" cy="4905375"/>
          </a:xfrm>
        </p:grpSpPr>
        <p:sp>
          <p:nvSpPr>
            <p:cNvPr id="74" name="Line 74"/>
            <p:cNvSpPr/>
            <p:nvPr/>
          </p:nvSpPr>
          <p:spPr>
            <a:xfrm>
              <a:off x="2228850" y="1181100"/>
              <a:ext cx="9525" cy="4895850"/>
            </a:xfrm>
            <a:custGeom>
              <a:avLst/>
              <a:gdLst/>
              <a:ahLst/>
              <a:cxnLst/>
              <a:rect l="l" t="t" r="r" b="b"/>
              <a:pathLst>
                <a:path w="9525" h="4895850">
                  <a:moveTo>
                    <a:pt x="0" y="0"/>
                  </a:moveTo>
                  <a:lnTo>
                    <a:pt x="0" y="4895850"/>
                  </a:lnTo>
                </a:path>
              </a:pathLst>
            </a:custGeom>
            <a:noFill/>
            <a:ln w="9525">
              <a:solidFill>
                <a:srgbClr val="DAE1E6"/>
              </a:solidFill>
            </a:ln>
          </p:spPr>
          <p:txBody>
            <a:bodyPr/>
            <a:lstStyle/>
            <a:p>
              <a:endParaRPr lang="zh-CN" altLang="en-US"/>
            </a:p>
          </p:txBody>
        </p:sp>
        <p:sp>
          <p:nvSpPr>
            <p:cNvPr id="75" name="Line 75"/>
            <p:cNvSpPr/>
            <p:nvPr/>
          </p:nvSpPr>
          <p:spPr>
            <a:xfrm>
              <a:off x="3371850" y="1181100"/>
              <a:ext cx="9525" cy="4895850"/>
            </a:xfrm>
            <a:custGeom>
              <a:avLst/>
              <a:gdLst/>
              <a:ahLst/>
              <a:cxnLst/>
              <a:rect l="l" t="t" r="r" b="b"/>
              <a:pathLst>
                <a:path w="9525" h="4895850">
                  <a:moveTo>
                    <a:pt x="0" y="0"/>
                  </a:moveTo>
                  <a:lnTo>
                    <a:pt x="0" y="4895850"/>
                  </a:lnTo>
                </a:path>
              </a:pathLst>
            </a:custGeom>
            <a:noFill/>
            <a:ln w="9525">
              <a:solidFill>
                <a:srgbClr val="DAE1E6"/>
              </a:solidFill>
            </a:ln>
          </p:spPr>
          <p:txBody>
            <a:bodyPr/>
            <a:lstStyle/>
            <a:p>
              <a:endParaRPr lang="zh-CN" altLang="en-US"/>
            </a:p>
          </p:txBody>
        </p:sp>
        <p:sp>
          <p:nvSpPr>
            <p:cNvPr id="76" name="Line 76"/>
            <p:cNvSpPr/>
            <p:nvPr/>
          </p:nvSpPr>
          <p:spPr>
            <a:xfrm>
              <a:off x="6229350" y="1181100"/>
              <a:ext cx="9525" cy="4895850"/>
            </a:xfrm>
            <a:custGeom>
              <a:avLst/>
              <a:gdLst/>
              <a:ahLst/>
              <a:cxnLst/>
              <a:rect l="l" t="t" r="r" b="b"/>
              <a:pathLst>
                <a:path w="9525" h="4895850">
                  <a:moveTo>
                    <a:pt x="0" y="0"/>
                  </a:moveTo>
                  <a:lnTo>
                    <a:pt x="0" y="4895850"/>
                  </a:lnTo>
                </a:path>
              </a:pathLst>
            </a:custGeom>
            <a:noFill/>
            <a:ln w="9525">
              <a:solidFill>
                <a:srgbClr val="DAE1E6"/>
              </a:solidFill>
            </a:ln>
          </p:spPr>
          <p:txBody>
            <a:bodyPr/>
            <a:lstStyle/>
            <a:p>
              <a:endParaRPr lang="zh-CN" altLang="en-US"/>
            </a:p>
          </p:txBody>
        </p:sp>
        <p:sp>
          <p:nvSpPr>
            <p:cNvPr id="77" name="Line 77"/>
            <p:cNvSpPr/>
            <p:nvPr/>
          </p:nvSpPr>
          <p:spPr>
            <a:xfrm>
              <a:off x="8610600" y="1181100"/>
              <a:ext cx="9525" cy="4895850"/>
            </a:xfrm>
            <a:custGeom>
              <a:avLst/>
              <a:gdLst/>
              <a:ahLst/>
              <a:cxnLst/>
              <a:rect l="l" t="t" r="r" b="b"/>
              <a:pathLst>
                <a:path w="9525" h="4895850">
                  <a:moveTo>
                    <a:pt x="0" y="0"/>
                  </a:moveTo>
                  <a:lnTo>
                    <a:pt x="0" y="4895850"/>
                  </a:lnTo>
                </a:path>
              </a:pathLst>
            </a:custGeom>
            <a:noFill/>
            <a:ln w="9525">
              <a:solidFill>
                <a:srgbClr val="DAE1E6"/>
              </a:solidFill>
            </a:ln>
          </p:spPr>
          <p:txBody>
            <a:bodyPr/>
            <a:lstStyle/>
            <a:p>
              <a:endParaRPr lang="zh-CN" altLang="en-US"/>
            </a:p>
          </p:txBody>
        </p:sp>
        <p:sp>
          <p:nvSpPr>
            <p:cNvPr id="78" name="Line 78"/>
            <p:cNvSpPr/>
            <p:nvPr/>
          </p:nvSpPr>
          <p:spPr>
            <a:xfrm>
              <a:off x="609600" y="6076950"/>
              <a:ext cx="10972800" cy="9525"/>
            </a:xfrm>
            <a:custGeom>
              <a:avLst/>
              <a:gdLst/>
              <a:ahLst/>
              <a:cxnLst/>
              <a:rect l="l" t="t" r="r" b="b"/>
              <a:pathLst>
                <a:path w="10972800" h="9525">
                  <a:moveTo>
                    <a:pt x="0" y="0"/>
                  </a:moveTo>
                  <a:lnTo>
                    <a:pt x="10972800" y="0"/>
                  </a:lnTo>
                </a:path>
              </a:pathLst>
            </a:custGeom>
            <a:noFill/>
            <a:ln w="9525">
              <a:solidFill>
                <a:srgbClr val="DAE1E6"/>
              </a:solidFill>
            </a:ln>
          </p:spPr>
          <p:txBody>
            <a:bodyPr/>
            <a:lstStyle/>
            <a:p>
              <a:endParaRPr lang="zh-CN" altLang="en-US"/>
            </a:p>
          </p:txBody>
        </p:sp>
      </p:grpSp>
      <p:sp>
        <p:nvSpPr>
          <p:cNvPr id="81" name="TextBox 52">
            <a:extLst>
              <a:ext uri="{FF2B5EF4-FFF2-40B4-BE49-F238E27FC236}">
                <a16:creationId xmlns:a16="http://schemas.microsoft.com/office/drawing/2014/main" id="{A7AC40A8-92EF-0C57-F9E4-757C294B7A74}"/>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11</a:t>
            </a:r>
            <a:endParaRPr lang="zh-CN" sz="750" dirty="0">
              <a:solidFill>
                <a:srgbClr val="768993"/>
              </a:solidFill>
              <a:latin typeface="Arial"/>
              <a:ea typeface="Microsoft YaHei"/>
              <a:cs typeface="Arial"/>
            </a:endParaRPr>
          </a:p>
        </p:txBody>
      </p:sp>
      <p:sp>
        <p:nvSpPr>
          <p:cNvPr id="82" name="TextBox 76">
            <a:extLst>
              <a:ext uri="{FF2B5EF4-FFF2-40B4-BE49-F238E27FC236}">
                <a16:creationId xmlns:a16="http://schemas.microsoft.com/office/drawing/2014/main" id="{DB50D61B-81E2-152D-C7FA-30B748E67976}"/>
              </a:ext>
            </a:extLst>
          </p:cNvPr>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slide(fromBottom)">
                                      <p:cBhvr>
                                        <p:cTn id="15" dur="400"/>
                                        <p:tgtEl>
                                          <p:spTgt spid="37"/>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image">
                                      <p:cBhvr>
                                        <p:cTn id="19" dur="400"/>
                                        <p:tgtEl>
                                          <p:spTgt spid="47"/>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400"/>
                                        <p:tgtEl>
                                          <p:spTgt spid="56"/>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left)">
                                      <p:cBhvr>
                                        <p:cTn id="27" dur="400"/>
                                        <p:tgtEl>
                                          <p:spTgt spid="64"/>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slide(fromBottom)">
                                      <p:cBhvr>
                                        <p:cTn id="31" dur="400"/>
                                        <p:tgtEl>
                                          <p:spTgt spid="73"/>
                                        </p:tgtEl>
                                      </p:cBhvr>
                                    </p:animEffect>
                                  </p:childTnLst>
                                </p:cTn>
                              </p:par>
                            </p:childTnLst>
                          </p:cTn>
                        </p:par>
                        <p:par>
                          <p:cTn id="32" fill="hold">
                            <p:stCondLst>
                              <p:cond delay="6300"/>
                            </p:stCondLst>
                            <p:childTnLst>
                              <p:par>
                                <p:cTn id="33" presetID="22" presetClass="entr" presetSubtype="1" fill="hold" nodeType="after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wipe(left)">
                                      <p:cBhvr>
                                        <p:cTn id="35"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37" grpId="0"/>
      <p:bldP spid="47" grpId="0"/>
      <p:bldP spid="56" grpId="0"/>
      <p:bldP spid="64" grpId="0"/>
      <p:bldP spid="7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dirty="0"/>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7215" y="372428"/>
            <a:ext cx="7215309" cy="708660"/>
            <a:chOff x="577215" y="372428"/>
            <a:chExt cx="7215309" cy="708660"/>
          </a:xfrm>
        </p:grpSpPr>
        <p:sp>
          <p:nvSpPr>
            <p:cNvPr id="5" name="TextBox 5"/>
            <p:cNvSpPr txBox="1"/>
            <p:nvPr/>
          </p:nvSpPr>
          <p:spPr>
            <a:xfrm>
              <a:off x="577215" y="372428"/>
              <a:ext cx="7215309" cy="392415"/>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Unified Agent Logging</a:t>
              </a:r>
              <a:r>
                <a:rPr lang="en-US" altLang="zh-CN" sz="2550" dirty="0">
                  <a:solidFill>
                    <a:srgbClr val="002D4C"/>
                  </a:solidFill>
                  <a:latin typeface="Franklin Gothic Medium"/>
                  <a:ea typeface="Microsoft YaHei"/>
                  <a:cs typeface="Franklin Gothic Medium"/>
                </a:rPr>
                <a:t>:</a:t>
              </a:r>
              <a:r>
                <a:rPr lang="zh-CN" sz="2550" dirty="0">
                  <a:solidFill>
                    <a:srgbClr val="002D4C"/>
                  </a:solidFill>
                  <a:latin typeface="Franklin Gothic Medium"/>
                  <a:ea typeface="Microsoft YaHei"/>
                  <a:cs typeface="Franklin Gothic Medium"/>
                </a:rPr>
                <a:t> Connects Runs to Evaluation</a:t>
              </a:r>
            </a:p>
          </p:txBody>
        </p:sp>
        <p:sp>
          <p:nvSpPr>
            <p:cNvPr id="6" name="TextBox 6"/>
            <p:cNvSpPr txBox="1"/>
            <p:nvPr/>
          </p:nvSpPr>
          <p:spPr>
            <a:xfrm>
              <a:off x="592455" y="806768"/>
              <a:ext cx="6029039"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An initial, architecture-neutral record format for evaluation runs.</a:t>
              </a:r>
            </a:p>
          </p:txBody>
        </p:sp>
      </p:grpSp>
      <p:grpSp>
        <p:nvGrpSpPr>
          <p:cNvPr id="11" name="Group 11"/>
          <p:cNvGrpSpPr/>
          <p:nvPr/>
        </p:nvGrpSpPr>
        <p:grpSpPr>
          <a:xfrm>
            <a:off x="609600" y="1200150"/>
            <a:ext cx="10382250" cy="723900"/>
            <a:chOff x="609600" y="1200150"/>
            <a:chExt cx="10382250" cy="723900"/>
          </a:xfrm>
        </p:grpSpPr>
        <p:sp>
          <p:nvSpPr>
            <p:cNvPr id="8" name="Rectangle 8"/>
            <p:cNvSpPr/>
            <p:nvPr/>
          </p:nvSpPr>
          <p:spPr>
            <a:xfrm>
              <a:off x="609600" y="1200150"/>
              <a:ext cx="10382250" cy="723900"/>
            </a:xfrm>
            <a:prstGeom prst="roundRect">
              <a:avLst>
                <a:gd name="adj" fmla="val 13158"/>
              </a:avLst>
            </a:prstGeom>
            <a:solidFill>
              <a:srgbClr val="002D4C"/>
            </a:solidFill>
            <a:ln>
              <a:noFill/>
            </a:ln>
          </p:spPr>
          <p:txBody>
            <a:bodyPr/>
            <a:lstStyle/>
            <a:p>
              <a:endParaRPr lang="zh-CN" altLang="en-US"/>
            </a:p>
          </p:txBody>
        </p:sp>
        <p:sp>
          <p:nvSpPr>
            <p:cNvPr id="9" name="TextBox 9"/>
            <p:cNvSpPr txBox="1"/>
            <p:nvPr/>
          </p:nvSpPr>
          <p:spPr>
            <a:xfrm>
              <a:off x="821055" y="1359218"/>
              <a:ext cx="922701"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What it is</a:t>
              </a:r>
            </a:p>
          </p:txBody>
        </p:sp>
        <p:sp>
          <p:nvSpPr>
            <p:cNvPr id="10" name="TextBox 10"/>
            <p:cNvSpPr txBox="1"/>
            <p:nvPr/>
          </p:nvSpPr>
          <p:spPr>
            <a:xfrm>
              <a:off x="822008" y="1614964"/>
              <a:ext cx="9987129"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A common structured record of the Agent's final output, execution status, tool calls, and actual KG retrieval results.</a:t>
              </a:r>
            </a:p>
          </p:txBody>
        </p:sp>
      </p:grpSp>
      <p:grpSp>
        <p:nvGrpSpPr>
          <p:cNvPr id="27" name="Group 27"/>
          <p:cNvGrpSpPr/>
          <p:nvPr/>
        </p:nvGrpSpPr>
        <p:grpSpPr>
          <a:xfrm>
            <a:off x="590426" y="2115027"/>
            <a:ext cx="8646958" cy="1428750"/>
            <a:chOff x="590426" y="2115027"/>
            <a:chExt cx="8646958" cy="1428750"/>
          </a:xfrm>
        </p:grpSpPr>
        <p:sp>
          <p:nvSpPr>
            <p:cNvPr id="12" name="Rectangle 12"/>
            <p:cNvSpPr/>
            <p:nvPr/>
          </p:nvSpPr>
          <p:spPr>
            <a:xfrm>
              <a:off x="590426" y="2249978"/>
              <a:ext cx="2132619" cy="1123950"/>
            </a:xfrm>
            <a:prstGeom prst="roundRect">
              <a:avLst>
                <a:gd name="adj" fmla="val 8475"/>
              </a:avLst>
            </a:prstGeom>
            <a:solidFill>
              <a:srgbClr val="F4F7F8"/>
            </a:solidFill>
            <a:ln w="19050">
              <a:solidFill>
                <a:srgbClr val="DAE1E6"/>
              </a:solidFill>
            </a:ln>
          </p:spPr>
          <p:txBody>
            <a:bodyPr/>
            <a:lstStyle/>
            <a:p>
              <a:endParaRPr lang="zh-CN" altLang="en-US"/>
            </a:p>
          </p:txBody>
        </p:sp>
        <p:sp>
          <p:nvSpPr>
            <p:cNvPr id="13" name="TextBox 13"/>
            <p:cNvSpPr txBox="1"/>
            <p:nvPr/>
          </p:nvSpPr>
          <p:spPr>
            <a:xfrm>
              <a:off x="807951" y="2450003"/>
              <a:ext cx="1721626" cy="230832"/>
            </a:xfrm>
            <a:prstGeom prst="rect">
              <a:avLst/>
            </a:prstGeom>
            <a:noFill/>
            <a:ln>
              <a:noFill/>
            </a:ln>
          </p:spPr>
          <p:txBody>
            <a:bodyPr wrap="none" lIns="0" tIns="0" rIns="0" bIns="0" anchor="t" anchorCtr="0">
              <a:spAutoFit/>
            </a:bodyPr>
            <a:lstStyle/>
            <a:p>
              <a:pPr algn="ctr"/>
              <a:r>
                <a:rPr lang="en-US" altLang="zh-CN" sz="1500" b="1" dirty="0">
                  <a:solidFill>
                    <a:srgbClr val="002D4C"/>
                  </a:solidFill>
                  <a:latin typeface="Arial"/>
                  <a:ea typeface="Microsoft YaHei"/>
                  <a:cs typeface="Arial"/>
                </a:rPr>
                <a:t>Evaluation </a:t>
              </a:r>
              <a:r>
                <a:rPr lang="zh-CN" sz="1500" b="1" dirty="0">
                  <a:solidFill>
                    <a:srgbClr val="002D4C"/>
                  </a:solidFill>
                  <a:latin typeface="Arial"/>
                  <a:ea typeface="Microsoft YaHei"/>
                  <a:cs typeface="Arial"/>
                </a:rPr>
                <a:t>Dataset</a:t>
              </a:r>
            </a:p>
          </p:txBody>
        </p:sp>
        <p:sp>
          <p:nvSpPr>
            <p:cNvPr id="14" name="TextBox 14"/>
            <p:cNvSpPr txBox="1"/>
            <p:nvPr/>
          </p:nvSpPr>
          <p:spPr>
            <a:xfrm>
              <a:off x="769414" y="2777663"/>
              <a:ext cx="1798701" cy="243840"/>
            </a:xfrm>
            <a:prstGeom prst="rect">
              <a:avLst/>
            </a:prstGeom>
            <a:noFill/>
            <a:ln>
              <a:noFill/>
            </a:ln>
          </p:spPr>
          <p:txBody>
            <a:bodyPr wrap="none" lIns="0" tIns="0" rIns="0" bIns="0" anchor="t" anchorCtr="0">
              <a:spAutoFit/>
            </a:bodyPr>
            <a:lstStyle/>
            <a:p>
              <a:pPr algn="ctr"/>
              <a:r>
                <a:rPr lang="zh-CN" sz="1200" dirty="0">
                  <a:solidFill>
                    <a:srgbClr val="526671"/>
                  </a:solidFill>
                  <a:latin typeface="Arial"/>
                  <a:ea typeface="Microsoft YaHei"/>
                  <a:cs typeface="Arial"/>
                </a:rPr>
                <a:t>question · gold answer</a:t>
              </a:r>
            </a:p>
          </p:txBody>
        </p:sp>
        <p:sp>
          <p:nvSpPr>
            <p:cNvPr id="15" name="TextBox 15"/>
            <p:cNvSpPr txBox="1"/>
            <p:nvPr/>
          </p:nvSpPr>
          <p:spPr>
            <a:xfrm>
              <a:off x="657399" y="3025313"/>
              <a:ext cx="2022729" cy="243840"/>
            </a:xfrm>
            <a:prstGeom prst="rect">
              <a:avLst/>
            </a:prstGeom>
            <a:noFill/>
            <a:ln>
              <a:noFill/>
            </a:ln>
          </p:spPr>
          <p:txBody>
            <a:bodyPr wrap="none" lIns="0" tIns="0" rIns="0" bIns="0" anchor="t" anchorCtr="0">
              <a:spAutoFit/>
            </a:bodyPr>
            <a:lstStyle/>
            <a:p>
              <a:pPr algn="ctr"/>
              <a:r>
                <a:rPr lang="zh-CN" sz="1200" dirty="0">
                  <a:solidFill>
                    <a:srgbClr val="526671"/>
                  </a:solidFill>
                  <a:latin typeface="Arial"/>
                  <a:ea typeface="Microsoft YaHei"/>
                  <a:cs typeface="Arial"/>
                </a:rPr>
                <a:t>answer type · test labels</a:t>
              </a:r>
            </a:p>
          </p:txBody>
        </p:sp>
        <p:sp>
          <p:nvSpPr>
            <p:cNvPr id="16" name="Freeform 16"/>
            <p:cNvSpPr/>
            <p:nvPr/>
          </p:nvSpPr>
          <p:spPr>
            <a:xfrm flipV="1">
              <a:off x="2731752" y="2769472"/>
              <a:ext cx="1117903" cy="45719"/>
            </a:xfrm>
            <a:custGeom>
              <a:avLst/>
              <a:gdLst/>
              <a:ahLst/>
              <a:cxnLst/>
              <a:rect l="l" t="t" r="r" b="b"/>
              <a:pathLst>
                <a:path w="647700" h="9525">
                  <a:moveTo>
                    <a:pt x="0" y="0"/>
                  </a:moveTo>
                  <a:lnTo>
                    <a:pt x="647700" y="0"/>
                  </a:lnTo>
                </a:path>
              </a:pathLst>
            </a:custGeom>
            <a:solidFill>
              <a:srgbClr val="000000"/>
            </a:solidFill>
            <a:ln w="28575">
              <a:solidFill>
                <a:srgbClr val="009682"/>
              </a:solidFill>
              <a:tailEnd type="triangle" w="lg" len="lg"/>
            </a:ln>
          </p:spPr>
          <p:txBody>
            <a:bodyPr/>
            <a:lstStyle/>
            <a:p>
              <a:endParaRPr lang="zh-CN" altLang="en-US" dirty="0"/>
            </a:p>
          </p:txBody>
        </p:sp>
        <p:sp>
          <p:nvSpPr>
            <p:cNvPr id="17" name="Rectangle 17"/>
            <p:cNvSpPr/>
            <p:nvPr/>
          </p:nvSpPr>
          <p:spPr>
            <a:xfrm>
              <a:off x="3842601" y="2115027"/>
              <a:ext cx="2628108" cy="1428750"/>
            </a:xfrm>
            <a:prstGeom prst="roundRect">
              <a:avLst>
                <a:gd name="adj" fmla="val 6667"/>
              </a:avLst>
            </a:prstGeom>
            <a:solidFill>
              <a:srgbClr val="EAF6F4"/>
            </a:solidFill>
            <a:ln w="28575">
              <a:solidFill>
                <a:srgbClr val="009682"/>
              </a:solidFill>
            </a:ln>
          </p:spPr>
          <p:txBody>
            <a:bodyPr/>
            <a:lstStyle/>
            <a:p>
              <a:endParaRPr lang="zh-CN" altLang="en-US"/>
            </a:p>
          </p:txBody>
        </p:sp>
        <p:sp>
          <p:nvSpPr>
            <p:cNvPr id="18" name="TextBox 18"/>
            <p:cNvSpPr txBox="1"/>
            <p:nvPr/>
          </p:nvSpPr>
          <p:spPr>
            <a:xfrm>
              <a:off x="4286173" y="2316481"/>
              <a:ext cx="1826278" cy="320040"/>
            </a:xfrm>
            <a:prstGeom prst="rect">
              <a:avLst/>
            </a:prstGeom>
            <a:noFill/>
            <a:ln>
              <a:noFill/>
            </a:ln>
          </p:spPr>
          <p:txBody>
            <a:bodyPr wrap="none" lIns="0" tIns="0" rIns="0" bIns="0" anchor="t" anchorCtr="0">
              <a:spAutoFit/>
            </a:bodyPr>
            <a:lstStyle/>
            <a:p>
              <a:pPr algn="ctr"/>
              <a:r>
                <a:rPr lang="zh-CN" sz="1575" b="1" dirty="0">
                  <a:solidFill>
                    <a:srgbClr val="005A50"/>
                  </a:solidFill>
                  <a:latin typeface="Arial"/>
                  <a:ea typeface="Microsoft YaHei"/>
                  <a:cs typeface="Arial"/>
                </a:rPr>
                <a:t>Unified Agent log</a:t>
              </a:r>
            </a:p>
          </p:txBody>
        </p:sp>
        <p:sp>
          <p:nvSpPr>
            <p:cNvPr id="19" name="TextBox 19"/>
            <p:cNvSpPr txBox="1"/>
            <p:nvPr/>
          </p:nvSpPr>
          <p:spPr>
            <a:xfrm>
              <a:off x="3927915" y="2671287"/>
              <a:ext cx="2542794" cy="243840"/>
            </a:xfrm>
            <a:prstGeom prst="rect">
              <a:avLst/>
            </a:prstGeom>
            <a:noFill/>
            <a:ln>
              <a:noFill/>
            </a:ln>
          </p:spPr>
          <p:txBody>
            <a:bodyPr wrap="none" lIns="0" tIns="0" rIns="0" bIns="0" anchor="t" anchorCtr="0">
              <a:spAutoFit/>
            </a:bodyPr>
            <a:lstStyle/>
            <a:p>
              <a:pPr algn="ctr"/>
              <a:r>
                <a:rPr lang="zh-CN" sz="1200" dirty="0">
                  <a:solidFill>
                    <a:srgbClr val="002D4C"/>
                  </a:solidFill>
                  <a:latin typeface="Arial"/>
                  <a:ea typeface="Microsoft YaHei"/>
                  <a:cs typeface="Arial"/>
                </a:rPr>
                <a:t>structured answer · run status</a:t>
              </a:r>
            </a:p>
          </p:txBody>
        </p:sp>
        <p:sp>
          <p:nvSpPr>
            <p:cNvPr id="20" name="TextBox 20"/>
            <p:cNvSpPr txBox="1"/>
            <p:nvPr/>
          </p:nvSpPr>
          <p:spPr>
            <a:xfrm>
              <a:off x="3687885" y="2918937"/>
              <a:ext cx="3022854" cy="243840"/>
            </a:xfrm>
            <a:prstGeom prst="rect">
              <a:avLst/>
            </a:prstGeom>
            <a:noFill/>
            <a:ln>
              <a:noFill/>
            </a:ln>
          </p:spPr>
          <p:txBody>
            <a:bodyPr wrap="none" lIns="0" tIns="0" rIns="0" bIns="0" anchor="t" anchorCtr="0">
              <a:spAutoFit/>
            </a:bodyPr>
            <a:lstStyle/>
            <a:p>
              <a:pPr algn="ctr"/>
              <a:r>
                <a:rPr lang="zh-CN" sz="1200" dirty="0">
                  <a:solidFill>
                    <a:srgbClr val="002D4C"/>
                  </a:solidFill>
                  <a:latin typeface="Arial"/>
                  <a:ea typeface="Microsoft YaHei"/>
                  <a:cs typeface="Arial"/>
                </a:rPr>
                <a:t>tool input / result · retrieval records</a:t>
              </a:r>
            </a:p>
          </p:txBody>
        </p:sp>
        <p:sp>
          <p:nvSpPr>
            <p:cNvPr id="21" name="TextBox 21"/>
            <p:cNvSpPr txBox="1"/>
            <p:nvPr/>
          </p:nvSpPr>
          <p:spPr>
            <a:xfrm>
              <a:off x="3992405" y="3228976"/>
              <a:ext cx="2413814" cy="198120"/>
            </a:xfrm>
            <a:prstGeom prst="rect">
              <a:avLst/>
            </a:prstGeom>
            <a:noFill/>
            <a:ln>
              <a:noFill/>
            </a:ln>
          </p:spPr>
          <p:txBody>
            <a:bodyPr wrap="none" lIns="0" tIns="0" rIns="0" bIns="0" anchor="t" anchorCtr="0">
              <a:spAutoFit/>
            </a:bodyPr>
            <a:lstStyle/>
            <a:p>
              <a:pPr algn="ctr"/>
              <a:r>
                <a:rPr lang="zh-CN" sz="975" b="1" dirty="0">
                  <a:solidFill>
                    <a:srgbClr val="009682"/>
                  </a:solidFill>
                  <a:latin typeface="Arial"/>
                  <a:ea typeface="Microsoft YaHei"/>
                  <a:cs typeface="Arial"/>
                </a:rPr>
                <a:t>Produced during each evaluation run</a:t>
              </a:r>
            </a:p>
          </p:txBody>
        </p:sp>
        <p:sp>
          <p:nvSpPr>
            <p:cNvPr id="22" name="Freeform 22"/>
            <p:cNvSpPr/>
            <p:nvPr/>
          </p:nvSpPr>
          <p:spPr>
            <a:xfrm>
              <a:off x="6472708" y="2834164"/>
              <a:ext cx="647700" cy="9525"/>
            </a:xfrm>
            <a:custGeom>
              <a:avLst/>
              <a:gdLst/>
              <a:ahLst/>
              <a:cxnLst/>
              <a:rect l="l" t="t" r="r" b="b"/>
              <a:pathLst>
                <a:path w="647700" h="9525">
                  <a:moveTo>
                    <a:pt x="0" y="0"/>
                  </a:moveTo>
                  <a:lnTo>
                    <a:pt x="647700" y="0"/>
                  </a:lnTo>
                </a:path>
              </a:pathLst>
            </a:custGeom>
            <a:solidFill>
              <a:srgbClr val="000000"/>
            </a:solidFill>
            <a:ln w="28575">
              <a:solidFill>
                <a:srgbClr val="009682"/>
              </a:solidFill>
              <a:tailEnd type="triangle" w="lg" len="lg"/>
            </a:ln>
          </p:spPr>
          <p:txBody>
            <a:bodyPr/>
            <a:lstStyle/>
            <a:p>
              <a:endParaRPr lang="zh-CN" altLang="en-US" dirty="0"/>
            </a:p>
          </p:txBody>
        </p:sp>
        <p:sp>
          <p:nvSpPr>
            <p:cNvPr id="23" name="Rectangle 23"/>
            <p:cNvSpPr/>
            <p:nvPr/>
          </p:nvSpPr>
          <p:spPr>
            <a:xfrm>
              <a:off x="7103650" y="2249978"/>
              <a:ext cx="2133734" cy="1123950"/>
            </a:xfrm>
            <a:prstGeom prst="roundRect">
              <a:avLst>
                <a:gd name="adj" fmla="val 8475"/>
              </a:avLst>
            </a:prstGeom>
            <a:solidFill>
              <a:srgbClr val="F4F7F8"/>
            </a:solidFill>
            <a:ln w="19050">
              <a:solidFill>
                <a:srgbClr val="DAE1E6"/>
              </a:solidFill>
            </a:ln>
          </p:spPr>
          <p:txBody>
            <a:bodyPr/>
            <a:lstStyle/>
            <a:p>
              <a:endParaRPr lang="zh-CN" altLang="en-US"/>
            </a:p>
          </p:txBody>
        </p:sp>
        <p:sp>
          <p:nvSpPr>
            <p:cNvPr id="24" name="TextBox 24"/>
            <p:cNvSpPr txBox="1"/>
            <p:nvPr/>
          </p:nvSpPr>
          <p:spPr>
            <a:xfrm>
              <a:off x="7181475" y="2450003"/>
              <a:ext cx="2001845" cy="304800"/>
            </a:xfrm>
            <a:prstGeom prst="rect">
              <a:avLst/>
            </a:prstGeom>
            <a:noFill/>
            <a:ln>
              <a:noFill/>
            </a:ln>
          </p:spPr>
          <p:txBody>
            <a:bodyPr wrap="none" lIns="0" tIns="0" rIns="0" bIns="0" anchor="t" anchorCtr="0">
              <a:spAutoFit/>
            </a:bodyPr>
            <a:lstStyle/>
            <a:p>
              <a:pPr algn="ctr"/>
              <a:r>
                <a:rPr lang="zh-CN" sz="1500" b="1" dirty="0">
                  <a:solidFill>
                    <a:srgbClr val="002D4C"/>
                  </a:solidFill>
                  <a:latin typeface="Arial"/>
                  <a:ea typeface="Microsoft YaHei"/>
                  <a:cs typeface="Arial"/>
                </a:rPr>
                <a:t>Evaluation program</a:t>
              </a:r>
            </a:p>
          </p:txBody>
        </p:sp>
        <p:sp>
          <p:nvSpPr>
            <p:cNvPr id="25" name="TextBox 25"/>
            <p:cNvSpPr txBox="1"/>
            <p:nvPr/>
          </p:nvSpPr>
          <p:spPr>
            <a:xfrm>
              <a:off x="7215039" y="2777663"/>
              <a:ext cx="1934718" cy="243840"/>
            </a:xfrm>
            <a:prstGeom prst="rect">
              <a:avLst/>
            </a:prstGeom>
            <a:noFill/>
            <a:ln>
              <a:noFill/>
            </a:ln>
          </p:spPr>
          <p:txBody>
            <a:bodyPr wrap="none" lIns="0" tIns="0" rIns="0" bIns="0" anchor="t" anchorCtr="0">
              <a:spAutoFit/>
            </a:bodyPr>
            <a:lstStyle/>
            <a:p>
              <a:pPr algn="ctr"/>
              <a:r>
                <a:rPr lang="zh-CN" sz="1200" dirty="0">
                  <a:solidFill>
                    <a:srgbClr val="526671"/>
                  </a:solidFill>
                  <a:latin typeface="Arial"/>
                  <a:ea typeface="Microsoft YaHei"/>
                  <a:cs typeface="Arial"/>
                </a:rPr>
                <a:t>metrics · error analysis</a:t>
              </a:r>
            </a:p>
          </p:txBody>
        </p:sp>
        <p:sp>
          <p:nvSpPr>
            <p:cNvPr id="26" name="TextBox 26"/>
            <p:cNvSpPr txBox="1"/>
            <p:nvPr/>
          </p:nvSpPr>
          <p:spPr>
            <a:xfrm>
              <a:off x="7223040" y="3025313"/>
              <a:ext cx="1918716" cy="243840"/>
            </a:xfrm>
            <a:prstGeom prst="rect">
              <a:avLst/>
            </a:prstGeom>
            <a:noFill/>
            <a:ln>
              <a:noFill/>
            </a:ln>
          </p:spPr>
          <p:txBody>
            <a:bodyPr wrap="none" lIns="0" tIns="0" rIns="0" bIns="0" anchor="t" anchorCtr="0">
              <a:spAutoFit/>
            </a:bodyPr>
            <a:lstStyle/>
            <a:p>
              <a:pPr algn="ctr"/>
              <a:r>
                <a:rPr lang="zh-CN" sz="1200" dirty="0">
                  <a:solidFill>
                    <a:srgbClr val="526671"/>
                  </a:solidFill>
                  <a:latin typeface="Arial"/>
                  <a:ea typeface="Microsoft YaHei"/>
                  <a:cs typeface="Arial"/>
                </a:rPr>
                <a:t>cross-Agent comparison</a:t>
              </a:r>
            </a:p>
          </p:txBody>
        </p:sp>
      </p:grpSp>
      <p:grpSp>
        <p:nvGrpSpPr>
          <p:cNvPr id="34" name="Group 34"/>
          <p:cNvGrpSpPr/>
          <p:nvPr/>
        </p:nvGrpSpPr>
        <p:grpSpPr>
          <a:xfrm>
            <a:off x="588645" y="3831908"/>
            <a:ext cx="10403205" cy="1833086"/>
            <a:chOff x="588645" y="3831908"/>
            <a:chExt cx="10403205" cy="1833086"/>
          </a:xfrm>
        </p:grpSpPr>
        <p:sp>
          <p:nvSpPr>
            <p:cNvPr id="28" name="TextBox 28"/>
            <p:cNvSpPr txBox="1"/>
            <p:nvPr/>
          </p:nvSpPr>
          <p:spPr>
            <a:xfrm>
              <a:off x="588645" y="3831908"/>
              <a:ext cx="2409956" cy="335280"/>
            </a:xfrm>
            <a:prstGeom prst="rect">
              <a:avLst/>
            </a:prstGeom>
            <a:noFill/>
            <a:ln>
              <a:noFill/>
            </a:ln>
          </p:spPr>
          <p:txBody>
            <a:bodyPr wrap="none" lIns="0" tIns="0" rIns="0" bIns="0" anchor="t" anchorCtr="0">
              <a:spAutoFit/>
            </a:bodyPr>
            <a:lstStyle/>
            <a:p>
              <a:pPr algn="l"/>
              <a:r>
                <a:rPr lang="zh-CN" sz="1650" b="1" dirty="0">
                  <a:solidFill>
                    <a:srgbClr val="002D4C"/>
                  </a:solidFill>
                  <a:latin typeface="Arial"/>
                  <a:ea typeface="Microsoft YaHei"/>
                  <a:cs typeface="Arial"/>
                </a:rPr>
                <a:t>Main design decisions</a:t>
              </a:r>
            </a:p>
          </p:txBody>
        </p:sp>
        <p:sp>
          <p:nvSpPr>
            <p:cNvPr id="29" name="Line 29"/>
            <p:cNvSpPr/>
            <p:nvPr/>
          </p:nvSpPr>
          <p:spPr>
            <a:xfrm>
              <a:off x="609600" y="4171950"/>
              <a:ext cx="10382250" cy="9525"/>
            </a:xfrm>
            <a:custGeom>
              <a:avLst/>
              <a:gdLst/>
              <a:ahLst/>
              <a:cxnLst/>
              <a:rect l="l" t="t" r="r" b="b"/>
              <a:pathLst>
                <a:path w="10382250" h="9525">
                  <a:moveTo>
                    <a:pt x="0" y="0"/>
                  </a:moveTo>
                  <a:lnTo>
                    <a:pt x="10382250" y="0"/>
                  </a:lnTo>
                </a:path>
              </a:pathLst>
            </a:custGeom>
            <a:noFill/>
            <a:ln w="19050">
              <a:solidFill>
                <a:srgbClr val="DAE1E6"/>
              </a:solidFill>
            </a:ln>
          </p:spPr>
          <p:txBody>
            <a:bodyPr/>
            <a:lstStyle/>
            <a:p>
              <a:endParaRPr lang="zh-CN" altLang="en-US"/>
            </a:p>
          </p:txBody>
        </p:sp>
        <p:sp>
          <p:nvSpPr>
            <p:cNvPr id="30" name="TextBox 30"/>
            <p:cNvSpPr txBox="1"/>
            <p:nvPr/>
          </p:nvSpPr>
          <p:spPr>
            <a:xfrm>
              <a:off x="764858" y="4377214"/>
              <a:ext cx="6442186"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1.</a:t>
              </a:r>
              <a:r>
                <a:rPr lang="zh-CN" sz="1275" dirty="0">
                  <a:solidFill>
                    <a:srgbClr val="002D4C"/>
                  </a:solidFill>
                  <a:latin typeface="Arial"/>
                  <a:ea typeface="Microsoft YaHei"/>
                  <a:cs typeface="Arial"/>
                </a:rPr>
                <a:t> Keep the format independent of one Agent architecture or query language.</a:t>
              </a:r>
            </a:p>
          </p:txBody>
        </p:sp>
        <p:sp>
          <p:nvSpPr>
            <p:cNvPr id="31" name="TextBox 31"/>
            <p:cNvSpPr txBox="1"/>
            <p:nvPr/>
          </p:nvSpPr>
          <p:spPr>
            <a:xfrm>
              <a:off x="764858" y="4720114"/>
              <a:ext cx="6586704"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2.</a:t>
              </a:r>
              <a:r>
                <a:rPr lang="zh-CN" sz="1275" dirty="0">
                  <a:solidFill>
                    <a:srgbClr val="002D4C"/>
                  </a:solidFill>
                  <a:latin typeface="Arial"/>
                  <a:ea typeface="Microsoft YaHei"/>
                  <a:cs typeface="Arial"/>
                </a:rPr>
                <a:t> Separate static dataset labels from outputs recorded during an actual run.</a:t>
              </a:r>
            </a:p>
          </p:txBody>
        </p:sp>
        <p:sp>
          <p:nvSpPr>
            <p:cNvPr id="32" name="TextBox 32"/>
            <p:cNvSpPr txBox="1"/>
            <p:nvPr/>
          </p:nvSpPr>
          <p:spPr>
            <a:xfrm>
              <a:off x="764858" y="5063014"/>
              <a:ext cx="6510195"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3.</a:t>
              </a:r>
              <a:r>
                <a:rPr lang="zh-CN" sz="1275" dirty="0">
                  <a:solidFill>
                    <a:srgbClr val="002D4C"/>
                  </a:solidFill>
                  <a:latin typeface="Arial"/>
                  <a:ea typeface="Microsoft YaHei"/>
                  <a:cs typeface="Arial"/>
                </a:rPr>
                <a:t> Add a structured answer node before natural-language answer generation.</a:t>
              </a:r>
            </a:p>
          </p:txBody>
        </p:sp>
        <p:sp>
          <p:nvSpPr>
            <p:cNvPr id="33" name="TextBox 33"/>
            <p:cNvSpPr txBox="1"/>
            <p:nvPr/>
          </p:nvSpPr>
          <p:spPr>
            <a:xfrm>
              <a:off x="764858" y="5405914"/>
              <a:ext cx="6858738"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4.</a:t>
              </a:r>
              <a:r>
                <a:rPr lang="zh-CN" sz="1275" dirty="0">
                  <a:solidFill>
                    <a:srgbClr val="002D4C"/>
                  </a:solidFill>
                  <a:latin typeface="Arial"/>
                  <a:ea typeface="Microsoft YaHei"/>
                  <a:cs typeface="Arial"/>
                </a:rPr>
                <a:t> Record only information that the Agent workflow or its tools actually produce.</a:t>
              </a:r>
            </a:p>
          </p:txBody>
        </p:sp>
      </p:grpSp>
      <p:grpSp>
        <p:nvGrpSpPr>
          <p:cNvPr id="38" name="Group 38"/>
          <p:cNvGrpSpPr/>
          <p:nvPr/>
        </p:nvGrpSpPr>
        <p:grpSpPr>
          <a:xfrm>
            <a:off x="609600" y="5791200"/>
            <a:ext cx="10382250" cy="514350"/>
            <a:chOff x="609600" y="5791200"/>
            <a:chExt cx="10382250" cy="514350"/>
          </a:xfrm>
        </p:grpSpPr>
        <p:sp>
          <p:nvSpPr>
            <p:cNvPr id="35" name="Rectangle 35"/>
            <p:cNvSpPr/>
            <p:nvPr/>
          </p:nvSpPr>
          <p:spPr>
            <a:xfrm>
              <a:off x="609600" y="5791200"/>
              <a:ext cx="10382250" cy="514350"/>
            </a:xfrm>
            <a:prstGeom prst="roundRect">
              <a:avLst>
                <a:gd name="adj" fmla="val 14815"/>
              </a:avLst>
            </a:prstGeom>
            <a:solidFill>
              <a:srgbClr val="EAF6F4"/>
            </a:solidFill>
            <a:ln w="19050">
              <a:solidFill>
                <a:srgbClr val="009682"/>
              </a:solidFill>
            </a:ln>
          </p:spPr>
          <p:txBody>
            <a:bodyPr/>
            <a:lstStyle/>
            <a:p>
              <a:endParaRPr lang="zh-CN" altLang="en-US"/>
            </a:p>
          </p:txBody>
        </p:sp>
        <p:sp>
          <p:nvSpPr>
            <p:cNvPr id="36" name="TextBox 36"/>
            <p:cNvSpPr txBox="1"/>
            <p:nvPr/>
          </p:nvSpPr>
          <p:spPr>
            <a:xfrm>
              <a:off x="822008" y="5967889"/>
              <a:ext cx="1710495" cy="259080"/>
            </a:xfrm>
            <a:prstGeom prst="rect">
              <a:avLst/>
            </a:prstGeom>
            <a:noFill/>
            <a:ln>
              <a:noFill/>
            </a:ln>
          </p:spPr>
          <p:txBody>
            <a:bodyPr wrap="none" lIns="0" tIns="0" rIns="0" bIns="0" anchor="t" anchorCtr="0">
              <a:spAutoFit/>
            </a:bodyPr>
            <a:lstStyle/>
            <a:p>
              <a:pPr algn="l"/>
              <a:r>
                <a:rPr lang="zh-CN" sz="1275" b="1" dirty="0">
                  <a:solidFill>
                    <a:srgbClr val="005A50"/>
                  </a:solidFill>
                  <a:latin typeface="Arial"/>
                  <a:ea typeface="Microsoft YaHei"/>
                  <a:cs typeface="Arial"/>
                </a:rPr>
                <a:t>Preliminary design:</a:t>
              </a:r>
            </a:p>
          </p:txBody>
        </p:sp>
        <p:sp>
          <p:nvSpPr>
            <p:cNvPr id="37" name="TextBox 37"/>
            <p:cNvSpPr txBox="1"/>
            <p:nvPr/>
          </p:nvSpPr>
          <p:spPr>
            <a:xfrm>
              <a:off x="2460308" y="5967889"/>
              <a:ext cx="6986254"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validate it on the first Agent, then revise it for later Agent versions when needed.</a:t>
              </a:r>
            </a:p>
          </p:txBody>
        </p:sp>
      </p:grpSp>
      <p:sp>
        <p:nvSpPr>
          <p:cNvPr id="39" name="TextBox 39"/>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40" name="TextBox 13">
            <a:extLst>
              <a:ext uri="{FF2B5EF4-FFF2-40B4-BE49-F238E27FC236}">
                <a16:creationId xmlns:a16="http://schemas.microsoft.com/office/drawing/2014/main" id="{A3E841BF-99E5-6808-E87F-11D233FA3CC5}"/>
              </a:ext>
            </a:extLst>
          </p:cNvPr>
          <p:cNvSpPr txBox="1"/>
          <p:nvPr/>
        </p:nvSpPr>
        <p:spPr>
          <a:xfrm>
            <a:off x="2851031" y="2475537"/>
            <a:ext cx="879343" cy="230832"/>
          </a:xfrm>
          <a:prstGeom prst="rect">
            <a:avLst/>
          </a:prstGeom>
          <a:noFill/>
          <a:ln>
            <a:noFill/>
          </a:ln>
        </p:spPr>
        <p:txBody>
          <a:bodyPr wrap="none" lIns="0" tIns="0" rIns="0" bIns="0" anchor="t" anchorCtr="0">
            <a:spAutoFit/>
          </a:bodyPr>
          <a:lstStyle/>
          <a:p>
            <a:pPr algn="ctr"/>
            <a:r>
              <a:rPr lang="en-US" altLang="zh-CN" sz="1500" b="1" dirty="0">
                <a:solidFill>
                  <a:srgbClr val="002D4C"/>
                </a:solidFill>
                <a:latin typeface="Arial"/>
                <a:ea typeface="Microsoft YaHei"/>
                <a:cs typeface="Arial"/>
              </a:rPr>
              <a:t>KG Agent</a:t>
            </a:r>
            <a:endParaRPr lang="zh-CN" sz="1500" b="1" dirty="0">
              <a:solidFill>
                <a:srgbClr val="002D4C"/>
              </a:solidFill>
              <a:latin typeface="Arial"/>
              <a:ea typeface="Microsoft YaHei"/>
              <a:cs typeface="Arial"/>
            </a:endParaRPr>
          </a:p>
        </p:txBody>
      </p:sp>
      <p:sp>
        <p:nvSpPr>
          <p:cNvPr id="41" name="Freeform 22">
            <a:extLst>
              <a:ext uri="{FF2B5EF4-FFF2-40B4-BE49-F238E27FC236}">
                <a16:creationId xmlns:a16="http://schemas.microsoft.com/office/drawing/2014/main" id="{BFA06ABD-DC86-08A2-31C2-557C9CAE1BC8}"/>
              </a:ext>
            </a:extLst>
          </p:cNvPr>
          <p:cNvSpPr/>
          <p:nvPr/>
        </p:nvSpPr>
        <p:spPr>
          <a:xfrm>
            <a:off x="9244389" y="2837498"/>
            <a:ext cx="623938" cy="45719"/>
          </a:xfrm>
          <a:custGeom>
            <a:avLst/>
            <a:gdLst/>
            <a:ahLst/>
            <a:cxnLst/>
            <a:rect l="l" t="t" r="r" b="b"/>
            <a:pathLst>
              <a:path w="647700" h="9525">
                <a:moveTo>
                  <a:pt x="0" y="0"/>
                </a:moveTo>
                <a:lnTo>
                  <a:pt x="647700" y="0"/>
                </a:lnTo>
              </a:path>
            </a:pathLst>
          </a:custGeom>
          <a:solidFill>
            <a:srgbClr val="000000"/>
          </a:solidFill>
          <a:ln w="28575">
            <a:solidFill>
              <a:srgbClr val="009682"/>
            </a:solidFill>
            <a:tailEnd type="triangle" w="lg" len="lg"/>
          </a:ln>
        </p:spPr>
        <p:txBody>
          <a:bodyPr/>
          <a:lstStyle/>
          <a:p>
            <a:endParaRPr lang="zh-CN" altLang="en-US" dirty="0"/>
          </a:p>
        </p:txBody>
      </p:sp>
      <p:sp>
        <p:nvSpPr>
          <p:cNvPr id="47" name="Rectangle 23">
            <a:extLst>
              <a:ext uri="{FF2B5EF4-FFF2-40B4-BE49-F238E27FC236}">
                <a16:creationId xmlns:a16="http://schemas.microsoft.com/office/drawing/2014/main" id="{485955EF-5824-FA98-C79F-B5BA58D86E63}"/>
              </a:ext>
            </a:extLst>
          </p:cNvPr>
          <p:cNvSpPr/>
          <p:nvPr/>
        </p:nvSpPr>
        <p:spPr>
          <a:xfrm>
            <a:off x="9875332" y="2249978"/>
            <a:ext cx="1726242" cy="1123950"/>
          </a:xfrm>
          <a:prstGeom prst="roundRect">
            <a:avLst>
              <a:gd name="adj" fmla="val 8475"/>
            </a:avLst>
          </a:prstGeom>
          <a:solidFill>
            <a:srgbClr val="F4F7F8"/>
          </a:solidFill>
          <a:ln w="19050">
            <a:solidFill>
              <a:srgbClr val="DAE1E6"/>
            </a:solidFill>
          </a:ln>
        </p:spPr>
        <p:txBody>
          <a:bodyPr/>
          <a:lstStyle/>
          <a:p>
            <a:endParaRPr lang="zh-CN" altLang="en-US"/>
          </a:p>
        </p:txBody>
      </p:sp>
      <p:sp>
        <p:nvSpPr>
          <p:cNvPr id="43" name="TextBox 13">
            <a:extLst>
              <a:ext uri="{FF2B5EF4-FFF2-40B4-BE49-F238E27FC236}">
                <a16:creationId xmlns:a16="http://schemas.microsoft.com/office/drawing/2014/main" id="{1D9F97FC-9947-6226-87B9-E1B7C0FE417D}"/>
              </a:ext>
            </a:extLst>
          </p:cNvPr>
          <p:cNvSpPr txBox="1"/>
          <p:nvPr/>
        </p:nvSpPr>
        <p:spPr>
          <a:xfrm>
            <a:off x="10080420" y="2562225"/>
            <a:ext cx="1316065" cy="692497"/>
          </a:xfrm>
          <a:prstGeom prst="rect">
            <a:avLst/>
          </a:prstGeom>
          <a:noFill/>
          <a:ln>
            <a:noFill/>
          </a:ln>
        </p:spPr>
        <p:txBody>
          <a:bodyPr wrap="none" lIns="0" tIns="0" rIns="0" bIns="0" anchor="t" anchorCtr="0">
            <a:spAutoFit/>
          </a:bodyPr>
          <a:lstStyle/>
          <a:p>
            <a:pPr algn="ctr"/>
            <a:r>
              <a:rPr lang="en-US" altLang="zh-CN" sz="1500" b="1" dirty="0">
                <a:solidFill>
                  <a:srgbClr val="002D4C"/>
                </a:solidFill>
                <a:latin typeface="Arial"/>
                <a:ea typeface="Microsoft YaHei"/>
                <a:cs typeface="Arial"/>
              </a:rPr>
              <a:t>Metrics and</a:t>
            </a:r>
          </a:p>
          <a:p>
            <a:pPr algn="ctr"/>
            <a:r>
              <a:rPr lang="en-US" altLang="zh-CN" sz="1500" b="1" dirty="0">
                <a:solidFill>
                  <a:srgbClr val="002D4C"/>
                </a:solidFill>
                <a:latin typeface="Arial"/>
                <a:ea typeface="Microsoft YaHei"/>
                <a:cs typeface="Arial"/>
              </a:rPr>
              <a:t> error analysis</a:t>
            </a:r>
          </a:p>
          <a:p>
            <a:pPr algn="ctr"/>
            <a:endParaRPr lang="zh-CN" sz="1500" b="1" dirty="0">
              <a:solidFill>
                <a:srgbClr val="002D4C"/>
              </a:solidFill>
              <a:latin typeface="Arial"/>
              <a:ea typeface="Microsoft YaHei"/>
              <a:cs typeface="Arial"/>
            </a:endParaRPr>
          </a:p>
        </p:txBody>
      </p:sp>
      <p:sp>
        <p:nvSpPr>
          <p:cNvPr id="48" name="TextBox 52">
            <a:extLst>
              <a:ext uri="{FF2B5EF4-FFF2-40B4-BE49-F238E27FC236}">
                <a16:creationId xmlns:a16="http://schemas.microsoft.com/office/drawing/2014/main" id="{94CA19AF-8C3E-FE89-ACFE-B871D0203435}"/>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12</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Bottom)">
                                      <p:cBhvr>
                                        <p:cTn id="7" dur="400"/>
                                        <p:tgtEl>
                                          <p:spTgt spid="11"/>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image">
                                      <p:cBhvr>
                                        <p:cTn id="11" dur="400"/>
                                        <p:tgtEl>
                                          <p:spTgt spid="27"/>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00"/>
                                        <p:tgtEl>
                                          <p:spTgt spid="3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left)">
                                      <p:cBhvr>
                                        <p:cTn id="19"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7" grpId="0"/>
      <p:bldP spid="34" grpId="0"/>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7215" y="343852"/>
            <a:ext cx="6304550" cy="699136"/>
            <a:chOff x="577215" y="343852"/>
            <a:chExt cx="6304550" cy="699136"/>
          </a:xfrm>
        </p:grpSpPr>
        <p:sp>
          <p:nvSpPr>
            <p:cNvPr id="5" name="TextBox 5"/>
            <p:cNvSpPr txBox="1"/>
            <p:nvPr/>
          </p:nvSpPr>
          <p:spPr>
            <a:xfrm>
              <a:off x="577215" y="343852"/>
              <a:ext cx="6304550"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Complete Unified Agent Log Field Table</a:t>
              </a:r>
            </a:p>
          </p:txBody>
        </p:sp>
        <p:sp>
          <p:nvSpPr>
            <p:cNvPr id="6" name="TextBox 6"/>
            <p:cNvSpPr txBox="1"/>
            <p:nvPr/>
          </p:nvSpPr>
          <p:spPr>
            <a:xfrm>
              <a:off x="592455" y="768668"/>
              <a:ext cx="5389959"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Minimum common fields plus conditional and optional records.</a:t>
              </a:r>
            </a:p>
          </p:txBody>
        </p:sp>
      </p:grpSp>
      <p:grpSp>
        <p:nvGrpSpPr>
          <p:cNvPr id="42" name="Group 42"/>
          <p:cNvGrpSpPr/>
          <p:nvPr/>
        </p:nvGrpSpPr>
        <p:grpSpPr>
          <a:xfrm>
            <a:off x="609600" y="1143000"/>
            <a:ext cx="5067300" cy="4514850"/>
            <a:chOff x="609600" y="1143000"/>
            <a:chExt cx="5067300" cy="4514850"/>
          </a:xfrm>
        </p:grpSpPr>
        <p:sp>
          <p:nvSpPr>
            <p:cNvPr id="8" name="Rectangle 8"/>
            <p:cNvSpPr/>
            <p:nvPr/>
          </p:nvSpPr>
          <p:spPr>
            <a:xfrm>
              <a:off x="609600" y="1143000"/>
              <a:ext cx="5067300" cy="4514850"/>
            </a:xfrm>
            <a:prstGeom prst="roundRect">
              <a:avLst>
                <a:gd name="adj" fmla="val 2110"/>
              </a:avLst>
            </a:prstGeom>
            <a:solidFill>
              <a:srgbClr val="FFFFFF"/>
            </a:solidFill>
            <a:ln w="19050">
              <a:solidFill>
                <a:srgbClr val="DAE1E6"/>
              </a:solidFill>
            </a:ln>
          </p:spPr>
          <p:txBody>
            <a:bodyPr/>
            <a:lstStyle/>
            <a:p>
              <a:endParaRPr lang="zh-CN" altLang="en-US"/>
            </a:p>
          </p:txBody>
        </p:sp>
        <p:sp>
          <p:nvSpPr>
            <p:cNvPr id="9" name="Freeform 9"/>
            <p:cNvSpPr/>
            <p:nvPr/>
          </p:nvSpPr>
          <p:spPr>
            <a:xfrm>
              <a:off x="609600" y="1143000"/>
              <a:ext cx="5067300" cy="457200"/>
            </a:xfrm>
            <a:custGeom>
              <a:avLst/>
              <a:gdLst/>
              <a:ahLst/>
              <a:cxnLst/>
              <a:rect l="l" t="t" r="r" b="b"/>
              <a:pathLst>
                <a:path w="5067300" h="457200">
                  <a:moveTo>
                    <a:pt x="95250" y="0"/>
                  </a:moveTo>
                  <a:lnTo>
                    <a:pt x="4972050" y="0"/>
                  </a:lnTo>
                  <a:cubicBezTo>
                    <a:pt x="5024655" y="0"/>
                    <a:pt x="5067300" y="42645"/>
                    <a:pt x="5067300" y="95250"/>
                  </a:cubicBezTo>
                  <a:lnTo>
                    <a:pt x="5067300" y="457200"/>
                  </a:lnTo>
                  <a:lnTo>
                    <a:pt x="0" y="457200"/>
                  </a:ln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10" name="TextBox 10"/>
            <p:cNvSpPr txBox="1"/>
            <p:nvPr/>
          </p:nvSpPr>
          <p:spPr>
            <a:xfrm>
              <a:off x="766762" y="1316831"/>
              <a:ext cx="2036951"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Field / type / requirement</a:t>
              </a:r>
            </a:p>
          </p:txBody>
        </p:sp>
        <p:sp>
          <p:nvSpPr>
            <p:cNvPr id="11" name="TextBox 11"/>
            <p:cNvSpPr txBox="1"/>
            <p:nvPr/>
          </p:nvSpPr>
          <p:spPr>
            <a:xfrm>
              <a:off x="2919412" y="1316831"/>
              <a:ext cx="1895183"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Purpose and empty value</a:t>
              </a:r>
            </a:p>
          </p:txBody>
        </p:sp>
        <p:sp>
          <p:nvSpPr>
            <p:cNvPr id="12" name="Rectangle 12"/>
            <p:cNvSpPr/>
            <p:nvPr/>
          </p:nvSpPr>
          <p:spPr>
            <a:xfrm>
              <a:off x="609600" y="1600200"/>
              <a:ext cx="5067300" cy="676275"/>
            </a:xfrm>
            <a:prstGeom prst="rect">
              <a:avLst/>
            </a:prstGeom>
            <a:solidFill>
              <a:srgbClr val="EAF6F4"/>
            </a:solidFill>
            <a:ln>
              <a:noFill/>
            </a:ln>
          </p:spPr>
          <p:txBody>
            <a:bodyPr/>
            <a:lstStyle/>
            <a:p>
              <a:endParaRPr lang="zh-CN" altLang="en-US"/>
            </a:p>
          </p:txBody>
        </p:sp>
        <p:sp>
          <p:nvSpPr>
            <p:cNvPr id="13" name="TextBox 13"/>
            <p:cNvSpPr txBox="1"/>
            <p:nvPr/>
          </p:nvSpPr>
          <p:spPr>
            <a:xfrm>
              <a:off x="766762" y="1726406"/>
              <a:ext cx="761042"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sample_id</a:t>
              </a:r>
            </a:p>
          </p:txBody>
        </p:sp>
        <p:sp>
          <p:nvSpPr>
            <p:cNvPr id="14" name="TextBox 14"/>
            <p:cNvSpPr txBox="1"/>
            <p:nvPr/>
          </p:nvSpPr>
          <p:spPr>
            <a:xfrm>
              <a:off x="768668" y="1980724"/>
              <a:ext cx="1077897"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single · required</a:t>
              </a:r>
            </a:p>
          </p:txBody>
        </p:sp>
        <p:sp>
          <p:nvSpPr>
            <p:cNvPr id="15" name="TextBox 15"/>
            <p:cNvSpPr txBox="1"/>
            <p:nvPr/>
          </p:nvSpPr>
          <p:spPr>
            <a:xfrm>
              <a:off x="2919412" y="1726406"/>
              <a:ext cx="2728912"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Links the run to the dataset sample.</a:t>
              </a:r>
            </a:p>
          </p:txBody>
        </p:sp>
        <p:sp>
          <p:nvSpPr>
            <p:cNvPr id="16" name="TextBox 16"/>
            <p:cNvSpPr txBox="1"/>
            <p:nvPr/>
          </p:nvSpPr>
          <p:spPr>
            <a:xfrm>
              <a:off x="2921318" y="1980724"/>
              <a:ext cx="1266420"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Must not be empty.</a:t>
              </a:r>
            </a:p>
          </p:txBody>
        </p:sp>
        <p:sp>
          <p:nvSpPr>
            <p:cNvPr id="17" name="Rectangle 17"/>
            <p:cNvSpPr/>
            <p:nvPr/>
          </p:nvSpPr>
          <p:spPr>
            <a:xfrm>
              <a:off x="609600" y="2276475"/>
              <a:ext cx="5067300" cy="676275"/>
            </a:xfrm>
            <a:prstGeom prst="rect">
              <a:avLst/>
            </a:prstGeom>
            <a:solidFill>
              <a:srgbClr val="F4F7F8"/>
            </a:solidFill>
            <a:ln>
              <a:noFill/>
            </a:ln>
          </p:spPr>
          <p:txBody>
            <a:bodyPr/>
            <a:lstStyle/>
            <a:p>
              <a:endParaRPr lang="zh-CN" altLang="en-US"/>
            </a:p>
          </p:txBody>
        </p:sp>
        <p:sp>
          <p:nvSpPr>
            <p:cNvPr id="18" name="TextBox 18"/>
            <p:cNvSpPr txBox="1"/>
            <p:nvPr/>
          </p:nvSpPr>
          <p:spPr>
            <a:xfrm>
              <a:off x="766762" y="2402681"/>
              <a:ext cx="1233601"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answer_payload</a:t>
              </a:r>
            </a:p>
          </p:txBody>
        </p:sp>
        <p:sp>
          <p:nvSpPr>
            <p:cNvPr id="19" name="TextBox 19"/>
            <p:cNvSpPr txBox="1"/>
            <p:nvPr/>
          </p:nvSpPr>
          <p:spPr>
            <a:xfrm>
              <a:off x="768668" y="2656999"/>
              <a:ext cx="1448443"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single / list · required</a:t>
              </a:r>
            </a:p>
          </p:txBody>
        </p:sp>
        <p:sp>
          <p:nvSpPr>
            <p:cNvPr id="20" name="TextBox 20"/>
            <p:cNvSpPr txBox="1"/>
            <p:nvPr/>
          </p:nvSpPr>
          <p:spPr>
            <a:xfrm>
              <a:off x="2919412" y="2402681"/>
              <a:ext cx="2211348"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Raw structured final answer.</a:t>
              </a:r>
            </a:p>
          </p:txBody>
        </p:sp>
        <p:sp>
          <p:nvSpPr>
            <p:cNvPr id="21" name="TextBox 21"/>
            <p:cNvSpPr txBox="1"/>
            <p:nvPr/>
          </p:nvSpPr>
          <p:spPr>
            <a:xfrm>
              <a:off x="2921318" y="2656999"/>
              <a:ext cx="2326053"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 answer: null; valid empty set: []</a:t>
              </a:r>
            </a:p>
          </p:txBody>
        </p:sp>
        <p:sp>
          <p:nvSpPr>
            <p:cNvPr id="22" name="Rectangle 22"/>
            <p:cNvSpPr/>
            <p:nvPr/>
          </p:nvSpPr>
          <p:spPr>
            <a:xfrm>
              <a:off x="609600" y="2952750"/>
              <a:ext cx="5067300" cy="676275"/>
            </a:xfrm>
            <a:prstGeom prst="rect">
              <a:avLst/>
            </a:prstGeom>
            <a:solidFill>
              <a:srgbClr val="EAF6F4"/>
            </a:solidFill>
            <a:ln>
              <a:noFill/>
            </a:ln>
          </p:spPr>
          <p:txBody>
            <a:bodyPr/>
            <a:lstStyle/>
            <a:p>
              <a:endParaRPr lang="zh-CN" altLang="en-US"/>
            </a:p>
          </p:txBody>
        </p:sp>
        <p:sp>
          <p:nvSpPr>
            <p:cNvPr id="23" name="TextBox 23"/>
            <p:cNvSpPr txBox="1"/>
            <p:nvPr/>
          </p:nvSpPr>
          <p:spPr>
            <a:xfrm>
              <a:off x="766762" y="3078956"/>
              <a:ext cx="1406872"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predicted_answer</a:t>
              </a:r>
            </a:p>
          </p:txBody>
        </p:sp>
        <p:sp>
          <p:nvSpPr>
            <p:cNvPr id="24" name="TextBox 24"/>
            <p:cNvSpPr txBox="1"/>
            <p:nvPr/>
          </p:nvSpPr>
          <p:spPr>
            <a:xfrm>
              <a:off x="768668" y="3333274"/>
              <a:ext cx="1448443"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single / list · required</a:t>
              </a:r>
            </a:p>
          </p:txBody>
        </p:sp>
        <p:sp>
          <p:nvSpPr>
            <p:cNvPr id="25" name="TextBox 25"/>
            <p:cNvSpPr txBox="1"/>
            <p:nvPr/>
          </p:nvSpPr>
          <p:spPr>
            <a:xfrm>
              <a:off x="2919412" y="3078956"/>
              <a:ext cx="2218849"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Normalized value for metrics.</a:t>
              </a:r>
            </a:p>
          </p:txBody>
        </p:sp>
        <p:sp>
          <p:nvSpPr>
            <p:cNvPr id="26" name="TextBox 26"/>
            <p:cNvSpPr txBox="1"/>
            <p:nvPr/>
          </p:nvSpPr>
          <p:spPr>
            <a:xfrm>
              <a:off x="2921318" y="3333274"/>
              <a:ext cx="2326053"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 answer: null; valid empty set: []</a:t>
              </a:r>
            </a:p>
          </p:txBody>
        </p:sp>
        <p:sp>
          <p:nvSpPr>
            <p:cNvPr id="27" name="Rectangle 27"/>
            <p:cNvSpPr/>
            <p:nvPr/>
          </p:nvSpPr>
          <p:spPr>
            <a:xfrm>
              <a:off x="609600" y="3629025"/>
              <a:ext cx="5067300" cy="676275"/>
            </a:xfrm>
            <a:prstGeom prst="rect">
              <a:avLst/>
            </a:prstGeom>
            <a:solidFill>
              <a:srgbClr val="F4F7F8"/>
            </a:solidFill>
            <a:ln>
              <a:noFill/>
            </a:ln>
          </p:spPr>
          <p:txBody>
            <a:bodyPr/>
            <a:lstStyle/>
            <a:p>
              <a:endParaRPr lang="zh-CN" altLang="en-US"/>
            </a:p>
          </p:txBody>
        </p:sp>
        <p:sp>
          <p:nvSpPr>
            <p:cNvPr id="28" name="TextBox 28"/>
            <p:cNvSpPr txBox="1"/>
            <p:nvPr/>
          </p:nvSpPr>
          <p:spPr>
            <a:xfrm>
              <a:off x="766762" y="3755231"/>
              <a:ext cx="1454128"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final_answer_text</a:t>
              </a:r>
            </a:p>
          </p:txBody>
        </p:sp>
        <p:sp>
          <p:nvSpPr>
            <p:cNvPr id="29" name="TextBox 29"/>
            <p:cNvSpPr txBox="1"/>
            <p:nvPr/>
          </p:nvSpPr>
          <p:spPr>
            <a:xfrm>
              <a:off x="768668" y="4009549"/>
              <a:ext cx="1077897"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single · required</a:t>
              </a:r>
            </a:p>
          </p:txBody>
        </p:sp>
        <p:sp>
          <p:nvSpPr>
            <p:cNvPr id="30" name="TextBox 30"/>
            <p:cNvSpPr txBox="1"/>
            <p:nvPr/>
          </p:nvSpPr>
          <p:spPr>
            <a:xfrm>
              <a:off x="2919412" y="3755231"/>
              <a:ext cx="243637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Natural-language user response.</a:t>
              </a:r>
            </a:p>
          </p:txBody>
        </p:sp>
        <p:sp>
          <p:nvSpPr>
            <p:cNvPr id="31" name="TextBox 31"/>
            <p:cNvSpPr txBox="1"/>
            <p:nvPr/>
          </p:nvSpPr>
          <p:spPr>
            <a:xfrm>
              <a:off x="2921318" y="4009549"/>
              <a:ext cx="967383"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 output: null</a:t>
              </a:r>
            </a:p>
          </p:txBody>
        </p:sp>
        <p:sp>
          <p:nvSpPr>
            <p:cNvPr id="32" name="Rectangle 32"/>
            <p:cNvSpPr/>
            <p:nvPr/>
          </p:nvSpPr>
          <p:spPr>
            <a:xfrm>
              <a:off x="609600" y="4305300"/>
              <a:ext cx="5067300" cy="676275"/>
            </a:xfrm>
            <a:prstGeom prst="rect">
              <a:avLst/>
            </a:prstGeom>
            <a:solidFill>
              <a:srgbClr val="EAF6F4"/>
            </a:solidFill>
            <a:ln>
              <a:noFill/>
            </a:ln>
          </p:spPr>
          <p:txBody>
            <a:bodyPr/>
            <a:lstStyle/>
            <a:p>
              <a:endParaRPr lang="zh-CN" altLang="en-US"/>
            </a:p>
          </p:txBody>
        </p:sp>
        <p:sp>
          <p:nvSpPr>
            <p:cNvPr id="33" name="TextBox 33"/>
            <p:cNvSpPr txBox="1"/>
            <p:nvPr/>
          </p:nvSpPr>
          <p:spPr>
            <a:xfrm>
              <a:off x="766762" y="4431506"/>
              <a:ext cx="1186345"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answer_status</a:t>
              </a:r>
            </a:p>
          </p:txBody>
        </p:sp>
        <p:sp>
          <p:nvSpPr>
            <p:cNvPr id="34" name="TextBox 34"/>
            <p:cNvSpPr txBox="1"/>
            <p:nvPr/>
          </p:nvSpPr>
          <p:spPr>
            <a:xfrm>
              <a:off x="768668" y="4685824"/>
              <a:ext cx="1077897"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single · required</a:t>
              </a:r>
            </a:p>
          </p:txBody>
        </p:sp>
        <p:sp>
          <p:nvSpPr>
            <p:cNvPr id="35" name="TextBox 35"/>
            <p:cNvSpPr txBox="1"/>
            <p:nvPr/>
          </p:nvSpPr>
          <p:spPr>
            <a:xfrm>
              <a:off x="2919412" y="4431506"/>
              <a:ext cx="203882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answered or unanswerable.</a:t>
              </a:r>
            </a:p>
          </p:txBody>
        </p:sp>
        <p:sp>
          <p:nvSpPr>
            <p:cNvPr id="36" name="TextBox 36"/>
            <p:cNvSpPr txBox="1"/>
            <p:nvPr/>
          </p:nvSpPr>
          <p:spPr>
            <a:xfrm>
              <a:off x="2921318" y="4685824"/>
              <a:ext cx="1266420"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Must not be empty.</a:t>
              </a:r>
            </a:p>
          </p:txBody>
        </p:sp>
        <p:sp>
          <p:nvSpPr>
            <p:cNvPr id="37" name="Rectangle 37"/>
            <p:cNvSpPr/>
            <p:nvPr/>
          </p:nvSpPr>
          <p:spPr>
            <a:xfrm>
              <a:off x="609600" y="4981575"/>
              <a:ext cx="5067300" cy="676275"/>
            </a:xfrm>
            <a:prstGeom prst="rect">
              <a:avLst/>
            </a:prstGeom>
            <a:solidFill>
              <a:srgbClr val="F4F7F8"/>
            </a:solidFill>
            <a:ln>
              <a:noFill/>
            </a:ln>
          </p:spPr>
          <p:txBody>
            <a:bodyPr/>
            <a:lstStyle/>
            <a:p>
              <a:endParaRPr lang="zh-CN" altLang="en-US"/>
            </a:p>
          </p:txBody>
        </p:sp>
        <p:sp>
          <p:nvSpPr>
            <p:cNvPr id="38" name="TextBox 38"/>
            <p:cNvSpPr txBox="1"/>
            <p:nvPr/>
          </p:nvSpPr>
          <p:spPr>
            <a:xfrm>
              <a:off x="766762" y="5107781"/>
              <a:ext cx="1375368"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execution_status</a:t>
              </a:r>
            </a:p>
          </p:txBody>
        </p:sp>
        <p:sp>
          <p:nvSpPr>
            <p:cNvPr id="39" name="TextBox 39"/>
            <p:cNvSpPr txBox="1"/>
            <p:nvPr/>
          </p:nvSpPr>
          <p:spPr>
            <a:xfrm>
              <a:off x="768668" y="5362099"/>
              <a:ext cx="1077897"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single · required</a:t>
              </a:r>
            </a:p>
          </p:txBody>
        </p:sp>
        <p:sp>
          <p:nvSpPr>
            <p:cNvPr id="40" name="TextBox 40"/>
            <p:cNvSpPr txBox="1"/>
            <p:nvPr/>
          </p:nvSpPr>
          <p:spPr>
            <a:xfrm>
              <a:off x="2919412" y="5107781"/>
              <a:ext cx="2076331"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success, partial, or failed.</a:t>
              </a:r>
            </a:p>
          </p:txBody>
        </p:sp>
        <p:sp>
          <p:nvSpPr>
            <p:cNvPr id="41" name="TextBox 41"/>
            <p:cNvSpPr txBox="1"/>
            <p:nvPr/>
          </p:nvSpPr>
          <p:spPr>
            <a:xfrm>
              <a:off x="2921318" y="5362099"/>
              <a:ext cx="1266420"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Must not be empty.</a:t>
              </a:r>
            </a:p>
          </p:txBody>
        </p:sp>
      </p:grpSp>
      <p:grpSp>
        <p:nvGrpSpPr>
          <p:cNvPr id="72" name="Group 72"/>
          <p:cNvGrpSpPr/>
          <p:nvPr/>
        </p:nvGrpSpPr>
        <p:grpSpPr>
          <a:xfrm>
            <a:off x="5867400" y="1143000"/>
            <a:ext cx="5136237" cy="4514850"/>
            <a:chOff x="5867400" y="1143000"/>
            <a:chExt cx="5136237" cy="4514850"/>
          </a:xfrm>
        </p:grpSpPr>
        <p:sp>
          <p:nvSpPr>
            <p:cNvPr id="43" name="Rectangle 43"/>
            <p:cNvSpPr/>
            <p:nvPr/>
          </p:nvSpPr>
          <p:spPr>
            <a:xfrm>
              <a:off x="5867400" y="1143000"/>
              <a:ext cx="5124450" cy="4514850"/>
            </a:xfrm>
            <a:prstGeom prst="roundRect">
              <a:avLst>
                <a:gd name="adj" fmla="val 2110"/>
              </a:avLst>
            </a:prstGeom>
            <a:solidFill>
              <a:srgbClr val="FFFFFF"/>
            </a:solidFill>
            <a:ln w="19050">
              <a:solidFill>
                <a:srgbClr val="DAE1E6"/>
              </a:solidFill>
            </a:ln>
          </p:spPr>
          <p:txBody>
            <a:bodyPr/>
            <a:lstStyle/>
            <a:p>
              <a:endParaRPr lang="zh-CN" altLang="en-US"/>
            </a:p>
          </p:txBody>
        </p:sp>
        <p:sp>
          <p:nvSpPr>
            <p:cNvPr id="44" name="Freeform 44"/>
            <p:cNvSpPr/>
            <p:nvPr/>
          </p:nvSpPr>
          <p:spPr>
            <a:xfrm>
              <a:off x="5867400" y="1143000"/>
              <a:ext cx="5124450" cy="457200"/>
            </a:xfrm>
            <a:custGeom>
              <a:avLst/>
              <a:gdLst/>
              <a:ahLst/>
              <a:cxnLst/>
              <a:rect l="l" t="t" r="r" b="b"/>
              <a:pathLst>
                <a:path w="5124450" h="457200">
                  <a:moveTo>
                    <a:pt x="95250" y="0"/>
                  </a:moveTo>
                  <a:lnTo>
                    <a:pt x="5029200" y="0"/>
                  </a:lnTo>
                  <a:cubicBezTo>
                    <a:pt x="5081805" y="0"/>
                    <a:pt x="5124450" y="42645"/>
                    <a:pt x="5124450" y="95250"/>
                  </a:cubicBezTo>
                  <a:lnTo>
                    <a:pt x="5124450" y="457200"/>
                  </a:lnTo>
                  <a:lnTo>
                    <a:pt x="0" y="457200"/>
                  </a:lnTo>
                  <a:lnTo>
                    <a:pt x="0" y="95250"/>
                  </a:lnTo>
                  <a:cubicBezTo>
                    <a:pt x="0" y="42645"/>
                    <a:pt x="42645" y="0"/>
                    <a:pt x="95250" y="0"/>
                  </a:cubicBezTo>
                  <a:close/>
                </a:path>
              </a:pathLst>
            </a:custGeom>
            <a:solidFill>
              <a:srgbClr val="009682"/>
            </a:solidFill>
            <a:ln>
              <a:noFill/>
            </a:ln>
          </p:spPr>
          <p:txBody>
            <a:bodyPr/>
            <a:lstStyle/>
            <a:p>
              <a:endParaRPr lang="zh-CN" altLang="en-US"/>
            </a:p>
          </p:txBody>
        </p:sp>
        <p:sp>
          <p:nvSpPr>
            <p:cNvPr id="45" name="TextBox 45"/>
            <p:cNvSpPr txBox="1"/>
            <p:nvPr/>
          </p:nvSpPr>
          <p:spPr>
            <a:xfrm>
              <a:off x="6024562" y="1316831"/>
              <a:ext cx="2036951"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Field / type / requirement</a:t>
              </a:r>
            </a:p>
          </p:txBody>
        </p:sp>
        <p:sp>
          <p:nvSpPr>
            <p:cNvPr id="46" name="TextBox 46"/>
            <p:cNvSpPr txBox="1"/>
            <p:nvPr/>
          </p:nvSpPr>
          <p:spPr>
            <a:xfrm>
              <a:off x="8177212" y="1316831"/>
              <a:ext cx="1895183"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Purpose and empty value</a:t>
              </a:r>
            </a:p>
          </p:txBody>
        </p:sp>
        <p:sp>
          <p:nvSpPr>
            <p:cNvPr id="47" name="Rectangle 47"/>
            <p:cNvSpPr/>
            <p:nvPr/>
          </p:nvSpPr>
          <p:spPr>
            <a:xfrm>
              <a:off x="5867400" y="1600200"/>
              <a:ext cx="5124450" cy="809625"/>
            </a:xfrm>
            <a:prstGeom prst="rect">
              <a:avLst/>
            </a:prstGeom>
            <a:solidFill>
              <a:srgbClr val="EAF6F4"/>
            </a:solidFill>
            <a:ln>
              <a:noFill/>
            </a:ln>
          </p:spPr>
          <p:txBody>
            <a:bodyPr/>
            <a:lstStyle/>
            <a:p>
              <a:endParaRPr lang="zh-CN" altLang="en-US"/>
            </a:p>
          </p:txBody>
        </p:sp>
        <p:sp>
          <p:nvSpPr>
            <p:cNvPr id="48" name="TextBox 48"/>
            <p:cNvSpPr txBox="1"/>
            <p:nvPr/>
          </p:nvSpPr>
          <p:spPr>
            <a:xfrm>
              <a:off x="6024562" y="1745456"/>
              <a:ext cx="776794"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tool_calls</a:t>
              </a:r>
            </a:p>
          </p:txBody>
        </p:sp>
        <p:sp>
          <p:nvSpPr>
            <p:cNvPr id="49" name="TextBox 49"/>
            <p:cNvSpPr txBox="1"/>
            <p:nvPr/>
          </p:nvSpPr>
          <p:spPr>
            <a:xfrm>
              <a:off x="6026468" y="1999774"/>
              <a:ext cx="1084397"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list · conditional</a:t>
              </a:r>
            </a:p>
          </p:txBody>
        </p:sp>
        <p:sp>
          <p:nvSpPr>
            <p:cNvPr id="50" name="TextBox 50"/>
            <p:cNvSpPr txBox="1"/>
            <p:nvPr/>
          </p:nvSpPr>
          <p:spPr>
            <a:xfrm>
              <a:off x="8177212" y="1745456"/>
              <a:ext cx="2826425"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Actual tool input, result, and status.</a:t>
              </a:r>
            </a:p>
          </p:txBody>
        </p:sp>
        <p:sp>
          <p:nvSpPr>
            <p:cNvPr id="51" name="TextBox 51"/>
            <p:cNvSpPr txBox="1"/>
            <p:nvPr/>
          </p:nvSpPr>
          <p:spPr>
            <a:xfrm>
              <a:off x="8179118" y="1999774"/>
              <a:ext cx="973884"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 tool call: []</a:t>
              </a:r>
            </a:p>
          </p:txBody>
        </p:sp>
        <p:sp>
          <p:nvSpPr>
            <p:cNvPr id="52" name="Rectangle 52"/>
            <p:cNvSpPr/>
            <p:nvPr/>
          </p:nvSpPr>
          <p:spPr>
            <a:xfrm>
              <a:off x="5867400" y="2409825"/>
              <a:ext cx="5124450" cy="809625"/>
            </a:xfrm>
            <a:prstGeom prst="rect">
              <a:avLst/>
            </a:prstGeom>
            <a:solidFill>
              <a:srgbClr val="F4F7F8"/>
            </a:solidFill>
            <a:ln>
              <a:noFill/>
            </a:ln>
          </p:spPr>
          <p:txBody>
            <a:bodyPr/>
            <a:lstStyle/>
            <a:p>
              <a:endParaRPr lang="zh-CN" altLang="en-US"/>
            </a:p>
          </p:txBody>
        </p:sp>
        <p:sp>
          <p:nvSpPr>
            <p:cNvPr id="53" name="TextBox 53"/>
            <p:cNvSpPr txBox="1"/>
            <p:nvPr/>
          </p:nvSpPr>
          <p:spPr>
            <a:xfrm>
              <a:off x="6024562" y="2555081"/>
              <a:ext cx="1477756"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identified_entities</a:t>
              </a:r>
            </a:p>
          </p:txBody>
        </p:sp>
        <p:sp>
          <p:nvSpPr>
            <p:cNvPr id="54" name="TextBox 54"/>
            <p:cNvSpPr txBox="1"/>
            <p:nvPr/>
          </p:nvSpPr>
          <p:spPr>
            <a:xfrm>
              <a:off x="6026468" y="2809399"/>
              <a:ext cx="902375"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list · optional</a:t>
              </a:r>
            </a:p>
          </p:txBody>
        </p:sp>
        <p:sp>
          <p:nvSpPr>
            <p:cNvPr id="55" name="TextBox 55"/>
            <p:cNvSpPr txBox="1"/>
            <p:nvPr/>
          </p:nvSpPr>
          <p:spPr>
            <a:xfrm>
              <a:off x="8177212" y="2555081"/>
              <a:ext cx="2631400"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Entities produced by the workflow.</a:t>
              </a:r>
            </a:p>
          </p:txBody>
        </p:sp>
        <p:sp>
          <p:nvSpPr>
            <p:cNvPr id="56" name="TextBox 56"/>
            <p:cNvSpPr txBox="1"/>
            <p:nvPr/>
          </p:nvSpPr>
          <p:spPr>
            <a:xfrm>
              <a:off x="8179118" y="2809399"/>
              <a:ext cx="1103900"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Not recorded: []</a:t>
              </a:r>
            </a:p>
          </p:txBody>
        </p:sp>
        <p:sp>
          <p:nvSpPr>
            <p:cNvPr id="57" name="Rectangle 57"/>
            <p:cNvSpPr/>
            <p:nvPr/>
          </p:nvSpPr>
          <p:spPr>
            <a:xfrm>
              <a:off x="5867400" y="3219450"/>
              <a:ext cx="5124450" cy="809625"/>
            </a:xfrm>
            <a:prstGeom prst="rect">
              <a:avLst/>
            </a:prstGeom>
            <a:solidFill>
              <a:srgbClr val="EAF6F4"/>
            </a:solidFill>
            <a:ln>
              <a:noFill/>
            </a:ln>
          </p:spPr>
          <p:txBody>
            <a:bodyPr/>
            <a:lstStyle/>
            <a:p>
              <a:endParaRPr lang="zh-CN" altLang="en-US"/>
            </a:p>
          </p:txBody>
        </p:sp>
        <p:sp>
          <p:nvSpPr>
            <p:cNvPr id="58" name="TextBox 58"/>
            <p:cNvSpPr txBox="1"/>
            <p:nvPr/>
          </p:nvSpPr>
          <p:spPr>
            <a:xfrm>
              <a:off x="6024562" y="3364706"/>
              <a:ext cx="1469880"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selected_relations</a:t>
              </a:r>
            </a:p>
          </p:txBody>
        </p:sp>
        <p:sp>
          <p:nvSpPr>
            <p:cNvPr id="59" name="TextBox 59"/>
            <p:cNvSpPr txBox="1"/>
            <p:nvPr/>
          </p:nvSpPr>
          <p:spPr>
            <a:xfrm>
              <a:off x="6026468" y="3619024"/>
              <a:ext cx="902375"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list · optional</a:t>
              </a:r>
            </a:p>
          </p:txBody>
        </p:sp>
        <p:sp>
          <p:nvSpPr>
            <p:cNvPr id="60" name="TextBox 60"/>
            <p:cNvSpPr txBox="1"/>
            <p:nvPr/>
          </p:nvSpPr>
          <p:spPr>
            <a:xfrm>
              <a:off x="8177212" y="3364706"/>
              <a:ext cx="267640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Relations selected by the workflow.</a:t>
              </a:r>
            </a:p>
          </p:txBody>
        </p:sp>
        <p:sp>
          <p:nvSpPr>
            <p:cNvPr id="61" name="TextBox 61"/>
            <p:cNvSpPr txBox="1"/>
            <p:nvPr/>
          </p:nvSpPr>
          <p:spPr>
            <a:xfrm>
              <a:off x="8179118" y="3619024"/>
              <a:ext cx="1103900"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Not recorded: []</a:t>
              </a:r>
            </a:p>
          </p:txBody>
        </p:sp>
        <p:sp>
          <p:nvSpPr>
            <p:cNvPr id="62" name="Rectangle 62"/>
            <p:cNvSpPr/>
            <p:nvPr/>
          </p:nvSpPr>
          <p:spPr>
            <a:xfrm>
              <a:off x="5867400" y="4029075"/>
              <a:ext cx="5124450" cy="809625"/>
            </a:xfrm>
            <a:prstGeom prst="rect">
              <a:avLst/>
            </a:prstGeom>
            <a:solidFill>
              <a:srgbClr val="F4F7F8"/>
            </a:solidFill>
            <a:ln>
              <a:noFill/>
            </a:ln>
          </p:spPr>
          <p:txBody>
            <a:bodyPr/>
            <a:lstStyle/>
            <a:p>
              <a:endParaRPr lang="zh-CN" altLang="en-US"/>
            </a:p>
          </p:txBody>
        </p:sp>
        <p:sp>
          <p:nvSpPr>
            <p:cNvPr id="63" name="TextBox 63"/>
            <p:cNvSpPr txBox="1"/>
            <p:nvPr/>
          </p:nvSpPr>
          <p:spPr>
            <a:xfrm>
              <a:off x="6024562" y="4174331"/>
              <a:ext cx="1028825"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subquestions</a:t>
              </a:r>
            </a:p>
          </p:txBody>
        </p:sp>
        <p:sp>
          <p:nvSpPr>
            <p:cNvPr id="64" name="TextBox 64"/>
            <p:cNvSpPr txBox="1"/>
            <p:nvPr/>
          </p:nvSpPr>
          <p:spPr>
            <a:xfrm>
              <a:off x="6026468" y="4428649"/>
              <a:ext cx="902375"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list · optional</a:t>
              </a:r>
            </a:p>
          </p:txBody>
        </p:sp>
        <p:sp>
          <p:nvSpPr>
            <p:cNvPr id="65" name="TextBox 65"/>
            <p:cNvSpPr txBox="1"/>
            <p:nvPr/>
          </p:nvSpPr>
          <p:spPr>
            <a:xfrm>
              <a:off x="8177212" y="4174331"/>
              <a:ext cx="2571393"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Explicit subquestions or subtasks.</a:t>
              </a:r>
            </a:p>
          </p:txBody>
        </p:sp>
        <p:sp>
          <p:nvSpPr>
            <p:cNvPr id="66" name="TextBox 66"/>
            <p:cNvSpPr txBox="1"/>
            <p:nvPr/>
          </p:nvSpPr>
          <p:spPr>
            <a:xfrm>
              <a:off x="8179118" y="4428649"/>
              <a:ext cx="1350931"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 decomposition: []</a:t>
              </a:r>
            </a:p>
          </p:txBody>
        </p:sp>
        <p:sp>
          <p:nvSpPr>
            <p:cNvPr id="67" name="Rectangle 67"/>
            <p:cNvSpPr/>
            <p:nvPr/>
          </p:nvSpPr>
          <p:spPr>
            <a:xfrm>
              <a:off x="5867400" y="4838700"/>
              <a:ext cx="5124450" cy="819150"/>
            </a:xfrm>
            <a:prstGeom prst="rect">
              <a:avLst/>
            </a:prstGeom>
            <a:solidFill>
              <a:srgbClr val="EAF6F4"/>
            </a:solidFill>
            <a:ln>
              <a:noFill/>
            </a:ln>
          </p:spPr>
          <p:txBody>
            <a:bodyPr/>
            <a:lstStyle/>
            <a:p>
              <a:endParaRPr lang="zh-CN" altLang="en-US"/>
            </a:p>
          </p:txBody>
        </p:sp>
        <p:sp>
          <p:nvSpPr>
            <p:cNvPr id="68" name="TextBox 68"/>
            <p:cNvSpPr txBox="1"/>
            <p:nvPr/>
          </p:nvSpPr>
          <p:spPr>
            <a:xfrm>
              <a:off x="6024562" y="4983956"/>
              <a:ext cx="894933"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error_type</a:t>
              </a:r>
            </a:p>
          </p:txBody>
        </p:sp>
        <p:sp>
          <p:nvSpPr>
            <p:cNvPr id="69" name="TextBox 69"/>
            <p:cNvSpPr txBox="1"/>
            <p:nvPr/>
          </p:nvSpPr>
          <p:spPr>
            <a:xfrm>
              <a:off x="6026468" y="5238274"/>
              <a:ext cx="1227415"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single · conditional</a:t>
              </a:r>
            </a:p>
          </p:txBody>
        </p:sp>
        <p:sp>
          <p:nvSpPr>
            <p:cNvPr id="70" name="TextBox 70"/>
            <p:cNvSpPr txBox="1"/>
            <p:nvPr/>
          </p:nvSpPr>
          <p:spPr>
            <a:xfrm>
              <a:off x="8177212" y="4983956"/>
              <a:ext cx="2646402"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Main query, tool, or parsing error.</a:t>
              </a:r>
            </a:p>
          </p:txBody>
        </p:sp>
        <p:sp>
          <p:nvSpPr>
            <p:cNvPr id="71" name="TextBox 71"/>
            <p:cNvSpPr txBox="1"/>
            <p:nvPr/>
          </p:nvSpPr>
          <p:spPr>
            <a:xfrm>
              <a:off x="8179118" y="5238274"/>
              <a:ext cx="895874" cy="198120"/>
            </a:xfrm>
            <a:prstGeom prst="rect">
              <a:avLst/>
            </a:prstGeom>
            <a:noFill/>
            <a:ln>
              <a:noFill/>
            </a:ln>
          </p:spPr>
          <p:txBody>
            <a:bodyPr wrap="none" lIns="0" tIns="0" rIns="0" bIns="0" anchor="t" anchorCtr="0">
              <a:spAutoFit/>
            </a:bodyPr>
            <a:lstStyle/>
            <a:p>
              <a:pPr algn="l"/>
              <a:r>
                <a:rPr lang="zh-CN" sz="975" dirty="0">
                  <a:solidFill>
                    <a:srgbClr val="526671"/>
                  </a:solidFill>
                  <a:latin typeface="Arial"/>
                  <a:ea typeface="Microsoft YaHei"/>
                  <a:cs typeface="Arial"/>
                </a:rPr>
                <a:t>No error: null</a:t>
              </a:r>
            </a:p>
          </p:txBody>
        </p:sp>
      </p:grpSp>
      <p:grpSp>
        <p:nvGrpSpPr>
          <p:cNvPr id="75" name="Group 75"/>
          <p:cNvGrpSpPr/>
          <p:nvPr/>
        </p:nvGrpSpPr>
        <p:grpSpPr>
          <a:xfrm>
            <a:off x="609600" y="5829300"/>
            <a:ext cx="10382250" cy="495300"/>
            <a:chOff x="609600" y="5829300"/>
            <a:chExt cx="10382250" cy="495300"/>
          </a:xfrm>
        </p:grpSpPr>
        <p:sp>
          <p:nvSpPr>
            <p:cNvPr id="73" name="Rectangle 73"/>
            <p:cNvSpPr/>
            <p:nvPr/>
          </p:nvSpPr>
          <p:spPr>
            <a:xfrm>
              <a:off x="609600" y="5829300"/>
              <a:ext cx="10382250" cy="495300"/>
            </a:xfrm>
            <a:prstGeom prst="roundRect">
              <a:avLst>
                <a:gd name="adj" fmla="val 15385"/>
              </a:avLst>
            </a:prstGeom>
            <a:solidFill>
              <a:srgbClr val="002D4C"/>
            </a:solidFill>
            <a:ln>
              <a:noFill/>
            </a:ln>
          </p:spPr>
          <p:txBody>
            <a:bodyPr/>
            <a:lstStyle/>
            <a:p>
              <a:endParaRPr lang="zh-CN" altLang="en-US"/>
            </a:p>
          </p:txBody>
        </p:sp>
        <p:sp>
          <p:nvSpPr>
            <p:cNvPr id="74" name="TextBox 74"/>
            <p:cNvSpPr txBox="1"/>
            <p:nvPr/>
          </p:nvSpPr>
          <p:spPr>
            <a:xfrm>
              <a:off x="1342727" y="5996464"/>
              <a:ext cx="8915995"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answer_status</a:t>
              </a:r>
              <a:r>
                <a:rPr lang="zh-CN" sz="1275" dirty="0">
                  <a:solidFill>
                    <a:srgbClr val="FFFFFF"/>
                  </a:solidFill>
                  <a:latin typeface="Arial"/>
                  <a:ea typeface="Microsoft YaHei"/>
                  <a:cs typeface="Arial"/>
                </a:rPr>
                <a:t> describes whether an answer exists; </a:t>
              </a:r>
              <a:r>
                <a:rPr lang="zh-CN" sz="1275" b="1" dirty="0">
                  <a:solidFill>
                    <a:srgbClr val="FFFFFF"/>
                  </a:solidFill>
                  <a:latin typeface="Arial"/>
                  <a:ea typeface="Microsoft YaHei"/>
                  <a:cs typeface="Arial"/>
                </a:rPr>
                <a:t>execution_status</a:t>
              </a:r>
              <a:r>
                <a:rPr lang="zh-CN" sz="1275" dirty="0">
                  <a:solidFill>
                    <a:srgbClr val="FFFFFF"/>
                  </a:solidFill>
                  <a:latin typeface="Arial"/>
                  <a:ea typeface="Microsoft YaHei"/>
                  <a:cs typeface="Arial"/>
                </a:rPr>
                <a:t> describes whether the run worked.</a:t>
              </a:r>
            </a:p>
          </p:txBody>
        </p:sp>
      </p:grpSp>
      <p:sp>
        <p:nvSpPr>
          <p:cNvPr id="76" name="TextBox 76"/>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7" name="TextBox 52">
            <a:extLst>
              <a:ext uri="{FF2B5EF4-FFF2-40B4-BE49-F238E27FC236}">
                <a16:creationId xmlns:a16="http://schemas.microsoft.com/office/drawing/2014/main" id="{C05B7CE4-27EE-073F-9158-55082E5AA3B8}"/>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13</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400"/>
                                        <p:tgtEl>
                                          <p:spTgt spid="4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left)">
                                      <p:cBhvr>
                                        <p:cTn id="11"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7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9120" y="350520"/>
            <a:ext cx="6966585" cy="678180"/>
            <a:chOff x="579120" y="350520"/>
            <a:chExt cx="6966585" cy="678180"/>
          </a:xfrm>
        </p:grpSpPr>
        <p:sp>
          <p:nvSpPr>
            <p:cNvPr id="5" name="TextBox 5"/>
            <p:cNvSpPr txBox="1"/>
            <p:nvPr/>
          </p:nvSpPr>
          <p:spPr>
            <a:xfrm>
              <a:off x="579120" y="350520"/>
              <a:ext cx="3596947" cy="369332"/>
            </a:xfrm>
            <a:prstGeom prst="rect">
              <a:avLst/>
            </a:prstGeom>
            <a:noFill/>
            <a:ln>
              <a:noFill/>
            </a:ln>
          </p:spPr>
          <p:txBody>
            <a:bodyPr wrap="none" lIns="0" tIns="0" rIns="0" bIns="0" anchor="t" anchorCtr="0">
              <a:spAutoFit/>
            </a:bodyPr>
            <a:lstStyle/>
            <a:p>
              <a:pPr algn="l"/>
              <a:r>
                <a:rPr lang="en-US" altLang="zh-CN" sz="2400" b="1" dirty="0">
                  <a:solidFill>
                    <a:srgbClr val="002D4C"/>
                  </a:solidFill>
                  <a:latin typeface="Arial"/>
                  <a:ea typeface="Microsoft YaHei"/>
                  <a:cs typeface="Arial"/>
                </a:rPr>
                <a:t>Structured Answer</a:t>
              </a:r>
              <a:r>
                <a:rPr lang="zh-CN" altLang="en-US" sz="2400" b="1" dirty="0">
                  <a:solidFill>
                    <a:srgbClr val="002D4C"/>
                  </a:solidFill>
                  <a:latin typeface="Arial"/>
                  <a:ea typeface="Microsoft YaHei"/>
                  <a:cs typeface="Arial"/>
                </a:rPr>
                <a:t> </a:t>
              </a:r>
              <a:r>
                <a:rPr lang="en-US" altLang="zh-CN" sz="2400" b="1" dirty="0">
                  <a:solidFill>
                    <a:srgbClr val="002D4C"/>
                  </a:solidFill>
                  <a:latin typeface="Arial"/>
                  <a:ea typeface="Microsoft YaHei"/>
                  <a:cs typeface="Arial"/>
                </a:rPr>
                <a:t>Node</a:t>
              </a:r>
            </a:p>
          </p:txBody>
        </p:sp>
        <p:sp>
          <p:nvSpPr>
            <p:cNvPr id="6" name="TextBox 6"/>
            <p:cNvSpPr txBox="1"/>
            <p:nvPr/>
          </p:nvSpPr>
          <p:spPr>
            <a:xfrm>
              <a:off x="594360" y="784860"/>
              <a:ext cx="6951345" cy="243840"/>
            </a:xfrm>
            <a:prstGeom prst="rect">
              <a:avLst/>
            </a:prstGeom>
            <a:noFill/>
            <a:ln>
              <a:noFill/>
            </a:ln>
          </p:spPr>
          <p:txBody>
            <a:bodyPr wrap="none" lIns="0" tIns="0" rIns="0" bIns="0" anchor="t" anchorCtr="0">
              <a:spAutoFit/>
            </a:bodyPr>
            <a:lstStyle/>
            <a:p>
              <a:pPr algn="l"/>
              <a:r>
                <a:rPr lang="zh-CN" sz="1200" dirty="0">
                  <a:solidFill>
                    <a:srgbClr val="526671"/>
                  </a:solidFill>
                  <a:latin typeface="Arial"/>
                  <a:ea typeface="Microsoft YaHei"/>
                  <a:cs typeface="Arial"/>
                </a:rPr>
                <a:t>A structured result is normalized before the final natural-language answer is generated</a:t>
              </a:r>
            </a:p>
          </p:txBody>
        </p:sp>
      </p:grpSp>
      <p:grpSp>
        <p:nvGrpSpPr>
          <p:cNvPr id="10" name="Group 10"/>
          <p:cNvGrpSpPr/>
          <p:nvPr/>
        </p:nvGrpSpPr>
        <p:grpSpPr>
          <a:xfrm>
            <a:off x="3200043" y="1379220"/>
            <a:ext cx="1715213" cy="563881"/>
            <a:chOff x="3200043" y="1379220"/>
            <a:chExt cx="1715213" cy="563881"/>
          </a:xfrm>
        </p:grpSpPr>
        <p:sp>
          <p:nvSpPr>
            <p:cNvPr id="8" name="TextBox 8"/>
            <p:cNvSpPr txBox="1"/>
            <p:nvPr/>
          </p:nvSpPr>
          <p:spPr>
            <a:xfrm>
              <a:off x="3200043" y="1379220"/>
              <a:ext cx="1715213" cy="169277"/>
            </a:xfrm>
            <a:prstGeom prst="rect">
              <a:avLst/>
            </a:prstGeom>
            <a:noFill/>
            <a:ln>
              <a:noFill/>
            </a:ln>
          </p:spPr>
          <p:txBody>
            <a:bodyPr wrap="none" lIns="0" tIns="0" rIns="0" bIns="0" anchor="t" anchorCtr="0">
              <a:spAutoFit/>
            </a:bodyPr>
            <a:lstStyle/>
            <a:p>
              <a:pPr algn="ctr"/>
              <a:r>
                <a:rPr lang="zh-CN" sz="1100" b="1" dirty="0">
                  <a:solidFill>
                    <a:srgbClr val="526671"/>
                  </a:solidFill>
                  <a:latin typeface="Arial"/>
                  <a:ea typeface="Microsoft YaHei"/>
                  <a:cs typeface="Arial"/>
                </a:rPr>
                <a:t>Structured answer output</a:t>
              </a:r>
            </a:p>
          </p:txBody>
        </p:sp>
        <p:sp>
          <p:nvSpPr>
            <p:cNvPr id="9" name="Line 9"/>
            <p:cNvSpPr/>
            <p:nvPr/>
          </p:nvSpPr>
          <p:spPr>
            <a:xfrm>
              <a:off x="3619500" y="1943100"/>
              <a:ext cx="809625" cy="1"/>
            </a:xfrm>
            <a:prstGeom prst="line">
              <a:avLst/>
            </a:prstGeom>
            <a:noFill/>
            <a:ln w="28575">
              <a:solidFill>
                <a:srgbClr val="009682"/>
              </a:solidFill>
              <a:tailEnd type="triangle" w="lg" len="lg"/>
            </a:ln>
          </p:spPr>
          <p:txBody>
            <a:bodyPr/>
            <a:lstStyle/>
            <a:p>
              <a:endParaRPr lang="zh-CN" altLang="en-US"/>
            </a:p>
          </p:txBody>
        </p:sp>
      </p:grpSp>
      <p:grpSp>
        <p:nvGrpSpPr>
          <p:cNvPr id="13" name="Group 13"/>
          <p:cNvGrpSpPr/>
          <p:nvPr/>
        </p:nvGrpSpPr>
        <p:grpSpPr>
          <a:xfrm>
            <a:off x="5697604" y="1379220"/>
            <a:ext cx="1463542" cy="563881"/>
            <a:chOff x="5697604" y="1379220"/>
            <a:chExt cx="1463542" cy="563881"/>
          </a:xfrm>
        </p:grpSpPr>
        <p:sp>
          <p:nvSpPr>
            <p:cNvPr id="11" name="TextBox 11"/>
            <p:cNvSpPr txBox="1"/>
            <p:nvPr/>
          </p:nvSpPr>
          <p:spPr>
            <a:xfrm>
              <a:off x="5697604" y="1379220"/>
              <a:ext cx="1463542" cy="169277"/>
            </a:xfrm>
            <a:prstGeom prst="rect">
              <a:avLst/>
            </a:prstGeom>
            <a:noFill/>
            <a:ln>
              <a:noFill/>
            </a:ln>
          </p:spPr>
          <p:txBody>
            <a:bodyPr wrap="none" lIns="0" tIns="0" rIns="0" bIns="0" anchor="t" anchorCtr="0">
              <a:spAutoFit/>
            </a:bodyPr>
            <a:lstStyle/>
            <a:p>
              <a:pPr algn="ctr"/>
              <a:r>
                <a:rPr lang="zh-CN" sz="1100" b="1" dirty="0">
                  <a:solidFill>
                    <a:srgbClr val="526671"/>
                  </a:solidFill>
                  <a:latin typeface="Arial"/>
                  <a:ea typeface="Microsoft YaHei"/>
                  <a:cs typeface="Arial"/>
                </a:rPr>
                <a:t>Answer normalization</a:t>
              </a:r>
            </a:p>
          </p:txBody>
        </p:sp>
        <p:sp>
          <p:nvSpPr>
            <p:cNvPr id="12" name="Line 12"/>
            <p:cNvSpPr/>
            <p:nvPr/>
          </p:nvSpPr>
          <p:spPr>
            <a:xfrm>
              <a:off x="6000750" y="1943100"/>
              <a:ext cx="809625" cy="1"/>
            </a:xfrm>
            <a:prstGeom prst="line">
              <a:avLst/>
            </a:prstGeom>
            <a:noFill/>
            <a:ln w="28575">
              <a:solidFill>
                <a:srgbClr val="009682"/>
              </a:solidFill>
              <a:tailEnd type="triangle" w="lg" len="lg"/>
            </a:ln>
          </p:spPr>
          <p:txBody>
            <a:bodyPr/>
            <a:lstStyle/>
            <a:p>
              <a:endParaRPr lang="zh-CN" altLang="en-US"/>
            </a:p>
          </p:txBody>
        </p:sp>
      </p:grpSp>
      <p:grpSp>
        <p:nvGrpSpPr>
          <p:cNvPr id="16" name="Group 16"/>
          <p:cNvGrpSpPr/>
          <p:nvPr/>
        </p:nvGrpSpPr>
        <p:grpSpPr>
          <a:xfrm>
            <a:off x="7959209" y="1379220"/>
            <a:ext cx="1912383" cy="563881"/>
            <a:chOff x="7959209" y="1379220"/>
            <a:chExt cx="1912383" cy="563881"/>
          </a:xfrm>
        </p:grpSpPr>
        <p:sp>
          <p:nvSpPr>
            <p:cNvPr id="14" name="TextBox 14"/>
            <p:cNvSpPr txBox="1"/>
            <p:nvPr/>
          </p:nvSpPr>
          <p:spPr>
            <a:xfrm>
              <a:off x="7959209" y="1379220"/>
              <a:ext cx="1912383" cy="169277"/>
            </a:xfrm>
            <a:prstGeom prst="rect">
              <a:avLst/>
            </a:prstGeom>
            <a:noFill/>
            <a:ln>
              <a:noFill/>
            </a:ln>
          </p:spPr>
          <p:txBody>
            <a:bodyPr wrap="none" lIns="0" tIns="0" rIns="0" bIns="0" anchor="t" anchorCtr="0">
              <a:spAutoFit/>
            </a:bodyPr>
            <a:lstStyle/>
            <a:p>
              <a:pPr algn="ctr"/>
              <a:r>
                <a:rPr lang="zh-CN" sz="1100" b="1" dirty="0">
                  <a:solidFill>
                    <a:srgbClr val="526671"/>
                  </a:solidFill>
                  <a:latin typeface="Arial"/>
                  <a:ea typeface="Microsoft YaHei"/>
                  <a:cs typeface="Arial"/>
                </a:rPr>
                <a:t>Natural-language generation</a:t>
              </a:r>
            </a:p>
          </p:txBody>
        </p:sp>
        <p:sp>
          <p:nvSpPr>
            <p:cNvPr id="15" name="Line 15"/>
            <p:cNvSpPr/>
            <p:nvPr/>
          </p:nvSpPr>
          <p:spPr>
            <a:xfrm>
              <a:off x="8477250" y="1943100"/>
              <a:ext cx="809625" cy="1"/>
            </a:xfrm>
            <a:prstGeom prst="line">
              <a:avLst/>
            </a:prstGeom>
            <a:noFill/>
            <a:ln w="28575">
              <a:solidFill>
                <a:srgbClr val="009682"/>
              </a:solidFill>
              <a:tailEnd type="triangle" w="lg" len="lg"/>
            </a:ln>
          </p:spPr>
          <p:txBody>
            <a:bodyPr/>
            <a:lstStyle/>
            <a:p>
              <a:endParaRPr lang="zh-CN" altLang="en-US"/>
            </a:p>
          </p:txBody>
        </p:sp>
      </p:grpSp>
      <p:grpSp>
        <p:nvGrpSpPr>
          <p:cNvPr id="20" name="Group 20"/>
          <p:cNvGrpSpPr/>
          <p:nvPr/>
        </p:nvGrpSpPr>
        <p:grpSpPr>
          <a:xfrm>
            <a:off x="609600" y="1657350"/>
            <a:ext cx="3009900" cy="590550"/>
            <a:chOff x="609600" y="1657350"/>
            <a:chExt cx="3009900" cy="590550"/>
          </a:xfrm>
        </p:grpSpPr>
        <p:sp>
          <p:nvSpPr>
            <p:cNvPr id="17" name="Rectangle 17"/>
            <p:cNvSpPr/>
            <p:nvPr/>
          </p:nvSpPr>
          <p:spPr>
            <a:xfrm>
              <a:off x="609600" y="1657350"/>
              <a:ext cx="3009900" cy="590550"/>
            </a:xfrm>
            <a:prstGeom prst="roundRect">
              <a:avLst>
                <a:gd name="adj" fmla="val 12903"/>
              </a:avLst>
            </a:prstGeom>
            <a:solidFill>
              <a:srgbClr val="002D4C"/>
            </a:solidFill>
            <a:ln>
              <a:noFill/>
            </a:ln>
          </p:spPr>
          <p:txBody>
            <a:bodyPr/>
            <a:lstStyle/>
            <a:p>
              <a:endParaRPr lang="zh-CN" altLang="en-US"/>
            </a:p>
          </p:txBody>
        </p:sp>
        <p:sp>
          <p:nvSpPr>
            <p:cNvPr id="18" name="TextBox 18"/>
            <p:cNvSpPr txBox="1"/>
            <p:nvPr/>
          </p:nvSpPr>
          <p:spPr>
            <a:xfrm>
              <a:off x="737620" y="1763078"/>
              <a:ext cx="275386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Question Understanding · KG Retrieval</a:t>
              </a:r>
            </a:p>
          </p:txBody>
        </p:sp>
        <p:sp>
          <p:nvSpPr>
            <p:cNvPr id="19" name="TextBox 19"/>
            <p:cNvSpPr txBox="1"/>
            <p:nvPr/>
          </p:nvSpPr>
          <p:spPr>
            <a:xfrm>
              <a:off x="796427" y="1972628"/>
              <a:ext cx="263624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Result Integration · Answer Decision</a:t>
              </a:r>
            </a:p>
          </p:txBody>
        </p:sp>
      </p:grpSp>
      <p:grpSp>
        <p:nvGrpSpPr>
          <p:cNvPr id="23" name="Group 23"/>
          <p:cNvGrpSpPr/>
          <p:nvPr/>
        </p:nvGrpSpPr>
        <p:grpSpPr>
          <a:xfrm>
            <a:off x="4429125" y="1657350"/>
            <a:ext cx="1571625" cy="590550"/>
            <a:chOff x="4429125" y="1657350"/>
            <a:chExt cx="1571625" cy="590550"/>
          </a:xfrm>
        </p:grpSpPr>
        <p:sp>
          <p:nvSpPr>
            <p:cNvPr id="21" name="Rectangle 21"/>
            <p:cNvSpPr/>
            <p:nvPr/>
          </p:nvSpPr>
          <p:spPr>
            <a:xfrm>
              <a:off x="4429125" y="1657350"/>
              <a:ext cx="1571625" cy="590550"/>
            </a:xfrm>
            <a:prstGeom prst="roundRect">
              <a:avLst>
                <a:gd name="adj" fmla="val 12903"/>
              </a:avLst>
            </a:prstGeom>
            <a:solidFill>
              <a:srgbClr val="EAF6F4"/>
            </a:solidFill>
            <a:ln w="19050">
              <a:solidFill>
                <a:srgbClr val="009682"/>
              </a:solidFill>
            </a:ln>
          </p:spPr>
          <p:txBody>
            <a:bodyPr/>
            <a:lstStyle/>
            <a:p>
              <a:endParaRPr lang="zh-CN" altLang="en-US"/>
            </a:p>
          </p:txBody>
        </p:sp>
        <p:sp>
          <p:nvSpPr>
            <p:cNvPr id="22" name="TextBox 22"/>
            <p:cNvSpPr txBox="1"/>
            <p:nvPr/>
          </p:nvSpPr>
          <p:spPr>
            <a:xfrm>
              <a:off x="4593375" y="1888331"/>
              <a:ext cx="1233601" cy="228600"/>
            </a:xfrm>
            <a:prstGeom prst="rect">
              <a:avLst/>
            </a:prstGeom>
            <a:noFill/>
            <a:ln>
              <a:noFill/>
            </a:ln>
          </p:spPr>
          <p:txBody>
            <a:bodyPr wrap="none" lIns="0" tIns="0" rIns="0" bIns="0" anchor="t" anchorCtr="0">
              <a:spAutoFit/>
            </a:bodyPr>
            <a:lstStyle/>
            <a:p>
              <a:pPr algn="ctr"/>
              <a:r>
                <a:rPr lang="zh-CN" sz="1125" b="1" dirty="0">
                  <a:solidFill>
                    <a:srgbClr val="005A50"/>
                  </a:solidFill>
                  <a:latin typeface="Consolas"/>
                  <a:ea typeface="Microsoft YaHei"/>
                  <a:cs typeface="Consolas"/>
                </a:rPr>
                <a:t>answer_payload</a:t>
              </a:r>
            </a:p>
          </p:txBody>
        </p:sp>
      </p:grpSp>
      <p:grpSp>
        <p:nvGrpSpPr>
          <p:cNvPr id="26" name="Group 26"/>
          <p:cNvGrpSpPr/>
          <p:nvPr/>
        </p:nvGrpSpPr>
        <p:grpSpPr>
          <a:xfrm>
            <a:off x="6810375" y="1657350"/>
            <a:ext cx="1666875" cy="590550"/>
            <a:chOff x="6810375" y="1657350"/>
            <a:chExt cx="1666875" cy="590550"/>
          </a:xfrm>
        </p:grpSpPr>
        <p:sp>
          <p:nvSpPr>
            <p:cNvPr id="24" name="Rectangle 24"/>
            <p:cNvSpPr/>
            <p:nvPr/>
          </p:nvSpPr>
          <p:spPr>
            <a:xfrm>
              <a:off x="6810375" y="1657350"/>
              <a:ext cx="1666875" cy="590550"/>
            </a:xfrm>
            <a:prstGeom prst="roundRect">
              <a:avLst>
                <a:gd name="adj" fmla="val 12903"/>
              </a:avLst>
            </a:prstGeom>
            <a:solidFill>
              <a:srgbClr val="EAF6F4"/>
            </a:solidFill>
            <a:ln w="19050">
              <a:solidFill>
                <a:srgbClr val="009682"/>
              </a:solidFill>
            </a:ln>
          </p:spPr>
          <p:txBody>
            <a:bodyPr/>
            <a:lstStyle/>
            <a:p>
              <a:endParaRPr lang="zh-CN" altLang="en-US"/>
            </a:p>
          </p:txBody>
        </p:sp>
        <p:sp>
          <p:nvSpPr>
            <p:cNvPr id="25" name="TextBox 25"/>
            <p:cNvSpPr txBox="1"/>
            <p:nvPr/>
          </p:nvSpPr>
          <p:spPr>
            <a:xfrm>
              <a:off x="6935614" y="1888331"/>
              <a:ext cx="1406872" cy="228600"/>
            </a:xfrm>
            <a:prstGeom prst="rect">
              <a:avLst/>
            </a:prstGeom>
            <a:noFill/>
            <a:ln>
              <a:noFill/>
            </a:ln>
          </p:spPr>
          <p:txBody>
            <a:bodyPr wrap="none" lIns="0" tIns="0" rIns="0" bIns="0" anchor="t" anchorCtr="0">
              <a:spAutoFit/>
            </a:bodyPr>
            <a:lstStyle/>
            <a:p>
              <a:pPr algn="ctr"/>
              <a:r>
                <a:rPr lang="zh-CN" sz="1125" b="1" dirty="0">
                  <a:solidFill>
                    <a:srgbClr val="005A50"/>
                  </a:solidFill>
                  <a:latin typeface="Consolas"/>
                  <a:ea typeface="Microsoft YaHei"/>
                  <a:cs typeface="Consolas"/>
                </a:rPr>
                <a:t>predicted_answer</a:t>
              </a:r>
            </a:p>
          </p:txBody>
        </p:sp>
      </p:grpSp>
      <p:grpSp>
        <p:nvGrpSpPr>
          <p:cNvPr id="29" name="Group 29"/>
          <p:cNvGrpSpPr/>
          <p:nvPr/>
        </p:nvGrpSpPr>
        <p:grpSpPr>
          <a:xfrm>
            <a:off x="9286875" y="1657350"/>
            <a:ext cx="1857375" cy="590550"/>
            <a:chOff x="9286875" y="1657350"/>
            <a:chExt cx="1857375" cy="590550"/>
          </a:xfrm>
        </p:grpSpPr>
        <p:sp>
          <p:nvSpPr>
            <p:cNvPr id="27" name="Rectangle 27"/>
            <p:cNvSpPr/>
            <p:nvPr/>
          </p:nvSpPr>
          <p:spPr>
            <a:xfrm>
              <a:off x="9286875" y="1657350"/>
              <a:ext cx="1857375" cy="590550"/>
            </a:xfrm>
            <a:prstGeom prst="roundRect">
              <a:avLst>
                <a:gd name="adj" fmla="val 12903"/>
              </a:avLst>
            </a:prstGeom>
            <a:solidFill>
              <a:srgbClr val="002D4C"/>
            </a:solidFill>
            <a:ln>
              <a:noFill/>
            </a:ln>
          </p:spPr>
          <p:txBody>
            <a:bodyPr/>
            <a:lstStyle/>
            <a:p>
              <a:endParaRPr lang="zh-CN" altLang="en-US"/>
            </a:p>
          </p:txBody>
        </p:sp>
        <p:sp>
          <p:nvSpPr>
            <p:cNvPr id="28" name="TextBox 28"/>
            <p:cNvSpPr txBox="1"/>
            <p:nvPr/>
          </p:nvSpPr>
          <p:spPr>
            <a:xfrm>
              <a:off x="9483736" y="1888331"/>
              <a:ext cx="145412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Consolas"/>
                  <a:ea typeface="Microsoft YaHei"/>
                  <a:cs typeface="Consolas"/>
                </a:rPr>
                <a:t>final_answer_text</a:t>
              </a:r>
            </a:p>
          </p:txBody>
        </p:sp>
      </p:grpSp>
      <p:grpSp>
        <p:nvGrpSpPr>
          <p:cNvPr id="40" name="Group 40"/>
          <p:cNvGrpSpPr/>
          <p:nvPr/>
        </p:nvGrpSpPr>
        <p:grpSpPr>
          <a:xfrm>
            <a:off x="588645" y="2622232"/>
            <a:ext cx="10993755" cy="1761649"/>
            <a:chOff x="588645" y="2622232"/>
            <a:chExt cx="10993755" cy="1761649"/>
          </a:xfrm>
        </p:grpSpPr>
        <p:sp>
          <p:nvSpPr>
            <p:cNvPr id="30" name="TextBox 30"/>
            <p:cNvSpPr txBox="1"/>
            <p:nvPr/>
          </p:nvSpPr>
          <p:spPr>
            <a:xfrm>
              <a:off x="588645" y="2622232"/>
              <a:ext cx="1208606" cy="335280"/>
            </a:xfrm>
            <a:prstGeom prst="rect">
              <a:avLst/>
            </a:prstGeom>
            <a:noFill/>
            <a:ln>
              <a:noFill/>
            </a:ln>
          </p:spPr>
          <p:txBody>
            <a:bodyPr wrap="none" lIns="0" tIns="0" rIns="0" bIns="0" anchor="t" anchorCtr="0">
              <a:spAutoFit/>
            </a:bodyPr>
            <a:lstStyle/>
            <a:p>
              <a:pPr algn="l"/>
              <a:r>
                <a:rPr lang="zh-CN" sz="1650" b="1" dirty="0">
                  <a:solidFill>
                    <a:srgbClr val="002D4C"/>
                  </a:solidFill>
                  <a:latin typeface="Arial"/>
                  <a:ea typeface="Microsoft YaHei"/>
                  <a:cs typeface="Arial"/>
                </a:rPr>
                <a:t>Field roles</a:t>
              </a:r>
            </a:p>
          </p:txBody>
        </p:sp>
        <p:sp>
          <p:nvSpPr>
            <p:cNvPr id="31" name="Line 31"/>
            <p:cNvSpPr/>
            <p:nvPr/>
          </p:nvSpPr>
          <p:spPr>
            <a:xfrm>
              <a:off x="609600" y="2952750"/>
              <a:ext cx="10972800" cy="9525"/>
            </a:xfrm>
            <a:custGeom>
              <a:avLst/>
              <a:gdLst/>
              <a:ahLst/>
              <a:cxnLst/>
              <a:rect l="l" t="t" r="r" b="b"/>
              <a:pathLst>
                <a:path w="10972800" h="9525">
                  <a:moveTo>
                    <a:pt x="0" y="0"/>
                  </a:moveTo>
                  <a:lnTo>
                    <a:pt x="10972800" y="0"/>
                  </a:lnTo>
                </a:path>
              </a:pathLst>
            </a:custGeom>
            <a:noFill/>
            <a:ln w="19050">
              <a:solidFill>
                <a:srgbClr val="DAE1E6"/>
              </a:solidFill>
            </a:ln>
          </p:spPr>
          <p:txBody>
            <a:bodyPr/>
            <a:lstStyle/>
            <a:p>
              <a:endParaRPr lang="zh-CN" altLang="en-US"/>
            </a:p>
          </p:txBody>
        </p:sp>
        <p:sp>
          <p:nvSpPr>
            <p:cNvPr id="32" name="TextBox 32"/>
            <p:cNvSpPr txBox="1"/>
            <p:nvPr/>
          </p:nvSpPr>
          <p:spPr>
            <a:xfrm>
              <a:off x="767715" y="3172778"/>
              <a:ext cx="1151361"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answer_payload</a:t>
              </a:r>
            </a:p>
          </p:txBody>
        </p:sp>
        <p:sp>
          <p:nvSpPr>
            <p:cNvPr id="33" name="TextBox 33"/>
            <p:cNvSpPr txBox="1"/>
            <p:nvPr/>
          </p:nvSpPr>
          <p:spPr>
            <a:xfrm>
              <a:off x="3033712" y="3164681"/>
              <a:ext cx="1978819"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Original structured result</a:t>
              </a:r>
            </a:p>
          </p:txBody>
        </p:sp>
        <p:sp>
          <p:nvSpPr>
            <p:cNvPr id="34" name="Line 34"/>
            <p:cNvSpPr/>
            <p:nvPr/>
          </p:nvSpPr>
          <p:spPr>
            <a:xfrm>
              <a:off x="609600" y="3467100"/>
              <a:ext cx="10972800" cy="9525"/>
            </a:xfrm>
            <a:custGeom>
              <a:avLst/>
              <a:gdLst/>
              <a:ahLst/>
              <a:cxnLst/>
              <a:rect l="l" t="t" r="r" b="b"/>
              <a:pathLst>
                <a:path w="10972800" h="9525">
                  <a:moveTo>
                    <a:pt x="0" y="0"/>
                  </a:moveTo>
                  <a:lnTo>
                    <a:pt x="10972800" y="0"/>
                  </a:lnTo>
                </a:path>
              </a:pathLst>
            </a:custGeom>
            <a:noFill/>
            <a:ln w="9525">
              <a:solidFill>
                <a:srgbClr val="DAE1E6"/>
              </a:solidFill>
            </a:ln>
          </p:spPr>
          <p:txBody>
            <a:bodyPr/>
            <a:lstStyle/>
            <a:p>
              <a:endParaRPr lang="zh-CN" altLang="en-US"/>
            </a:p>
          </p:txBody>
        </p:sp>
        <p:sp>
          <p:nvSpPr>
            <p:cNvPr id="35" name="TextBox 35"/>
            <p:cNvSpPr txBox="1"/>
            <p:nvPr/>
          </p:nvSpPr>
          <p:spPr>
            <a:xfrm>
              <a:off x="767715" y="3668078"/>
              <a:ext cx="1313081"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predicted_answer</a:t>
              </a:r>
            </a:p>
          </p:txBody>
        </p:sp>
        <p:sp>
          <p:nvSpPr>
            <p:cNvPr id="36" name="TextBox 36"/>
            <p:cNvSpPr txBox="1"/>
            <p:nvPr/>
          </p:nvSpPr>
          <p:spPr>
            <a:xfrm>
              <a:off x="3033712" y="3659981"/>
              <a:ext cx="3096458"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Normalized input for automatic evaluation</a:t>
              </a:r>
            </a:p>
          </p:txBody>
        </p:sp>
        <p:sp>
          <p:nvSpPr>
            <p:cNvPr id="37" name="Line 37"/>
            <p:cNvSpPr/>
            <p:nvPr/>
          </p:nvSpPr>
          <p:spPr>
            <a:xfrm>
              <a:off x="609600" y="3962400"/>
              <a:ext cx="10972800" cy="9525"/>
            </a:xfrm>
            <a:custGeom>
              <a:avLst/>
              <a:gdLst/>
              <a:ahLst/>
              <a:cxnLst/>
              <a:rect l="l" t="t" r="r" b="b"/>
              <a:pathLst>
                <a:path w="10972800" h="9525">
                  <a:moveTo>
                    <a:pt x="0" y="0"/>
                  </a:moveTo>
                  <a:lnTo>
                    <a:pt x="10972800" y="0"/>
                  </a:lnTo>
                </a:path>
              </a:pathLst>
            </a:custGeom>
            <a:noFill/>
            <a:ln w="9525">
              <a:solidFill>
                <a:srgbClr val="DAE1E6"/>
              </a:solidFill>
            </a:ln>
          </p:spPr>
          <p:txBody>
            <a:bodyPr/>
            <a:lstStyle/>
            <a:p>
              <a:endParaRPr lang="zh-CN" altLang="en-US"/>
            </a:p>
          </p:txBody>
        </p:sp>
        <p:sp>
          <p:nvSpPr>
            <p:cNvPr id="38" name="TextBox 38"/>
            <p:cNvSpPr txBox="1"/>
            <p:nvPr/>
          </p:nvSpPr>
          <p:spPr>
            <a:xfrm>
              <a:off x="767715" y="4163378"/>
              <a:ext cx="1357186" cy="213360"/>
            </a:xfrm>
            <a:prstGeom prst="rect">
              <a:avLst/>
            </a:prstGeom>
            <a:noFill/>
            <a:ln>
              <a:noFill/>
            </a:ln>
          </p:spPr>
          <p:txBody>
            <a:bodyPr wrap="none" lIns="0" tIns="0" rIns="0" bIns="0" anchor="t" anchorCtr="0">
              <a:spAutoFit/>
            </a:bodyPr>
            <a:lstStyle/>
            <a:p>
              <a:pPr algn="l"/>
              <a:r>
                <a:rPr lang="zh-CN" sz="1050" b="1" dirty="0">
                  <a:solidFill>
                    <a:srgbClr val="005A50"/>
                  </a:solidFill>
                  <a:latin typeface="Consolas"/>
                  <a:ea typeface="Microsoft YaHei"/>
                  <a:cs typeface="Consolas"/>
                </a:rPr>
                <a:t>final_answer_text</a:t>
              </a:r>
            </a:p>
          </p:txBody>
        </p:sp>
        <p:sp>
          <p:nvSpPr>
            <p:cNvPr id="39" name="TextBox 39"/>
            <p:cNvSpPr txBox="1"/>
            <p:nvPr/>
          </p:nvSpPr>
          <p:spPr>
            <a:xfrm>
              <a:off x="3033712" y="4155281"/>
              <a:ext cx="2181344"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Readable answer for the user</a:t>
              </a:r>
            </a:p>
          </p:txBody>
        </p:sp>
      </p:grpSp>
      <p:grpSp>
        <p:nvGrpSpPr>
          <p:cNvPr id="48" name="Group 48"/>
          <p:cNvGrpSpPr/>
          <p:nvPr/>
        </p:nvGrpSpPr>
        <p:grpSpPr>
          <a:xfrm>
            <a:off x="609600" y="4507706"/>
            <a:ext cx="10972800" cy="1481138"/>
            <a:chOff x="609600" y="4507706"/>
            <a:chExt cx="10972800" cy="1481138"/>
          </a:xfrm>
        </p:grpSpPr>
        <p:sp>
          <p:nvSpPr>
            <p:cNvPr id="41" name="Rectangle 41"/>
            <p:cNvSpPr/>
            <p:nvPr/>
          </p:nvSpPr>
          <p:spPr>
            <a:xfrm>
              <a:off x="609600" y="4507706"/>
              <a:ext cx="10972800" cy="1481138"/>
            </a:xfrm>
            <a:prstGeom prst="roundRect">
              <a:avLst>
                <a:gd name="adj" fmla="val 6061"/>
              </a:avLst>
            </a:prstGeom>
            <a:solidFill>
              <a:srgbClr val="F4F7F8"/>
            </a:solidFill>
            <a:ln>
              <a:noFill/>
            </a:ln>
          </p:spPr>
          <p:txBody>
            <a:bodyPr/>
            <a:lstStyle/>
            <a:p>
              <a:endParaRPr lang="zh-CN" altLang="en-US"/>
            </a:p>
          </p:txBody>
        </p:sp>
        <p:sp>
          <p:nvSpPr>
            <p:cNvPr id="42" name="TextBox 42"/>
            <p:cNvSpPr txBox="1"/>
            <p:nvPr/>
          </p:nvSpPr>
          <p:spPr>
            <a:xfrm>
              <a:off x="767715" y="4557713"/>
              <a:ext cx="501720" cy="182880"/>
            </a:xfrm>
            <a:prstGeom prst="rect">
              <a:avLst/>
            </a:prstGeom>
            <a:noFill/>
            <a:ln>
              <a:noFill/>
            </a:ln>
          </p:spPr>
          <p:txBody>
            <a:bodyPr wrap="none" lIns="0" tIns="0" rIns="0" bIns="0" anchor="t" anchorCtr="0">
              <a:spAutoFit/>
            </a:bodyPr>
            <a:lstStyle/>
            <a:p>
              <a:pPr algn="l"/>
              <a:r>
                <a:rPr lang="zh-CN" sz="900" b="1" dirty="0">
                  <a:solidFill>
                    <a:srgbClr val="526671"/>
                  </a:solidFill>
                  <a:latin typeface="Arial"/>
                  <a:ea typeface="Microsoft YaHei"/>
                  <a:cs typeface="Arial"/>
                </a:rPr>
                <a:t>Example</a:t>
              </a:r>
            </a:p>
          </p:txBody>
        </p:sp>
        <p:sp>
          <p:nvSpPr>
            <p:cNvPr id="43" name="TextBox 43"/>
            <p:cNvSpPr txBox="1"/>
            <p:nvPr/>
          </p:nvSpPr>
          <p:spPr>
            <a:xfrm>
              <a:off x="787718" y="4790600"/>
              <a:ext cx="96274" cy="198120"/>
            </a:xfrm>
            <a:prstGeom prst="rect">
              <a:avLst/>
            </a:prstGeom>
            <a:noFill/>
            <a:ln>
              <a:noFill/>
            </a:ln>
          </p:spPr>
          <p:txBody>
            <a:bodyPr wrap="none" lIns="0" tIns="0" rIns="0" bIns="0" anchor="t" anchorCtr="0">
              <a:spAutoFit/>
            </a:bodyPr>
            <a:lstStyle/>
            <a:p>
              <a:pPr algn="l"/>
              <a:r>
                <a:rPr lang="zh-CN" sz="975" dirty="0">
                  <a:solidFill>
                    <a:srgbClr val="002D4C"/>
                  </a:solidFill>
                  <a:latin typeface="Consolas"/>
                  <a:ea typeface="Microsoft YaHei"/>
                  <a:cs typeface="Consolas"/>
                </a:rPr>
                <a:t>{</a:t>
              </a:r>
            </a:p>
          </p:txBody>
        </p:sp>
        <p:sp>
          <p:nvSpPr>
            <p:cNvPr id="44" name="TextBox 44"/>
            <p:cNvSpPr txBox="1"/>
            <p:nvPr/>
          </p:nvSpPr>
          <p:spPr>
            <a:xfrm>
              <a:off x="1015282" y="4948238"/>
              <a:ext cx="2131028" cy="198120"/>
            </a:xfrm>
            <a:prstGeom prst="rect">
              <a:avLst/>
            </a:prstGeom>
            <a:noFill/>
            <a:ln>
              <a:noFill/>
            </a:ln>
          </p:spPr>
          <p:txBody>
            <a:bodyPr wrap="none" lIns="0" tIns="0" rIns="0" bIns="0" anchor="t" anchorCtr="0">
              <a:spAutoFit/>
            </a:bodyPr>
            <a:lstStyle/>
            <a:p>
              <a:pPr algn="l"/>
              <a:r>
                <a:rPr lang="zh-CN" sz="975" dirty="0">
                  <a:solidFill>
                    <a:srgbClr val="002D4C"/>
                  </a:solidFill>
                  <a:latin typeface="Consolas"/>
                  <a:ea typeface="Microsoft YaHei"/>
                  <a:cs typeface="Consolas"/>
                </a:rPr>
                <a:t>"answer_payload": ["Agent_B"],</a:t>
              </a:r>
            </a:p>
          </p:txBody>
        </p:sp>
        <p:sp>
          <p:nvSpPr>
            <p:cNvPr id="45" name="TextBox 45"/>
            <p:cNvSpPr txBox="1"/>
            <p:nvPr/>
          </p:nvSpPr>
          <p:spPr>
            <a:xfrm>
              <a:off x="1015282" y="5195060"/>
              <a:ext cx="2274046" cy="198120"/>
            </a:xfrm>
            <a:prstGeom prst="rect">
              <a:avLst/>
            </a:prstGeom>
            <a:noFill/>
            <a:ln>
              <a:noFill/>
            </a:ln>
          </p:spPr>
          <p:txBody>
            <a:bodyPr wrap="none" lIns="0" tIns="0" rIns="0" bIns="0" anchor="t" anchorCtr="0">
              <a:spAutoFit/>
            </a:bodyPr>
            <a:lstStyle/>
            <a:p>
              <a:pPr algn="l"/>
              <a:r>
                <a:rPr lang="zh-CN" sz="975" dirty="0">
                  <a:solidFill>
                    <a:srgbClr val="002D4C"/>
                  </a:solidFill>
                  <a:latin typeface="Consolas"/>
                  <a:ea typeface="Microsoft YaHei"/>
                  <a:cs typeface="Consolas"/>
                </a:rPr>
                <a:t>"predicted_answer": ["Agent_B"],</a:t>
              </a:r>
            </a:p>
          </p:txBody>
        </p:sp>
        <p:sp>
          <p:nvSpPr>
            <p:cNvPr id="46" name="TextBox 46"/>
            <p:cNvSpPr txBox="1"/>
            <p:nvPr/>
          </p:nvSpPr>
          <p:spPr>
            <a:xfrm>
              <a:off x="1002827" y="5438445"/>
              <a:ext cx="406177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Consolas"/>
                  <a:ea typeface="Microsoft YaHei"/>
                  <a:cs typeface="Consolas"/>
                </a:rPr>
                <a:t>"final_answer_text": "Agent B can communicate with Agent A."</a:t>
              </a:r>
            </a:p>
          </p:txBody>
        </p:sp>
        <p:sp>
          <p:nvSpPr>
            <p:cNvPr id="47" name="TextBox 47"/>
            <p:cNvSpPr txBox="1"/>
            <p:nvPr/>
          </p:nvSpPr>
          <p:spPr>
            <a:xfrm>
              <a:off x="787127" y="5607826"/>
              <a:ext cx="96274" cy="198120"/>
            </a:xfrm>
            <a:prstGeom prst="rect">
              <a:avLst/>
            </a:prstGeom>
            <a:noFill/>
            <a:ln>
              <a:noFill/>
            </a:ln>
          </p:spPr>
          <p:txBody>
            <a:bodyPr wrap="none" lIns="0" tIns="0" rIns="0" bIns="0" anchor="t" anchorCtr="0">
              <a:spAutoFit/>
            </a:bodyPr>
            <a:lstStyle/>
            <a:p>
              <a:pPr algn="l"/>
              <a:r>
                <a:rPr lang="zh-CN" sz="975" dirty="0">
                  <a:solidFill>
                    <a:srgbClr val="002D4C"/>
                  </a:solidFill>
                  <a:latin typeface="Consolas"/>
                  <a:ea typeface="Microsoft YaHei"/>
                  <a:cs typeface="Consolas"/>
                </a:rPr>
                <a:t>}</a:t>
              </a:r>
            </a:p>
          </p:txBody>
        </p:sp>
      </p:grpSp>
      <p:sp>
        <p:nvSpPr>
          <p:cNvPr id="52" name="TextBox 52"/>
          <p:cNvSpPr txBox="1"/>
          <p:nvPr/>
        </p:nvSpPr>
        <p:spPr>
          <a:xfrm>
            <a:off x="600075" y="6567488"/>
            <a:ext cx="229433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Unified Agent Logging</a:t>
            </a:r>
          </a:p>
        </p:txBody>
      </p:sp>
      <p:sp>
        <p:nvSpPr>
          <p:cNvPr id="53" name="TextBox 52">
            <a:extLst>
              <a:ext uri="{FF2B5EF4-FFF2-40B4-BE49-F238E27FC236}">
                <a16:creationId xmlns:a16="http://schemas.microsoft.com/office/drawing/2014/main" id="{CFE442CA-E1DA-356E-6DA8-17511B316D59}"/>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14</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400"/>
                                        <p:tgtEl>
                                          <p:spTgt spid="1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lide(fromBottom)">
                                      <p:cBhvr>
                                        <p:cTn id="15" dur="400"/>
                                        <p:tgtEl>
                                          <p:spTgt spid="16"/>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image">
                                      <p:cBhvr>
                                        <p:cTn id="19" dur="400"/>
                                        <p:tgtEl>
                                          <p:spTgt spid="20"/>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400"/>
                                        <p:tgtEl>
                                          <p:spTgt spid="26"/>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slide(fromBottom)">
                                      <p:cBhvr>
                                        <p:cTn id="31" dur="400"/>
                                        <p:tgtEl>
                                          <p:spTgt spid="29"/>
                                        </p:tgtEl>
                                      </p:cBhvr>
                                    </p:animEffect>
                                  </p:childTnLst>
                                </p:cTn>
                              </p:par>
                            </p:childTnLst>
                          </p:cTn>
                        </p:par>
                        <p:par>
                          <p:cTn id="32" fill="hold">
                            <p:stCondLst>
                              <p:cond delay="6300"/>
                            </p:stCondLst>
                            <p:childTnLst>
                              <p:par>
                                <p:cTn id="33" presetID="23" presetClass="entr" presetSubtype="0" fill="hold"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image">
                                      <p:cBhvr>
                                        <p:cTn id="35" dur="400"/>
                                        <p:tgtEl>
                                          <p:spTgt spid="40"/>
                                        </p:tgtEl>
                                      </p:cBhvr>
                                    </p:animEffect>
                                  </p:childTnLst>
                                </p:cTn>
                              </p:par>
                            </p:childTnLst>
                          </p:cTn>
                        </p:par>
                        <p:par>
                          <p:cTn id="36" fill="hold">
                            <p:stCondLst>
                              <p:cond delay="7200"/>
                            </p:stCondLst>
                            <p:childTnLst>
                              <p:par>
                                <p:cTn id="37" presetID="10" presetClass="entr" presetSubtype="0" fill="hold" nodeType="after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fade">
                                      <p:cBhvr>
                                        <p:cTn id="3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P spid="20" grpId="0"/>
      <p:bldP spid="23" grpId="0"/>
      <p:bldP spid="26" grpId="0"/>
      <p:bldP spid="29" grpId="0"/>
      <p:bldP spid="40"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7215" y="372428"/>
            <a:ext cx="7025402" cy="708660"/>
            <a:chOff x="577215" y="372428"/>
            <a:chExt cx="7025402" cy="708660"/>
          </a:xfrm>
        </p:grpSpPr>
        <p:sp>
          <p:nvSpPr>
            <p:cNvPr id="5" name="TextBox 5"/>
            <p:cNvSpPr txBox="1"/>
            <p:nvPr/>
          </p:nvSpPr>
          <p:spPr>
            <a:xfrm>
              <a:off x="577215" y="372428"/>
              <a:ext cx="6984635"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Tool Call Logging Records Actual KG Access</a:t>
              </a:r>
            </a:p>
          </p:txBody>
        </p:sp>
        <p:sp>
          <p:nvSpPr>
            <p:cNvPr id="6" name="TextBox 6"/>
            <p:cNvSpPr txBox="1"/>
            <p:nvPr/>
          </p:nvSpPr>
          <p:spPr>
            <a:xfrm>
              <a:off x="592455" y="806768"/>
              <a:ext cx="7010162"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Each tool call maps different Agent interfaces to a small set of common fields.</a:t>
              </a:r>
            </a:p>
          </p:txBody>
        </p:sp>
      </p:grpSp>
      <p:grpSp>
        <p:nvGrpSpPr>
          <p:cNvPr id="41" name="Group 41"/>
          <p:cNvGrpSpPr/>
          <p:nvPr/>
        </p:nvGrpSpPr>
        <p:grpSpPr>
          <a:xfrm>
            <a:off x="609600" y="1238250"/>
            <a:ext cx="10382250" cy="4019550"/>
            <a:chOff x="609600" y="1238250"/>
            <a:chExt cx="10382250" cy="4019550"/>
          </a:xfrm>
        </p:grpSpPr>
        <p:sp>
          <p:nvSpPr>
            <p:cNvPr id="8" name="Rectangle 8"/>
            <p:cNvSpPr/>
            <p:nvPr/>
          </p:nvSpPr>
          <p:spPr>
            <a:xfrm>
              <a:off x="609600" y="1238250"/>
              <a:ext cx="10382250" cy="4019550"/>
            </a:xfrm>
            <a:prstGeom prst="roundRect">
              <a:avLst>
                <a:gd name="adj" fmla="val 2370"/>
              </a:avLst>
            </a:prstGeom>
            <a:solidFill>
              <a:srgbClr val="FFFFFF"/>
            </a:solidFill>
            <a:ln w="19050">
              <a:solidFill>
                <a:srgbClr val="DAE1E6"/>
              </a:solidFill>
            </a:ln>
          </p:spPr>
          <p:txBody>
            <a:bodyPr/>
            <a:lstStyle/>
            <a:p>
              <a:endParaRPr lang="zh-CN" altLang="en-US"/>
            </a:p>
          </p:txBody>
        </p:sp>
        <p:sp>
          <p:nvSpPr>
            <p:cNvPr id="9" name="Freeform 9"/>
            <p:cNvSpPr/>
            <p:nvPr/>
          </p:nvSpPr>
          <p:spPr>
            <a:xfrm>
              <a:off x="609600" y="1238250"/>
              <a:ext cx="10382250" cy="476250"/>
            </a:xfrm>
            <a:custGeom>
              <a:avLst/>
              <a:gdLst/>
              <a:ahLst/>
              <a:cxnLst/>
              <a:rect l="l" t="t" r="r" b="b"/>
              <a:pathLst>
                <a:path w="10382250" h="476250">
                  <a:moveTo>
                    <a:pt x="95250" y="0"/>
                  </a:moveTo>
                  <a:lnTo>
                    <a:pt x="10287000" y="0"/>
                  </a:lnTo>
                  <a:cubicBezTo>
                    <a:pt x="10339605" y="0"/>
                    <a:pt x="10382250" y="42645"/>
                    <a:pt x="10382250" y="95250"/>
                  </a:cubicBezTo>
                  <a:lnTo>
                    <a:pt x="10382250" y="476250"/>
                  </a:lnTo>
                  <a:lnTo>
                    <a:pt x="0" y="476250"/>
                  </a:lnTo>
                  <a:lnTo>
                    <a:pt x="0" y="95250"/>
                  </a:lnTo>
                  <a:cubicBezTo>
                    <a:pt x="0" y="42645"/>
                    <a:pt x="42645" y="0"/>
                    <a:pt x="95250" y="0"/>
                  </a:cubicBezTo>
                  <a:close/>
                </a:path>
              </a:pathLst>
            </a:custGeom>
            <a:solidFill>
              <a:srgbClr val="002D4C"/>
            </a:solidFill>
            <a:ln>
              <a:noFill/>
            </a:ln>
          </p:spPr>
          <p:txBody>
            <a:bodyPr/>
            <a:lstStyle/>
            <a:p>
              <a:endParaRPr lang="zh-CN" altLang="en-US"/>
            </a:p>
          </p:txBody>
        </p:sp>
        <p:sp>
          <p:nvSpPr>
            <p:cNvPr id="10" name="TextBox 10"/>
            <p:cNvSpPr txBox="1"/>
            <p:nvPr/>
          </p:nvSpPr>
          <p:spPr>
            <a:xfrm>
              <a:off x="803910" y="1423035"/>
              <a:ext cx="408527"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Field</a:t>
              </a:r>
            </a:p>
          </p:txBody>
        </p:sp>
        <p:sp>
          <p:nvSpPr>
            <p:cNvPr id="11" name="TextBox 11"/>
            <p:cNvSpPr txBox="1"/>
            <p:nvPr/>
          </p:nvSpPr>
          <p:spPr>
            <a:xfrm>
              <a:off x="2842260" y="1423035"/>
              <a:ext cx="103860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Requirement</a:t>
              </a:r>
            </a:p>
          </p:txBody>
        </p:sp>
        <p:sp>
          <p:nvSpPr>
            <p:cNvPr id="12" name="TextBox 12"/>
            <p:cNvSpPr txBox="1"/>
            <p:nvPr/>
          </p:nvSpPr>
          <p:spPr>
            <a:xfrm>
              <a:off x="4747260" y="1423035"/>
              <a:ext cx="677361"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Purpose</a:t>
              </a:r>
            </a:p>
          </p:txBody>
        </p:sp>
        <p:sp>
          <p:nvSpPr>
            <p:cNvPr id="13" name="Rectangle 13"/>
            <p:cNvSpPr/>
            <p:nvPr/>
          </p:nvSpPr>
          <p:spPr>
            <a:xfrm>
              <a:off x="609600" y="1714500"/>
              <a:ext cx="10382250" cy="504825"/>
            </a:xfrm>
            <a:prstGeom prst="rect">
              <a:avLst/>
            </a:prstGeom>
            <a:solidFill>
              <a:srgbClr val="EAF6F4"/>
            </a:solidFill>
            <a:ln>
              <a:noFill/>
            </a:ln>
          </p:spPr>
          <p:txBody>
            <a:bodyPr/>
            <a:lstStyle/>
            <a:p>
              <a:endParaRPr lang="zh-CN" altLang="en-US"/>
            </a:p>
          </p:txBody>
        </p:sp>
        <p:sp>
          <p:nvSpPr>
            <p:cNvPr id="14" name="TextBox 14"/>
            <p:cNvSpPr txBox="1"/>
            <p:nvPr/>
          </p:nvSpPr>
          <p:spPr>
            <a:xfrm>
              <a:off x="804862" y="1907381"/>
              <a:ext cx="800421"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tool_name</a:t>
              </a:r>
            </a:p>
          </p:txBody>
        </p:sp>
        <p:sp>
          <p:nvSpPr>
            <p:cNvPr id="15" name="TextBox 15"/>
            <p:cNvSpPr txBox="1"/>
            <p:nvPr/>
          </p:nvSpPr>
          <p:spPr>
            <a:xfrm>
              <a:off x="2843212" y="1907381"/>
              <a:ext cx="651153"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Required</a:t>
              </a:r>
            </a:p>
          </p:txBody>
        </p:sp>
        <p:sp>
          <p:nvSpPr>
            <p:cNvPr id="16" name="TextBox 16"/>
            <p:cNvSpPr txBox="1"/>
            <p:nvPr/>
          </p:nvSpPr>
          <p:spPr>
            <a:xfrm>
              <a:off x="4748212" y="1907381"/>
              <a:ext cx="435661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Name of the query tool, traversal function, or other tool.</a:t>
              </a:r>
            </a:p>
          </p:txBody>
        </p:sp>
        <p:sp>
          <p:nvSpPr>
            <p:cNvPr id="17" name="Rectangle 17"/>
            <p:cNvSpPr/>
            <p:nvPr/>
          </p:nvSpPr>
          <p:spPr>
            <a:xfrm>
              <a:off x="609600" y="2219325"/>
              <a:ext cx="10382250" cy="504825"/>
            </a:xfrm>
            <a:prstGeom prst="rect">
              <a:avLst/>
            </a:prstGeom>
            <a:solidFill>
              <a:srgbClr val="F4F7F8"/>
            </a:solidFill>
            <a:ln>
              <a:noFill/>
            </a:ln>
          </p:spPr>
          <p:txBody>
            <a:bodyPr/>
            <a:lstStyle/>
            <a:p>
              <a:endParaRPr lang="zh-CN" altLang="en-US"/>
            </a:p>
          </p:txBody>
        </p:sp>
        <p:sp>
          <p:nvSpPr>
            <p:cNvPr id="18" name="TextBox 18"/>
            <p:cNvSpPr txBox="1"/>
            <p:nvPr/>
          </p:nvSpPr>
          <p:spPr>
            <a:xfrm>
              <a:off x="804862" y="2412206"/>
              <a:ext cx="422374"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input</a:t>
              </a:r>
            </a:p>
          </p:txBody>
        </p:sp>
        <p:sp>
          <p:nvSpPr>
            <p:cNvPr id="19" name="TextBox 19"/>
            <p:cNvSpPr txBox="1"/>
            <p:nvPr/>
          </p:nvSpPr>
          <p:spPr>
            <a:xfrm>
              <a:off x="2843212" y="2412206"/>
              <a:ext cx="651153"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Required</a:t>
              </a:r>
            </a:p>
          </p:txBody>
        </p:sp>
        <p:sp>
          <p:nvSpPr>
            <p:cNvPr id="20" name="TextBox 20"/>
            <p:cNvSpPr txBox="1"/>
            <p:nvPr/>
          </p:nvSpPr>
          <p:spPr>
            <a:xfrm>
              <a:off x="4748212" y="2412206"/>
              <a:ext cx="5766792"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Structured request sent to the tool, including query or function parameters.</a:t>
              </a:r>
            </a:p>
          </p:txBody>
        </p:sp>
        <p:sp>
          <p:nvSpPr>
            <p:cNvPr id="21" name="Rectangle 21"/>
            <p:cNvSpPr/>
            <p:nvPr/>
          </p:nvSpPr>
          <p:spPr>
            <a:xfrm>
              <a:off x="609600" y="2724150"/>
              <a:ext cx="10382250" cy="504825"/>
            </a:xfrm>
            <a:prstGeom prst="rect">
              <a:avLst/>
            </a:prstGeom>
            <a:solidFill>
              <a:srgbClr val="EAF6F4"/>
            </a:solidFill>
            <a:ln>
              <a:noFill/>
            </a:ln>
          </p:spPr>
          <p:txBody>
            <a:bodyPr/>
            <a:lstStyle/>
            <a:p>
              <a:endParaRPr lang="zh-CN" altLang="en-US"/>
            </a:p>
          </p:txBody>
        </p:sp>
        <p:sp>
          <p:nvSpPr>
            <p:cNvPr id="22" name="TextBox 22"/>
            <p:cNvSpPr txBox="1"/>
            <p:nvPr/>
          </p:nvSpPr>
          <p:spPr>
            <a:xfrm>
              <a:off x="804862" y="2917031"/>
              <a:ext cx="509010"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result</a:t>
              </a:r>
            </a:p>
          </p:txBody>
        </p:sp>
        <p:sp>
          <p:nvSpPr>
            <p:cNvPr id="23" name="TextBox 23"/>
            <p:cNvSpPr txBox="1"/>
            <p:nvPr/>
          </p:nvSpPr>
          <p:spPr>
            <a:xfrm>
              <a:off x="2843212" y="2917031"/>
              <a:ext cx="651153"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Required</a:t>
              </a:r>
            </a:p>
          </p:txBody>
        </p:sp>
        <p:sp>
          <p:nvSpPr>
            <p:cNvPr id="24" name="TextBox 24"/>
            <p:cNvSpPr txBox="1"/>
            <p:nvPr/>
          </p:nvSpPr>
          <p:spPr>
            <a:xfrm>
              <a:off x="4748212" y="2917031"/>
              <a:ext cx="3186470"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Raw content actually returned by the tool.</a:t>
              </a:r>
            </a:p>
          </p:txBody>
        </p:sp>
        <p:sp>
          <p:nvSpPr>
            <p:cNvPr id="25" name="Rectangle 25"/>
            <p:cNvSpPr/>
            <p:nvPr/>
          </p:nvSpPr>
          <p:spPr>
            <a:xfrm>
              <a:off x="609600" y="3228975"/>
              <a:ext cx="10382250" cy="504825"/>
            </a:xfrm>
            <a:prstGeom prst="rect">
              <a:avLst/>
            </a:prstGeom>
            <a:solidFill>
              <a:srgbClr val="F4F7F8"/>
            </a:solidFill>
            <a:ln>
              <a:noFill/>
            </a:ln>
          </p:spPr>
          <p:txBody>
            <a:bodyPr/>
            <a:lstStyle/>
            <a:p>
              <a:endParaRPr lang="zh-CN" altLang="en-US"/>
            </a:p>
          </p:txBody>
        </p:sp>
        <p:sp>
          <p:nvSpPr>
            <p:cNvPr id="26" name="TextBox 26"/>
            <p:cNvSpPr txBox="1"/>
            <p:nvPr/>
          </p:nvSpPr>
          <p:spPr>
            <a:xfrm>
              <a:off x="804862" y="3421856"/>
              <a:ext cx="1469880"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retrieved_entities</a:t>
              </a:r>
            </a:p>
          </p:txBody>
        </p:sp>
        <p:sp>
          <p:nvSpPr>
            <p:cNvPr id="27" name="TextBox 27"/>
            <p:cNvSpPr txBox="1"/>
            <p:nvPr/>
          </p:nvSpPr>
          <p:spPr>
            <a:xfrm>
              <a:off x="2843212" y="3421856"/>
              <a:ext cx="823674"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Conditional</a:t>
              </a:r>
            </a:p>
          </p:txBody>
        </p:sp>
        <p:sp>
          <p:nvSpPr>
            <p:cNvPr id="28" name="TextBox 28"/>
            <p:cNvSpPr txBox="1"/>
            <p:nvPr/>
          </p:nvSpPr>
          <p:spPr>
            <a:xfrm>
              <a:off x="4748212" y="3421856"/>
              <a:ext cx="4266605"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Normalized entities extracted from a KG retrieval result.</a:t>
              </a:r>
            </a:p>
          </p:txBody>
        </p:sp>
        <p:sp>
          <p:nvSpPr>
            <p:cNvPr id="29" name="Rectangle 29"/>
            <p:cNvSpPr/>
            <p:nvPr/>
          </p:nvSpPr>
          <p:spPr>
            <a:xfrm>
              <a:off x="609600" y="3733800"/>
              <a:ext cx="10382250" cy="504825"/>
            </a:xfrm>
            <a:prstGeom prst="rect">
              <a:avLst/>
            </a:prstGeom>
            <a:solidFill>
              <a:srgbClr val="EAF6F4"/>
            </a:solidFill>
            <a:ln>
              <a:noFill/>
            </a:ln>
          </p:spPr>
          <p:txBody>
            <a:bodyPr/>
            <a:lstStyle/>
            <a:p>
              <a:endParaRPr lang="zh-CN" altLang="en-US"/>
            </a:p>
          </p:txBody>
        </p:sp>
        <p:sp>
          <p:nvSpPr>
            <p:cNvPr id="30" name="TextBox 30"/>
            <p:cNvSpPr txBox="1"/>
            <p:nvPr/>
          </p:nvSpPr>
          <p:spPr>
            <a:xfrm>
              <a:off x="804862" y="3926681"/>
              <a:ext cx="1288732"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retrieved_facts</a:t>
              </a:r>
            </a:p>
          </p:txBody>
        </p:sp>
        <p:sp>
          <p:nvSpPr>
            <p:cNvPr id="31" name="TextBox 31"/>
            <p:cNvSpPr txBox="1"/>
            <p:nvPr/>
          </p:nvSpPr>
          <p:spPr>
            <a:xfrm>
              <a:off x="2843212" y="3926681"/>
              <a:ext cx="643652"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Optional</a:t>
              </a:r>
            </a:p>
          </p:txBody>
        </p:sp>
        <p:sp>
          <p:nvSpPr>
            <p:cNvPr id="32" name="TextBox 32"/>
            <p:cNvSpPr txBox="1"/>
            <p:nvPr/>
          </p:nvSpPr>
          <p:spPr>
            <a:xfrm>
              <a:off x="4748212" y="3926681"/>
              <a:ext cx="4874181"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Normalized triples when the tool can expose or reconstruct them.</a:t>
              </a:r>
            </a:p>
          </p:txBody>
        </p:sp>
        <p:sp>
          <p:nvSpPr>
            <p:cNvPr id="33" name="Rectangle 33"/>
            <p:cNvSpPr/>
            <p:nvPr/>
          </p:nvSpPr>
          <p:spPr>
            <a:xfrm>
              <a:off x="609600" y="4238625"/>
              <a:ext cx="10382250" cy="504825"/>
            </a:xfrm>
            <a:prstGeom prst="rect">
              <a:avLst/>
            </a:prstGeom>
            <a:solidFill>
              <a:srgbClr val="F4F7F8"/>
            </a:solidFill>
            <a:ln>
              <a:noFill/>
            </a:ln>
          </p:spPr>
          <p:txBody>
            <a:bodyPr/>
            <a:lstStyle/>
            <a:p>
              <a:endParaRPr lang="zh-CN" altLang="en-US"/>
            </a:p>
          </p:txBody>
        </p:sp>
        <p:sp>
          <p:nvSpPr>
            <p:cNvPr id="34" name="TextBox 34"/>
            <p:cNvSpPr txBox="1"/>
            <p:nvPr/>
          </p:nvSpPr>
          <p:spPr>
            <a:xfrm>
              <a:off x="804862" y="4431506"/>
              <a:ext cx="635026"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Consolas"/>
                  <a:ea typeface="Microsoft YaHei"/>
                  <a:cs typeface="Consolas"/>
                </a:rPr>
                <a:t>success</a:t>
              </a:r>
            </a:p>
          </p:txBody>
        </p:sp>
        <p:sp>
          <p:nvSpPr>
            <p:cNvPr id="35" name="TextBox 35"/>
            <p:cNvSpPr txBox="1"/>
            <p:nvPr/>
          </p:nvSpPr>
          <p:spPr>
            <a:xfrm>
              <a:off x="2843212" y="4431506"/>
              <a:ext cx="651153"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Required</a:t>
              </a:r>
            </a:p>
          </p:txBody>
        </p:sp>
        <p:sp>
          <p:nvSpPr>
            <p:cNvPr id="36" name="TextBox 36"/>
            <p:cNvSpPr txBox="1"/>
            <p:nvPr/>
          </p:nvSpPr>
          <p:spPr>
            <a:xfrm>
              <a:off x="4748212" y="4431506"/>
              <a:ext cx="4064079"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Whether this specific tool call completed successfully.</a:t>
              </a:r>
            </a:p>
          </p:txBody>
        </p:sp>
        <p:sp>
          <p:nvSpPr>
            <p:cNvPr id="37" name="Rectangle 37"/>
            <p:cNvSpPr/>
            <p:nvPr/>
          </p:nvSpPr>
          <p:spPr>
            <a:xfrm>
              <a:off x="609600" y="4743450"/>
              <a:ext cx="10382250" cy="514350"/>
            </a:xfrm>
            <a:prstGeom prst="rect">
              <a:avLst/>
            </a:prstGeom>
            <a:solidFill>
              <a:srgbClr val="EAF6F4"/>
            </a:solidFill>
            <a:ln>
              <a:noFill/>
            </a:ln>
          </p:spPr>
          <p:txBody>
            <a:bodyPr/>
            <a:lstStyle/>
            <a:p>
              <a:endParaRPr lang="zh-CN" altLang="en-US"/>
            </a:p>
          </p:txBody>
        </p:sp>
        <p:sp>
          <p:nvSpPr>
            <p:cNvPr id="38" name="TextBox 38"/>
            <p:cNvSpPr txBox="1"/>
            <p:nvPr/>
          </p:nvSpPr>
          <p:spPr>
            <a:xfrm>
              <a:off x="804862" y="4945856"/>
              <a:ext cx="461754" cy="228600"/>
            </a:xfrm>
            <a:prstGeom prst="rect">
              <a:avLst/>
            </a:prstGeom>
            <a:noFill/>
            <a:ln>
              <a:noFill/>
            </a:ln>
          </p:spPr>
          <p:txBody>
            <a:bodyPr wrap="none" lIns="0" tIns="0" rIns="0" bIns="0" anchor="t" anchorCtr="0">
              <a:spAutoFit/>
            </a:bodyPr>
            <a:lstStyle/>
            <a:p>
              <a:pPr algn="l"/>
              <a:r>
                <a:rPr lang="zh-CN" sz="1125" b="1" dirty="0">
                  <a:solidFill>
                    <a:srgbClr val="005A50"/>
                  </a:solidFill>
                  <a:latin typeface="Consolas"/>
                  <a:ea typeface="Microsoft YaHei"/>
                  <a:cs typeface="Consolas"/>
                </a:rPr>
                <a:t>error</a:t>
              </a:r>
            </a:p>
          </p:txBody>
        </p:sp>
        <p:sp>
          <p:nvSpPr>
            <p:cNvPr id="39" name="TextBox 39"/>
            <p:cNvSpPr txBox="1"/>
            <p:nvPr/>
          </p:nvSpPr>
          <p:spPr>
            <a:xfrm>
              <a:off x="2843212" y="4945856"/>
              <a:ext cx="823674"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Conditional</a:t>
              </a:r>
            </a:p>
          </p:txBody>
        </p:sp>
        <p:sp>
          <p:nvSpPr>
            <p:cNvPr id="40" name="TextBox 40"/>
            <p:cNvSpPr txBox="1"/>
            <p:nvPr/>
          </p:nvSpPr>
          <p:spPr>
            <a:xfrm>
              <a:off x="4748212" y="4945856"/>
              <a:ext cx="5001697"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Error message or structured error information when the call fails.</a:t>
              </a:r>
            </a:p>
          </p:txBody>
        </p:sp>
      </p:grpSp>
      <p:grpSp>
        <p:nvGrpSpPr>
          <p:cNvPr id="48" name="Group 48"/>
          <p:cNvGrpSpPr/>
          <p:nvPr/>
        </p:nvGrpSpPr>
        <p:grpSpPr>
          <a:xfrm>
            <a:off x="609600" y="5448300"/>
            <a:ext cx="10382250" cy="781050"/>
            <a:chOff x="609600" y="5448300"/>
            <a:chExt cx="10382250" cy="781050"/>
          </a:xfrm>
        </p:grpSpPr>
        <p:sp>
          <p:nvSpPr>
            <p:cNvPr id="42" name="Rectangle 42"/>
            <p:cNvSpPr/>
            <p:nvPr/>
          </p:nvSpPr>
          <p:spPr>
            <a:xfrm>
              <a:off x="609600" y="5448300"/>
              <a:ext cx="5067300" cy="781050"/>
            </a:xfrm>
            <a:prstGeom prst="roundRect">
              <a:avLst>
                <a:gd name="adj" fmla="val 12195"/>
              </a:avLst>
            </a:prstGeom>
            <a:solidFill>
              <a:srgbClr val="002D4C"/>
            </a:solidFill>
            <a:ln>
              <a:noFill/>
            </a:ln>
          </p:spPr>
          <p:txBody>
            <a:bodyPr/>
            <a:lstStyle/>
            <a:p>
              <a:endParaRPr lang="zh-CN" altLang="en-US"/>
            </a:p>
          </p:txBody>
        </p:sp>
        <p:sp>
          <p:nvSpPr>
            <p:cNvPr id="43" name="TextBox 43"/>
            <p:cNvSpPr txBox="1"/>
            <p:nvPr/>
          </p:nvSpPr>
          <p:spPr>
            <a:xfrm>
              <a:off x="822008" y="5605939"/>
              <a:ext cx="1326672"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Design decision</a:t>
              </a:r>
            </a:p>
          </p:txBody>
        </p:sp>
        <p:sp>
          <p:nvSpPr>
            <p:cNvPr id="44" name="TextBox 44"/>
            <p:cNvSpPr txBox="1"/>
            <p:nvPr/>
          </p:nvSpPr>
          <p:spPr>
            <a:xfrm>
              <a:off x="822960" y="5890260"/>
              <a:ext cx="4215003"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Consolas"/>
                  <a:ea typeface="Microsoft YaHei"/>
                  <a:cs typeface="Consolas"/>
                </a:rPr>
                <a:t>input</a:t>
              </a:r>
              <a:r>
                <a:rPr lang="zh-CN" sz="1200" dirty="0">
                  <a:solidFill>
                    <a:srgbClr val="FFFFFF"/>
                  </a:solidFill>
                  <a:latin typeface="Arial"/>
                  <a:ea typeface="Microsoft YaHei"/>
                  <a:cs typeface="Arial"/>
                </a:rPr>
                <a:t> is the request; </a:t>
              </a:r>
              <a:r>
                <a:rPr lang="zh-CN" sz="1200" dirty="0">
                  <a:solidFill>
                    <a:srgbClr val="FFFFFF"/>
                  </a:solidFill>
                  <a:latin typeface="Consolas"/>
                  <a:ea typeface="Microsoft YaHei"/>
                  <a:cs typeface="Consolas"/>
                </a:rPr>
                <a:t>result</a:t>
              </a:r>
              <a:r>
                <a:rPr lang="zh-CN" sz="1200" dirty="0">
                  <a:solidFill>
                    <a:srgbClr val="FFFFFF"/>
                  </a:solidFill>
                  <a:latin typeface="Arial"/>
                  <a:ea typeface="Microsoft YaHei"/>
                  <a:cs typeface="Arial"/>
                </a:rPr>
                <a:t> is the returned content.</a:t>
              </a:r>
            </a:p>
          </p:txBody>
        </p:sp>
        <p:sp>
          <p:nvSpPr>
            <p:cNvPr id="45" name="Rectangle 45"/>
            <p:cNvSpPr/>
            <p:nvPr/>
          </p:nvSpPr>
          <p:spPr>
            <a:xfrm>
              <a:off x="5867400" y="5448300"/>
              <a:ext cx="5124450" cy="781050"/>
            </a:xfrm>
            <a:prstGeom prst="roundRect">
              <a:avLst>
                <a:gd name="adj" fmla="val 12195"/>
              </a:avLst>
            </a:prstGeom>
            <a:solidFill>
              <a:srgbClr val="EAF6F4"/>
            </a:solidFill>
            <a:ln w="19050">
              <a:solidFill>
                <a:srgbClr val="009682"/>
              </a:solidFill>
            </a:ln>
          </p:spPr>
          <p:txBody>
            <a:bodyPr/>
            <a:lstStyle/>
            <a:p>
              <a:endParaRPr lang="zh-CN" altLang="en-US"/>
            </a:p>
          </p:txBody>
        </p:sp>
        <p:sp>
          <p:nvSpPr>
            <p:cNvPr id="46" name="TextBox 46"/>
            <p:cNvSpPr txBox="1"/>
            <p:nvPr/>
          </p:nvSpPr>
          <p:spPr>
            <a:xfrm>
              <a:off x="6079808" y="5605939"/>
              <a:ext cx="2076465" cy="259080"/>
            </a:xfrm>
            <a:prstGeom prst="rect">
              <a:avLst/>
            </a:prstGeom>
            <a:noFill/>
            <a:ln>
              <a:noFill/>
            </a:ln>
          </p:spPr>
          <p:txBody>
            <a:bodyPr wrap="none" lIns="0" tIns="0" rIns="0" bIns="0" anchor="t" anchorCtr="0">
              <a:spAutoFit/>
            </a:bodyPr>
            <a:lstStyle/>
            <a:p>
              <a:pPr algn="l"/>
              <a:r>
                <a:rPr lang="zh-CN" sz="1275" b="1" dirty="0">
                  <a:solidFill>
                    <a:srgbClr val="005A50"/>
                  </a:solidFill>
                  <a:latin typeface="Arial"/>
                  <a:ea typeface="Microsoft YaHei"/>
                  <a:cs typeface="Arial"/>
                </a:rPr>
                <a:t>Architecture flexibility</a:t>
              </a:r>
            </a:p>
          </p:txBody>
        </p:sp>
        <p:sp>
          <p:nvSpPr>
            <p:cNvPr id="47" name="TextBox 47"/>
            <p:cNvSpPr txBox="1"/>
            <p:nvPr/>
          </p:nvSpPr>
          <p:spPr>
            <a:xfrm>
              <a:off x="6081712" y="5898356"/>
              <a:ext cx="4004072"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SPARQL · Cypher · graph traversal · custom functions</a:t>
              </a:r>
            </a:p>
          </p:txBody>
        </p:sp>
      </p:grpSp>
      <p:sp>
        <p:nvSpPr>
          <p:cNvPr id="49" name="TextBox 49"/>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0" name="TextBox 52">
            <a:extLst>
              <a:ext uri="{FF2B5EF4-FFF2-40B4-BE49-F238E27FC236}">
                <a16:creationId xmlns:a16="http://schemas.microsoft.com/office/drawing/2014/main" id="{2DBFB0F0-60E1-E5E7-EAF6-17C5719DA529}"/>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15</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400"/>
                                        <p:tgtEl>
                                          <p:spTgt spid="41"/>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7215" y="372428"/>
            <a:ext cx="5873258" cy="708660"/>
            <a:chOff x="577215" y="372428"/>
            <a:chExt cx="5873258" cy="708660"/>
          </a:xfrm>
        </p:grpSpPr>
        <p:sp>
          <p:nvSpPr>
            <p:cNvPr id="5" name="TextBox 5"/>
            <p:cNvSpPr txBox="1"/>
            <p:nvPr/>
          </p:nvSpPr>
          <p:spPr>
            <a:xfrm>
              <a:off x="577215" y="372428"/>
              <a:ext cx="3176159"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Current Challenges</a:t>
              </a:r>
            </a:p>
          </p:txBody>
        </p:sp>
        <p:sp>
          <p:nvSpPr>
            <p:cNvPr id="6" name="TextBox 6"/>
            <p:cNvSpPr txBox="1"/>
            <p:nvPr/>
          </p:nvSpPr>
          <p:spPr>
            <a:xfrm>
              <a:off x="592455" y="806768"/>
              <a:ext cx="5858018"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The evaluation design must remain feasible for one master thesis.</a:t>
              </a:r>
            </a:p>
          </p:txBody>
        </p:sp>
      </p:grpSp>
      <p:grpSp>
        <p:nvGrpSpPr>
          <p:cNvPr id="12" name="Group 12"/>
          <p:cNvGrpSpPr/>
          <p:nvPr/>
        </p:nvGrpSpPr>
        <p:grpSpPr>
          <a:xfrm>
            <a:off x="609600" y="1200150"/>
            <a:ext cx="10633043" cy="1352550"/>
            <a:chOff x="609600" y="1200150"/>
            <a:chExt cx="10633043" cy="1352550"/>
          </a:xfrm>
        </p:grpSpPr>
        <p:sp>
          <p:nvSpPr>
            <p:cNvPr id="8" name="Rectangle 8"/>
            <p:cNvSpPr/>
            <p:nvPr/>
          </p:nvSpPr>
          <p:spPr>
            <a:xfrm>
              <a:off x="609600" y="1200150"/>
              <a:ext cx="10382250" cy="1352550"/>
            </a:xfrm>
            <a:prstGeom prst="roundRect">
              <a:avLst>
                <a:gd name="adj" fmla="val 7042"/>
              </a:avLst>
            </a:prstGeom>
            <a:solidFill>
              <a:srgbClr val="002D4C"/>
            </a:solidFill>
            <a:ln>
              <a:noFill/>
            </a:ln>
          </p:spPr>
          <p:txBody>
            <a:bodyPr/>
            <a:lstStyle/>
            <a:p>
              <a:endParaRPr lang="zh-CN" altLang="en-US"/>
            </a:p>
          </p:txBody>
        </p:sp>
        <p:sp>
          <p:nvSpPr>
            <p:cNvPr id="9" name="TextBox 9"/>
            <p:cNvSpPr txBox="1"/>
            <p:nvPr/>
          </p:nvSpPr>
          <p:spPr>
            <a:xfrm>
              <a:off x="823912" y="1431131"/>
              <a:ext cx="1847927" cy="228600"/>
            </a:xfrm>
            <a:prstGeom prst="rect">
              <a:avLst/>
            </a:prstGeom>
            <a:noFill/>
            <a:ln>
              <a:noFill/>
            </a:ln>
          </p:spPr>
          <p:txBody>
            <a:bodyPr wrap="none" lIns="0" tIns="0" rIns="0" bIns="0" anchor="t" anchorCtr="0">
              <a:spAutoFit/>
            </a:bodyPr>
            <a:lstStyle/>
            <a:p>
              <a:pPr algn="l"/>
              <a:r>
                <a:rPr lang="zh-CN" sz="1125" b="1" dirty="0">
                  <a:solidFill>
                    <a:srgbClr val="B8DCD6"/>
                  </a:solidFill>
                  <a:latin typeface="Arial"/>
                  <a:ea typeface="Microsoft YaHei"/>
                  <a:cs typeface="Arial"/>
                </a:rPr>
                <a:t>CURRENT MAIN CHALLENGE</a:t>
              </a:r>
            </a:p>
          </p:txBody>
        </p:sp>
        <p:sp>
          <p:nvSpPr>
            <p:cNvPr id="10" name="TextBox 10"/>
            <p:cNvSpPr txBox="1"/>
            <p:nvPr/>
          </p:nvSpPr>
          <p:spPr>
            <a:xfrm>
              <a:off x="815340" y="1729740"/>
              <a:ext cx="4405865"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Defining a feasible evaluation scope</a:t>
              </a:r>
            </a:p>
          </p:txBody>
        </p:sp>
        <p:sp>
          <p:nvSpPr>
            <p:cNvPr id="11" name="TextBox 11"/>
            <p:cNvSpPr txBox="1"/>
            <p:nvPr/>
          </p:nvSpPr>
          <p:spPr>
            <a:xfrm>
              <a:off x="821055" y="2121218"/>
              <a:ext cx="10421588"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Each evaluation area can become a large research task with many tasks, metrics, fields, and implementation choices.</a:t>
              </a:r>
            </a:p>
          </p:txBody>
        </p:sp>
      </p:grpSp>
      <p:grpSp>
        <p:nvGrpSpPr>
          <p:cNvPr id="15" name="Group 15"/>
          <p:cNvGrpSpPr/>
          <p:nvPr/>
        </p:nvGrpSpPr>
        <p:grpSpPr>
          <a:xfrm>
            <a:off x="588645" y="2812732"/>
            <a:ext cx="10403205" cy="340043"/>
            <a:chOff x="588645" y="2812732"/>
            <a:chExt cx="10403205" cy="340043"/>
          </a:xfrm>
        </p:grpSpPr>
        <p:sp>
          <p:nvSpPr>
            <p:cNvPr id="13" name="TextBox 13"/>
            <p:cNvSpPr txBox="1"/>
            <p:nvPr/>
          </p:nvSpPr>
          <p:spPr>
            <a:xfrm>
              <a:off x="588645" y="2812732"/>
              <a:ext cx="5286265" cy="335280"/>
            </a:xfrm>
            <a:prstGeom prst="rect">
              <a:avLst/>
            </a:prstGeom>
            <a:noFill/>
            <a:ln>
              <a:noFill/>
            </a:ln>
          </p:spPr>
          <p:txBody>
            <a:bodyPr wrap="none" lIns="0" tIns="0" rIns="0" bIns="0" anchor="t" anchorCtr="0">
              <a:spAutoFit/>
            </a:bodyPr>
            <a:lstStyle/>
            <a:p>
              <a:pPr algn="l"/>
              <a:r>
                <a:rPr lang="zh-CN" sz="1650" b="1" dirty="0">
                  <a:solidFill>
                    <a:srgbClr val="002D4C"/>
                  </a:solidFill>
                  <a:latin typeface="Arial"/>
                  <a:ea typeface="Microsoft YaHei"/>
                  <a:cs typeface="Arial"/>
                </a:rPr>
                <a:t>Other challenge: selecting a dataset strategy</a:t>
              </a:r>
            </a:p>
          </p:txBody>
        </p:sp>
        <p:sp>
          <p:nvSpPr>
            <p:cNvPr id="14" name="Line 14"/>
            <p:cNvSpPr/>
            <p:nvPr/>
          </p:nvSpPr>
          <p:spPr>
            <a:xfrm>
              <a:off x="609600" y="3143250"/>
              <a:ext cx="10382250" cy="9525"/>
            </a:xfrm>
            <a:custGeom>
              <a:avLst/>
              <a:gdLst/>
              <a:ahLst/>
              <a:cxnLst/>
              <a:rect l="l" t="t" r="r" b="b"/>
              <a:pathLst>
                <a:path w="10382250" h="9525">
                  <a:moveTo>
                    <a:pt x="0" y="0"/>
                  </a:moveTo>
                  <a:lnTo>
                    <a:pt x="10382250" y="0"/>
                  </a:lnTo>
                </a:path>
              </a:pathLst>
            </a:custGeom>
            <a:noFill/>
            <a:ln w="19050">
              <a:solidFill>
                <a:srgbClr val="DAE1E6"/>
              </a:solidFill>
            </a:ln>
          </p:spPr>
          <p:txBody>
            <a:bodyPr/>
            <a:lstStyle/>
            <a:p>
              <a:endParaRPr lang="zh-CN" altLang="en-US"/>
            </a:p>
          </p:txBody>
        </p:sp>
      </p:grpSp>
      <p:grpSp>
        <p:nvGrpSpPr>
          <p:cNvPr id="26" name="Group 26"/>
          <p:cNvGrpSpPr/>
          <p:nvPr/>
        </p:nvGrpSpPr>
        <p:grpSpPr>
          <a:xfrm>
            <a:off x="609600" y="3371850"/>
            <a:ext cx="3257550" cy="2571750"/>
            <a:chOff x="609600" y="3371850"/>
            <a:chExt cx="3257550" cy="2571750"/>
          </a:xfrm>
        </p:grpSpPr>
        <p:sp>
          <p:nvSpPr>
            <p:cNvPr id="16" name="Rectangle 16"/>
            <p:cNvSpPr/>
            <p:nvPr/>
          </p:nvSpPr>
          <p:spPr>
            <a:xfrm>
              <a:off x="609600" y="3371850"/>
              <a:ext cx="3257550" cy="2571750"/>
            </a:xfrm>
            <a:prstGeom prst="roundRect">
              <a:avLst>
                <a:gd name="adj" fmla="val 4444"/>
              </a:avLst>
            </a:prstGeom>
            <a:solidFill>
              <a:srgbClr val="F4F7F8"/>
            </a:solidFill>
            <a:ln w="19050">
              <a:solidFill>
                <a:srgbClr val="DAE1E6"/>
              </a:solidFill>
            </a:ln>
          </p:spPr>
          <p:txBody>
            <a:bodyPr/>
            <a:lstStyle/>
            <a:p>
              <a:endParaRPr lang="zh-CN" altLang="en-US"/>
            </a:p>
          </p:txBody>
        </p:sp>
        <p:sp>
          <p:nvSpPr>
            <p:cNvPr id="17" name="Rectangle 17"/>
            <p:cNvSpPr/>
            <p:nvPr/>
          </p:nvSpPr>
          <p:spPr>
            <a:xfrm>
              <a:off x="609600" y="3371850"/>
              <a:ext cx="3257550" cy="514350"/>
            </a:xfrm>
            <a:prstGeom prst="roundRect">
              <a:avLst>
                <a:gd name="adj" fmla="val 22222"/>
              </a:avLst>
            </a:prstGeom>
            <a:solidFill>
              <a:srgbClr val="002D4C"/>
            </a:solidFill>
            <a:ln>
              <a:noFill/>
            </a:ln>
          </p:spPr>
          <p:txBody>
            <a:bodyPr/>
            <a:lstStyle/>
            <a:p>
              <a:endParaRPr lang="zh-CN" altLang="en-US"/>
            </a:p>
          </p:txBody>
        </p:sp>
        <p:sp>
          <p:nvSpPr>
            <p:cNvPr id="18" name="Rectangle 18"/>
            <p:cNvSpPr/>
            <p:nvPr/>
          </p:nvSpPr>
          <p:spPr>
            <a:xfrm>
              <a:off x="609600" y="3771900"/>
              <a:ext cx="3257550" cy="114300"/>
            </a:xfrm>
            <a:prstGeom prst="rect">
              <a:avLst/>
            </a:prstGeom>
            <a:solidFill>
              <a:srgbClr val="002D4C"/>
            </a:solidFill>
            <a:ln>
              <a:noFill/>
            </a:ln>
          </p:spPr>
          <p:txBody>
            <a:bodyPr/>
            <a:lstStyle/>
            <a:p>
              <a:endParaRPr lang="zh-CN" altLang="en-US"/>
            </a:p>
          </p:txBody>
        </p:sp>
        <p:sp>
          <p:nvSpPr>
            <p:cNvPr id="19" name="TextBox 19"/>
            <p:cNvSpPr txBox="1"/>
            <p:nvPr/>
          </p:nvSpPr>
          <p:spPr>
            <a:xfrm>
              <a:off x="1142843" y="3541871"/>
              <a:ext cx="2191064"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A. Build a new dataset</a:t>
              </a:r>
            </a:p>
          </p:txBody>
        </p:sp>
        <p:sp>
          <p:nvSpPr>
            <p:cNvPr id="20" name="TextBox 20"/>
            <p:cNvSpPr txBox="1"/>
            <p:nvPr/>
          </p:nvSpPr>
          <p:spPr>
            <a:xfrm>
              <a:off x="822960" y="4147185"/>
              <a:ext cx="954596"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Advantages</a:t>
              </a:r>
            </a:p>
          </p:txBody>
        </p:sp>
        <p:sp>
          <p:nvSpPr>
            <p:cNvPr id="21" name="TextBox 21"/>
            <p:cNvSpPr txBox="1"/>
            <p:nvPr/>
          </p:nvSpPr>
          <p:spPr>
            <a:xfrm>
              <a:off x="823912" y="4441031"/>
              <a:ext cx="259389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 Full control over fields and labels</a:t>
              </a:r>
            </a:p>
          </p:txBody>
        </p:sp>
        <p:sp>
          <p:nvSpPr>
            <p:cNvPr id="22" name="TextBox 22"/>
            <p:cNvSpPr txBox="1"/>
            <p:nvPr/>
          </p:nvSpPr>
          <p:spPr>
            <a:xfrm>
              <a:off x="823912" y="4707731"/>
              <a:ext cx="2698909"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 Better fit to the industrial domain</a:t>
              </a:r>
            </a:p>
          </p:txBody>
        </p:sp>
        <p:sp>
          <p:nvSpPr>
            <p:cNvPr id="23" name="TextBox 23"/>
            <p:cNvSpPr txBox="1"/>
            <p:nvPr/>
          </p:nvSpPr>
          <p:spPr>
            <a:xfrm>
              <a:off x="822960" y="5090160"/>
              <a:ext cx="811778" cy="243840"/>
            </a:xfrm>
            <a:prstGeom prst="rect">
              <a:avLst/>
            </a:prstGeom>
            <a:noFill/>
            <a:ln>
              <a:noFill/>
            </a:ln>
          </p:spPr>
          <p:txBody>
            <a:bodyPr wrap="none" lIns="0" tIns="0" rIns="0" bIns="0" anchor="t" anchorCtr="0">
              <a:spAutoFit/>
            </a:bodyPr>
            <a:lstStyle/>
            <a:p>
              <a:pPr algn="l"/>
              <a:r>
                <a:rPr lang="zh-CN" sz="1200" b="1" dirty="0">
                  <a:solidFill>
                    <a:srgbClr val="D30015"/>
                  </a:solidFill>
                  <a:latin typeface="Arial"/>
                  <a:ea typeface="Microsoft YaHei"/>
                  <a:cs typeface="Arial"/>
                </a:rPr>
                <a:t>Main cost</a:t>
              </a:r>
            </a:p>
          </p:txBody>
        </p:sp>
        <p:sp>
          <p:nvSpPr>
            <p:cNvPr id="24" name="TextBox 24"/>
            <p:cNvSpPr txBox="1"/>
            <p:nvPr/>
          </p:nvSpPr>
          <p:spPr>
            <a:xfrm>
              <a:off x="823912" y="5384006"/>
              <a:ext cx="2443877"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KG preparation, question design,</a:t>
              </a:r>
            </a:p>
          </p:txBody>
        </p:sp>
        <p:sp>
          <p:nvSpPr>
            <p:cNvPr id="25" name="TextBox 25"/>
            <p:cNvSpPr txBox="1"/>
            <p:nvPr/>
          </p:nvSpPr>
          <p:spPr>
            <a:xfrm>
              <a:off x="823912" y="5603081"/>
              <a:ext cx="1948815"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annotation, and validation</a:t>
              </a:r>
            </a:p>
          </p:txBody>
        </p:sp>
      </p:grpSp>
      <p:grpSp>
        <p:nvGrpSpPr>
          <p:cNvPr id="38" name="Group 38"/>
          <p:cNvGrpSpPr/>
          <p:nvPr/>
        </p:nvGrpSpPr>
        <p:grpSpPr>
          <a:xfrm>
            <a:off x="4057650" y="3371850"/>
            <a:ext cx="3257550" cy="2571750"/>
            <a:chOff x="4057650" y="3371850"/>
            <a:chExt cx="3257550" cy="2571750"/>
          </a:xfrm>
        </p:grpSpPr>
        <p:sp>
          <p:nvSpPr>
            <p:cNvPr id="27" name="Rectangle 27"/>
            <p:cNvSpPr/>
            <p:nvPr/>
          </p:nvSpPr>
          <p:spPr>
            <a:xfrm>
              <a:off x="4057650" y="3371850"/>
              <a:ext cx="3257550" cy="2571750"/>
            </a:xfrm>
            <a:prstGeom prst="roundRect">
              <a:avLst>
                <a:gd name="adj" fmla="val 4444"/>
              </a:avLst>
            </a:prstGeom>
            <a:solidFill>
              <a:srgbClr val="EAF6F4"/>
            </a:solidFill>
            <a:ln w="19050">
              <a:solidFill>
                <a:srgbClr val="009682"/>
              </a:solidFill>
            </a:ln>
          </p:spPr>
          <p:txBody>
            <a:bodyPr/>
            <a:lstStyle/>
            <a:p>
              <a:endParaRPr lang="zh-CN" altLang="en-US"/>
            </a:p>
          </p:txBody>
        </p:sp>
        <p:sp>
          <p:nvSpPr>
            <p:cNvPr id="28" name="Rectangle 28"/>
            <p:cNvSpPr/>
            <p:nvPr/>
          </p:nvSpPr>
          <p:spPr>
            <a:xfrm>
              <a:off x="4057650" y="3371850"/>
              <a:ext cx="3257550" cy="514350"/>
            </a:xfrm>
            <a:prstGeom prst="roundRect">
              <a:avLst>
                <a:gd name="adj" fmla="val 22222"/>
              </a:avLst>
            </a:prstGeom>
            <a:solidFill>
              <a:srgbClr val="009682"/>
            </a:solidFill>
            <a:ln>
              <a:noFill/>
            </a:ln>
          </p:spPr>
          <p:txBody>
            <a:bodyPr/>
            <a:lstStyle/>
            <a:p>
              <a:endParaRPr lang="zh-CN" altLang="en-US"/>
            </a:p>
          </p:txBody>
        </p:sp>
        <p:sp>
          <p:nvSpPr>
            <p:cNvPr id="29" name="Rectangle 29"/>
            <p:cNvSpPr/>
            <p:nvPr/>
          </p:nvSpPr>
          <p:spPr>
            <a:xfrm>
              <a:off x="4057650" y="3771900"/>
              <a:ext cx="3257550" cy="114300"/>
            </a:xfrm>
            <a:prstGeom prst="rect">
              <a:avLst/>
            </a:prstGeom>
            <a:solidFill>
              <a:srgbClr val="009682"/>
            </a:solidFill>
            <a:ln>
              <a:noFill/>
            </a:ln>
          </p:spPr>
          <p:txBody>
            <a:bodyPr/>
            <a:lstStyle/>
            <a:p>
              <a:endParaRPr lang="zh-CN" altLang="en-US"/>
            </a:p>
          </p:txBody>
        </p:sp>
        <p:sp>
          <p:nvSpPr>
            <p:cNvPr id="30" name="TextBox 30"/>
            <p:cNvSpPr txBox="1"/>
            <p:nvPr/>
          </p:nvSpPr>
          <p:spPr>
            <a:xfrm>
              <a:off x="4780869" y="3445192"/>
              <a:ext cx="181111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B. Combine existing</a:t>
              </a:r>
            </a:p>
          </p:txBody>
        </p:sp>
        <p:sp>
          <p:nvSpPr>
            <p:cNvPr id="31" name="TextBox 31"/>
            <p:cNvSpPr txBox="1"/>
            <p:nvPr/>
          </p:nvSpPr>
          <p:spPr>
            <a:xfrm>
              <a:off x="4998246" y="3645218"/>
              <a:ext cx="137635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KGQA datasets</a:t>
              </a:r>
            </a:p>
          </p:txBody>
        </p:sp>
        <p:sp>
          <p:nvSpPr>
            <p:cNvPr id="32" name="TextBox 32"/>
            <p:cNvSpPr txBox="1"/>
            <p:nvPr/>
          </p:nvSpPr>
          <p:spPr>
            <a:xfrm>
              <a:off x="4271010" y="4147185"/>
              <a:ext cx="954596"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Advantages</a:t>
              </a:r>
            </a:p>
          </p:txBody>
        </p:sp>
        <p:sp>
          <p:nvSpPr>
            <p:cNvPr id="33" name="TextBox 33"/>
            <p:cNvSpPr txBox="1"/>
            <p:nvPr/>
          </p:nvSpPr>
          <p:spPr>
            <a:xfrm>
              <a:off x="4271962" y="4441031"/>
              <a:ext cx="2893933"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 Existing questions, answers, and KGs</a:t>
              </a:r>
            </a:p>
          </p:txBody>
        </p:sp>
        <p:sp>
          <p:nvSpPr>
            <p:cNvPr id="34" name="TextBox 34"/>
            <p:cNvSpPr txBox="1"/>
            <p:nvPr/>
          </p:nvSpPr>
          <p:spPr>
            <a:xfrm>
              <a:off x="4271962" y="4707731"/>
              <a:ext cx="2323862"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 Different capability coverage</a:t>
              </a:r>
            </a:p>
          </p:txBody>
        </p:sp>
        <p:sp>
          <p:nvSpPr>
            <p:cNvPr id="35" name="TextBox 35"/>
            <p:cNvSpPr txBox="1"/>
            <p:nvPr/>
          </p:nvSpPr>
          <p:spPr>
            <a:xfrm>
              <a:off x="4271010" y="5090160"/>
              <a:ext cx="811778" cy="243840"/>
            </a:xfrm>
            <a:prstGeom prst="rect">
              <a:avLst/>
            </a:prstGeom>
            <a:noFill/>
            <a:ln>
              <a:noFill/>
            </a:ln>
          </p:spPr>
          <p:txBody>
            <a:bodyPr wrap="none" lIns="0" tIns="0" rIns="0" bIns="0" anchor="t" anchorCtr="0">
              <a:spAutoFit/>
            </a:bodyPr>
            <a:lstStyle/>
            <a:p>
              <a:pPr algn="l"/>
              <a:r>
                <a:rPr lang="zh-CN" sz="1200" b="1" dirty="0">
                  <a:solidFill>
                    <a:srgbClr val="D30015"/>
                  </a:solidFill>
                  <a:latin typeface="Arial"/>
                  <a:ea typeface="Microsoft YaHei"/>
                  <a:cs typeface="Arial"/>
                </a:rPr>
                <a:t>Main cost</a:t>
              </a:r>
            </a:p>
          </p:txBody>
        </p:sp>
        <p:sp>
          <p:nvSpPr>
            <p:cNvPr id="36" name="TextBox 36"/>
            <p:cNvSpPr txBox="1"/>
            <p:nvPr/>
          </p:nvSpPr>
          <p:spPr>
            <a:xfrm>
              <a:off x="4271962" y="5384006"/>
              <a:ext cx="2721412"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Inconsistent KGs, schemas, question</a:t>
              </a:r>
            </a:p>
          </p:txBody>
        </p:sp>
        <p:sp>
          <p:nvSpPr>
            <p:cNvPr id="37" name="TextBox 37"/>
            <p:cNvSpPr txBox="1"/>
            <p:nvPr/>
          </p:nvSpPr>
          <p:spPr>
            <a:xfrm>
              <a:off x="4271962" y="5603081"/>
              <a:ext cx="2451378"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styles, and evaluation conditions</a:t>
              </a:r>
            </a:p>
          </p:txBody>
        </p:sp>
      </p:grpSp>
      <p:grpSp>
        <p:nvGrpSpPr>
          <p:cNvPr id="49" name="Group 49"/>
          <p:cNvGrpSpPr/>
          <p:nvPr/>
        </p:nvGrpSpPr>
        <p:grpSpPr>
          <a:xfrm>
            <a:off x="7505700" y="3371850"/>
            <a:ext cx="3486150" cy="2571750"/>
            <a:chOff x="7505700" y="3371850"/>
            <a:chExt cx="3486150" cy="2571750"/>
          </a:xfrm>
        </p:grpSpPr>
        <p:sp>
          <p:nvSpPr>
            <p:cNvPr id="39" name="Rectangle 39"/>
            <p:cNvSpPr/>
            <p:nvPr/>
          </p:nvSpPr>
          <p:spPr>
            <a:xfrm>
              <a:off x="7505700" y="3371850"/>
              <a:ext cx="3486150" cy="2571750"/>
            </a:xfrm>
            <a:prstGeom prst="roundRect">
              <a:avLst>
                <a:gd name="adj" fmla="val 4444"/>
              </a:avLst>
            </a:prstGeom>
            <a:solidFill>
              <a:srgbClr val="F4F7F8"/>
            </a:solidFill>
            <a:ln w="19050">
              <a:solidFill>
                <a:srgbClr val="DAE1E6"/>
              </a:solidFill>
            </a:ln>
          </p:spPr>
          <p:txBody>
            <a:bodyPr/>
            <a:lstStyle/>
            <a:p>
              <a:endParaRPr lang="zh-CN" altLang="en-US"/>
            </a:p>
          </p:txBody>
        </p:sp>
        <p:sp>
          <p:nvSpPr>
            <p:cNvPr id="40" name="Rectangle 40"/>
            <p:cNvSpPr/>
            <p:nvPr/>
          </p:nvSpPr>
          <p:spPr>
            <a:xfrm>
              <a:off x="7505700" y="3371850"/>
              <a:ext cx="3486150" cy="514350"/>
            </a:xfrm>
            <a:prstGeom prst="roundRect">
              <a:avLst>
                <a:gd name="adj" fmla="val 22222"/>
              </a:avLst>
            </a:prstGeom>
            <a:solidFill>
              <a:srgbClr val="005A50"/>
            </a:solidFill>
            <a:ln>
              <a:noFill/>
            </a:ln>
          </p:spPr>
          <p:txBody>
            <a:bodyPr/>
            <a:lstStyle/>
            <a:p>
              <a:endParaRPr lang="zh-CN" altLang="en-US"/>
            </a:p>
          </p:txBody>
        </p:sp>
        <p:sp>
          <p:nvSpPr>
            <p:cNvPr id="41" name="Rectangle 41"/>
            <p:cNvSpPr/>
            <p:nvPr/>
          </p:nvSpPr>
          <p:spPr>
            <a:xfrm>
              <a:off x="7505700" y="3771900"/>
              <a:ext cx="3486150" cy="114300"/>
            </a:xfrm>
            <a:prstGeom prst="rect">
              <a:avLst/>
            </a:prstGeom>
            <a:solidFill>
              <a:srgbClr val="005A50"/>
            </a:solidFill>
            <a:ln>
              <a:noFill/>
            </a:ln>
          </p:spPr>
          <p:txBody>
            <a:bodyPr/>
            <a:lstStyle/>
            <a:p>
              <a:endParaRPr lang="zh-CN" altLang="en-US"/>
            </a:p>
          </p:txBody>
        </p:sp>
        <p:sp>
          <p:nvSpPr>
            <p:cNvPr id="42" name="TextBox 42"/>
            <p:cNvSpPr txBox="1"/>
            <p:nvPr/>
          </p:nvSpPr>
          <p:spPr>
            <a:xfrm>
              <a:off x="7908825" y="3541871"/>
              <a:ext cx="2679900"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C. Use a combined approach</a:t>
              </a:r>
            </a:p>
          </p:txBody>
        </p:sp>
        <p:sp>
          <p:nvSpPr>
            <p:cNvPr id="43" name="TextBox 43"/>
            <p:cNvSpPr txBox="1"/>
            <p:nvPr/>
          </p:nvSpPr>
          <p:spPr>
            <a:xfrm>
              <a:off x="7719060" y="4147185"/>
              <a:ext cx="769772"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Approach</a:t>
              </a:r>
            </a:p>
          </p:txBody>
        </p:sp>
        <p:sp>
          <p:nvSpPr>
            <p:cNvPr id="44" name="TextBox 44"/>
            <p:cNvSpPr txBox="1"/>
            <p:nvPr/>
          </p:nvSpPr>
          <p:spPr>
            <a:xfrm>
              <a:off x="7720012" y="4441031"/>
              <a:ext cx="2901434"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 Existing datasets for main evaluation</a:t>
              </a:r>
            </a:p>
          </p:txBody>
        </p:sp>
        <p:sp>
          <p:nvSpPr>
            <p:cNvPr id="45" name="TextBox 45"/>
            <p:cNvSpPr txBox="1"/>
            <p:nvPr/>
          </p:nvSpPr>
          <p:spPr>
            <a:xfrm>
              <a:off x="7720012" y="4707731"/>
              <a:ext cx="2923937"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 Small supplementary dataset for gaps</a:t>
              </a:r>
            </a:p>
          </p:txBody>
        </p:sp>
        <p:sp>
          <p:nvSpPr>
            <p:cNvPr id="46" name="TextBox 46"/>
            <p:cNvSpPr txBox="1"/>
            <p:nvPr/>
          </p:nvSpPr>
          <p:spPr>
            <a:xfrm>
              <a:off x="7719060" y="5090160"/>
              <a:ext cx="904189" cy="243840"/>
            </a:xfrm>
            <a:prstGeom prst="rect">
              <a:avLst/>
            </a:prstGeom>
            <a:noFill/>
            <a:ln>
              <a:noFill/>
            </a:ln>
          </p:spPr>
          <p:txBody>
            <a:bodyPr wrap="none" lIns="0" tIns="0" rIns="0" bIns="0" anchor="t" anchorCtr="0">
              <a:spAutoFit/>
            </a:bodyPr>
            <a:lstStyle/>
            <a:p>
              <a:pPr algn="l"/>
              <a:r>
                <a:rPr lang="zh-CN" sz="1200" b="1" dirty="0">
                  <a:solidFill>
                    <a:srgbClr val="D30015"/>
                  </a:solidFill>
                  <a:latin typeface="Arial"/>
                  <a:ea typeface="Microsoft YaHei"/>
                  <a:cs typeface="Arial"/>
                </a:rPr>
                <a:t>Open point</a:t>
              </a:r>
            </a:p>
          </p:txBody>
        </p:sp>
        <p:sp>
          <p:nvSpPr>
            <p:cNvPr id="47" name="TextBox 47"/>
            <p:cNvSpPr txBox="1"/>
            <p:nvPr/>
          </p:nvSpPr>
          <p:spPr>
            <a:xfrm>
              <a:off x="7720012" y="5384006"/>
              <a:ext cx="2908935"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The additional scope and research value</a:t>
              </a:r>
            </a:p>
          </p:txBody>
        </p:sp>
        <p:sp>
          <p:nvSpPr>
            <p:cNvPr id="48" name="TextBox 48"/>
            <p:cNvSpPr txBox="1"/>
            <p:nvPr/>
          </p:nvSpPr>
          <p:spPr>
            <a:xfrm>
              <a:off x="7720012" y="5603081"/>
              <a:ext cx="1791295"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still need to be defined.</a:t>
              </a:r>
            </a:p>
          </p:txBody>
        </p:sp>
      </p:grpSp>
      <p:sp>
        <p:nvSpPr>
          <p:cNvPr id="50" name="TextBox 50"/>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1" name="TextBox 52">
            <a:extLst>
              <a:ext uri="{FF2B5EF4-FFF2-40B4-BE49-F238E27FC236}">
                <a16:creationId xmlns:a16="http://schemas.microsoft.com/office/drawing/2014/main" id="{191CC11B-D5CC-4D0D-2D71-73B43CDE1EAE}"/>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16</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
                                        <p:tgtEl>
                                          <p:spTgt spid="1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400"/>
                                        <p:tgtEl>
                                          <p:spTgt spid="15"/>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image">
                                      <p:cBhvr>
                                        <p:cTn id="15" dur="400"/>
                                        <p:tgtEl>
                                          <p:spTgt spid="2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wipe(left)">
                                      <p:cBhvr>
                                        <p:cTn id="23"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26" grpId="0"/>
      <p:bldP spid="38" grpId="0"/>
      <p:bldP spid="4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7" name="Group 7"/>
          <p:cNvGrpSpPr/>
          <p:nvPr/>
        </p:nvGrpSpPr>
        <p:grpSpPr>
          <a:xfrm>
            <a:off x="577215" y="372428"/>
            <a:ext cx="6881384" cy="708660"/>
            <a:chOff x="577215" y="372428"/>
            <a:chExt cx="6881384" cy="708660"/>
          </a:xfrm>
        </p:grpSpPr>
        <p:sp>
          <p:nvSpPr>
            <p:cNvPr id="5" name="TextBox 5"/>
            <p:cNvSpPr txBox="1"/>
            <p:nvPr/>
          </p:nvSpPr>
          <p:spPr>
            <a:xfrm>
              <a:off x="577215" y="372428"/>
              <a:ext cx="4740354"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Plan for the Next Two Weeks</a:t>
              </a:r>
            </a:p>
          </p:txBody>
        </p:sp>
        <p:sp>
          <p:nvSpPr>
            <p:cNvPr id="6" name="TextBox 6"/>
            <p:cNvSpPr txBox="1"/>
            <p:nvPr/>
          </p:nvSpPr>
          <p:spPr>
            <a:xfrm>
              <a:off x="592455" y="806768"/>
              <a:ext cx="6866144" cy="274320"/>
            </a:xfrm>
            <a:prstGeom prst="rect">
              <a:avLst/>
            </a:prstGeom>
            <a:noFill/>
            <a:ln>
              <a:noFill/>
            </a:ln>
          </p:spPr>
          <p:txBody>
            <a:bodyPr wrap="none" lIns="0" tIns="0" rIns="0" bIns="0" anchor="t" anchorCtr="0">
              <a:spAutoFit/>
            </a:bodyPr>
            <a:lstStyle/>
            <a:p>
              <a:pPr algn="l"/>
              <a:r>
                <a:rPr lang="zh-CN" sz="1350" dirty="0">
                  <a:solidFill>
                    <a:srgbClr val="526671"/>
                  </a:solidFill>
                  <a:latin typeface="Arial"/>
                  <a:ea typeface="Microsoft YaHei"/>
                  <a:cs typeface="Arial"/>
                </a:rPr>
                <a:t>First define a feasible scope, then validate the evaluation design in practice.</a:t>
              </a:r>
            </a:p>
          </p:txBody>
        </p:sp>
      </p:grpSp>
      <p:grpSp>
        <p:nvGrpSpPr>
          <p:cNvPr id="10" name="Group 10"/>
          <p:cNvGrpSpPr/>
          <p:nvPr/>
        </p:nvGrpSpPr>
        <p:grpSpPr>
          <a:xfrm>
            <a:off x="1714500" y="2019300"/>
            <a:ext cx="8382000" cy="9525"/>
            <a:chOff x="1714500" y="2019300"/>
            <a:chExt cx="8382000" cy="9525"/>
          </a:xfrm>
        </p:grpSpPr>
        <p:sp>
          <p:nvSpPr>
            <p:cNvPr id="8" name="Line 8"/>
            <p:cNvSpPr/>
            <p:nvPr/>
          </p:nvSpPr>
          <p:spPr>
            <a:xfrm>
              <a:off x="1714500" y="2019300"/>
              <a:ext cx="8382000" cy="9525"/>
            </a:xfrm>
            <a:custGeom>
              <a:avLst/>
              <a:gdLst/>
              <a:ahLst/>
              <a:cxnLst/>
              <a:rect l="l" t="t" r="r" b="b"/>
              <a:pathLst>
                <a:path w="8382000" h="9525">
                  <a:moveTo>
                    <a:pt x="0" y="0"/>
                  </a:moveTo>
                  <a:lnTo>
                    <a:pt x="8382000" y="0"/>
                  </a:lnTo>
                </a:path>
              </a:pathLst>
            </a:custGeom>
            <a:noFill/>
            <a:ln w="76200" cap="rnd">
              <a:solidFill>
                <a:srgbClr val="DAE1E6"/>
              </a:solidFill>
            </a:ln>
          </p:spPr>
          <p:txBody>
            <a:bodyPr/>
            <a:lstStyle/>
            <a:p>
              <a:endParaRPr lang="zh-CN" altLang="en-US"/>
            </a:p>
          </p:txBody>
        </p:sp>
        <p:sp>
          <p:nvSpPr>
            <p:cNvPr id="9" name="Freeform 9"/>
            <p:cNvSpPr/>
            <p:nvPr/>
          </p:nvSpPr>
          <p:spPr>
            <a:xfrm>
              <a:off x="1714500" y="2019300"/>
              <a:ext cx="8382000" cy="9525"/>
            </a:xfrm>
            <a:custGeom>
              <a:avLst/>
              <a:gdLst/>
              <a:ahLst/>
              <a:cxnLst/>
              <a:rect l="l" t="t" r="r" b="b"/>
              <a:pathLst>
                <a:path w="8382000" h="9525">
                  <a:moveTo>
                    <a:pt x="0" y="0"/>
                  </a:moveTo>
                  <a:lnTo>
                    <a:pt x="8382000" y="0"/>
                  </a:lnTo>
                </a:path>
              </a:pathLst>
            </a:custGeom>
            <a:noFill/>
            <a:ln w="28575">
              <a:solidFill>
                <a:srgbClr val="009682"/>
              </a:solidFill>
              <a:tailEnd type="triangle" w="lg" len="lg"/>
            </a:ln>
          </p:spPr>
          <p:txBody>
            <a:bodyPr/>
            <a:lstStyle/>
            <a:p>
              <a:endParaRPr lang="zh-CN" altLang="en-US"/>
            </a:p>
          </p:txBody>
        </p:sp>
      </p:grpSp>
      <p:grpSp>
        <p:nvGrpSpPr>
          <p:cNvPr id="21" name="Group 21"/>
          <p:cNvGrpSpPr/>
          <p:nvPr/>
        </p:nvGrpSpPr>
        <p:grpSpPr>
          <a:xfrm>
            <a:off x="609600" y="1619250"/>
            <a:ext cx="2940177" cy="3505200"/>
            <a:chOff x="609600" y="1619250"/>
            <a:chExt cx="2940177" cy="3505200"/>
          </a:xfrm>
        </p:grpSpPr>
        <p:sp>
          <p:nvSpPr>
            <p:cNvPr id="11" name="Ellipse 11"/>
            <p:cNvSpPr/>
            <p:nvPr/>
          </p:nvSpPr>
          <p:spPr>
            <a:xfrm>
              <a:off x="1409700" y="1619250"/>
              <a:ext cx="800100" cy="800100"/>
            </a:xfrm>
            <a:prstGeom prst="ellipse">
              <a:avLst/>
            </a:prstGeom>
            <a:solidFill>
              <a:srgbClr val="009682"/>
            </a:solidFill>
            <a:ln>
              <a:noFill/>
            </a:ln>
          </p:spPr>
          <p:txBody>
            <a:bodyPr/>
            <a:lstStyle/>
            <a:p>
              <a:endParaRPr lang="zh-CN" altLang="en-US"/>
            </a:p>
          </p:txBody>
        </p:sp>
        <p:sp>
          <p:nvSpPr>
            <p:cNvPr id="12" name="TextBox 12"/>
            <p:cNvSpPr txBox="1"/>
            <p:nvPr/>
          </p:nvSpPr>
          <p:spPr>
            <a:xfrm>
              <a:off x="1749085" y="1901190"/>
              <a:ext cx="121329"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1</a:t>
              </a:r>
            </a:p>
          </p:txBody>
        </p:sp>
        <p:sp>
          <p:nvSpPr>
            <p:cNvPr id="13" name="Rectangle 13"/>
            <p:cNvSpPr/>
            <p:nvPr/>
          </p:nvSpPr>
          <p:spPr>
            <a:xfrm>
              <a:off x="609600" y="2724150"/>
              <a:ext cx="2571750" cy="2400300"/>
            </a:xfrm>
            <a:prstGeom prst="roundRect">
              <a:avLst>
                <a:gd name="adj" fmla="val 3968"/>
              </a:avLst>
            </a:prstGeom>
            <a:solidFill>
              <a:srgbClr val="EAF6F4"/>
            </a:solidFill>
            <a:ln w="19050">
              <a:solidFill>
                <a:srgbClr val="009682"/>
              </a:solidFill>
            </a:ln>
          </p:spPr>
          <p:txBody>
            <a:bodyPr/>
            <a:lstStyle/>
            <a:p>
              <a:endParaRPr lang="zh-CN" altLang="en-US"/>
            </a:p>
          </p:txBody>
        </p:sp>
        <p:sp>
          <p:nvSpPr>
            <p:cNvPr id="14" name="TextBox 14"/>
            <p:cNvSpPr txBox="1"/>
            <p:nvPr/>
          </p:nvSpPr>
          <p:spPr>
            <a:xfrm>
              <a:off x="820102" y="2932271"/>
              <a:ext cx="2360661" cy="289560"/>
            </a:xfrm>
            <a:prstGeom prst="rect">
              <a:avLst/>
            </a:prstGeom>
            <a:noFill/>
            <a:ln>
              <a:noFill/>
            </a:ln>
          </p:spPr>
          <p:txBody>
            <a:bodyPr wrap="none" lIns="0" tIns="0" rIns="0" bIns="0" anchor="t" anchorCtr="0">
              <a:spAutoFit/>
            </a:bodyPr>
            <a:lstStyle/>
            <a:p>
              <a:pPr algn="l"/>
              <a:r>
                <a:rPr lang="zh-CN" sz="1425" b="1" dirty="0">
                  <a:solidFill>
                    <a:srgbClr val="005A50"/>
                  </a:solidFill>
                  <a:latin typeface="Arial"/>
                  <a:ea typeface="Microsoft YaHei"/>
                  <a:cs typeface="Arial"/>
                </a:rPr>
                <a:t>Discuss the scope today</a:t>
              </a:r>
            </a:p>
          </p:txBody>
        </p:sp>
        <p:sp>
          <p:nvSpPr>
            <p:cNvPr id="15" name="TextBox 15"/>
            <p:cNvSpPr txBox="1"/>
            <p:nvPr/>
          </p:nvSpPr>
          <p:spPr>
            <a:xfrm>
              <a:off x="822960" y="3308985"/>
              <a:ext cx="2614803"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Ask the supervisor to help define</a:t>
              </a:r>
            </a:p>
          </p:txBody>
        </p:sp>
        <p:sp>
          <p:nvSpPr>
            <p:cNvPr id="16" name="TextBox 16"/>
            <p:cNvSpPr txBox="1"/>
            <p:nvPr/>
          </p:nvSpPr>
          <p:spPr>
            <a:xfrm>
              <a:off x="822960" y="3547110"/>
              <a:ext cx="2726817"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the approximate evaluation scope.</a:t>
              </a:r>
            </a:p>
          </p:txBody>
        </p:sp>
        <p:sp>
          <p:nvSpPr>
            <p:cNvPr id="17" name="Line 17"/>
            <p:cNvSpPr/>
            <p:nvPr/>
          </p:nvSpPr>
          <p:spPr>
            <a:xfrm>
              <a:off x="838200" y="3924300"/>
              <a:ext cx="2114550" cy="9525"/>
            </a:xfrm>
            <a:custGeom>
              <a:avLst/>
              <a:gdLst/>
              <a:ahLst/>
              <a:cxnLst/>
              <a:rect l="l" t="t" r="r" b="b"/>
              <a:pathLst>
                <a:path w="2114550" h="9525">
                  <a:moveTo>
                    <a:pt x="0" y="0"/>
                  </a:moveTo>
                  <a:lnTo>
                    <a:pt x="2114550" y="0"/>
                  </a:lnTo>
                </a:path>
              </a:pathLst>
            </a:custGeom>
            <a:noFill/>
            <a:ln w="19050">
              <a:solidFill>
                <a:srgbClr val="B8DCD6"/>
              </a:solidFill>
            </a:ln>
          </p:spPr>
          <p:txBody>
            <a:bodyPr/>
            <a:lstStyle/>
            <a:p>
              <a:endParaRPr lang="zh-CN" altLang="en-US"/>
            </a:p>
          </p:txBody>
        </p:sp>
        <p:sp>
          <p:nvSpPr>
            <p:cNvPr id="18" name="TextBox 18"/>
            <p:cNvSpPr txBox="1"/>
            <p:nvPr/>
          </p:nvSpPr>
          <p:spPr>
            <a:xfrm>
              <a:off x="823912" y="4098131"/>
              <a:ext cx="1249353" cy="228600"/>
            </a:xfrm>
            <a:prstGeom prst="rect">
              <a:avLst/>
            </a:prstGeom>
            <a:noFill/>
            <a:ln>
              <a:noFill/>
            </a:ln>
          </p:spPr>
          <p:txBody>
            <a:bodyPr wrap="none" lIns="0" tIns="0" rIns="0" bIns="0" anchor="t" anchorCtr="0">
              <a:spAutoFit/>
            </a:bodyPr>
            <a:lstStyle/>
            <a:p>
              <a:pPr algn="l"/>
              <a:r>
                <a:rPr lang="zh-CN" sz="1125" b="1" dirty="0">
                  <a:solidFill>
                    <a:srgbClr val="009682"/>
                  </a:solidFill>
                  <a:latin typeface="Arial"/>
                  <a:ea typeface="Microsoft YaHei"/>
                  <a:cs typeface="Arial"/>
                </a:rPr>
                <a:t>Expected result</a:t>
              </a:r>
            </a:p>
          </p:txBody>
        </p:sp>
        <p:sp>
          <p:nvSpPr>
            <p:cNvPr id="19" name="TextBox 19"/>
            <p:cNvSpPr txBox="1"/>
            <p:nvPr/>
          </p:nvSpPr>
          <p:spPr>
            <a:xfrm>
              <a:off x="823912" y="4374356"/>
              <a:ext cx="2376368"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A clearer list of core, optional,</a:t>
              </a:r>
            </a:p>
          </p:txBody>
        </p:sp>
        <p:sp>
          <p:nvSpPr>
            <p:cNvPr id="20" name="TextBox 20"/>
            <p:cNvSpPr txBox="1"/>
            <p:nvPr/>
          </p:nvSpPr>
          <p:spPr>
            <a:xfrm>
              <a:off x="823912" y="4602956"/>
              <a:ext cx="2061329"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and deeper research areas.</a:t>
              </a:r>
            </a:p>
          </p:txBody>
        </p:sp>
      </p:grpSp>
      <p:grpSp>
        <p:nvGrpSpPr>
          <p:cNvPr id="32" name="Group 32"/>
          <p:cNvGrpSpPr/>
          <p:nvPr/>
        </p:nvGrpSpPr>
        <p:grpSpPr>
          <a:xfrm>
            <a:off x="3371850" y="1619250"/>
            <a:ext cx="3020187" cy="3505200"/>
            <a:chOff x="3371850" y="1619250"/>
            <a:chExt cx="3020187" cy="3505200"/>
          </a:xfrm>
        </p:grpSpPr>
        <p:sp>
          <p:nvSpPr>
            <p:cNvPr id="22" name="Ellipse 22"/>
            <p:cNvSpPr/>
            <p:nvPr/>
          </p:nvSpPr>
          <p:spPr>
            <a:xfrm>
              <a:off x="4171950" y="1619250"/>
              <a:ext cx="800100" cy="800100"/>
            </a:xfrm>
            <a:prstGeom prst="ellipse">
              <a:avLst/>
            </a:prstGeom>
            <a:solidFill>
              <a:srgbClr val="002D4C"/>
            </a:solidFill>
            <a:ln>
              <a:noFill/>
            </a:ln>
          </p:spPr>
          <p:txBody>
            <a:bodyPr/>
            <a:lstStyle/>
            <a:p>
              <a:endParaRPr lang="zh-CN" altLang="en-US"/>
            </a:p>
          </p:txBody>
        </p:sp>
        <p:sp>
          <p:nvSpPr>
            <p:cNvPr id="23" name="TextBox 23"/>
            <p:cNvSpPr txBox="1"/>
            <p:nvPr/>
          </p:nvSpPr>
          <p:spPr>
            <a:xfrm>
              <a:off x="4479831" y="1901190"/>
              <a:ext cx="184337"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2</a:t>
              </a:r>
            </a:p>
          </p:txBody>
        </p:sp>
        <p:sp>
          <p:nvSpPr>
            <p:cNvPr id="24" name="Rectangle 24"/>
            <p:cNvSpPr/>
            <p:nvPr/>
          </p:nvSpPr>
          <p:spPr>
            <a:xfrm>
              <a:off x="3371850" y="2724150"/>
              <a:ext cx="2571750" cy="2400300"/>
            </a:xfrm>
            <a:prstGeom prst="roundRect">
              <a:avLst>
                <a:gd name="adj" fmla="val 3968"/>
              </a:avLst>
            </a:prstGeom>
            <a:solidFill>
              <a:srgbClr val="F4F7F8"/>
            </a:solidFill>
            <a:ln w="19050">
              <a:solidFill>
                <a:srgbClr val="DAE1E6"/>
              </a:solidFill>
            </a:ln>
          </p:spPr>
          <p:txBody>
            <a:bodyPr/>
            <a:lstStyle/>
            <a:p>
              <a:endParaRPr lang="zh-CN" altLang="en-US"/>
            </a:p>
          </p:txBody>
        </p:sp>
        <p:sp>
          <p:nvSpPr>
            <p:cNvPr id="25" name="TextBox 25"/>
            <p:cNvSpPr txBox="1"/>
            <p:nvPr/>
          </p:nvSpPr>
          <p:spPr>
            <a:xfrm>
              <a:off x="3582352" y="2932271"/>
              <a:ext cx="2161136"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Refine the framework</a:t>
              </a:r>
            </a:p>
          </p:txBody>
        </p:sp>
        <p:sp>
          <p:nvSpPr>
            <p:cNvPr id="26" name="TextBox 26"/>
            <p:cNvSpPr txBox="1"/>
            <p:nvPr/>
          </p:nvSpPr>
          <p:spPr>
            <a:xfrm>
              <a:off x="3585210" y="3308985"/>
              <a:ext cx="2710815"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Freeze the minimum tasks, fields,</a:t>
              </a:r>
            </a:p>
          </p:txBody>
        </p:sp>
        <p:sp>
          <p:nvSpPr>
            <p:cNvPr id="27" name="TextBox 27"/>
            <p:cNvSpPr txBox="1"/>
            <p:nvPr/>
          </p:nvSpPr>
          <p:spPr>
            <a:xfrm>
              <a:off x="3585210" y="3547110"/>
              <a:ext cx="2806827"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metrics, and logging requirements.</a:t>
              </a:r>
            </a:p>
          </p:txBody>
        </p:sp>
        <p:sp>
          <p:nvSpPr>
            <p:cNvPr id="28" name="Line 28"/>
            <p:cNvSpPr/>
            <p:nvPr/>
          </p:nvSpPr>
          <p:spPr>
            <a:xfrm>
              <a:off x="3600450" y="3924300"/>
              <a:ext cx="2114550" cy="9525"/>
            </a:xfrm>
            <a:custGeom>
              <a:avLst/>
              <a:gdLst/>
              <a:ahLst/>
              <a:cxnLst/>
              <a:rect l="l" t="t" r="r" b="b"/>
              <a:pathLst>
                <a:path w="2114550" h="9525">
                  <a:moveTo>
                    <a:pt x="0" y="0"/>
                  </a:moveTo>
                  <a:lnTo>
                    <a:pt x="2114550" y="0"/>
                  </a:lnTo>
                </a:path>
              </a:pathLst>
            </a:custGeom>
            <a:noFill/>
            <a:ln w="19050">
              <a:solidFill>
                <a:srgbClr val="DAE1E6"/>
              </a:solidFill>
            </a:ln>
          </p:spPr>
          <p:txBody>
            <a:bodyPr/>
            <a:lstStyle/>
            <a:p>
              <a:endParaRPr lang="zh-CN" altLang="en-US"/>
            </a:p>
          </p:txBody>
        </p:sp>
        <p:sp>
          <p:nvSpPr>
            <p:cNvPr id="29" name="TextBox 29"/>
            <p:cNvSpPr txBox="1"/>
            <p:nvPr/>
          </p:nvSpPr>
          <p:spPr>
            <a:xfrm>
              <a:off x="3586162" y="4098131"/>
              <a:ext cx="1249353" cy="228600"/>
            </a:xfrm>
            <a:prstGeom prst="rect">
              <a:avLst/>
            </a:prstGeom>
            <a:noFill/>
            <a:ln>
              <a:noFill/>
            </a:ln>
          </p:spPr>
          <p:txBody>
            <a:bodyPr wrap="none" lIns="0" tIns="0" rIns="0" bIns="0" anchor="t" anchorCtr="0">
              <a:spAutoFit/>
            </a:bodyPr>
            <a:lstStyle/>
            <a:p>
              <a:pPr algn="l"/>
              <a:r>
                <a:rPr lang="zh-CN" sz="1125" b="1" dirty="0">
                  <a:solidFill>
                    <a:srgbClr val="009682"/>
                  </a:solidFill>
                  <a:latin typeface="Arial"/>
                  <a:ea typeface="Microsoft YaHei"/>
                  <a:cs typeface="Arial"/>
                </a:rPr>
                <a:t>Expected result</a:t>
              </a:r>
            </a:p>
          </p:txBody>
        </p:sp>
        <p:sp>
          <p:nvSpPr>
            <p:cNvPr id="30" name="TextBox 30"/>
            <p:cNvSpPr txBox="1"/>
            <p:nvPr/>
          </p:nvSpPr>
          <p:spPr>
            <a:xfrm>
              <a:off x="3586162" y="4374356"/>
              <a:ext cx="1581269"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A minimum executable</a:t>
              </a:r>
            </a:p>
          </p:txBody>
        </p:sp>
        <p:sp>
          <p:nvSpPr>
            <p:cNvPr id="31" name="TextBox 31"/>
            <p:cNvSpPr txBox="1"/>
            <p:nvPr/>
          </p:nvSpPr>
          <p:spPr>
            <a:xfrm>
              <a:off x="3586162" y="4602956"/>
              <a:ext cx="1363742"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evaluation design.</a:t>
              </a:r>
            </a:p>
          </p:txBody>
        </p:sp>
      </p:grpSp>
      <p:grpSp>
        <p:nvGrpSpPr>
          <p:cNvPr id="43" name="Group 43"/>
          <p:cNvGrpSpPr/>
          <p:nvPr/>
        </p:nvGrpSpPr>
        <p:grpSpPr>
          <a:xfrm>
            <a:off x="6134100" y="1619250"/>
            <a:ext cx="3108198" cy="3505200"/>
            <a:chOff x="6134100" y="1619250"/>
            <a:chExt cx="3108198" cy="3505200"/>
          </a:xfrm>
        </p:grpSpPr>
        <p:sp>
          <p:nvSpPr>
            <p:cNvPr id="33" name="Ellipse 33"/>
            <p:cNvSpPr/>
            <p:nvPr/>
          </p:nvSpPr>
          <p:spPr>
            <a:xfrm>
              <a:off x="6934200" y="1619250"/>
              <a:ext cx="800100" cy="800100"/>
            </a:xfrm>
            <a:prstGeom prst="ellipse">
              <a:avLst/>
            </a:prstGeom>
            <a:solidFill>
              <a:srgbClr val="23A1E0"/>
            </a:solidFill>
            <a:ln>
              <a:noFill/>
            </a:ln>
          </p:spPr>
          <p:txBody>
            <a:bodyPr/>
            <a:lstStyle/>
            <a:p>
              <a:endParaRPr lang="zh-CN" altLang="en-US"/>
            </a:p>
          </p:txBody>
        </p:sp>
        <p:sp>
          <p:nvSpPr>
            <p:cNvPr id="34" name="TextBox 34"/>
            <p:cNvSpPr txBox="1"/>
            <p:nvPr/>
          </p:nvSpPr>
          <p:spPr>
            <a:xfrm>
              <a:off x="7242081" y="1901190"/>
              <a:ext cx="184337"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3</a:t>
              </a:r>
            </a:p>
          </p:txBody>
        </p:sp>
        <p:sp>
          <p:nvSpPr>
            <p:cNvPr id="35" name="Rectangle 35"/>
            <p:cNvSpPr/>
            <p:nvPr/>
          </p:nvSpPr>
          <p:spPr>
            <a:xfrm>
              <a:off x="6134100" y="2724150"/>
              <a:ext cx="2571750" cy="2400300"/>
            </a:xfrm>
            <a:prstGeom prst="roundRect">
              <a:avLst>
                <a:gd name="adj" fmla="val 3968"/>
              </a:avLst>
            </a:prstGeom>
            <a:solidFill>
              <a:srgbClr val="F4F7F8"/>
            </a:solidFill>
            <a:ln w="19050">
              <a:solidFill>
                <a:srgbClr val="DAE1E6"/>
              </a:solidFill>
            </a:ln>
          </p:spPr>
          <p:txBody>
            <a:bodyPr/>
            <a:lstStyle/>
            <a:p>
              <a:endParaRPr lang="zh-CN" altLang="en-US"/>
            </a:p>
          </p:txBody>
        </p:sp>
        <p:sp>
          <p:nvSpPr>
            <p:cNvPr id="36" name="TextBox 36"/>
            <p:cNvSpPr txBox="1"/>
            <p:nvPr/>
          </p:nvSpPr>
          <p:spPr>
            <a:xfrm>
              <a:off x="6344602" y="2932271"/>
              <a:ext cx="2480375"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Build the first prototype</a:t>
              </a:r>
            </a:p>
          </p:txBody>
        </p:sp>
        <p:sp>
          <p:nvSpPr>
            <p:cNvPr id="37" name="TextBox 37"/>
            <p:cNvSpPr txBox="1"/>
            <p:nvPr/>
          </p:nvSpPr>
          <p:spPr>
            <a:xfrm>
              <a:off x="6347460" y="3308985"/>
              <a:ext cx="2390775"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Analyse the existing Agent and</a:t>
              </a:r>
            </a:p>
          </p:txBody>
        </p:sp>
        <p:sp>
          <p:nvSpPr>
            <p:cNvPr id="38" name="TextBox 38"/>
            <p:cNvSpPr txBox="1"/>
            <p:nvPr/>
          </p:nvSpPr>
          <p:spPr>
            <a:xfrm>
              <a:off x="6347460" y="3547110"/>
              <a:ext cx="2894838"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implement the first evaluation flow.</a:t>
              </a:r>
            </a:p>
          </p:txBody>
        </p:sp>
        <p:sp>
          <p:nvSpPr>
            <p:cNvPr id="39" name="Line 39"/>
            <p:cNvSpPr/>
            <p:nvPr/>
          </p:nvSpPr>
          <p:spPr>
            <a:xfrm>
              <a:off x="6362700" y="3924300"/>
              <a:ext cx="2114550" cy="9525"/>
            </a:xfrm>
            <a:custGeom>
              <a:avLst/>
              <a:gdLst/>
              <a:ahLst/>
              <a:cxnLst/>
              <a:rect l="l" t="t" r="r" b="b"/>
              <a:pathLst>
                <a:path w="2114550" h="9525">
                  <a:moveTo>
                    <a:pt x="0" y="0"/>
                  </a:moveTo>
                  <a:lnTo>
                    <a:pt x="2114550" y="0"/>
                  </a:lnTo>
                </a:path>
              </a:pathLst>
            </a:custGeom>
            <a:noFill/>
            <a:ln w="19050">
              <a:solidFill>
                <a:srgbClr val="DAE1E6"/>
              </a:solidFill>
            </a:ln>
          </p:spPr>
          <p:txBody>
            <a:bodyPr/>
            <a:lstStyle/>
            <a:p>
              <a:endParaRPr lang="zh-CN" altLang="en-US"/>
            </a:p>
          </p:txBody>
        </p:sp>
        <p:sp>
          <p:nvSpPr>
            <p:cNvPr id="40" name="TextBox 40"/>
            <p:cNvSpPr txBox="1"/>
            <p:nvPr/>
          </p:nvSpPr>
          <p:spPr>
            <a:xfrm>
              <a:off x="6348412" y="4098131"/>
              <a:ext cx="1249353" cy="228600"/>
            </a:xfrm>
            <a:prstGeom prst="rect">
              <a:avLst/>
            </a:prstGeom>
            <a:noFill/>
            <a:ln>
              <a:noFill/>
            </a:ln>
          </p:spPr>
          <p:txBody>
            <a:bodyPr wrap="none" lIns="0" tIns="0" rIns="0" bIns="0" anchor="t" anchorCtr="0">
              <a:spAutoFit/>
            </a:bodyPr>
            <a:lstStyle/>
            <a:p>
              <a:pPr algn="l"/>
              <a:r>
                <a:rPr lang="zh-CN" sz="1125" b="1" dirty="0">
                  <a:solidFill>
                    <a:srgbClr val="009682"/>
                  </a:solidFill>
                  <a:latin typeface="Arial"/>
                  <a:ea typeface="Microsoft YaHei"/>
                  <a:cs typeface="Arial"/>
                </a:rPr>
                <a:t>Expected result</a:t>
              </a:r>
            </a:p>
          </p:txBody>
        </p:sp>
        <p:sp>
          <p:nvSpPr>
            <p:cNvPr id="41" name="TextBox 41"/>
            <p:cNvSpPr txBox="1"/>
            <p:nvPr/>
          </p:nvSpPr>
          <p:spPr>
            <a:xfrm>
              <a:off x="6348412" y="4374356"/>
              <a:ext cx="2031325"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Initial metric functions and</a:t>
              </a:r>
            </a:p>
          </p:txBody>
        </p:sp>
        <p:sp>
          <p:nvSpPr>
            <p:cNvPr id="42" name="TextBox 42"/>
            <p:cNvSpPr txBox="1"/>
            <p:nvPr/>
          </p:nvSpPr>
          <p:spPr>
            <a:xfrm>
              <a:off x="6348412" y="4602956"/>
              <a:ext cx="1783794"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unified-log integration.</a:t>
              </a:r>
            </a:p>
          </p:txBody>
        </p:sp>
      </p:grpSp>
      <p:grpSp>
        <p:nvGrpSpPr>
          <p:cNvPr id="56" name="Group 56"/>
          <p:cNvGrpSpPr/>
          <p:nvPr/>
        </p:nvGrpSpPr>
        <p:grpSpPr>
          <a:xfrm>
            <a:off x="8896350" y="1619250"/>
            <a:ext cx="2365652" cy="3505200"/>
            <a:chOff x="8896350" y="1619250"/>
            <a:chExt cx="2365652" cy="3505200"/>
          </a:xfrm>
        </p:grpSpPr>
        <p:sp>
          <p:nvSpPr>
            <p:cNvPr id="44" name="Ellipse 44"/>
            <p:cNvSpPr/>
            <p:nvPr/>
          </p:nvSpPr>
          <p:spPr>
            <a:xfrm>
              <a:off x="9696450" y="1619250"/>
              <a:ext cx="800100" cy="800100"/>
            </a:xfrm>
            <a:prstGeom prst="ellipse">
              <a:avLst/>
            </a:prstGeom>
            <a:solidFill>
              <a:srgbClr val="005A50"/>
            </a:solidFill>
            <a:ln>
              <a:noFill/>
            </a:ln>
          </p:spPr>
          <p:txBody>
            <a:bodyPr/>
            <a:lstStyle/>
            <a:p>
              <a:endParaRPr lang="zh-CN" altLang="en-US"/>
            </a:p>
          </p:txBody>
        </p:sp>
        <p:sp>
          <p:nvSpPr>
            <p:cNvPr id="45" name="TextBox 45"/>
            <p:cNvSpPr txBox="1"/>
            <p:nvPr/>
          </p:nvSpPr>
          <p:spPr>
            <a:xfrm>
              <a:off x="10004331" y="1901190"/>
              <a:ext cx="184337"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4</a:t>
              </a:r>
            </a:p>
          </p:txBody>
        </p:sp>
        <p:sp>
          <p:nvSpPr>
            <p:cNvPr id="46" name="Rectangle 46"/>
            <p:cNvSpPr/>
            <p:nvPr/>
          </p:nvSpPr>
          <p:spPr>
            <a:xfrm>
              <a:off x="8896350" y="2724150"/>
              <a:ext cx="2095500" cy="2400300"/>
            </a:xfrm>
            <a:prstGeom prst="roundRect">
              <a:avLst>
                <a:gd name="adj" fmla="val 4545"/>
              </a:avLst>
            </a:prstGeom>
            <a:solidFill>
              <a:srgbClr val="EAF6F4"/>
            </a:solidFill>
            <a:ln w="19050">
              <a:solidFill>
                <a:srgbClr val="009682"/>
              </a:solidFill>
            </a:ln>
          </p:spPr>
          <p:txBody>
            <a:bodyPr/>
            <a:lstStyle/>
            <a:p>
              <a:endParaRPr lang="zh-CN" altLang="en-US"/>
            </a:p>
          </p:txBody>
        </p:sp>
        <p:sp>
          <p:nvSpPr>
            <p:cNvPr id="47" name="Rectangle 47"/>
            <p:cNvSpPr/>
            <p:nvPr/>
          </p:nvSpPr>
          <p:spPr>
            <a:xfrm>
              <a:off x="9010650" y="2895600"/>
              <a:ext cx="1866900" cy="257175"/>
            </a:xfrm>
            <a:prstGeom prst="roundRect">
              <a:avLst>
                <a:gd name="adj" fmla="val 48148"/>
              </a:avLst>
            </a:prstGeom>
            <a:solidFill>
              <a:srgbClr val="009682"/>
            </a:solidFill>
            <a:ln>
              <a:noFill/>
            </a:ln>
          </p:spPr>
          <p:txBody>
            <a:bodyPr/>
            <a:lstStyle/>
            <a:p>
              <a:endParaRPr lang="zh-CN" altLang="en-US"/>
            </a:p>
          </p:txBody>
        </p:sp>
        <p:sp>
          <p:nvSpPr>
            <p:cNvPr id="48" name="TextBox 48"/>
            <p:cNvSpPr txBox="1"/>
            <p:nvPr/>
          </p:nvSpPr>
          <p:spPr>
            <a:xfrm>
              <a:off x="9645984" y="2969895"/>
              <a:ext cx="59623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OPTIONAL</a:t>
              </a:r>
            </a:p>
          </p:txBody>
        </p:sp>
        <p:sp>
          <p:nvSpPr>
            <p:cNvPr id="49" name="TextBox 49"/>
            <p:cNvSpPr txBox="1"/>
            <p:nvPr/>
          </p:nvSpPr>
          <p:spPr>
            <a:xfrm>
              <a:off x="9107805" y="3311842"/>
              <a:ext cx="1508674" cy="274320"/>
            </a:xfrm>
            <a:prstGeom prst="rect">
              <a:avLst/>
            </a:prstGeom>
            <a:noFill/>
            <a:ln>
              <a:noFill/>
            </a:ln>
          </p:spPr>
          <p:txBody>
            <a:bodyPr wrap="none" lIns="0" tIns="0" rIns="0" bIns="0" anchor="t" anchorCtr="0">
              <a:spAutoFit/>
            </a:bodyPr>
            <a:lstStyle/>
            <a:p>
              <a:pPr algn="l"/>
              <a:r>
                <a:rPr lang="zh-CN" sz="1350" b="1" dirty="0">
                  <a:solidFill>
                    <a:srgbClr val="002D4C"/>
                  </a:solidFill>
                  <a:latin typeface="Arial"/>
                  <a:ea typeface="Microsoft YaHei"/>
                  <a:cs typeface="Arial"/>
                </a:rPr>
                <a:t>Run a small pilot</a:t>
              </a:r>
            </a:p>
          </p:txBody>
        </p:sp>
        <p:sp>
          <p:nvSpPr>
            <p:cNvPr id="50" name="TextBox 50"/>
            <p:cNvSpPr txBox="1"/>
            <p:nvPr/>
          </p:nvSpPr>
          <p:spPr>
            <a:xfrm>
              <a:off x="9110662" y="3659981"/>
              <a:ext cx="1881307"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Check whether datasets,</a:t>
              </a:r>
            </a:p>
          </p:txBody>
        </p:sp>
        <p:sp>
          <p:nvSpPr>
            <p:cNvPr id="51" name="TextBox 51"/>
            <p:cNvSpPr txBox="1"/>
            <p:nvPr/>
          </p:nvSpPr>
          <p:spPr>
            <a:xfrm>
              <a:off x="9110662" y="3888581"/>
              <a:ext cx="171628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logs, and metrics work</a:t>
              </a:r>
            </a:p>
          </p:txBody>
        </p:sp>
        <p:sp>
          <p:nvSpPr>
            <p:cNvPr id="52" name="TextBox 52"/>
            <p:cNvSpPr txBox="1"/>
            <p:nvPr/>
          </p:nvSpPr>
          <p:spPr>
            <a:xfrm>
              <a:off x="9110662" y="4117181"/>
              <a:ext cx="2151340"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together on the first Agent.</a:t>
              </a:r>
            </a:p>
          </p:txBody>
        </p:sp>
        <p:sp>
          <p:nvSpPr>
            <p:cNvPr id="53" name="Line 53"/>
            <p:cNvSpPr/>
            <p:nvPr/>
          </p:nvSpPr>
          <p:spPr>
            <a:xfrm>
              <a:off x="9124950" y="4476750"/>
              <a:ext cx="1638300" cy="9525"/>
            </a:xfrm>
            <a:custGeom>
              <a:avLst/>
              <a:gdLst/>
              <a:ahLst/>
              <a:cxnLst/>
              <a:rect l="l" t="t" r="r" b="b"/>
              <a:pathLst>
                <a:path w="1638300" h="9525">
                  <a:moveTo>
                    <a:pt x="0" y="0"/>
                  </a:moveTo>
                  <a:lnTo>
                    <a:pt x="1638300" y="0"/>
                  </a:lnTo>
                </a:path>
              </a:pathLst>
            </a:custGeom>
            <a:noFill/>
            <a:ln w="19050">
              <a:solidFill>
                <a:srgbClr val="B8DCD6"/>
              </a:solidFill>
            </a:ln>
          </p:spPr>
          <p:txBody>
            <a:bodyPr/>
            <a:lstStyle/>
            <a:p>
              <a:endParaRPr lang="zh-CN" altLang="en-US"/>
            </a:p>
          </p:txBody>
        </p:sp>
        <p:sp>
          <p:nvSpPr>
            <p:cNvPr id="54" name="TextBox 54"/>
            <p:cNvSpPr txBox="1"/>
            <p:nvPr/>
          </p:nvSpPr>
          <p:spPr>
            <a:xfrm>
              <a:off x="9111615" y="4639628"/>
              <a:ext cx="1531858"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Not guaranteed within</a:t>
              </a:r>
            </a:p>
          </p:txBody>
        </p:sp>
        <p:sp>
          <p:nvSpPr>
            <p:cNvPr id="55" name="TextBox 55"/>
            <p:cNvSpPr txBox="1"/>
            <p:nvPr/>
          </p:nvSpPr>
          <p:spPr>
            <a:xfrm>
              <a:off x="9111615" y="4858702"/>
              <a:ext cx="1440847" cy="213360"/>
            </a:xfrm>
            <a:prstGeom prst="rect">
              <a:avLst/>
            </a:prstGeom>
            <a:noFill/>
            <a:ln>
              <a:noFill/>
            </a:ln>
          </p:spPr>
          <p:txBody>
            <a:bodyPr wrap="none" lIns="0" tIns="0" rIns="0" bIns="0" anchor="t" anchorCtr="0">
              <a:spAutoFit/>
            </a:bodyPr>
            <a:lstStyle/>
            <a:p>
              <a:pPr algn="l"/>
              <a:r>
                <a:rPr lang="zh-CN" sz="1050" dirty="0">
                  <a:solidFill>
                    <a:srgbClr val="526671"/>
                  </a:solidFill>
                  <a:latin typeface="Arial"/>
                  <a:ea typeface="Microsoft YaHei"/>
                  <a:cs typeface="Arial"/>
                </a:rPr>
                <a:t>the next two weeks.</a:t>
              </a:r>
            </a:p>
          </p:txBody>
        </p:sp>
      </p:grpSp>
      <p:grpSp>
        <p:nvGrpSpPr>
          <p:cNvPr id="61" name="Group 61"/>
          <p:cNvGrpSpPr/>
          <p:nvPr/>
        </p:nvGrpSpPr>
        <p:grpSpPr>
          <a:xfrm>
            <a:off x="609600" y="5467350"/>
            <a:ext cx="10382250" cy="723900"/>
            <a:chOff x="609600" y="5467350"/>
            <a:chExt cx="10382250" cy="723900"/>
          </a:xfrm>
        </p:grpSpPr>
        <p:sp>
          <p:nvSpPr>
            <p:cNvPr id="57" name="Rectangle 57"/>
            <p:cNvSpPr/>
            <p:nvPr/>
          </p:nvSpPr>
          <p:spPr>
            <a:xfrm>
              <a:off x="609600" y="5467350"/>
              <a:ext cx="10382250" cy="723900"/>
            </a:xfrm>
            <a:prstGeom prst="roundRect">
              <a:avLst>
                <a:gd name="adj" fmla="val 13158"/>
              </a:avLst>
            </a:prstGeom>
            <a:solidFill>
              <a:srgbClr val="002D4C"/>
            </a:solidFill>
            <a:ln>
              <a:noFill/>
            </a:ln>
          </p:spPr>
          <p:txBody>
            <a:bodyPr/>
            <a:lstStyle/>
            <a:p>
              <a:endParaRPr lang="zh-CN" altLang="en-US"/>
            </a:p>
          </p:txBody>
        </p:sp>
        <p:sp>
          <p:nvSpPr>
            <p:cNvPr id="58" name="TextBox 58"/>
            <p:cNvSpPr txBox="1"/>
            <p:nvPr/>
          </p:nvSpPr>
          <p:spPr>
            <a:xfrm>
              <a:off x="822008" y="5644039"/>
              <a:ext cx="82680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Priority:</a:t>
              </a:r>
            </a:p>
          </p:txBody>
        </p:sp>
        <p:sp>
          <p:nvSpPr>
            <p:cNvPr id="59" name="TextBox 59"/>
            <p:cNvSpPr txBox="1"/>
            <p:nvPr/>
          </p:nvSpPr>
          <p:spPr>
            <a:xfrm>
              <a:off x="1488758" y="5644039"/>
              <a:ext cx="5872615"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reduce uncertainty before investing in a larger Agent implementation.</a:t>
              </a:r>
            </a:p>
          </p:txBody>
        </p:sp>
        <p:sp>
          <p:nvSpPr>
            <p:cNvPr id="60" name="TextBox 60"/>
            <p:cNvSpPr txBox="1"/>
            <p:nvPr/>
          </p:nvSpPr>
          <p:spPr>
            <a:xfrm>
              <a:off x="823912" y="5917406"/>
              <a:ext cx="6044327" cy="228600"/>
            </a:xfrm>
            <a:prstGeom prst="rect">
              <a:avLst/>
            </a:prstGeom>
            <a:noFill/>
            <a:ln>
              <a:noFill/>
            </a:ln>
          </p:spPr>
          <p:txBody>
            <a:bodyPr wrap="none" lIns="0" tIns="0" rIns="0" bIns="0" anchor="t" anchorCtr="0">
              <a:spAutoFit/>
            </a:bodyPr>
            <a:lstStyle/>
            <a:p>
              <a:pPr algn="l"/>
              <a:r>
                <a:rPr lang="zh-CN" sz="1125" dirty="0">
                  <a:solidFill>
                    <a:srgbClr val="B8DCD6"/>
                  </a:solidFill>
                  <a:latin typeface="Arial"/>
                  <a:ea typeface="Microsoft YaHei"/>
                  <a:cs typeface="Arial"/>
                </a:rPr>
                <a:t>The first pilot validates the evaluation pipeline, not the final Agent performance.</a:t>
              </a:r>
            </a:p>
          </p:txBody>
        </p:sp>
      </p:grpSp>
      <p:sp>
        <p:nvSpPr>
          <p:cNvPr id="62" name="TextBox 62"/>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63" name="TextBox 52">
            <a:extLst>
              <a:ext uri="{FF2B5EF4-FFF2-40B4-BE49-F238E27FC236}">
                <a16:creationId xmlns:a16="http://schemas.microsoft.com/office/drawing/2014/main" id="{656A6BDF-D541-F964-F021-0E6FB3325F19}"/>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17</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400"/>
                                        <p:tgtEl>
                                          <p:spTgt spid="1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lide(fromBottom)">
                                      <p:cBhvr>
                                        <p:cTn id="11" dur="400"/>
                                        <p:tgtEl>
                                          <p:spTgt spid="2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lide(fromBottom)">
                                      <p:cBhvr>
                                        <p:cTn id="15" dur="400"/>
                                        <p:tgtEl>
                                          <p:spTgt spid="32"/>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slide(fromBottom)">
                                      <p:cBhvr>
                                        <p:cTn id="19" dur="400"/>
                                        <p:tgtEl>
                                          <p:spTgt spid="43"/>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slide(fromBottom)">
                                      <p:cBhvr>
                                        <p:cTn id="23" dur="400"/>
                                        <p:tgtEl>
                                          <p:spTgt spid="56"/>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1" grpId="0"/>
      <p:bldP spid="32" grpId="0"/>
      <p:bldP spid="43" grpId="0"/>
      <p:bldP spid="56" grpId="0"/>
      <p:bldP spid="6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sp>
          <p:nvSpPr>
            <p:cNvPr id="3" name="Rectangle 3"/>
            <p:cNvSpPr/>
            <p:nvPr/>
          </p:nvSpPr>
          <p:spPr>
            <a:xfrm>
              <a:off x="0" y="0"/>
              <a:ext cx="3238500" cy="6858000"/>
            </a:xfrm>
            <a:prstGeom prst="rect">
              <a:avLst/>
            </a:prstGeom>
            <a:solidFill>
              <a:srgbClr val="002D4C"/>
            </a:solidFill>
            <a:ln>
              <a:noFill/>
            </a:ln>
          </p:spPr>
          <p:txBody>
            <a:bodyPr/>
            <a:lstStyle/>
            <a:p>
              <a:endParaRPr lang="zh-CN" altLang="en-US"/>
            </a:p>
          </p:txBody>
        </p:sp>
        <p:sp>
          <p:nvSpPr>
            <p:cNvPr id="4" name="Rectangle 4"/>
            <p:cNvSpPr/>
            <p:nvPr/>
          </p:nvSpPr>
          <p:spPr>
            <a:xfrm>
              <a:off x="0" y="0"/>
              <a:ext cx="171450" cy="6858000"/>
            </a:xfrm>
            <a:prstGeom prst="rect">
              <a:avLst/>
            </a:prstGeom>
            <a:solidFill>
              <a:srgbClr val="009682"/>
            </a:solidFill>
            <a:ln>
              <a:noFill/>
            </a:ln>
          </p:spPr>
          <p:txBody>
            <a:bodyPr/>
            <a:lstStyle/>
            <a:p>
              <a:endParaRPr lang="zh-CN" altLang="en-US"/>
            </a:p>
          </p:txBody>
        </p:sp>
      </p:grpSp>
      <p:grpSp>
        <p:nvGrpSpPr>
          <p:cNvPr id="13" name="Group 13"/>
          <p:cNvGrpSpPr/>
          <p:nvPr/>
        </p:nvGrpSpPr>
        <p:grpSpPr>
          <a:xfrm>
            <a:off x="569595" y="907256"/>
            <a:ext cx="2999375" cy="2624138"/>
            <a:chOff x="569595" y="907256"/>
            <a:chExt cx="2999375" cy="2624138"/>
          </a:xfrm>
        </p:grpSpPr>
        <p:sp>
          <p:nvSpPr>
            <p:cNvPr id="6" name="TextBox 6"/>
            <p:cNvSpPr txBox="1"/>
            <p:nvPr/>
          </p:nvSpPr>
          <p:spPr>
            <a:xfrm>
              <a:off x="595312" y="907256"/>
              <a:ext cx="1249353" cy="228600"/>
            </a:xfrm>
            <a:prstGeom prst="rect">
              <a:avLst/>
            </a:prstGeom>
            <a:noFill/>
            <a:ln>
              <a:noFill/>
            </a:ln>
          </p:spPr>
          <p:txBody>
            <a:bodyPr wrap="none" lIns="0" tIns="0" rIns="0" bIns="0" anchor="t" anchorCtr="0">
              <a:spAutoFit/>
            </a:bodyPr>
            <a:lstStyle/>
            <a:p>
              <a:pPr algn="l"/>
              <a:r>
                <a:rPr lang="zh-CN" sz="1125" b="1" dirty="0">
                  <a:solidFill>
                    <a:srgbClr val="B8DCD6"/>
                  </a:solidFill>
                  <a:latin typeface="Arial"/>
                  <a:ea typeface="Microsoft YaHei"/>
                  <a:cs typeface="Arial"/>
                </a:rPr>
                <a:t>GUIDANCE NEEDED</a:t>
              </a:r>
            </a:p>
          </p:txBody>
        </p:sp>
        <p:sp>
          <p:nvSpPr>
            <p:cNvPr id="7" name="TextBox 7"/>
            <p:cNvSpPr txBox="1"/>
            <p:nvPr/>
          </p:nvSpPr>
          <p:spPr>
            <a:xfrm>
              <a:off x="569595" y="1260158"/>
              <a:ext cx="2138267" cy="640080"/>
            </a:xfrm>
            <a:prstGeom prst="rect">
              <a:avLst/>
            </a:prstGeom>
            <a:noFill/>
            <a:ln>
              <a:noFill/>
            </a:ln>
          </p:spPr>
          <p:txBody>
            <a:bodyPr wrap="none" lIns="0" tIns="0" rIns="0" bIns="0" anchor="t" anchorCtr="0">
              <a:spAutoFit/>
            </a:bodyPr>
            <a:lstStyle/>
            <a:p>
              <a:pPr algn="l"/>
              <a:r>
                <a:rPr lang="zh-CN" sz="3150" dirty="0">
                  <a:solidFill>
                    <a:srgbClr val="FFFFFF"/>
                  </a:solidFill>
                  <a:latin typeface="Franklin Gothic Medium"/>
                  <a:ea typeface="Microsoft YaHei"/>
                  <a:cs typeface="Franklin Gothic Medium"/>
                </a:rPr>
                <a:t>Questions</a:t>
              </a:r>
            </a:p>
          </p:txBody>
        </p:sp>
        <p:sp>
          <p:nvSpPr>
            <p:cNvPr id="8" name="TextBox 8"/>
            <p:cNvSpPr txBox="1"/>
            <p:nvPr/>
          </p:nvSpPr>
          <p:spPr>
            <a:xfrm>
              <a:off x="569595" y="1717358"/>
              <a:ext cx="2999375" cy="640080"/>
            </a:xfrm>
            <a:prstGeom prst="rect">
              <a:avLst/>
            </a:prstGeom>
            <a:noFill/>
            <a:ln>
              <a:noFill/>
            </a:ln>
          </p:spPr>
          <p:txBody>
            <a:bodyPr wrap="none" lIns="0" tIns="0" rIns="0" bIns="0" anchor="t" anchorCtr="0">
              <a:spAutoFit/>
            </a:bodyPr>
            <a:lstStyle/>
            <a:p>
              <a:pPr algn="l"/>
              <a:r>
                <a:rPr lang="zh-CN" sz="3150" dirty="0">
                  <a:solidFill>
                    <a:srgbClr val="FFFFFF"/>
                  </a:solidFill>
                  <a:latin typeface="Franklin Gothic Medium"/>
                  <a:ea typeface="Microsoft YaHei"/>
                  <a:cs typeface="Franklin Gothic Medium"/>
                </a:rPr>
                <a:t>for Discussion</a:t>
              </a:r>
            </a:p>
          </p:txBody>
        </p:sp>
        <p:sp>
          <p:nvSpPr>
            <p:cNvPr id="9" name="Line 9"/>
            <p:cNvSpPr/>
            <p:nvPr/>
          </p:nvSpPr>
          <p:spPr>
            <a:xfrm>
              <a:off x="609600" y="2419350"/>
              <a:ext cx="2019300" cy="9525"/>
            </a:xfrm>
            <a:custGeom>
              <a:avLst/>
              <a:gdLst/>
              <a:ahLst/>
              <a:cxnLst/>
              <a:rect l="l" t="t" r="r" b="b"/>
              <a:pathLst>
                <a:path w="2019300" h="9525">
                  <a:moveTo>
                    <a:pt x="0" y="0"/>
                  </a:moveTo>
                  <a:lnTo>
                    <a:pt x="2019300" y="0"/>
                  </a:lnTo>
                </a:path>
              </a:pathLst>
            </a:custGeom>
            <a:noFill/>
            <a:ln w="47625">
              <a:solidFill>
                <a:srgbClr val="009682"/>
              </a:solidFill>
            </a:ln>
          </p:spPr>
          <p:txBody>
            <a:bodyPr/>
            <a:lstStyle/>
            <a:p>
              <a:endParaRPr lang="zh-CN" altLang="en-US"/>
            </a:p>
          </p:txBody>
        </p:sp>
        <p:sp>
          <p:nvSpPr>
            <p:cNvPr id="10" name="TextBox 10"/>
            <p:cNvSpPr txBox="1"/>
            <p:nvPr/>
          </p:nvSpPr>
          <p:spPr>
            <a:xfrm>
              <a:off x="593408" y="2757964"/>
              <a:ext cx="2251162"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The aim is to leave today's</a:t>
              </a:r>
            </a:p>
          </p:txBody>
        </p:sp>
        <p:sp>
          <p:nvSpPr>
            <p:cNvPr id="11" name="TextBox 11"/>
            <p:cNvSpPr txBox="1"/>
            <p:nvPr/>
          </p:nvSpPr>
          <p:spPr>
            <a:xfrm>
              <a:off x="593408" y="3015139"/>
              <a:ext cx="2234160"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meeting with a clearer and</a:t>
              </a:r>
            </a:p>
          </p:txBody>
        </p:sp>
        <p:sp>
          <p:nvSpPr>
            <p:cNvPr id="12" name="TextBox 12"/>
            <p:cNvSpPr txBox="1"/>
            <p:nvPr/>
          </p:nvSpPr>
          <p:spPr>
            <a:xfrm>
              <a:off x="593408" y="3272314"/>
              <a:ext cx="249769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feasible evaluation direction.</a:t>
              </a:r>
            </a:p>
          </p:txBody>
        </p:sp>
      </p:grpSp>
      <p:grpSp>
        <p:nvGrpSpPr>
          <p:cNvPr id="19" name="Group 19"/>
          <p:cNvGrpSpPr/>
          <p:nvPr/>
        </p:nvGrpSpPr>
        <p:grpSpPr>
          <a:xfrm>
            <a:off x="3562350" y="1143000"/>
            <a:ext cx="7429500" cy="714375"/>
            <a:chOff x="3562350" y="1143000"/>
            <a:chExt cx="7429500" cy="714375"/>
          </a:xfrm>
        </p:grpSpPr>
        <p:sp>
          <p:nvSpPr>
            <p:cNvPr id="14" name="Ellipse 14"/>
            <p:cNvSpPr/>
            <p:nvPr/>
          </p:nvSpPr>
          <p:spPr>
            <a:xfrm>
              <a:off x="3562350" y="1143000"/>
              <a:ext cx="571500" cy="571500"/>
            </a:xfrm>
            <a:prstGeom prst="ellipse">
              <a:avLst/>
            </a:prstGeom>
            <a:solidFill>
              <a:srgbClr val="009682"/>
            </a:solidFill>
            <a:ln>
              <a:noFill/>
            </a:ln>
          </p:spPr>
          <p:txBody>
            <a:bodyPr/>
            <a:lstStyle/>
            <a:p>
              <a:endParaRPr lang="zh-CN" altLang="en-US"/>
            </a:p>
          </p:txBody>
        </p:sp>
        <p:sp>
          <p:nvSpPr>
            <p:cNvPr id="15" name="TextBox 15"/>
            <p:cNvSpPr txBox="1"/>
            <p:nvPr/>
          </p:nvSpPr>
          <p:spPr>
            <a:xfrm>
              <a:off x="3797546" y="1333500"/>
              <a:ext cx="10110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1</a:t>
              </a:r>
            </a:p>
          </p:txBody>
        </p:sp>
        <p:sp>
          <p:nvSpPr>
            <p:cNvPr id="16" name="TextBox 16"/>
            <p:cNvSpPr txBox="1"/>
            <p:nvPr/>
          </p:nvSpPr>
          <p:spPr>
            <a:xfrm>
              <a:off x="4306252" y="1170146"/>
              <a:ext cx="1642371"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Evaluation scope</a:t>
              </a:r>
            </a:p>
          </p:txBody>
        </p:sp>
        <p:sp>
          <p:nvSpPr>
            <p:cNvPr id="17" name="TextBox 17"/>
            <p:cNvSpPr txBox="1"/>
            <p:nvPr/>
          </p:nvSpPr>
          <p:spPr>
            <a:xfrm>
              <a:off x="4308158" y="1472089"/>
              <a:ext cx="6569702"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Which parts should be simplified, removed, optional, or studied in more depth?</a:t>
              </a:r>
            </a:p>
          </p:txBody>
        </p:sp>
        <p:sp>
          <p:nvSpPr>
            <p:cNvPr id="18" name="Line 18"/>
            <p:cNvSpPr/>
            <p:nvPr/>
          </p:nvSpPr>
          <p:spPr>
            <a:xfrm>
              <a:off x="4324350" y="1847850"/>
              <a:ext cx="6667500" cy="9525"/>
            </a:xfrm>
            <a:custGeom>
              <a:avLst/>
              <a:gdLst/>
              <a:ahLst/>
              <a:cxnLst/>
              <a:rect l="l" t="t" r="r" b="b"/>
              <a:pathLst>
                <a:path w="6667500" h="9525">
                  <a:moveTo>
                    <a:pt x="0" y="0"/>
                  </a:moveTo>
                  <a:lnTo>
                    <a:pt x="6667500" y="0"/>
                  </a:lnTo>
                </a:path>
              </a:pathLst>
            </a:custGeom>
            <a:noFill/>
            <a:ln w="19050">
              <a:solidFill>
                <a:srgbClr val="DAE1E6"/>
              </a:solidFill>
            </a:ln>
          </p:spPr>
          <p:txBody>
            <a:bodyPr/>
            <a:lstStyle/>
            <a:p>
              <a:endParaRPr lang="zh-CN" altLang="en-US"/>
            </a:p>
          </p:txBody>
        </p:sp>
      </p:grpSp>
      <p:grpSp>
        <p:nvGrpSpPr>
          <p:cNvPr id="26" name="Group 26"/>
          <p:cNvGrpSpPr/>
          <p:nvPr/>
        </p:nvGrpSpPr>
        <p:grpSpPr>
          <a:xfrm>
            <a:off x="3562350" y="2275046"/>
            <a:ext cx="7429500" cy="944404"/>
            <a:chOff x="3562350" y="2275046"/>
            <a:chExt cx="7429500" cy="944404"/>
          </a:xfrm>
        </p:grpSpPr>
        <p:sp>
          <p:nvSpPr>
            <p:cNvPr id="20" name="Ellipse 20"/>
            <p:cNvSpPr/>
            <p:nvPr/>
          </p:nvSpPr>
          <p:spPr>
            <a:xfrm>
              <a:off x="3562350" y="2324100"/>
              <a:ext cx="571500" cy="571500"/>
            </a:xfrm>
            <a:prstGeom prst="ellipse">
              <a:avLst/>
            </a:prstGeom>
            <a:solidFill>
              <a:srgbClr val="002D4C"/>
            </a:solidFill>
            <a:ln>
              <a:noFill/>
            </a:ln>
          </p:spPr>
          <p:txBody>
            <a:bodyPr/>
            <a:lstStyle/>
            <a:p>
              <a:endParaRPr lang="zh-CN" altLang="en-US"/>
            </a:p>
          </p:txBody>
        </p:sp>
        <p:sp>
          <p:nvSpPr>
            <p:cNvPr id="21" name="TextBox 21"/>
            <p:cNvSpPr txBox="1"/>
            <p:nvPr/>
          </p:nvSpPr>
          <p:spPr>
            <a:xfrm>
              <a:off x="3771293" y="2514600"/>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2</a:t>
              </a:r>
            </a:p>
          </p:txBody>
        </p:sp>
        <p:sp>
          <p:nvSpPr>
            <p:cNvPr id="22" name="TextBox 22"/>
            <p:cNvSpPr txBox="1"/>
            <p:nvPr/>
          </p:nvSpPr>
          <p:spPr>
            <a:xfrm>
              <a:off x="4306252" y="2275046"/>
              <a:ext cx="1582513"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Graph Grounding</a:t>
              </a:r>
            </a:p>
          </p:txBody>
        </p:sp>
        <p:sp>
          <p:nvSpPr>
            <p:cNvPr id="23" name="TextBox 23"/>
            <p:cNvSpPr txBox="1"/>
            <p:nvPr/>
          </p:nvSpPr>
          <p:spPr>
            <a:xfrm>
              <a:off x="4308158" y="2576989"/>
              <a:ext cx="5405057"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How should it be evaluated across different Agent architectures</a:t>
              </a:r>
            </a:p>
          </p:txBody>
        </p:sp>
        <p:sp>
          <p:nvSpPr>
            <p:cNvPr id="24" name="TextBox 24"/>
            <p:cNvSpPr txBox="1"/>
            <p:nvPr/>
          </p:nvSpPr>
          <p:spPr>
            <a:xfrm>
              <a:off x="4308158" y="2834164"/>
              <a:ext cx="1571077"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and answer types?</a:t>
              </a:r>
            </a:p>
          </p:txBody>
        </p:sp>
        <p:sp>
          <p:nvSpPr>
            <p:cNvPr id="25" name="Line 25"/>
            <p:cNvSpPr/>
            <p:nvPr/>
          </p:nvSpPr>
          <p:spPr>
            <a:xfrm>
              <a:off x="4324350" y="3209925"/>
              <a:ext cx="6667500" cy="9525"/>
            </a:xfrm>
            <a:custGeom>
              <a:avLst/>
              <a:gdLst/>
              <a:ahLst/>
              <a:cxnLst/>
              <a:rect l="l" t="t" r="r" b="b"/>
              <a:pathLst>
                <a:path w="6667500" h="9525">
                  <a:moveTo>
                    <a:pt x="0" y="0"/>
                  </a:moveTo>
                  <a:lnTo>
                    <a:pt x="6667500" y="0"/>
                  </a:lnTo>
                </a:path>
              </a:pathLst>
            </a:custGeom>
            <a:noFill/>
            <a:ln w="19050">
              <a:solidFill>
                <a:srgbClr val="DAE1E6"/>
              </a:solidFill>
            </a:ln>
          </p:spPr>
          <p:txBody>
            <a:bodyPr/>
            <a:lstStyle/>
            <a:p>
              <a:endParaRPr lang="zh-CN" altLang="en-US"/>
            </a:p>
          </p:txBody>
        </p:sp>
      </p:grpSp>
      <p:grpSp>
        <p:nvGrpSpPr>
          <p:cNvPr id="32" name="Group 32"/>
          <p:cNvGrpSpPr/>
          <p:nvPr/>
        </p:nvGrpSpPr>
        <p:grpSpPr>
          <a:xfrm>
            <a:off x="3562350" y="3686175"/>
            <a:ext cx="7429500" cy="714375"/>
            <a:chOff x="3562350" y="3686175"/>
            <a:chExt cx="7429500" cy="714375"/>
          </a:xfrm>
        </p:grpSpPr>
        <p:sp>
          <p:nvSpPr>
            <p:cNvPr id="27" name="Ellipse 27"/>
            <p:cNvSpPr/>
            <p:nvPr/>
          </p:nvSpPr>
          <p:spPr>
            <a:xfrm>
              <a:off x="3562350" y="3686175"/>
              <a:ext cx="571500" cy="571500"/>
            </a:xfrm>
            <a:prstGeom prst="ellipse">
              <a:avLst/>
            </a:prstGeom>
            <a:solidFill>
              <a:srgbClr val="23A1E0"/>
            </a:solidFill>
            <a:ln>
              <a:noFill/>
            </a:ln>
          </p:spPr>
          <p:txBody>
            <a:bodyPr/>
            <a:lstStyle/>
            <a:p>
              <a:endParaRPr lang="zh-CN" altLang="en-US"/>
            </a:p>
          </p:txBody>
        </p:sp>
        <p:sp>
          <p:nvSpPr>
            <p:cNvPr id="28" name="TextBox 28"/>
            <p:cNvSpPr txBox="1"/>
            <p:nvPr/>
          </p:nvSpPr>
          <p:spPr>
            <a:xfrm>
              <a:off x="3771293" y="387667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3</a:t>
              </a:r>
            </a:p>
          </p:txBody>
        </p:sp>
        <p:sp>
          <p:nvSpPr>
            <p:cNvPr id="29" name="TextBox 29"/>
            <p:cNvSpPr txBox="1"/>
            <p:nvPr/>
          </p:nvSpPr>
          <p:spPr>
            <a:xfrm>
              <a:off x="4306252" y="3713321"/>
              <a:ext cx="2041421"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Unified Agent logging</a:t>
              </a:r>
            </a:p>
          </p:txBody>
        </p:sp>
        <p:sp>
          <p:nvSpPr>
            <p:cNvPr id="30" name="TextBox 30"/>
            <p:cNvSpPr txBox="1"/>
            <p:nvPr/>
          </p:nvSpPr>
          <p:spPr>
            <a:xfrm>
              <a:off x="4308158" y="4015264"/>
              <a:ext cx="5303044"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Do you suggest any changes to the initial unified logging design?</a:t>
              </a:r>
            </a:p>
          </p:txBody>
        </p:sp>
        <p:sp>
          <p:nvSpPr>
            <p:cNvPr id="31" name="Line 31"/>
            <p:cNvSpPr/>
            <p:nvPr/>
          </p:nvSpPr>
          <p:spPr>
            <a:xfrm>
              <a:off x="4324350" y="4391025"/>
              <a:ext cx="6667500" cy="9525"/>
            </a:xfrm>
            <a:custGeom>
              <a:avLst/>
              <a:gdLst/>
              <a:ahLst/>
              <a:cxnLst/>
              <a:rect l="l" t="t" r="r" b="b"/>
              <a:pathLst>
                <a:path w="6667500" h="9525">
                  <a:moveTo>
                    <a:pt x="0" y="0"/>
                  </a:moveTo>
                  <a:lnTo>
                    <a:pt x="6667500" y="0"/>
                  </a:lnTo>
                </a:path>
              </a:pathLst>
            </a:custGeom>
            <a:noFill/>
            <a:ln w="19050">
              <a:solidFill>
                <a:srgbClr val="DAE1E6"/>
              </a:solidFill>
            </a:ln>
          </p:spPr>
          <p:txBody>
            <a:bodyPr/>
            <a:lstStyle/>
            <a:p>
              <a:endParaRPr lang="zh-CN" altLang="en-US"/>
            </a:p>
          </p:txBody>
        </p:sp>
      </p:grpSp>
      <p:grpSp>
        <p:nvGrpSpPr>
          <p:cNvPr id="38" name="Group 38"/>
          <p:cNvGrpSpPr/>
          <p:nvPr/>
        </p:nvGrpSpPr>
        <p:grpSpPr>
          <a:xfrm>
            <a:off x="3562350" y="4818221"/>
            <a:ext cx="5904334" cy="818198"/>
            <a:chOff x="3562350" y="4818221"/>
            <a:chExt cx="5904334" cy="818198"/>
          </a:xfrm>
        </p:grpSpPr>
        <p:sp>
          <p:nvSpPr>
            <p:cNvPr id="33" name="Ellipse 33"/>
            <p:cNvSpPr/>
            <p:nvPr/>
          </p:nvSpPr>
          <p:spPr>
            <a:xfrm>
              <a:off x="3562350" y="4867275"/>
              <a:ext cx="571500" cy="571500"/>
            </a:xfrm>
            <a:prstGeom prst="ellipse">
              <a:avLst/>
            </a:prstGeom>
            <a:solidFill>
              <a:srgbClr val="005A50"/>
            </a:solidFill>
            <a:ln>
              <a:noFill/>
            </a:ln>
          </p:spPr>
          <p:txBody>
            <a:bodyPr/>
            <a:lstStyle/>
            <a:p>
              <a:endParaRPr lang="zh-CN" altLang="en-US"/>
            </a:p>
          </p:txBody>
        </p:sp>
        <p:sp>
          <p:nvSpPr>
            <p:cNvPr id="34" name="TextBox 34"/>
            <p:cNvSpPr txBox="1"/>
            <p:nvPr/>
          </p:nvSpPr>
          <p:spPr>
            <a:xfrm>
              <a:off x="3771293" y="5057775"/>
              <a:ext cx="15361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4</a:t>
              </a:r>
            </a:p>
          </p:txBody>
        </p:sp>
        <p:sp>
          <p:nvSpPr>
            <p:cNvPr id="35" name="TextBox 35"/>
            <p:cNvSpPr txBox="1"/>
            <p:nvPr/>
          </p:nvSpPr>
          <p:spPr>
            <a:xfrm>
              <a:off x="4306252" y="4818221"/>
              <a:ext cx="1742133" cy="289560"/>
            </a:xfrm>
            <a:prstGeom prst="rect">
              <a:avLst/>
            </a:prstGeom>
            <a:noFill/>
            <a:ln>
              <a:noFill/>
            </a:ln>
          </p:spPr>
          <p:txBody>
            <a:bodyPr wrap="none" lIns="0" tIns="0" rIns="0" bIns="0" anchor="t" anchorCtr="0">
              <a:spAutoFit/>
            </a:bodyPr>
            <a:lstStyle/>
            <a:p>
              <a:pPr algn="l"/>
              <a:r>
                <a:rPr lang="zh-CN" sz="1425" b="1" dirty="0">
                  <a:solidFill>
                    <a:srgbClr val="002D4C"/>
                  </a:solidFill>
                  <a:latin typeface="Arial"/>
                  <a:ea typeface="Microsoft YaHei"/>
                  <a:cs typeface="Arial"/>
                </a:rPr>
                <a:t>Dataset strategy</a:t>
              </a:r>
            </a:p>
          </p:txBody>
        </p:sp>
        <p:sp>
          <p:nvSpPr>
            <p:cNvPr id="36" name="TextBox 36"/>
            <p:cNvSpPr txBox="1"/>
            <p:nvPr/>
          </p:nvSpPr>
          <p:spPr>
            <a:xfrm>
              <a:off x="4308158" y="5120164"/>
              <a:ext cx="515852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Should I build a new dataset, combine existing KGQA datasets,</a:t>
              </a:r>
            </a:p>
          </p:txBody>
        </p:sp>
        <p:sp>
          <p:nvSpPr>
            <p:cNvPr id="37" name="TextBox 37"/>
            <p:cNvSpPr txBox="1"/>
            <p:nvPr/>
          </p:nvSpPr>
          <p:spPr>
            <a:xfrm>
              <a:off x="4308158" y="5377339"/>
              <a:ext cx="2157651"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or use a hybrid approach?</a:t>
              </a:r>
            </a:p>
          </p:txBody>
        </p:sp>
      </p:grpSp>
      <p:grpSp>
        <p:nvGrpSpPr>
          <p:cNvPr id="41" name="Group 41"/>
          <p:cNvGrpSpPr/>
          <p:nvPr/>
        </p:nvGrpSpPr>
        <p:grpSpPr>
          <a:xfrm>
            <a:off x="4324350" y="5905500"/>
            <a:ext cx="6667500" cy="419100"/>
            <a:chOff x="4324350" y="5905500"/>
            <a:chExt cx="6667500" cy="419100"/>
          </a:xfrm>
        </p:grpSpPr>
        <p:sp>
          <p:nvSpPr>
            <p:cNvPr id="39" name="Rectangle 39"/>
            <p:cNvSpPr/>
            <p:nvPr/>
          </p:nvSpPr>
          <p:spPr>
            <a:xfrm>
              <a:off x="4324350" y="5905500"/>
              <a:ext cx="6667500" cy="419100"/>
            </a:xfrm>
            <a:prstGeom prst="roundRect">
              <a:avLst>
                <a:gd name="adj" fmla="val 18182"/>
              </a:avLst>
            </a:prstGeom>
            <a:solidFill>
              <a:srgbClr val="EAF6F4"/>
            </a:solidFill>
            <a:ln w="19050">
              <a:solidFill>
                <a:srgbClr val="009682"/>
              </a:solidFill>
            </a:ln>
          </p:spPr>
          <p:txBody>
            <a:bodyPr/>
            <a:lstStyle/>
            <a:p>
              <a:endParaRPr lang="zh-CN" altLang="en-US"/>
            </a:p>
          </p:txBody>
        </p:sp>
        <p:sp>
          <p:nvSpPr>
            <p:cNvPr id="40" name="TextBox 40"/>
            <p:cNvSpPr txBox="1"/>
            <p:nvPr/>
          </p:nvSpPr>
          <p:spPr>
            <a:xfrm>
              <a:off x="5660310" y="6034564"/>
              <a:ext cx="3995580" cy="259080"/>
            </a:xfrm>
            <a:prstGeom prst="rect">
              <a:avLst/>
            </a:prstGeom>
            <a:noFill/>
            <a:ln>
              <a:noFill/>
            </a:ln>
          </p:spPr>
          <p:txBody>
            <a:bodyPr wrap="none" lIns="0" tIns="0" rIns="0" bIns="0" anchor="t" anchorCtr="0">
              <a:spAutoFit/>
            </a:bodyPr>
            <a:lstStyle/>
            <a:p>
              <a:pPr algn="ctr"/>
              <a:r>
                <a:rPr lang="zh-CN" sz="1275" b="1" dirty="0">
                  <a:solidFill>
                    <a:srgbClr val="005A50"/>
                  </a:solidFill>
                  <a:latin typeface="Arial"/>
                  <a:ea typeface="Microsoft YaHei"/>
                  <a:cs typeface="Arial"/>
                </a:rPr>
                <a:t>Thank you — I would appreciate your guidance.</a:t>
              </a:r>
            </a:p>
          </p:txBody>
        </p:sp>
      </p:grpSp>
      <p:sp>
        <p:nvSpPr>
          <p:cNvPr id="42" name="TextBox 42"/>
          <p:cNvSpPr txBox="1"/>
          <p:nvPr/>
        </p:nvSpPr>
        <p:spPr>
          <a:xfrm>
            <a:off x="600075" y="6529388"/>
            <a:ext cx="2064306" cy="152400"/>
          </a:xfrm>
          <a:prstGeom prst="rect">
            <a:avLst/>
          </a:prstGeom>
          <a:noFill/>
          <a:ln>
            <a:noFill/>
          </a:ln>
        </p:spPr>
        <p:txBody>
          <a:bodyPr wrap="none" lIns="0" tIns="0" rIns="0" bIns="0" anchor="t" anchorCtr="0">
            <a:spAutoFit/>
          </a:bodyPr>
          <a:lstStyle/>
          <a:p>
            <a:pPr algn="l"/>
            <a:r>
              <a:rPr lang="zh-CN" sz="750" dirty="0">
                <a:solidFill>
                  <a:srgbClr val="B8DCD6"/>
                </a:solidFill>
                <a:latin typeface="Arial"/>
                <a:ea typeface="Microsoft YaHei"/>
                <a:cs typeface="Arial"/>
              </a:rPr>
              <a:t>KG Agent Master Thesis · Progress Update</a:t>
            </a:r>
          </a:p>
        </p:txBody>
      </p:sp>
      <p:sp>
        <p:nvSpPr>
          <p:cNvPr id="43" name="TextBox 52">
            <a:extLst>
              <a:ext uri="{FF2B5EF4-FFF2-40B4-BE49-F238E27FC236}">
                <a16:creationId xmlns:a16="http://schemas.microsoft.com/office/drawing/2014/main" id="{569EA7FF-6EAF-4812-42D5-437BF83AA7F9}"/>
              </a:ext>
            </a:extLst>
          </p:cNvPr>
          <p:cNvSpPr txBox="1"/>
          <p:nvPr/>
        </p:nvSpPr>
        <p:spPr>
          <a:xfrm>
            <a:off x="10895576" y="6529388"/>
            <a:ext cx="105799" cy="115416"/>
          </a:xfrm>
          <a:prstGeom prst="rect">
            <a:avLst/>
          </a:prstGeom>
          <a:noFill/>
          <a:ln>
            <a:noFill/>
          </a:ln>
        </p:spPr>
        <p:txBody>
          <a:bodyPr wrap="none" lIns="0" tIns="0" rIns="0" bIns="0" anchor="t" anchorCtr="0">
            <a:spAutoFit/>
          </a:bodyPr>
          <a:lstStyle/>
          <a:p>
            <a:pPr algn="r"/>
            <a:r>
              <a:rPr lang="en-US" altLang="zh-CN" sz="750" dirty="0">
                <a:solidFill>
                  <a:srgbClr val="768993"/>
                </a:solidFill>
                <a:latin typeface="Arial"/>
                <a:ea typeface="Microsoft YaHei"/>
                <a:cs typeface="Arial"/>
              </a:rPr>
              <a:t>18</a:t>
            </a:r>
            <a:endParaRPr lang="zh-CN" sz="750" dirty="0">
              <a:solidFill>
                <a:srgbClr val="768993"/>
              </a:solidFill>
              <a:latin typeface="Arial"/>
              <a:ea typeface="Microsoft YaHei"/>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400"/>
                                        <p:tgtEl>
                                          <p:spTgt spid="1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lide(fromBottom)">
                                      <p:cBhvr>
                                        <p:cTn id="15" dur="400"/>
                                        <p:tgtEl>
                                          <p:spTgt spid="26"/>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image">
                                      <p:cBhvr>
                                        <p:cTn id="19" dur="400"/>
                                        <p:tgtEl>
                                          <p:spTgt spid="32"/>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6" grpId="0"/>
      <p:bldP spid="32" grpId="0"/>
      <p:bldP spid="38" grpId="0"/>
      <p:bldP spid="4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2389</TotalTime>
  <Words>5349</Words>
  <Application>Microsoft Macintosh PowerPoint</Application>
  <PresentationFormat>宽屏</PresentationFormat>
  <Paragraphs>728</Paragraphs>
  <Slides>18</Slides>
  <Notes>18</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Arial</vt:lpstr>
      <vt:lpstr>Calibri</vt:lpstr>
      <vt:lpstr>Consolas</vt:lpstr>
      <vt:lpstr>Franklin Gothic Medium</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Wang, Kaihao</cp:lastModifiedBy>
  <cp:revision>20</cp:revision>
  <dcterms:created xsi:type="dcterms:W3CDTF">2013-01-27T09:14:16Z</dcterms:created>
  <dcterms:modified xsi:type="dcterms:W3CDTF">2026-08-10T16:38:36Z</dcterms:modified>
  <cp:category/>
</cp:coreProperties>
</file>