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88782"/>
  </p:normalViewPr>
  <p:slideViewPr>
    <p:cSldViewPr snapToGrid="0" snapToObjects="1">
      <p:cViewPr varScale="1">
        <p:scale>
          <a:sx n="97" d="100"/>
          <a:sy n="97" d="100"/>
        </p:scale>
        <p:origin x="208"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504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main </a:t>
            </a:r>
            <a:r>
              <a:rPr lang="en-US" altLang="zh-CN" dirty="0"/>
              <a:t>work</a:t>
            </a:r>
            <a:r>
              <a:rPr lang="zh-CN" dirty="0"/>
              <a:t> of these two weeks is that the dataset selection is now driven by the evaluation capabilities. I reviewed the papers and actual data for approximately six to seven KGQA datasets and shortlisted three complementary candidates. KQA Pro mainly supports Multi-hop Reasoning and Final Answer evaluation, GrailQAbility provides a methodological basis for Refusal and Answerability, and GTSQA provides question-specific graphs and Gold supporting evidence for Graph Grounding and additional multi-hop analysis. In parallel, I also carried out an initial review of the Ark v1 architecture so that the future evaluation design can be connected to the first Agent implementation.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KQA Pro is the first selected dataset because it provides a large collection of complex, answerable questions together with explicit executable representations. </a:t>
            </a:r>
            <a:r>
              <a:rPr lang="de-DE" altLang="zh-CN" dirty="0"/>
              <a:t>E</a:t>
            </a:r>
            <a:r>
              <a:rPr lang="zh-CN" dirty="0"/>
              <a:t>ach sample </a:t>
            </a:r>
            <a:r>
              <a:rPr lang="de-DE" altLang="zh-CN" dirty="0"/>
              <a:t>in </a:t>
            </a:r>
            <a:r>
              <a:rPr lang="de-DE" altLang="zh-CN" dirty="0" err="1"/>
              <a:t>the</a:t>
            </a:r>
            <a:r>
              <a:rPr lang="de-DE" altLang="zh-CN" dirty="0"/>
              <a:t> </a:t>
            </a:r>
            <a:r>
              <a:rPr lang="de-DE" altLang="zh-CN" dirty="0" err="1"/>
              <a:t>dataset</a:t>
            </a:r>
            <a:r>
              <a:rPr lang="de-DE" altLang="zh-CN" dirty="0"/>
              <a:t> </a:t>
            </a:r>
            <a:r>
              <a:rPr lang="zh-CN" dirty="0"/>
              <a:t>includes a natural-language question, Gold KoPL, Gold SPARQL, candidate answers, and Gold Answer</a:t>
            </a:r>
            <a:r>
              <a:rPr lang="en-US" altLang="zh-CN" dirty="0"/>
              <a:t>. T</a:t>
            </a:r>
            <a:r>
              <a:rPr lang="zh-CN" dirty="0"/>
              <a:t>he dataset is answerable by construction and does not provide a unanswerable subset. Its Wikidata-derived knowledge may also be exposed during language-model pretraining</a:t>
            </a:r>
            <a:r>
              <a:rPr lang="en-US" altLang="zh-CN" dirty="0"/>
              <a:t>. </a:t>
            </a:r>
            <a:r>
              <a:rPr lang="zh-CN" dirty="0"/>
              <a:t>Therefore, its main value here is complex reasoning and answer-type diversity, while Refusal and low-exposure domain evaluation need other data.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KQA Pro’s official Question Types mainly describe the final operation, such as Count, Verify, or </a:t>
            </a:r>
            <a:r>
              <a:rPr lang="en-US" altLang="zh-CN" dirty="0" err="1"/>
              <a:t>SelectBetween</a:t>
            </a:r>
            <a:r>
              <a:rPr lang="en-US" altLang="zh-CN" dirty="0"/>
              <a:t>. However, questions of the same type can require different reasoning steps, so </a:t>
            </a:r>
            <a:r>
              <a:rPr lang="en-US" altLang="zh-CN" dirty="0" err="1"/>
              <a:t>KoPL</a:t>
            </a:r>
            <a:r>
              <a:rPr lang="en-US" altLang="zh-CN" dirty="0"/>
              <a:t> and SPARQL are used to infer the expected solving strategy. Its hop definition is also broader than simple relation traversal, since attributes, qualifiers, and comparisons can also count as hops. Therefore, the hop values in the table are marked as inferred and should not be directly compared with other datasets. The six examples cover different operations, including traversal, filtering, aggregation, comparison, relation discovery, and qualifier retrieval.</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first case is a SelectBetween question that compares the elevations of Baghdad and a constrained Jerusalem entity. The Agent must locate both candidate entities, apply the population constraint to identify the correct Jerusalem, retrieve the two elevation values, compare them, and finally return Jerusalem. The four-hop label is inferred, and the expected strategy combines multi-anchor retrieval, constraint filtering, attribute retrieval, comparison, and entity selection. This case represents compositional reasoning in which KG retrieval alone is insufficient; the retrieved values must also be compared before the final answer can be selected.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second case asks when T-Pain won a particular MTV Video Music Award, and the Gold Answer is 2008. The required year is not obtained through an ordinary entity-to-entity relation; it is the point-in-time qualifier attached to the relational fact that T-Pain was the winner. The Agent therefore has to locate the entities, identify the relevant winner fact, and retrieve the qualifier value attached to that fact. This case is valuable because it tests whether a KG Agent can access information attached to a fact rather than only traverse ordinary entity-to-entity relations.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final case is officially a Verify question, but the answer cannot be produced through a direct Boolean lookup. The Agent first identifies Guyana, traverses the capital relation, restricts the result to a city, retrieves the elevation attribute, and compares the value with 130 metres before returning Yes. The three-hop value is inferred, and the expected strategy combines relation traversal, attribute retrieval, numeric comparison, and Boolean verification. This example shows that a Verify question is not necessarily a direct Boolean lookup. The Agent first needs to retrieve graph information and then perform an operation on the retrieved value before producing the final Boolean answer.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second selected dataset is GrailQAbility, whose main contribution for this thesis is unanswerability. It starts from originally answerable GrailQA questions and a complete KB, keeps the natural-language questions largely unchanged, and induces unanswerability by deleting entity types, relations, entities, or facts. A question is marked unanswerable only when all remaining answer paths have been broken, </a:t>
            </a:r>
            <a:r>
              <a:rPr lang="zh-CN" altLang="en-US" dirty="0"/>
              <a:t> 「</a:t>
            </a:r>
            <a:r>
              <a:rPr lang="zh-CN" dirty="0"/>
              <a:t>so the authors modify the Gold SPARQL queries to derive those paths computationally. </a:t>
            </a:r>
            <a:r>
              <a:rPr lang="zh-CN" altLang="en-US" dirty="0"/>
              <a:t>」。 </a:t>
            </a:r>
            <a:r>
              <a:rPr lang="zh-CN" dirty="0"/>
              <a:t>NA means that no answer remains in the available KB, NK means that the knowledge required for a valid logical form is unavailable; The main value for this thesis is therefore the systematic methodology for constructing controlled Refusal and Answerability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table separates five representative construction settings. They describe where incompleteness is introduced into the KB. Removing one relevant element is not automatically sufficient because another valid answer path may remain, so the construction verifies that all answer paths have been disrupted. GrailQAbility applies Entity Type, Relation, Entity, and Fact deletion sequentially on the modified dataset and KB because schema and data elements are interdependent.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first case removes only the fact that Chris Manning works at Stanford, </a:t>
            </a:r>
            <a:r>
              <a:rPr lang="de-DE" altLang="zh-CN" dirty="0"/>
              <a:t>but</a:t>
            </a:r>
            <a:r>
              <a:rPr lang="zh-CN" dirty="0"/>
              <a:t> both entities and the works-at relation remain available. The logical form is still valid, but executing it no longer produces an answer, so GrailQAbility records the answer as NA. This is a particularly clean construction for testing whether a KG-based system refrains from producing an unsupported answer when the entities and relation are valid but the specific evidence required by the question is absent.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second case removes the mentioned entity Richard Socher together with its associated facts. The original path from Richard Socher to a paper and then to EMNLP can no longer be formed in the available KB, so the logical form is marked NK and the answer is NA. This case shows a stronger form of incompleteness than </a:t>
            </a:r>
            <a:r>
              <a:rPr lang="de-DE" altLang="zh-CN" dirty="0"/>
              <a:t>just </a:t>
            </a:r>
            <a:r>
              <a:rPr lang="zh-CN" dirty="0"/>
              <a:t>deleting one fact. The KG not only lacks particular evidence but lacks an entity explicitly required by the question. NK is useful for explaining the original GrailQAbility construction, but a future Agent does not necessarily need to generate a logical form or output NK.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third case removes the located-in relation at the schema level, not only the single fact connecting Stanford to the USA. All facts using that relation are deleted first, and then the relation itself is removed, so the required logical form is unavailable and the answer is NA. This case complements Fact Deletion by distinguishing between a specific missing fact and an entire missing relation type. Both can make the same kind of natural-language QA task unanswerable, but the underlying KG incompleteness occurs at different structural levels.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third selected dataset is GTSQA, which is relevant for Multi-hop Reasoning and Graph Grounding because every question is associated with a Gold answer-subgraph structure. Its graph_isomorphism field distinguishes linear paths, multi-seed intersections, unequal-depth paths, and projection after intersection</a:t>
            </a:r>
            <a:r>
              <a:rPr lang="de-DE" altLang="zh-CN" dirty="0"/>
              <a:t>. </a:t>
            </a:r>
            <a:r>
              <a:rPr lang="zh-CN" dirty="0"/>
              <a:t>n_hops records the maximum seed-to-answer distance. The</a:t>
            </a:r>
            <a:r>
              <a:rPr lang="de-DE" altLang="zh-CN" dirty="0"/>
              <a:t> </a:t>
            </a:r>
            <a:r>
              <a:rPr lang="zh-CN" dirty="0"/>
              <a:t>gtsqa-with-graphs </a:t>
            </a:r>
            <a:r>
              <a:rPr lang="de-DE" altLang="zh-CN" dirty="0" err="1"/>
              <a:t>included</a:t>
            </a:r>
            <a:r>
              <a:rPr lang="de-DE" altLang="zh-CN" dirty="0"/>
              <a:t> in </a:t>
            </a:r>
            <a:r>
              <a:rPr lang="de-DE" altLang="zh-CN" dirty="0" err="1"/>
              <a:t>the</a:t>
            </a:r>
            <a:r>
              <a:rPr lang="de-DE" altLang="zh-CN" dirty="0"/>
              <a:t> </a:t>
            </a:r>
            <a:r>
              <a:rPr lang="de-DE" altLang="zh-CN" dirty="0" err="1"/>
              <a:t>dataset</a:t>
            </a:r>
            <a:r>
              <a:rPr lang="zh-CN" dirty="0"/>
              <a:t> also provides a question-specific candidate graph derived from WikiKG2, </a:t>
            </a:r>
            <a:r>
              <a:rPr lang="de-DE" altLang="zh-CN" dirty="0"/>
              <a:t>so </a:t>
            </a:r>
            <a:r>
              <a:rPr lang="de-DE" altLang="zh-CN" dirty="0" err="1"/>
              <a:t>we</a:t>
            </a:r>
            <a:r>
              <a:rPr lang="de-DE" altLang="zh-CN" dirty="0"/>
              <a:t> </a:t>
            </a:r>
            <a:r>
              <a:rPr lang="de-DE" altLang="zh-CN" dirty="0" err="1"/>
              <a:t>don‘t</a:t>
            </a:r>
            <a:r>
              <a:rPr lang="de-DE" altLang="zh-CN" dirty="0"/>
              <a:t> </a:t>
            </a:r>
            <a:r>
              <a:rPr lang="de-DE" altLang="zh-CN" dirty="0" err="1"/>
              <a:t>need</a:t>
            </a:r>
            <a:r>
              <a:rPr lang="de-DE" altLang="zh-CN" dirty="0"/>
              <a:t> </a:t>
            </a:r>
            <a:r>
              <a:rPr lang="de-DE" altLang="zh-CN" dirty="0" err="1"/>
              <a:t>to</a:t>
            </a:r>
            <a:r>
              <a:rPr lang="de-DE" altLang="zh-CN" dirty="0"/>
              <a:t> </a:t>
            </a:r>
            <a:r>
              <a:rPr lang="de-DE" altLang="zh-CN" dirty="0" err="1"/>
              <a:t>load</a:t>
            </a:r>
            <a:r>
              <a:rPr lang="zh-CN" dirty="0"/>
              <a:t> the full graph and </a:t>
            </a:r>
            <a:r>
              <a:rPr lang="en-US" altLang="zh-CN" dirty="0"/>
              <a:t>can enable </a:t>
            </a:r>
            <a:r>
              <a:rPr lang="zh-CN" dirty="0"/>
              <a:t>retrieved facts to be compared with full_answer_subgraph_wikikg2</a:t>
            </a:r>
            <a:r>
              <a:rPr lang="en-US" altLang="zh-CN" dirty="0"/>
              <a:t>, which is the gold supporting evidence</a:t>
            </a:r>
            <a:r>
              <a:rPr lang="zh-CN" dirty="0"/>
              <a:t>. Its Wikidata and WikiKG2 knowledge may also have appeared during language-model pretraining</a:t>
            </a:r>
            <a:r>
              <a:rPr lang="en-US" altLang="zh-CN" dirty="0"/>
              <a:t>.</a:t>
            </a:r>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first </a:t>
            </a:r>
            <a:r>
              <a:rPr lang="en-US" altLang="zh-CN" dirty="0"/>
              <a:t>example </a:t>
            </a:r>
            <a:r>
              <a:rPr lang="zh-CN" dirty="0"/>
              <a:t>is a single linear four-hop chain, the second has only two maximum hops but requires evidence from two seed entities to intersect at a shared actor, and the third combines a three-hop branch with a direct constraint. In later evaluation, </a:t>
            </a:r>
            <a:r>
              <a:rPr lang="en-US" altLang="zh-CN" dirty="0"/>
              <a:t>the data field </a:t>
            </a:r>
            <a:r>
              <a:rPr lang="zh-CN" dirty="0"/>
              <a:t>all_answers_wikikg2 should be used for final-answer checking and </a:t>
            </a:r>
            <a:r>
              <a:rPr lang="en-US" altLang="zh-CN" dirty="0"/>
              <a:t>the data field </a:t>
            </a:r>
            <a:r>
              <a:rPr lang="zh-CN" dirty="0"/>
              <a:t>full_answer_subgraph_wikikg2 for evidence-level comparison.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first case begins from Vendline and follows three consecutive mouth-of-the-watercourse relations before using the continent relation to reach Europe. A clean case for Multi-hop Reasoning, it tests whether the Agent can continue retrieval through several dependent relations without premature stopping. Since the WikiKG2 full answer subgraph matches the generated answer subgraph, the supporting evidence is also straightforward for Graph Grounding analysis.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altLang="zh-CN" dirty="0"/>
                  <a:t>The second case requires combining two seed entities. The Agent must find the actor appearing in both </a:t>
                </a:r>
                <a:r>
                  <a:rPr lang="en-US" altLang="zh-CN" i="1" dirty="0"/>
                  <a:t>Casino Royale</a:t>
                </a:r>
                <a:r>
                  <a:rPr lang="en-US" altLang="zh-CN" dirty="0"/>
                  <a:t> and </a:t>
                </a:r>
                <a:r>
                  <a:rPr lang="en-US" altLang="zh-CN" i="1" dirty="0"/>
                  <a:t>The Tournament</a:t>
                </a:r>
                <a:r>
                  <a:rPr lang="en-US" altLang="zh-CN" dirty="0"/>
                  <a:t>, then follow the languages-spoken relation to get </a:t>
                </a:r>
                <a:r>
                  <a:rPr lang="en-US" altLang="zh-CN" i="1" dirty="0"/>
                  <a:t>French</a:t>
                </a:r>
                <a:r>
                  <a:rPr lang="en-US" altLang="zh-CN" dirty="0"/>
                  <a:t>. Although </a:t>
                </a:r>
                <a14:m>
                  <m:oMath xmlns:m="http://schemas.openxmlformats.org/officeDocument/2006/math">
                    <m:r>
                      <a:rPr lang="en-US" altLang="zh-CN" sz="1200" i="1" kern="1200">
                        <a:solidFill>
                          <a:schemeClr val="tx1"/>
                        </a:solidFill>
                        <a:latin typeface="+mn-lt"/>
                        <a:ea typeface="+mn-ea"/>
                        <a:cs typeface="+mn-cs"/>
                      </a:rPr>
                      <m:t>𝑛</m:t>
                    </m:r>
                    <m:r>
                      <m:rPr>
                        <m:lit/>
                      </m:rPr>
                      <a:rPr lang="en-US" altLang="zh-CN" sz="1200" i="0" kern="1200">
                        <a:solidFill>
                          <a:schemeClr val="tx1"/>
                        </a:solidFill>
                        <a:latin typeface="+mn-lt"/>
                        <a:ea typeface="+mn-ea"/>
                        <a:cs typeface="+mn-cs"/>
                      </a:rPr>
                      <m:t>_</m:t>
                    </m:r>
                    <m:r>
                      <a:rPr lang="en-US" altLang="zh-CN" sz="1200" i="1" kern="1200">
                        <a:solidFill>
                          <a:schemeClr val="tx1"/>
                        </a:solidFill>
                        <a:latin typeface="+mn-lt"/>
                        <a:ea typeface="+mn-ea"/>
                        <a:cs typeface="+mn-cs"/>
                      </a:rPr>
                      <m:t>h𝑜𝑝𝑠</m:t>
                    </m:r>
                    <m:r>
                      <a:rPr lang="en-US" altLang="zh-CN" sz="1200" i="0" kern="1200">
                        <a:solidFill>
                          <a:schemeClr val="tx1"/>
                        </a:solidFill>
                        <a:latin typeface="+mn-lt"/>
                        <a:ea typeface="+mn-ea"/>
                        <a:cs typeface="+mn-cs"/>
                      </a:rPr>
                      <m:t>=2</m:t>
                    </m:r>
                  </m:oMath>
                </a14:m>
                <a:r>
                  <a:rPr lang="en-US" altLang="zh-CN" dirty="0"/>
                  <a:t>, the task still requires intersection and projection. Therefore, it is useful for evaluating both Multi-hop Reasoning and Graph Grounding.</a:t>
                </a:r>
                <a:endParaRPr lang="zh-CN" dirty="0"/>
              </a:p>
            </p:txBody>
          </p:sp>
        </mc:Choice>
        <mc:Fallback>
          <p:sp>
            <p:nvSpPr>
              <p:cNvPr id="3" name="Notes Placeholder 2"/>
              <p:cNvSpPr>
                <a:spLocks noGrp="1"/>
              </p:cNvSpPr>
              <p:nvPr>
                <p:ph type="body" idx="1"/>
              </p:nvPr>
            </p:nvSpPr>
            <p:spPr/>
            <p:txBody>
              <a:bodyPr/>
              <a:lstStyle/>
              <a:p>
                <a:r>
                  <a:rPr lang="en-US" altLang="zh-CN" dirty="0"/>
                  <a:t>The second case requires combining two seed entities. The Agent must find the actor appearing in both </a:t>
                </a:r>
                <a:r>
                  <a:rPr lang="en-US" altLang="zh-CN" i="1" dirty="0"/>
                  <a:t>Casino Royale</a:t>
                </a:r>
                <a:r>
                  <a:rPr lang="en-US" altLang="zh-CN" dirty="0"/>
                  <a:t> and </a:t>
                </a:r>
                <a:r>
                  <a:rPr lang="en-US" altLang="zh-CN" i="1" dirty="0"/>
                  <a:t>The Tournament</a:t>
                </a:r>
                <a:r>
                  <a:rPr lang="en-US" altLang="zh-CN" dirty="0"/>
                  <a:t>, then follow the languages-spoken relation to get </a:t>
                </a:r>
                <a:r>
                  <a:rPr lang="en-US" altLang="zh-CN" i="1" dirty="0"/>
                  <a:t>French</a:t>
                </a:r>
                <a:r>
                  <a:rPr lang="en-US" altLang="zh-CN" dirty="0"/>
                  <a:t>. Although </a:t>
                </a:r>
                <a:r>
                  <a:rPr lang="en-US" altLang="zh-CN" sz="1200" i="0" kern="1200">
                    <a:solidFill>
                      <a:schemeClr val="tx1"/>
                    </a:solidFill>
                    <a:latin typeface="+mn-lt"/>
                    <a:ea typeface="+mn-ea"/>
                    <a:cs typeface="+mn-cs"/>
                  </a:rPr>
                  <a:t>𝑛\_ℎ𝑜𝑝𝑠=2</a:t>
                </a:r>
                <a:r>
                  <a:rPr lang="en-US" altLang="zh-CN" dirty="0"/>
                  <a:t>, the task still requires intersection and projection. Therefore, it is useful for evaluating both Multi-hop Reasoning and Graph Grounding.</a:t>
                </a:r>
                <a:endParaRPr lang="zh-CN" dirty="0"/>
              </a:p>
            </p:txBody>
          </p:sp>
        </mc:Fallback>
      </mc:AlternateContent>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final case combines two branches: the </a:t>
            </a:r>
            <a:r>
              <a:rPr lang="en-US" altLang="zh-CN" i="1" dirty="0"/>
              <a:t>Ave Maria</a:t>
            </a:r>
            <a:r>
              <a:rPr lang="en-US" altLang="zh-CN" dirty="0"/>
              <a:t> branch reaches Johann Sebastian Bach, while the Tabea Zimmermann branch directly retrieves her instruments. Their intersection gives </a:t>
            </a:r>
            <a:r>
              <a:rPr lang="en-US" altLang="zh-CN" i="1" dirty="0"/>
              <a:t>Viola</a:t>
            </a:r>
            <a:r>
              <a:rPr lang="en-US" altLang="zh-CN" dirty="0"/>
              <a:t> and </a:t>
            </a:r>
            <a:r>
              <a:rPr lang="en-US" altLang="zh-CN" i="1" dirty="0"/>
              <a:t>Cello</a:t>
            </a:r>
            <a:r>
              <a:rPr lang="en-US" altLang="zh-CN" dirty="0"/>
              <a:t> in WikiKG2. This case is useful for Graph Grounding because the generation-time </a:t>
            </a:r>
            <a:r>
              <a:rPr lang="en-US" altLang="zh-CN" sz="1200" kern="1200" dirty="0" err="1">
                <a:solidFill>
                  <a:schemeClr val="tx1"/>
                </a:solidFill>
                <a:latin typeface="+mn-lt"/>
                <a:ea typeface="+mn-ea"/>
                <a:cs typeface="+mn-cs"/>
              </a:rPr>
              <a:t>answer_subgraph</a:t>
            </a:r>
            <a:r>
              <a:rPr lang="en-US" altLang="zh-CN" dirty="0"/>
              <a:t> contains only </a:t>
            </a:r>
            <a:r>
              <a:rPr lang="en-US" altLang="zh-CN" i="1" dirty="0"/>
              <a:t>Viola</a:t>
            </a:r>
            <a:r>
              <a:rPr lang="en-US" altLang="zh-CN" dirty="0"/>
              <a:t>, while </a:t>
            </a:r>
            <a:r>
              <a:rPr lang="en-US" altLang="zh-CN" sz="1200" kern="1200" dirty="0">
                <a:solidFill>
                  <a:schemeClr val="tx1"/>
                </a:solidFill>
                <a:latin typeface="+mn-lt"/>
                <a:ea typeface="+mn-ea"/>
                <a:cs typeface="+mn-cs"/>
              </a:rPr>
              <a:t>all_answers_wikikg2</a:t>
            </a:r>
            <a:r>
              <a:rPr lang="en-US" altLang="zh-CN" dirty="0"/>
              <a:t> includes both answers and </a:t>
            </a:r>
            <a:r>
              <a:rPr lang="en-US" altLang="zh-CN" sz="1200" kern="1200" dirty="0">
                <a:solidFill>
                  <a:schemeClr val="tx1"/>
                </a:solidFill>
                <a:latin typeface="+mn-lt"/>
                <a:ea typeface="+mn-ea"/>
                <a:cs typeface="+mn-cs"/>
              </a:rPr>
              <a:t>full_answer_subgraph_wikikg2</a:t>
            </a:r>
            <a:r>
              <a:rPr lang="en-US" altLang="zh-CN" dirty="0"/>
              <a:t> provides the complete supporting evidence.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My initial idea is to use KQA Pro as the main dataset. Based on the selected questions, it will be used to evaluate most of the Agent capabilities, including Final Answer, Multi-hop Reasoning, and Problem Understanding. I then plan to follow the GrailQAbility approach and modify the KQA Pro knowledge graph to construct unanswerable questions for evaluating the Agent's Refusal capability. Finally, GTSQA will be used separately to evaluate the Agent's Graph Grounding capability.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During the next two weeks, I will first construct a small minimum viable dataset based on the three selected data sources. After completing the initial dataset, I will adapt and debug Ark v1, run the first capability tests, and analyze the main failure cases. </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9" name="Group 9"/>
          <p:cNvGrpSpPr/>
          <p:nvPr/>
        </p:nvGrpSpPr>
        <p:grpSpPr>
          <a:xfrm>
            <a:off x="552450" y="2379345"/>
            <a:ext cx="7543800" cy="2345055"/>
            <a:chOff x="552450" y="2379345"/>
            <a:chExt cx="7543800" cy="2345055"/>
          </a:xfrm>
        </p:grpSpPr>
        <p:sp>
          <p:nvSpPr>
            <p:cNvPr id="3" name="Rectangle 3"/>
            <p:cNvSpPr/>
            <p:nvPr/>
          </p:nvSpPr>
          <p:spPr>
            <a:xfrm>
              <a:off x="552450" y="2400300"/>
              <a:ext cx="47625" cy="1514475"/>
            </a:xfrm>
            <a:prstGeom prst="rect">
              <a:avLst/>
            </a:prstGeom>
            <a:solidFill>
              <a:srgbClr val="009682"/>
            </a:solidFill>
            <a:ln>
              <a:noFill/>
            </a:ln>
          </p:spPr>
          <p:txBody>
            <a:bodyPr/>
            <a:lstStyle/>
            <a:p>
              <a:endParaRPr lang="zh-CN" altLang="en-US"/>
            </a:p>
          </p:txBody>
        </p:sp>
        <p:sp>
          <p:nvSpPr>
            <p:cNvPr id="4" name="TextBox 4"/>
            <p:cNvSpPr txBox="1"/>
            <p:nvPr/>
          </p:nvSpPr>
          <p:spPr>
            <a:xfrm>
              <a:off x="779145" y="2379345"/>
              <a:ext cx="4545616" cy="792480"/>
            </a:xfrm>
            <a:prstGeom prst="rect">
              <a:avLst/>
            </a:prstGeom>
            <a:noFill/>
            <a:ln>
              <a:noFill/>
            </a:ln>
          </p:spPr>
          <p:txBody>
            <a:bodyPr wrap="none" lIns="0" tIns="0" rIns="0" bIns="0" anchor="t" anchorCtr="0">
              <a:spAutoFit/>
            </a:bodyPr>
            <a:lstStyle/>
            <a:p>
              <a:pPr algn="l"/>
              <a:r>
                <a:rPr lang="zh-CN" sz="3900" dirty="0">
                  <a:solidFill>
                    <a:srgbClr val="002D4C"/>
                  </a:solidFill>
                  <a:latin typeface="Franklin Gothic Medium"/>
                  <a:ea typeface="Microsoft YaHei"/>
                  <a:cs typeface="Franklin Gothic Medium"/>
                </a:rPr>
                <a:t>Progress Update:</a:t>
              </a:r>
            </a:p>
          </p:txBody>
        </p:sp>
        <p:sp>
          <p:nvSpPr>
            <p:cNvPr id="5" name="TextBox 5"/>
            <p:cNvSpPr txBox="1"/>
            <p:nvPr/>
          </p:nvSpPr>
          <p:spPr>
            <a:xfrm>
              <a:off x="779145" y="2969895"/>
              <a:ext cx="6625876" cy="792480"/>
            </a:xfrm>
            <a:prstGeom prst="rect">
              <a:avLst/>
            </a:prstGeom>
            <a:noFill/>
            <a:ln>
              <a:noFill/>
            </a:ln>
          </p:spPr>
          <p:txBody>
            <a:bodyPr wrap="none" lIns="0" tIns="0" rIns="0" bIns="0" anchor="t" anchorCtr="0">
              <a:spAutoFit/>
            </a:bodyPr>
            <a:lstStyle/>
            <a:p>
              <a:pPr algn="l"/>
              <a:r>
                <a:rPr lang="zh-CN" sz="3900" dirty="0">
                  <a:solidFill>
                    <a:srgbClr val="002D4C"/>
                  </a:solidFill>
                  <a:latin typeface="Franklin Gothic Medium"/>
                  <a:ea typeface="Microsoft YaHei"/>
                  <a:cs typeface="Franklin Gothic Medium"/>
                </a:rPr>
                <a:t>KGQA Dataset Assessment</a:t>
              </a:r>
            </a:p>
          </p:txBody>
        </p:sp>
        <p:sp>
          <p:nvSpPr>
            <p:cNvPr id="6" name="TextBox 6"/>
            <p:cNvSpPr txBox="1"/>
            <p:nvPr/>
          </p:nvSpPr>
          <p:spPr>
            <a:xfrm>
              <a:off x="779145" y="3560445"/>
              <a:ext cx="3427476" cy="792480"/>
            </a:xfrm>
            <a:prstGeom prst="rect">
              <a:avLst/>
            </a:prstGeom>
            <a:noFill/>
            <a:ln>
              <a:noFill/>
            </a:ln>
          </p:spPr>
          <p:txBody>
            <a:bodyPr wrap="none" lIns="0" tIns="0" rIns="0" bIns="0" anchor="t" anchorCtr="0">
              <a:spAutoFit/>
            </a:bodyPr>
            <a:lstStyle/>
            <a:p>
              <a:pPr algn="l"/>
              <a:r>
                <a:rPr lang="zh-CN" sz="3900" dirty="0">
                  <a:solidFill>
                    <a:srgbClr val="002D4C"/>
                  </a:solidFill>
                  <a:latin typeface="Franklin Gothic Medium"/>
                  <a:ea typeface="Microsoft YaHei"/>
                  <a:cs typeface="Franklin Gothic Medium"/>
                </a:rPr>
                <a:t>and Selection</a:t>
              </a:r>
            </a:p>
          </p:txBody>
        </p:sp>
        <p:sp>
          <p:nvSpPr>
            <p:cNvPr id="7" name="Line 7"/>
            <p:cNvSpPr/>
            <p:nvPr/>
          </p:nvSpPr>
          <p:spPr>
            <a:xfrm>
              <a:off x="828675" y="4238625"/>
              <a:ext cx="7267575" cy="9525"/>
            </a:xfrm>
            <a:custGeom>
              <a:avLst/>
              <a:gdLst/>
              <a:ahLst/>
              <a:cxnLst/>
              <a:rect l="l" t="t" r="r" b="b"/>
              <a:pathLst>
                <a:path w="7267575" h="9525">
                  <a:moveTo>
                    <a:pt x="0" y="0"/>
                  </a:moveTo>
                  <a:lnTo>
                    <a:pt x="7267575" y="0"/>
                  </a:lnTo>
                </a:path>
              </a:pathLst>
            </a:custGeom>
            <a:noFill/>
            <a:ln w="9525">
              <a:solidFill>
                <a:srgbClr val="DAE1E6"/>
              </a:solidFill>
            </a:ln>
          </p:spPr>
          <p:txBody>
            <a:bodyPr/>
            <a:lstStyle/>
            <a:p>
              <a:endParaRPr lang="zh-CN" altLang="en-US"/>
            </a:p>
          </p:txBody>
        </p:sp>
        <p:sp>
          <p:nvSpPr>
            <p:cNvPr id="8" name="TextBox 8"/>
            <p:cNvSpPr txBox="1"/>
            <p:nvPr/>
          </p:nvSpPr>
          <p:spPr>
            <a:xfrm>
              <a:off x="809625" y="4419600"/>
              <a:ext cx="5538788" cy="304800"/>
            </a:xfrm>
            <a:prstGeom prst="rect">
              <a:avLst/>
            </a:prstGeom>
            <a:noFill/>
            <a:ln>
              <a:noFill/>
            </a:ln>
          </p:spPr>
          <p:txBody>
            <a:bodyPr wrap="none" lIns="0" tIns="0" rIns="0" bIns="0" anchor="t" anchorCtr="0">
              <a:spAutoFit/>
            </a:bodyPr>
            <a:lstStyle/>
            <a:p>
              <a:pPr algn="l"/>
              <a:r>
                <a:rPr lang="zh-CN" sz="1500" dirty="0">
                  <a:solidFill>
                    <a:srgbClr val="526671"/>
                  </a:solidFill>
                  <a:latin typeface="Arial"/>
                  <a:ea typeface="Microsoft YaHei"/>
                  <a:cs typeface="Arial"/>
                </a:rPr>
                <a:t>Work completed in the last two weeks · KQA Pro analysis</a:t>
              </a:r>
            </a:p>
          </p:txBody>
        </p:sp>
      </p:grpSp>
      <p:grpSp>
        <p:nvGrpSpPr>
          <p:cNvPr id="13" name="Group 13"/>
          <p:cNvGrpSpPr/>
          <p:nvPr/>
        </p:nvGrpSpPr>
        <p:grpSpPr>
          <a:xfrm>
            <a:off x="841058" y="5377339"/>
            <a:ext cx="2693218" cy="758183"/>
            <a:chOff x="841058" y="5377339"/>
            <a:chExt cx="2693218" cy="758183"/>
          </a:xfrm>
        </p:grpSpPr>
        <p:sp>
          <p:nvSpPr>
            <p:cNvPr id="10" name="TextBox 10"/>
            <p:cNvSpPr txBox="1"/>
            <p:nvPr/>
          </p:nvSpPr>
          <p:spPr>
            <a:xfrm>
              <a:off x="841058" y="5377339"/>
              <a:ext cx="1058888"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Kaihao Wang</a:t>
              </a:r>
            </a:p>
          </p:txBody>
        </p:sp>
        <p:sp>
          <p:nvSpPr>
            <p:cNvPr id="11" name="TextBox 11"/>
            <p:cNvSpPr txBox="1"/>
            <p:nvPr/>
          </p:nvSpPr>
          <p:spPr>
            <a:xfrm>
              <a:off x="841058" y="5672614"/>
              <a:ext cx="2693218"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Master Thesis Progress Meeting</a:t>
              </a:r>
            </a:p>
          </p:txBody>
        </p:sp>
        <p:sp>
          <p:nvSpPr>
            <p:cNvPr id="12" name="TextBox 12"/>
            <p:cNvSpPr txBox="1"/>
            <p:nvPr/>
          </p:nvSpPr>
          <p:spPr>
            <a:xfrm>
              <a:off x="841058" y="5939314"/>
              <a:ext cx="1138710" cy="196208"/>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2</a:t>
              </a:r>
              <a:r>
                <a:rPr lang="en-US" altLang="zh-CN" sz="1275" dirty="0">
                  <a:solidFill>
                    <a:srgbClr val="526671"/>
                  </a:solidFill>
                  <a:latin typeface="Arial"/>
                  <a:ea typeface="Microsoft YaHei"/>
                  <a:cs typeface="Arial"/>
                </a:rPr>
                <a:t>6</a:t>
              </a:r>
              <a:r>
                <a:rPr lang="zh-CN" sz="1275" dirty="0">
                  <a:solidFill>
                    <a:srgbClr val="526671"/>
                  </a:solidFill>
                  <a:latin typeface="Arial"/>
                  <a:ea typeface="Microsoft YaHei"/>
                  <a:cs typeface="Arial"/>
                </a:rPr>
                <a:t> August 2026</a:t>
              </a:r>
            </a:p>
          </p:txBody>
        </p:sp>
      </p:grpSp>
      <p:grpSp>
        <p:nvGrpSpPr>
          <p:cNvPr id="21" name="Group 21"/>
          <p:cNvGrpSpPr/>
          <p:nvPr/>
        </p:nvGrpSpPr>
        <p:grpSpPr>
          <a:xfrm>
            <a:off x="542925" y="6419850"/>
            <a:ext cx="8181975" cy="385762"/>
            <a:chOff x="542925" y="6419850"/>
            <a:chExt cx="8181975" cy="385762"/>
          </a:xfrm>
        </p:grpSpPr>
        <p:sp>
          <p:nvSpPr>
            <p:cNvPr id="17" name="Line 17"/>
            <p:cNvSpPr/>
            <p:nvPr/>
          </p:nvSpPr>
          <p:spPr>
            <a:xfrm>
              <a:off x="552450" y="6419850"/>
              <a:ext cx="8172450" cy="9525"/>
            </a:xfrm>
            <a:custGeom>
              <a:avLst/>
              <a:gdLst/>
              <a:ahLst/>
              <a:cxnLst/>
              <a:rect l="l" t="t" r="r" b="b"/>
              <a:pathLst>
                <a:path w="8172450" h="9525">
                  <a:moveTo>
                    <a:pt x="0" y="0"/>
                  </a:moveTo>
                  <a:lnTo>
                    <a:pt x="8172450" y="0"/>
                  </a:lnTo>
                </a:path>
              </a:pathLst>
            </a:custGeom>
            <a:noFill/>
            <a:ln w="9525">
              <a:solidFill>
                <a:srgbClr val="DAE1E6"/>
              </a:solidFill>
            </a:ln>
          </p:spPr>
          <p:txBody>
            <a:bodyPr/>
            <a:lstStyle/>
            <a:p>
              <a:endParaRPr lang="zh-CN" altLang="en-US"/>
            </a:p>
          </p:txBody>
        </p:sp>
        <p:sp>
          <p:nvSpPr>
            <p:cNvPr id="18" name="TextBox 18"/>
            <p:cNvSpPr txBox="1"/>
            <p:nvPr/>
          </p:nvSpPr>
          <p:spPr>
            <a:xfrm>
              <a:off x="542925" y="6653212"/>
              <a:ext cx="4905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a:t>
              </a:r>
            </a:p>
          </p:txBody>
        </p:sp>
        <p:sp>
          <p:nvSpPr>
            <p:cNvPr id="19" name="TextBox 19"/>
            <p:cNvSpPr txBox="1"/>
            <p:nvPr/>
          </p:nvSpPr>
          <p:spPr>
            <a:xfrm>
              <a:off x="857250" y="6653212"/>
              <a:ext cx="714137"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21 August 2026</a:t>
              </a:r>
            </a:p>
          </p:txBody>
        </p:sp>
        <p:sp>
          <p:nvSpPr>
            <p:cNvPr id="20" name="TextBox 20"/>
            <p:cNvSpPr txBox="1"/>
            <p:nvPr/>
          </p:nvSpPr>
          <p:spPr>
            <a:xfrm>
              <a:off x="6743700" y="6653212"/>
              <a:ext cx="1954292"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Kaihao Wang — KG Agent Progress Update</a:t>
              </a:r>
            </a:p>
          </p:txBody>
        </p:sp>
      </p:grpSp>
      <p:grpSp>
        <p:nvGrpSpPr>
          <p:cNvPr id="22" name="Gruppieren 8">
            <a:extLst>
              <a:ext uri="{FF2B5EF4-FFF2-40B4-BE49-F238E27FC236}">
                <a16:creationId xmlns:a16="http://schemas.microsoft.com/office/drawing/2014/main" id="{A6F39670-3A65-C632-210D-928585D2EFE3}"/>
              </a:ext>
            </a:extLst>
          </p:cNvPr>
          <p:cNvGrpSpPr/>
          <p:nvPr/>
        </p:nvGrpSpPr>
        <p:grpSpPr bwMode="gray">
          <a:xfrm>
            <a:off x="5198250" y="1240589"/>
            <a:ext cx="1224000" cy="439200"/>
            <a:chOff x="11189494" y="381000"/>
            <a:chExt cx="621506" cy="222941"/>
          </a:xfrm>
        </p:grpSpPr>
        <p:sp>
          <p:nvSpPr>
            <p:cNvPr id="23" name="Freihandform: Form 9">
              <a:extLst>
                <a:ext uri="{FF2B5EF4-FFF2-40B4-BE49-F238E27FC236}">
                  <a16:creationId xmlns:a16="http://schemas.microsoft.com/office/drawing/2014/main" id="{A6C7B8A4-1C64-C41F-DB79-83BE5111D38B}"/>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24" name="Freihandform: Form 10">
              <a:extLst>
                <a:ext uri="{FF2B5EF4-FFF2-40B4-BE49-F238E27FC236}">
                  <a16:creationId xmlns:a16="http://schemas.microsoft.com/office/drawing/2014/main" id="{C34BBAB4-1021-23C0-8122-7765800FB23F}"/>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rgbClr val="009682"/>
            </a:solidFill>
            <a:ln w="9525" cap="flat">
              <a:noFill/>
              <a:prstDash val="solid"/>
              <a:miter/>
            </a:ln>
          </p:spPr>
          <p:txBody>
            <a:bodyPr rtlCol="0" anchor="ctr"/>
            <a:lstStyle/>
            <a:p>
              <a:endParaRPr lang="en-US" dirty="0"/>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495300" y="400050"/>
            <a:ext cx="8576857" cy="721519"/>
            <a:chOff x="495300" y="400050"/>
            <a:chExt cx="8576857" cy="721519"/>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681990" y="410528"/>
              <a:ext cx="6389561"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Work Completed in the Last Two Weeks</a:t>
              </a:r>
            </a:p>
          </p:txBody>
        </p:sp>
        <p:sp>
          <p:nvSpPr>
            <p:cNvPr id="5" name="TextBox 5"/>
            <p:cNvSpPr txBox="1"/>
            <p:nvPr/>
          </p:nvSpPr>
          <p:spPr>
            <a:xfrm>
              <a:off x="717232" y="862489"/>
              <a:ext cx="8354925"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Capability-driven assessment narrowed 6–7 candidate datasets to three complementary benchmarks</a:t>
              </a:r>
            </a:p>
          </p:txBody>
        </p:sp>
      </p:grpSp>
      <p:grpSp>
        <p:nvGrpSpPr>
          <p:cNvPr id="10" name="Group 10"/>
          <p:cNvGrpSpPr/>
          <p:nvPr/>
        </p:nvGrpSpPr>
        <p:grpSpPr>
          <a:xfrm>
            <a:off x="495300" y="1200150"/>
            <a:ext cx="11201400" cy="457200"/>
            <a:chOff x="495300" y="1200150"/>
            <a:chExt cx="11201400" cy="457200"/>
          </a:xfrm>
        </p:grpSpPr>
        <p:sp>
          <p:nvSpPr>
            <p:cNvPr id="7" name="Rectangle 7"/>
            <p:cNvSpPr/>
            <p:nvPr/>
          </p:nvSpPr>
          <p:spPr>
            <a:xfrm>
              <a:off x="495300" y="1200150"/>
              <a:ext cx="11201400" cy="457200"/>
            </a:xfrm>
            <a:prstGeom prst="rect">
              <a:avLst/>
            </a:prstGeom>
            <a:solidFill>
              <a:srgbClr val="F4F7F8"/>
            </a:solidFill>
            <a:ln>
              <a:noFill/>
            </a:ln>
          </p:spPr>
          <p:txBody>
            <a:bodyPr/>
            <a:lstStyle/>
            <a:p>
              <a:endParaRPr lang="zh-CN" altLang="en-US"/>
            </a:p>
          </p:txBody>
        </p:sp>
        <p:sp>
          <p:nvSpPr>
            <p:cNvPr id="8" name="Rectangle 8"/>
            <p:cNvSpPr/>
            <p:nvPr/>
          </p:nvSpPr>
          <p:spPr>
            <a:xfrm>
              <a:off x="495300" y="1200150"/>
              <a:ext cx="76200" cy="457200"/>
            </a:xfrm>
            <a:prstGeom prst="rect">
              <a:avLst/>
            </a:prstGeom>
            <a:solidFill>
              <a:srgbClr val="002D4C"/>
            </a:solidFill>
            <a:ln>
              <a:noFill/>
            </a:ln>
          </p:spPr>
          <p:txBody>
            <a:bodyPr/>
            <a:lstStyle/>
            <a:p>
              <a:endParaRPr lang="zh-CN" altLang="en-US"/>
            </a:p>
          </p:txBody>
        </p:sp>
        <p:sp>
          <p:nvSpPr>
            <p:cNvPr id="9" name="TextBox 9"/>
            <p:cNvSpPr txBox="1"/>
            <p:nvPr/>
          </p:nvSpPr>
          <p:spPr>
            <a:xfrm>
              <a:off x="726758" y="1348264"/>
              <a:ext cx="10820233"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Reviewed papers and actual data for </a:t>
              </a:r>
              <a:r>
                <a:rPr lang="zh-CN" sz="1275" b="1" dirty="0">
                  <a:solidFill>
                    <a:srgbClr val="009682"/>
                  </a:solidFill>
                  <a:latin typeface="Arial"/>
                  <a:ea typeface="Microsoft YaHei"/>
                  <a:cs typeface="Arial"/>
                </a:rPr>
                <a:t>approximately 6–7 KGQA datasets</a:t>
              </a:r>
              <a:r>
                <a:rPr lang="zh-CN" sz="1275" dirty="0">
                  <a:solidFill>
                    <a:srgbClr val="002D4C"/>
                  </a:solidFill>
                  <a:latin typeface="Arial"/>
                  <a:ea typeface="Microsoft YaHei"/>
                  <a:cs typeface="Arial"/>
                </a:rPr>
                <a:t>, then shortlisted three for capability-specific evaluation.</a:t>
              </a:r>
            </a:p>
          </p:txBody>
        </p:sp>
      </p:grpSp>
      <p:grpSp>
        <p:nvGrpSpPr>
          <p:cNvPr id="25" name="Group 25"/>
          <p:cNvGrpSpPr/>
          <p:nvPr/>
        </p:nvGrpSpPr>
        <p:grpSpPr>
          <a:xfrm>
            <a:off x="495300" y="1847850"/>
            <a:ext cx="3429000" cy="3190875"/>
            <a:chOff x="495300" y="1847850"/>
            <a:chExt cx="3429000" cy="3190875"/>
          </a:xfrm>
        </p:grpSpPr>
        <p:sp>
          <p:nvSpPr>
            <p:cNvPr id="11" name="Rectangle 11"/>
            <p:cNvSpPr/>
            <p:nvPr/>
          </p:nvSpPr>
          <p:spPr>
            <a:xfrm>
              <a:off x="495300" y="1847850"/>
              <a:ext cx="3429000" cy="3190875"/>
            </a:xfrm>
            <a:prstGeom prst="rect">
              <a:avLst/>
            </a:prstGeom>
            <a:solidFill>
              <a:srgbClr val="FFFFFF"/>
            </a:solidFill>
            <a:ln w="14288">
              <a:solidFill>
                <a:srgbClr val="DAE1E6"/>
              </a:solidFill>
            </a:ln>
          </p:spPr>
          <p:txBody>
            <a:bodyPr/>
            <a:lstStyle/>
            <a:p>
              <a:endParaRPr lang="zh-CN" altLang="en-US"/>
            </a:p>
          </p:txBody>
        </p:sp>
        <p:sp>
          <p:nvSpPr>
            <p:cNvPr id="12" name="Freeform 12"/>
            <p:cNvSpPr/>
            <p:nvPr/>
          </p:nvSpPr>
          <p:spPr>
            <a:xfrm>
              <a:off x="495300" y="1847850"/>
              <a:ext cx="3429000" cy="857250"/>
            </a:xfrm>
            <a:custGeom>
              <a:avLst/>
              <a:gdLst/>
              <a:ahLst/>
              <a:cxnLst/>
              <a:rect l="l" t="t" r="r" b="b"/>
              <a:pathLst>
                <a:path w="3429000" h="857250">
                  <a:moveTo>
                    <a:pt x="0" y="0"/>
                  </a:moveTo>
                  <a:lnTo>
                    <a:pt x="3429000" y="0"/>
                  </a:lnTo>
                  <a:lnTo>
                    <a:pt x="3429000" y="857250"/>
                  </a:lnTo>
                  <a:lnTo>
                    <a:pt x="0" y="857250"/>
                  </a:lnTo>
                  <a:close/>
                </a:path>
              </a:pathLst>
            </a:custGeom>
            <a:solidFill>
              <a:srgbClr val="F4F7F8"/>
            </a:solidFill>
            <a:ln>
              <a:noFill/>
            </a:ln>
          </p:spPr>
          <p:txBody>
            <a:bodyPr/>
            <a:lstStyle/>
            <a:p>
              <a:endParaRPr lang="zh-CN" altLang="en-US"/>
            </a:p>
          </p:txBody>
        </p:sp>
        <p:sp>
          <p:nvSpPr>
            <p:cNvPr id="13" name="Ellipse 13"/>
            <p:cNvSpPr/>
            <p:nvPr/>
          </p:nvSpPr>
          <p:spPr>
            <a:xfrm>
              <a:off x="647700" y="2047875"/>
              <a:ext cx="457200" cy="457200"/>
            </a:xfrm>
            <a:prstGeom prst="ellipse">
              <a:avLst/>
            </a:prstGeom>
            <a:solidFill>
              <a:srgbClr val="002D4C"/>
            </a:solidFill>
            <a:ln>
              <a:noFill/>
            </a:ln>
          </p:spPr>
          <p:txBody>
            <a:bodyPr/>
            <a:lstStyle/>
            <a:p>
              <a:endParaRPr lang="zh-CN" altLang="en-US"/>
            </a:p>
          </p:txBody>
        </p:sp>
        <p:sp>
          <p:nvSpPr>
            <p:cNvPr id="14" name="TextBox 14"/>
            <p:cNvSpPr txBox="1"/>
            <p:nvPr/>
          </p:nvSpPr>
          <p:spPr>
            <a:xfrm>
              <a:off x="784236" y="2205514"/>
              <a:ext cx="18412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01</a:t>
              </a:r>
            </a:p>
          </p:txBody>
        </p:sp>
        <p:sp>
          <p:nvSpPr>
            <p:cNvPr id="15" name="TextBox 15"/>
            <p:cNvSpPr txBox="1"/>
            <p:nvPr/>
          </p:nvSpPr>
          <p:spPr>
            <a:xfrm>
              <a:off x="1215390" y="2034540"/>
              <a:ext cx="957834" cy="365760"/>
            </a:xfrm>
            <a:prstGeom prst="rect">
              <a:avLst/>
            </a:prstGeom>
            <a:noFill/>
            <a:ln>
              <a:noFill/>
            </a:ln>
          </p:spPr>
          <p:txBody>
            <a:bodyPr wrap="none" lIns="0" tIns="0" rIns="0" bIns="0" anchor="t" anchorCtr="0">
              <a:spAutoFit/>
            </a:bodyPr>
            <a:lstStyle/>
            <a:p>
              <a:pPr algn="l"/>
              <a:r>
                <a:rPr lang="zh-CN" sz="1800" dirty="0">
                  <a:solidFill>
                    <a:srgbClr val="002D4C"/>
                  </a:solidFill>
                  <a:latin typeface="Franklin Gothic Medium"/>
                  <a:ea typeface="Microsoft YaHei"/>
                  <a:cs typeface="Franklin Gothic Medium"/>
                </a:rPr>
                <a:t>KQA Pro</a:t>
              </a:r>
            </a:p>
          </p:txBody>
        </p:sp>
        <p:sp>
          <p:nvSpPr>
            <p:cNvPr id="16" name="TextBox 16"/>
            <p:cNvSpPr txBox="1"/>
            <p:nvPr/>
          </p:nvSpPr>
          <p:spPr>
            <a:xfrm>
              <a:off x="1225868" y="2352199"/>
              <a:ext cx="2031566" cy="198120"/>
            </a:xfrm>
            <a:prstGeom prst="rect">
              <a:avLst/>
            </a:prstGeom>
            <a:noFill/>
            <a:ln>
              <a:noFill/>
            </a:ln>
          </p:spPr>
          <p:txBody>
            <a:bodyPr wrap="none" lIns="0" tIns="0" rIns="0" bIns="0" anchor="t" anchorCtr="0">
              <a:spAutoFit/>
            </a:bodyPr>
            <a:lstStyle/>
            <a:p>
              <a:pPr algn="l"/>
              <a:r>
                <a:rPr lang="zh-CN" sz="975" b="1" dirty="0">
                  <a:solidFill>
                    <a:srgbClr val="526671"/>
                  </a:solidFill>
                  <a:latin typeface="Arial"/>
                  <a:ea typeface="Microsoft YaHei"/>
                  <a:cs typeface="Arial"/>
                </a:rPr>
                <a:t>COMPLEX COMPOSITIONAL KGQA</a:t>
              </a:r>
            </a:p>
          </p:txBody>
        </p:sp>
        <p:sp>
          <p:nvSpPr>
            <p:cNvPr id="17" name="TextBox 17"/>
            <p:cNvSpPr txBox="1"/>
            <p:nvPr/>
          </p:nvSpPr>
          <p:spPr>
            <a:xfrm>
              <a:off x="726758" y="2900839"/>
              <a:ext cx="2251162"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117,970 questions with Gold</a:t>
              </a:r>
            </a:p>
          </p:txBody>
        </p:sp>
        <p:sp>
          <p:nvSpPr>
            <p:cNvPr id="18" name="TextBox 18"/>
            <p:cNvSpPr txBox="1"/>
            <p:nvPr/>
          </p:nvSpPr>
          <p:spPr>
            <a:xfrm>
              <a:off x="726758" y="3138964"/>
              <a:ext cx="1766602"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KoPL and Gold SPARQL</a:t>
              </a:r>
            </a:p>
          </p:txBody>
        </p:sp>
        <p:sp>
          <p:nvSpPr>
            <p:cNvPr id="19" name="Line 19"/>
            <p:cNvSpPr/>
            <p:nvPr/>
          </p:nvSpPr>
          <p:spPr>
            <a:xfrm>
              <a:off x="742950" y="3524250"/>
              <a:ext cx="2933700" cy="9525"/>
            </a:xfrm>
            <a:custGeom>
              <a:avLst/>
              <a:gdLst/>
              <a:ahLst/>
              <a:cxnLst/>
              <a:rect l="l" t="t" r="r" b="b"/>
              <a:pathLst>
                <a:path w="2933700" h="9525">
                  <a:moveTo>
                    <a:pt x="0" y="0"/>
                  </a:moveTo>
                  <a:lnTo>
                    <a:pt x="2933700" y="0"/>
                  </a:lnTo>
                </a:path>
              </a:pathLst>
            </a:custGeom>
            <a:noFill/>
            <a:ln w="9525">
              <a:solidFill>
                <a:srgbClr val="DAE1E6"/>
              </a:solidFill>
            </a:ln>
          </p:spPr>
          <p:txBody>
            <a:bodyPr/>
            <a:lstStyle/>
            <a:p>
              <a:endParaRPr lang="zh-CN" altLang="en-US"/>
            </a:p>
          </p:txBody>
        </p:sp>
        <p:sp>
          <p:nvSpPr>
            <p:cNvPr id="20" name="TextBox 20"/>
            <p:cNvSpPr txBox="1"/>
            <p:nvPr/>
          </p:nvSpPr>
          <p:spPr>
            <a:xfrm>
              <a:off x="730568" y="3714274"/>
              <a:ext cx="1929178" cy="198120"/>
            </a:xfrm>
            <a:prstGeom prst="rect">
              <a:avLst/>
            </a:prstGeom>
            <a:noFill/>
            <a:ln>
              <a:noFill/>
            </a:ln>
          </p:spPr>
          <p:txBody>
            <a:bodyPr wrap="none" lIns="0" tIns="0" rIns="0" bIns="0" anchor="t" anchorCtr="0">
              <a:spAutoFit/>
            </a:bodyPr>
            <a:lstStyle/>
            <a:p>
              <a:pPr algn="l"/>
              <a:r>
                <a:rPr lang="zh-CN" sz="975" b="1" dirty="0">
                  <a:solidFill>
                    <a:srgbClr val="768993"/>
                  </a:solidFill>
                  <a:latin typeface="Arial"/>
                  <a:ea typeface="Microsoft YaHei"/>
                  <a:cs typeface="Arial"/>
                </a:rPr>
                <a:t>PRIMARY THESIS CONTRIBUTION</a:t>
              </a:r>
            </a:p>
          </p:txBody>
        </p:sp>
        <p:sp>
          <p:nvSpPr>
            <p:cNvPr id="21" name="TextBox 21"/>
            <p:cNvSpPr txBox="1"/>
            <p:nvPr/>
          </p:nvSpPr>
          <p:spPr>
            <a:xfrm>
              <a:off x="726758" y="3958114"/>
              <a:ext cx="251469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Complex reasoning structures</a:t>
              </a:r>
            </a:p>
          </p:txBody>
        </p:sp>
        <p:sp>
          <p:nvSpPr>
            <p:cNvPr id="22" name="TextBox 22"/>
            <p:cNvSpPr txBox="1"/>
            <p:nvPr/>
          </p:nvSpPr>
          <p:spPr>
            <a:xfrm>
              <a:off x="726758" y="4196239"/>
              <a:ext cx="2140648"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and diverse answer types</a:t>
              </a:r>
            </a:p>
          </p:txBody>
        </p:sp>
        <p:sp>
          <p:nvSpPr>
            <p:cNvPr id="23" name="Rectangle 23"/>
            <p:cNvSpPr/>
            <p:nvPr/>
          </p:nvSpPr>
          <p:spPr>
            <a:xfrm>
              <a:off x="742950" y="4552950"/>
              <a:ext cx="2933700" cy="323850"/>
            </a:xfrm>
            <a:prstGeom prst="rect">
              <a:avLst/>
            </a:prstGeom>
            <a:solidFill>
              <a:srgbClr val="002D4C"/>
            </a:solidFill>
            <a:ln>
              <a:noFill/>
            </a:ln>
          </p:spPr>
          <p:txBody>
            <a:bodyPr/>
            <a:lstStyle/>
            <a:p>
              <a:endParaRPr lang="zh-CN" altLang="en-US"/>
            </a:p>
          </p:txBody>
        </p:sp>
        <p:sp>
          <p:nvSpPr>
            <p:cNvPr id="24" name="TextBox 24"/>
            <p:cNvSpPr txBox="1"/>
            <p:nvPr/>
          </p:nvSpPr>
          <p:spPr>
            <a:xfrm>
              <a:off x="985829" y="4657249"/>
              <a:ext cx="244794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MULTI-HOP REASONING · FINAL ANSWER</a:t>
              </a:r>
            </a:p>
          </p:txBody>
        </p:sp>
      </p:grpSp>
      <p:grpSp>
        <p:nvGrpSpPr>
          <p:cNvPr id="40" name="Group 40"/>
          <p:cNvGrpSpPr/>
          <p:nvPr/>
        </p:nvGrpSpPr>
        <p:grpSpPr>
          <a:xfrm>
            <a:off x="4381500" y="1847850"/>
            <a:ext cx="3429000" cy="3190875"/>
            <a:chOff x="4381500" y="1847850"/>
            <a:chExt cx="3429000" cy="3190875"/>
          </a:xfrm>
        </p:grpSpPr>
        <p:sp>
          <p:nvSpPr>
            <p:cNvPr id="26" name="Rectangle 26"/>
            <p:cNvSpPr/>
            <p:nvPr/>
          </p:nvSpPr>
          <p:spPr>
            <a:xfrm>
              <a:off x="4381500" y="1847850"/>
              <a:ext cx="3429000" cy="3190875"/>
            </a:xfrm>
            <a:prstGeom prst="rect">
              <a:avLst/>
            </a:prstGeom>
            <a:solidFill>
              <a:srgbClr val="FFFFFF"/>
            </a:solidFill>
            <a:ln w="14288">
              <a:solidFill>
                <a:srgbClr val="DAE1E6"/>
              </a:solidFill>
            </a:ln>
          </p:spPr>
          <p:txBody>
            <a:bodyPr/>
            <a:lstStyle/>
            <a:p>
              <a:endParaRPr lang="zh-CN" altLang="en-US"/>
            </a:p>
          </p:txBody>
        </p:sp>
        <p:sp>
          <p:nvSpPr>
            <p:cNvPr id="27" name="Freeform 27"/>
            <p:cNvSpPr/>
            <p:nvPr/>
          </p:nvSpPr>
          <p:spPr>
            <a:xfrm>
              <a:off x="4381500" y="1847850"/>
              <a:ext cx="3429000" cy="857250"/>
            </a:xfrm>
            <a:custGeom>
              <a:avLst/>
              <a:gdLst/>
              <a:ahLst/>
              <a:cxnLst/>
              <a:rect l="l" t="t" r="r" b="b"/>
              <a:pathLst>
                <a:path w="3429000" h="857250">
                  <a:moveTo>
                    <a:pt x="0" y="0"/>
                  </a:moveTo>
                  <a:lnTo>
                    <a:pt x="3429000" y="0"/>
                  </a:lnTo>
                  <a:lnTo>
                    <a:pt x="3429000" y="857250"/>
                  </a:lnTo>
                  <a:lnTo>
                    <a:pt x="0" y="857250"/>
                  </a:lnTo>
                  <a:close/>
                </a:path>
              </a:pathLst>
            </a:custGeom>
            <a:solidFill>
              <a:srgbClr val="EAF6F4"/>
            </a:solidFill>
            <a:ln>
              <a:noFill/>
            </a:ln>
          </p:spPr>
          <p:txBody>
            <a:bodyPr/>
            <a:lstStyle/>
            <a:p>
              <a:endParaRPr lang="zh-CN" altLang="en-US"/>
            </a:p>
          </p:txBody>
        </p:sp>
        <p:sp>
          <p:nvSpPr>
            <p:cNvPr id="28" name="Ellipse 28"/>
            <p:cNvSpPr/>
            <p:nvPr/>
          </p:nvSpPr>
          <p:spPr>
            <a:xfrm>
              <a:off x="4533900" y="2047875"/>
              <a:ext cx="457200" cy="457200"/>
            </a:xfrm>
            <a:prstGeom prst="ellipse">
              <a:avLst/>
            </a:prstGeom>
            <a:solidFill>
              <a:srgbClr val="009682"/>
            </a:solidFill>
            <a:ln>
              <a:noFill/>
            </a:ln>
          </p:spPr>
          <p:txBody>
            <a:bodyPr/>
            <a:lstStyle/>
            <a:p>
              <a:endParaRPr lang="zh-CN" altLang="en-US"/>
            </a:p>
          </p:txBody>
        </p:sp>
        <p:sp>
          <p:nvSpPr>
            <p:cNvPr id="29" name="TextBox 29"/>
            <p:cNvSpPr txBox="1"/>
            <p:nvPr/>
          </p:nvSpPr>
          <p:spPr>
            <a:xfrm>
              <a:off x="4648120" y="2205514"/>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02</a:t>
              </a:r>
            </a:p>
          </p:txBody>
        </p:sp>
        <p:sp>
          <p:nvSpPr>
            <p:cNvPr id="30" name="TextBox 30"/>
            <p:cNvSpPr txBox="1"/>
            <p:nvPr/>
          </p:nvSpPr>
          <p:spPr>
            <a:xfrm>
              <a:off x="5101590" y="2034540"/>
              <a:ext cx="1509903" cy="365760"/>
            </a:xfrm>
            <a:prstGeom prst="rect">
              <a:avLst/>
            </a:prstGeom>
            <a:noFill/>
            <a:ln>
              <a:noFill/>
            </a:ln>
          </p:spPr>
          <p:txBody>
            <a:bodyPr wrap="none" lIns="0" tIns="0" rIns="0" bIns="0" anchor="t" anchorCtr="0">
              <a:spAutoFit/>
            </a:bodyPr>
            <a:lstStyle/>
            <a:p>
              <a:pPr algn="l"/>
              <a:r>
                <a:rPr lang="zh-CN" sz="1800" dirty="0">
                  <a:solidFill>
                    <a:srgbClr val="002D4C"/>
                  </a:solidFill>
                  <a:latin typeface="Franklin Gothic Medium"/>
                  <a:ea typeface="Microsoft YaHei"/>
                  <a:cs typeface="Franklin Gothic Medium"/>
                </a:rPr>
                <a:t>GrailQAbility</a:t>
              </a:r>
            </a:p>
          </p:txBody>
        </p:sp>
        <p:sp>
          <p:nvSpPr>
            <p:cNvPr id="31" name="TextBox 31"/>
            <p:cNvSpPr txBox="1"/>
            <p:nvPr/>
          </p:nvSpPr>
          <p:spPr>
            <a:xfrm>
              <a:off x="5112068" y="2352199"/>
              <a:ext cx="1956481" cy="198120"/>
            </a:xfrm>
            <a:prstGeom prst="rect">
              <a:avLst/>
            </a:prstGeom>
            <a:noFill/>
            <a:ln>
              <a:noFill/>
            </a:ln>
          </p:spPr>
          <p:txBody>
            <a:bodyPr wrap="none" lIns="0" tIns="0" rIns="0" bIns="0" anchor="t" anchorCtr="0">
              <a:spAutoFit/>
            </a:bodyPr>
            <a:lstStyle/>
            <a:p>
              <a:pPr algn="l"/>
              <a:r>
                <a:rPr lang="zh-CN" sz="975" b="1" dirty="0">
                  <a:solidFill>
                    <a:srgbClr val="526671"/>
                  </a:solidFill>
                  <a:latin typeface="Arial"/>
                  <a:ea typeface="Microsoft YaHei"/>
                  <a:cs typeface="Arial"/>
                </a:rPr>
                <a:t>CONTROLLED UNANSWERABILITY</a:t>
              </a:r>
            </a:p>
          </p:txBody>
        </p:sp>
        <p:sp>
          <p:nvSpPr>
            <p:cNvPr id="32" name="TextBox 32"/>
            <p:cNvSpPr txBox="1"/>
            <p:nvPr/>
          </p:nvSpPr>
          <p:spPr>
            <a:xfrm>
              <a:off x="4612958" y="2900839"/>
              <a:ext cx="227666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≈33% unanswerable through</a:t>
              </a:r>
            </a:p>
          </p:txBody>
        </p:sp>
        <p:sp>
          <p:nvSpPr>
            <p:cNvPr id="33" name="TextBox 33"/>
            <p:cNvSpPr txBox="1"/>
            <p:nvPr/>
          </p:nvSpPr>
          <p:spPr>
            <a:xfrm>
              <a:off x="4612958" y="3138964"/>
              <a:ext cx="2574203"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controlled KB-element deletion</a:t>
              </a:r>
            </a:p>
          </p:txBody>
        </p:sp>
        <p:sp>
          <p:nvSpPr>
            <p:cNvPr id="34" name="Line 34"/>
            <p:cNvSpPr/>
            <p:nvPr/>
          </p:nvSpPr>
          <p:spPr>
            <a:xfrm>
              <a:off x="4629150" y="3524250"/>
              <a:ext cx="2933700" cy="9525"/>
            </a:xfrm>
            <a:custGeom>
              <a:avLst/>
              <a:gdLst/>
              <a:ahLst/>
              <a:cxnLst/>
              <a:rect l="l" t="t" r="r" b="b"/>
              <a:pathLst>
                <a:path w="2933700" h="9525">
                  <a:moveTo>
                    <a:pt x="0" y="0"/>
                  </a:moveTo>
                  <a:lnTo>
                    <a:pt x="2933700" y="0"/>
                  </a:lnTo>
                </a:path>
              </a:pathLst>
            </a:custGeom>
            <a:noFill/>
            <a:ln w="9525">
              <a:solidFill>
                <a:srgbClr val="DAE1E6"/>
              </a:solidFill>
            </a:ln>
          </p:spPr>
          <p:txBody>
            <a:bodyPr/>
            <a:lstStyle/>
            <a:p>
              <a:endParaRPr lang="zh-CN" altLang="en-US"/>
            </a:p>
          </p:txBody>
        </p:sp>
        <p:sp>
          <p:nvSpPr>
            <p:cNvPr id="35" name="TextBox 35"/>
            <p:cNvSpPr txBox="1"/>
            <p:nvPr/>
          </p:nvSpPr>
          <p:spPr>
            <a:xfrm>
              <a:off x="4616768" y="3714274"/>
              <a:ext cx="1929178" cy="198120"/>
            </a:xfrm>
            <a:prstGeom prst="rect">
              <a:avLst/>
            </a:prstGeom>
            <a:noFill/>
            <a:ln>
              <a:noFill/>
            </a:ln>
          </p:spPr>
          <p:txBody>
            <a:bodyPr wrap="none" lIns="0" tIns="0" rIns="0" bIns="0" anchor="t" anchorCtr="0">
              <a:spAutoFit/>
            </a:bodyPr>
            <a:lstStyle/>
            <a:p>
              <a:pPr algn="l"/>
              <a:r>
                <a:rPr lang="zh-CN" sz="975" b="1" dirty="0">
                  <a:solidFill>
                    <a:srgbClr val="768993"/>
                  </a:solidFill>
                  <a:latin typeface="Arial"/>
                  <a:ea typeface="Microsoft YaHei"/>
                  <a:cs typeface="Arial"/>
                </a:rPr>
                <a:t>PRIMARY THESIS CONTRIBUTION</a:t>
              </a:r>
            </a:p>
          </p:txBody>
        </p:sp>
        <p:sp>
          <p:nvSpPr>
            <p:cNvPr id="36" name="TextBox 36"/>
            <p:cNvSpPr txBox="1"/>
            <p:nvPr/>
          </p:nvSpPr>
          <p:spPr>
            <a:xfrm>
              <a:off x="4612958" y="3958114"/>
              <a:ext cx="2370177"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Systematic cases of missing</a:t>
              </a:r>
            </a:p>
          </p:txBody>
        </p:sp>
        <p:sp>
          <p:nvSpPr>
            <p:cNvPr id="37" name="TextBox 37"/>
            <p:cNvSpPr txBox="1"/>
            <p:nvPr/>
          </p:nvSpPr>
          <p:spPr>
            <a:xfrm>
              <a:off x="4612958" y="4196239"/>
              <a:ext cx="2446687"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entities, relations, or facts</a:t>
              </a:r>
            </a:p>
          </p:txBody>
        </p:sp>
        <p:sp>
          <p:nvSpPr>
            <p:cNvPr id="38" name="Rectangle 38"/>
            <p:cNvSpPr/>
            <p:nvPr/>
          </p:nvSpPr>
          <p:spPr>
            <a:xfrm>
              <a:off x="4629150" y="4552950"/>
              <a:ext cx="2933700" cy="323850"/>
            </a:xfrm>
            <a:prstGeom prst="rect">
              <a:avLst/>
            </a:prstGeom>
            <a:solidFill>
              <a:srgbClr val="009682"/>
            </a:solidFill>
            <a:ln>
              <a:noFill/>
            </a:ln>
          </p:spPr>
          <p:txBody>
            <a:bodyPr/>
            <a:lstStyle/>
            <a:p>
              <a:endParaRPr lang="zh-CN" altLang="en-US"/>
            </a:p>
          </p:txBody>
        </p:sp>
        <p:sp>
          <p:nvSpPr>
            <p:cNvPr id="39" name="TextBox 39"/>
            <p:cNvSpPr txBox="1"/>
            <p:nvPr/>
          </p:nvSpPr>
          <p:spPr>
            <a:xfrm>
              <a:off x="5274754" y="4657249"/>
              <a:ext cx="164249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REFUSAL · ANSWERABILITY</a:t>
              </a:r>
            </a:p>
          </p:txBody>
        </p:sp>
      </p:grpSp>
      <p:grpSp>
        <p:nvGrpSpPr>
          <p:cNvPr id="55" name="Group 55"/>
          <p:cNvGrpSpPr/>
          <p:nvPr/>
        </p:nvGrpSpPr>
        <p:grpSpPr>
          <a:xfrm>
            <a:off x="8267700" y="1847850"/>
            <a:ext cx="3429000" cy="3190875"/>
            <a:chOff x="8267700" y="1847850"/>
            <a:chExt cx="3429000" cy="3190875"/>
          </a:xfrm>
        </p:grpSpPr>
        <p:sp>
          <p:nvSpPr>
            <p:cNvPr id="41" name="Rectangle 41"/>
            <p:cNvSpPr/>
            <p:nvPr/>
          </p:nvSpPr>
          <p:spPr>
            <a:xfrm>
              <a:off x="8267700" y="1847850"/>
              <a:ext cx="3429000" cy="3190875"/>
            </a:xfrm>
            <a:prstGeom prst="rect">
              <a:avLst/>
            </a:prstGeom>
            <a:solidFill>
              <a:srgbClr val="FFFFFF"/>
            </a:solidFill>
            <a:ln w="14288">
              <a:solidFill>
                <a:srgbClr val="DAE1E6"/>
              </a:solidFill>
            </a:ln>
          </p:spPr>
          <p:txBody>
            <a:bodyPr/>
            <a:lstStyle/>
            <a:p>
              <a:endParaRPr lang="zh-CN" altLang="en-US"/>
            </a:p>
          </p:txBody>
        </p:sp>
        <p:sp>
          <p:nvSpPr>
            <p:cNvPr id="42" name="Freeform 42"/>
            <p:cNvSpPr/>
            <p:nvPr/>
          </p:nvSpPr>
          <p:spPr>
            <a:xfrm>
              <a:off x="8267700" y="1847850"/>
              <a:ext cx="3429000" cy="857250"/>
            </a:xfrm>
            <a:custGeom>
              <a:avLst/>
              <a:gdLst/>
              <a:ahLst/>
              <a:cxnLst/>
              <a:rect l="l" t="t" r="r" b="b"/>
              <a:pathLst>
                <a:path w="3429000" h="857250">
                  <a:moveTo>
                    <a:pt x="0" y="0"/>
                  </a:moveTo>
                  <a:lnTo>
                    <a:pt x="3429000" y="0"/>
                  </a:lnTo>
                  <a:lnTo>
                    <a:pt x="3429000" y="857250"/>
                  </a:lnTo>
                  <a:lnTo>
                    <a:pt x="0" y="857250"/>
                  </a:lnTo>
                  <a:close/>
                </a:path>
              </a:pathLst>
            </a:custGeom>
            <a:solidFill>
              <a:srgbClr val="F4F7F8"/>
            </a:solidFill>
            <a:ln>
              <a:noFill/>
            </a:ln>
          </p:spPr>
          <p:txBody>
            <a:bodyPr/>
            <a:lstStyle/>
            <a:p>
              <a:endParaRPr lang="zh-CN" altLang="en-US"/>
            </a:p>
          </p:txBody>
        </p:sp>
        <p:sp>
          <p:nvSpPr>
            <p:cNvPr id="43" name="Ellipse 43"/>
            <p:cNvSpPr/>
            <p:nvPr/>
          </p:nvSpPr>
          <p:spPr>
            <a:xfrm>
              <a:off x="8420100" y="2047875"/>
              <a:ext cx="457200" cy="457200"/>
            </a:xfrm>
            <a:prstGeom prst="ellipse">
              <a:avLst/>
            </a:prstGeom>
            <a:solidFill>
              <a:srgbClr val="23A1E0"/>
            </a:solidFill>
            <a:ln>
              <a:noFill/>
            </a:ln>
          </p:spPr>
          <p:txBody>
            <a:bodyPr/>
            <a:lstStyle/>
            <a:p>
              <a:endParaRPr lang="zh-CN" altLang="en-US"/>
            </a:p>
          </p:txBody>
        </p:sp>
        <p:sp>
          <p:nvSpPr>
            <p:cNvPr id="44" name="TextBox 44"/>
            <p:cNvSpPr txBox="1"/>
            <p:nvPr/>
          </p:nvSpPr>
          <p:spPr>
            <a:xfrm>
              <a:off x="8534320" y="2205514"/>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03</a:t>
              </a:r>
            </a:p>
          </p:txBody>
        </p:sp>
        <p:sp>
          <p:nvSpPr>
            <p:cNvPr id="45" name="TextBox 45"/>
            <p:cNvSpPr txBox="1"/>
            <p:nvPr/>
          </p:nvSpPr>
          <p:spPr>
            <a:xfrm>
              <a:off x="8987790" y="2034540"/>
              <a:ext cx="753808" cy="365760"/>
            </a:xfrm>
            <a:prstGeom prst="rect">
              <a:avLst/>
            </a:prstGeom>
            <a:noFill/>
            <a:ln>
              <a:noFill/>
            </a:ln>
          </p:spPr>
          <p:txBody>
            <a:bodyPr wrap="none" lIns="0" tIns="0" rIns="0" bIns="0" anchor="t" anchorCtr="0">
              <a:spAutoFit/>
            </a:bodyPr>
            <a:lstStyle/>
            <a:p>
              <a:pPr algn="l"/>
              <a:r>
                <a:rPr lang="zh-CN" sz="1800" dirty="0">
                  <a:solidFill>
                    <a:srgbClr val="002D4C"/>
                  </a:solidFill>
                  <a:latin typeface="Franklin Gothic Medium"/>
                  <a:ea typeface="Microsoft YaHei"/>
                  <a:cs typeface="Franklin Gothic Medium"/>
                </a:rPr>
                <a:t>GTSQA</a:t>
              </a:r>
            </a:p>
          </p:txBody>
        </p:sp>
        <p:sp>
          <p:nvSpPr>
            <p:cNvPr id="46" name="TextBox 46"/>
            <p:cNvSpPr txBox="1"/>
            <p:nvPr/>
          </p:nvSpPr>
          <p:spPr>
            <a:xfrm>
              <a:off x="8998268" y="2352199"/>
              <a:ext cx="2277297" cy="198120"/>
            </a:xfrm>
            <a:prstGeom prst="rect">
              <a:avLst/>
            </a:prstGeom>
            <a:noFill/>
            <a:ln>
              <a:noFill/>
            </a:ln>
          </p:spPr>
          <p:txBody>
            <a:bodyPr wrap="none" lIns="0" tIns="0" rIns="0" bIns="0" anchor="t" anchorCtr="0">
              <a:spAutoFit/>
            </a:bodyPr>
            <a:lstStyle/>
            <a:p>
              <a:pPr algn="l"/>
              <a:r>
                <a:rPr lang="zh-CN" sz="975" b="1" dirty="0">
                  <a:solidFill>
                    <a:srgbClr val="526671"/>
                  </a:solidFill>
                  <a:latin typeface="Arial"/>
                  <a:ea typeface="Microsoft YaHei"/>
                  <a:cs typeface="Arial"/>
                </a:rPr>
                <a:t>QUESTION-SPECIFIC GRAPH EVIDENCE</a:t>
              </a:r>
            </a:p>
          </p:txBody>
        </p:sp>
        <p:sp>
          <p:nvSpPr>
            <p:cNvPr id="47" name="TextBox 47"/>
            <p:cNvSpPr txBox="1"/>
            <p:nvPr/>
          </p:nvSpPr>
          <p:spPr>
            <a:xfrm>
              <a:off x="8499158" y="2900839"/>
              <a:ext cx="2208657"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Candidate graphs plus Gold</a:t>
              </a:r>
            </a:p>
          </p:txBody>
        </p:sp>
        <p:sp>
          <p:nvSpPr>
            <p:cNvPr id="48" name="TextBox 48"/>
            <p:cNvSpPr txBox="1"/>
            <p:nvPr/>
          </p:nvSpPr>
          <p:spPr>
            <a:xfrm>
              <a:off x="8499158" y="3138964"/>
              <a:ext cx="2463689"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supporting answer subgraphs</a:t>
              </a:r>
            </a:p>
          </p:txBody>
        </p:sp>
        <p:sp>
          <p:nvSpPr>
            <p:cNvPr id="49" name="Line 49"/>
            <p:cNvSpPr/>
            <p:nvPr/>
          </p:nvSpPr>
          <p:spPr>
            <a:xfrm>
              <a:off x="8515350" y="3524250"/>
              <a:ext cx="2933700" cy="9525"/>
            </a:xfrm>
            <a:custGeom>
              <a:avLst/>
              <a:gdLst/>
              <a:ahLst/>
              <a:cxnLst/>
              <a:rect l="l" t="t" r="r" b="b"/>
              <a:pathLst>
                <a:path w="2933700" h="9525">
                  <a:moveTo>
                    <a:pt x="0" y="0"/>
                  </a:moveTo>
                  <a:lnTo>
                    <a:pt x="2933700" y="0"/>
                  </a:lnTo>
                </a:path>
              </a:pathLst>
            </a:custGeom>
            <a:noFill/>
            <a:ln w="9525">
              <a:solidFill>
                <a:srgbClr val="DAE1E6"/>
              </a:solidFill>
            </a:ln>
          </p:spPr>
          <p:txBody>
            <a:bodyPr/>
            <a:lstStyle/>
            <a:p>
              <a:endParaRPr lang="zh-CN" altLang="en-US"/>
            </a:p>
          </p:txBody>
        </p:sp>
        <p:sp>
          <p:nvSpPr>
            <p:cNvPr id="50" name="TextBox 50"/>
            <p:cNvSpPr txBox="1"/>
            <p:nvPr/>
          </p:nvSpPr>
          <p:spPr>
            <a:xfrm>
              <a:off x="8502968" y="3714274"/>
              <a:ext cx="1929178" cy="198120"/>
            </a:xfrm>
            <a:prstGeom prst="rect">
              <a:avLst/>
            </a:prstGeom>
            <a:noFill/>
            <a:ln>
              <a:noFill/>
            </a:ln>
          </p:spPr>
          <p:txBody>
            <a:bodyPr wrap="none" lIns="0" tIns="0" rIns="0" bIns="0" anchor="t" anchorCtr="0">
              <a:spAutoFit/>
            </a:bodyPr>
            <a:lstStyle/>
            <a:p>
              <a:pPr algn="l"/>
              <a:r>
                <a:rPr lang="zh-CN" sz="975" b="1" dirty="0">
                  <a:solidFill>
                    <a:srgbClr val="768993"/>
                  </a:solidFill>
                  <a:latin typeface="Arial"/>
                  <a:ea typeface="Microsoft YaHei"/>
                  <a:cs typeface="Arial"/>
                </a:rPr>
                <a:t>PRIMARY THESIS CONTRIBUTION</a:t>
              </a:r>
            </a:p>
          </p:txBody>
        </p:sp>
        <p:sp>
          <p:nvSpPr>
            <p:cNvPr id="51" name="TextBox 51"/>
            <p:cNvSpPr txBox="1"/>
            <p:nvPr/>
          </p:nvSpPr>
          <p:spPr>
            <a:xfrm>
              <a:off x="8499158" y="3958114"/>
              <a:ext cx="242968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Compare Agent retrieval logs</a:t>
              </a:r>
            </a:p>
          </p:txBody>
        </p:sp>
        <p:sp>
          <p:nvSpPr>
            <p:cNvPr id="52" name="TextBox 52"/>
            <p:cNvSpPr txBox="1"/>
            <p:nvPr/>
          </p:nvSpPr>
          <p:spPr>
            <a:xfrm>
              <a:off x="8499158" y="4196239"/>
              <a:ext cx="2055638"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with Gold graph evidence</a:t>
              </a:r>
            </a:p>
          </p:txBody>
        </p:sp>
        <p:sp>
          <p:nvSpPr>
            <p:cNvPr id="53" name="Rectangle 53"/>
            <p:cNvSpPr/>
            <p:nvPr/>
          </p:nvSpPr>
          <p:spPr>
            <a:xfrm>
              <a:off x="8515350" y="4552950"/>
              <a:ext cx="2933700" cy="323850"/>
            </a:xfrm>
            <a:prstGeom prst="rect">
              <a:avLst/>
            </a:prstGeom>
            <a:solidFill>
              <a:srgbClr val="23A1E0"/>
            </a:solidFill>
            <a:ln>
              <a:noFill/>
            </a:ln>
          </p:spPr>
          <p:txBody>
            <a:bodyPr/>
            <a:lstStyle/>
            <a:p>
              <a:endParaRPr lang="zh-CN" altLang="en-US"/>
            </a:p>
          </p:txBody>
        </p:sp>
        <p:sp>
          <p:nvSpPr>
            <p:cNvPr id="54" name="TextBox 54"/>
            <p:cNvSpPr txBox="1"/>
            <p:nvPr/>
          </p:nvSpPr>
          <p:spPr>
            <a:xfrm>
              <a:off x="9000546" y="4657249"/>
              <a:ext cx="196330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GRAPH GROUNDING · MULTI-HOP</a:t>
              </a:r>
            </a:p>
          </p:txBody>
        </p:sp>
      </p:grpSp>
      <p:grpSp>
        <p:nvGrpSpPr>
          <p:cNvPr id="60" name="Group 60"/>
          <p:cNvGrpSpPr/>
          <p:nvPr/>
        </p:nvGrpSpPr>
        <p:grpSpPr>
          <a:xfrm>
            <a:off x="495300" y="5248275"/>
            <a:ext cx="11201400" cy="781050"/>
            <a:chOff x="495300" y="5248275"/>
            <a:chExt cx="11201400" cy="781050"/>
          </a:xfrm>
        </p:grpSpPr>
        <p:sp>
          <p:nvSpPr>
            <p:cNvPr id="56" name="Rectangle 56"/>
            <p:cNvSpPr/>
            <p:nvPr/>
          </p:nvSpPr>
          <p:spPr>
            <a:xfrm>
              <a:off x="495300" y="5248275"/>
              <a:ext cx="11201400" cy="781050"/>
            </a:xfrm>
            <a:prstGeom prst="rect">
              <a:avLst/>
            </a:prstGeom>
            <a:solidFill>
              <a:srgbClr val="EAF6F4"/>
            </a:solidFill>
            <a:ln>
              <a:noFill/>
            </a:ln>
          </p:spPr>
          <p:txBody>
            <a:bodyPr/>
            <a:lstStyle/>
            <a:p>
              <a:endParaRPr lang="zh-CN" altLang="en-US"/>
            </a:p>
          </p:txBody>
        </p:sp>
        <p:sp>
          <p:nvSpPr>
            <p:cNvPr id="57" name="Rectangle 57"/>
            <p:cNvSpPr/>
            <p:nvPr/>
          </p:nvSpPr>
          <p:spPr>
            <a:xfrm>
              <a:off x="495300" y="5248275"/>
              <a:ext cx="76200" cy="781050"/>
            </a:xfrm>
            <a:prstGeom prst="rect">
              <a:avLst/>
            </a:prstGeom>
            <a:solidFill>
              <a:srgbClr val="009682"/>
            </a:solidFill>
            <a:ln>
              <a:noFill/>
            </a:ln>
          </p:spPr>
          <p:txBody>
            <a:bodyPr/>
            <a:lstStyle/>
            <a:p>
              <a:endParaRPr lang="zh-CN" altLang="en-US"/>
            </a:p>
          </p:txBody>
        </p:sp>
        <p:sp>
          <p:nvSpPr>
            <p:cNvPr id="58" name="TextBox 58"/>
            <p:cNvSpPr txBox="1"/>
            <p:nvPr/>
          </p:nvSpPr>
          <p:spPr>
            <a:xfrm>
              <a:off x="768668" y="5428774"/>
              <a:ext cx="1403587"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ADDITIONAL PROGRESS</a:t>
              </a:r>
            </a:p>
          </p:txBody>
        </p:sp>
        <p:sp>
          <p:nvSpPr>
            <p:cNvPr id="59" name="TextBox 59"/>
            <p:cNvSpPr txBox="1"/>
            <p:nvPr/>
          </p:nvSpPr>
          <p:spPr>
            <a:xfrm>
              <a:off x="764858" y="5682139"/>
              <a:ext cx="10097643"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Initial review of the </a:t>
              </a:r>
              <a:r>
                <a:rPr lang="zh-CN" sz="1275" b="1" dirty="0">
                  <a:solidFill>
                    <a:srgbClr val="002D4C"/>
                  </a:solidFill>
                  <a:latin typeface="Arial"/>
                  <a:ea typeface="Microsoft YaHei"/>
                  <a:cs typeface="Arial"/>
                </a:rPr>
                <a:t>Ark v1 Agent architecture</a:t>
              </a:r>
              <a:r>
                <a:rPr lang="zh-CN" sz="1275" dirty="0">
                  <a:solidFill>
                    <a:srgbClr val="002D4C"/>
                  </a:solidFill>
                  <a:latin typeface="Arial"/>
                  <a:ea typeface="Microsoft YaHei"/>
                  <a:cs typeface="Arial"/>
                </a:rPr>
                <a:t> to understand the first implementation's components and execution flow.</a:t>
              </a:r>
            </a:p>
          </p:txBody>
        </p:sp>
      </p:grpSp>
      <p:grpSp>
        <p:nvGrpSpPr>
          <p:cNvPr id="65" name="Group 65"/>
          <p:cNvGrpSpPr/>
          <p:nvPr/>
        </p:nvGrpSpPr>
        <p:grpSpPr>
          <a:xfrm>
            <a:off x="485775" y="6167438"/>
            <a:ext cx="11210925" cy="590550"/>
            <a:chOff x="485775" y="6167438"/>
            <a:chExt cx="11210925" cy="590550"/>
          </a:xfrm>
        </p:grpSpPr>
        <p:sp>
          <p:nvSpPr>
            <p:cNvPr id="61" name="TextBox 61"/>
            <p:cNvSpPr txBox="1"/>
            <p:nvPr/>
          </p:nvSpPr>
          <p:spPr>
            <a:xfrm>
              <a:off x="485775" y="6167438"/>
              <a:ext cx="2394347"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KGQA Dataset Research; author analysis</a:t>
              </a:r>
            </a:p>
          </p:txBody>
        </p:sp>
        <p:sp>
          <p:nvSpPr>
            <p:cNvPr id="62" name="Line 62"/>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63" name="TextBox 63"/>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64" name="TextBox 64"/>
            <p:cNvSpPr txBox="1"/>
            <p:nvPr/>
          </p:nvSpPr>
          <p:spPr>
            <a:xfrm>
              <a:off x="10887075" y="6605588"/>
              <a:ext cx="12906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02</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400"/>
                                        <p:tgtEl>
                                          <p:spTgt spid="1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lide(fromBottom)">
                                      <p:cBhvr>
                                        <p:cTn id="11" dur="400"/>
                                        <p:tgtEl>
                                          <p:spTgt spid="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slide(fromBottom)">
                                      <p:cBhvr>
                                        <p:cTn id="15" dur="400"/>
                                        <p:tgtEl>
                                          <p:spTgt spid="40"/>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lide(fromBottom)">
                                      <p:cBhvr>
                                        <p:cTn id="19" dur="400"/>
                                        <p:tgtEl>
                                          <p:spTgt spid="55"/>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slide(fromBottom)">
                                      <p:cBhvr>
                                        <p:cTn id="23"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5" grpId="0"/>
      <p:bldP spid="40" grpId="0"/>
      <p:bldP spid="55" grpId="0"/>
      <p:bldP spid="6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7" name="Group 7"/>
          <p:cNvGrpSpPr/>
          <p:nvPr/>
        </p:nvGrpSpPr>
        <p:grpSpPr>
          <a:xfrm>
            <a:off x="495300" y="400050"/>
            <a:ext cx="6035636" cy="792956"/>
            <a:chOff x="495300" y="400050"/>
            <a:chExt cx="6035636" cy="792956"/>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681990" y="410528"/>
              <a:ext cx="4604337"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KQA Pro: Dataset Overview</a:t>
              </a:r>
            </a:p>
          </p:txBody>
        </p:sp>
        <p:sp>
          <p:nvSpPr>
            <p:cNvPr id="5" name="TextBox 5"/>
            <p:cNvSpPr txBox="1"/>
            <p:nvPr/>
          </p:nvSpPr>
          <p:spPr>
            <a:xfrm>
              <a:off x="719138" y="792956"/>
              <a:ext cx="5811798"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A large answerable benchmark with explicit programs and diverse answer types</a:t>
              </a:r>
            </a:p>
          </p:txBody>
        </p:sp>
        <p:sp>
          <p:nvSpPr>
            <p:cNvPr id="6" name="TextBox 6"/>
            <p:cNvSpPr txBox="1"/>
            <p:nvPr/>
          </p:nvSpPr>
          <p:spPr>
            <a:xfrm>
              <a:off x="719138" y="964406"/>
              <a:ext cx="2676406"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for complex compositional questions</a:t>
              </a:r>
            </a:p>
          </p:txBody>
        </p:sp>
      </p:grpSp>
      <p:grpSp>
        <p:nvGrpSpPr>
          <p:cNvPr id="16" name="Group 16"/>
          <p:cNvGrpSpPr/>
          <p:nvPr/>
        </p:nvGrpSpPr>
        <p:grpSpPr>
          <a:xfrm>
            <a:off x="495300" y="1162050"/>
            <a:ext cx="11201400" cy="400050"/>
            <a:chOff x="495300" y="1162050"/>
            <a:chExt cx="11201400" cy="400050"/>
          </a:xfrm>
        </p:grpSpPr>
        <p:sp>
          <p:nvSpPr>
            <p:cNvPr id="8" name="Rectangle 8"/>
            <p:cNvSpPr/>
            <p:nvPr/>
          </p:nvSpPr>
          <p:spPr>
            <a:xfrm>
              <a:off x="495300" y="1162050"/>
              <a:ext cx="11201400" cy="400050"/>
            </a:xfrm>
            <a:prstGeom prst="rect">
              <a:avLst/>
            </a:prstGeom>
            <a:solidFill>
              <a:srgbClr val="EAF6F4"/>
            </a:solidFill>
            <a:ln>
              <a:noFill/>
            </a:ln>
          </p:spPr>
          <p:txBody>
            <a:bodyPr/>
            <a:lstStyle/>
            <a:p>
              <a:endParaRPr lang="zh-CN" altLang="en-US"/>
            </a:p>
          </p:txBody>
        </p:sp>
        <p:sp>
          <p:nvSpPr>
            <p:cNvPr id="9" name="TextBox 9"/>
            <p:cNvSpPr txBox="1"/>
            <p:nvPr/>
          </p:nvSpPr>
          <p:spPr>
            <a:xfrm>
              <a:off x="764858" y="1281589"/>
              <a:ext cx="1452062"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117,970</a:t>
              </a:r>
              <a:r>
                <a:rPr lang="zh-CN" sz="1275" dirty="0">
                  <a:solidFill>
                    <a:srgbClr val="002D4C"/>
                  </a:solidFill>
                  <a:latin typeface="Arial"/>
                  <a:ea typeface="Microsoft YaHei"/>
                  <a:cs typeface="Arial"/>
                </a:rPr>
                <a:t> questions</a:t>
              </a:r>
            </a:p>
          </p:txBody>
        </p:sp>
        <p:sp>
          <p:nvSpPr>
            <p:cNvPr id="10" name="Line 10"/>
            <p:cNvSpPr/>
            <p:nvPr/>
          </p:nvSpPr>
          <p:spPr>
            <a:xfrm>
              <a:off x="2628900" y="1257300"/>
              <a:ext cx="9525" cy="209550"/>
            </a:xfrm>
            <a:custGeom>
              <a:avLst/>
              <a:gdLst/>
              <a:ahLst/>
              <a:cxnLst/>
              <a:rect l="l" t="t" r="r" b="b"/>
              <a:pathLst>
                <a:path w="9525" h="209550">
                  <a:moveTo>
                    <a:pt x="0" y="0"/>
                  </a:moveTo>
                  <a:lnTo>
                    <a:pt x="0" y="209550"/>
                  </a:lnTo>
                </a:path>
              </a:pathLst>
            </a:custGeom>
            <a:noFill/>
            <a:ln w="9525">
              <a:solidFill>
                <a:srgbClr val="DAE1E6"/>
              </a:solidFill>
            </a:ln>
          </p:spPr>
          <p:txBody>
            <a:bodyPr/>
            <a:lstStyle/>
            <a:p>
              <a:endParaRPr lang="zh-CN" altLang="en-US"/>
            </a:p>
          </p:txBody>
        </p:sp>
        <p:sp>
          <p:nvSpPr>
            <p:cNvPr id="11" name="TextBox 11"/>
            <p:cNvSpPr txBox="1"/>
            <p:nvPr/>
          </p:nvSpPr>
          <p:spPr>
            <a:xfrm>
              <a:off x="2917508" y="1281589"/>
              <a:ext cx="1341549"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73.7%</a:t>
              </a:r>
              <a:r>
                <a:rPr lang="zh-CN" sz="1275" dirty="0">
                  <a:solidFill>
                    <a:srgbClr val="002D4C"/>
                  </a:solidFill>
                  <a:latin typeface="Arial"/>
                  <a:ea typeface="Microsoft YaHei"/>
                  <a:cs typeface="Arial"/>
                </a:rPr>
                <a:t> multi-hop</a:t>
              </a:r>
            </a:p>
          </p:txBody>
        </p:sp>
        <p:sp>
          <p:nvSpPr>
            <p:cNvPr id="12" name="Line 12"/>
            <p:cNvSpPr/>
            <p:nvPr/>
          </p:nvSpPr>
          <p:spPr>
            <a:xfrm>
              <a:off x="4857750" y="1257300"/>
              <a:ext cx="9525" cy="209550"/>
            </a:xfrm>
            <a:custGeom>
              <a:avLst/>
              <a:gdLst/>
              <a:ahLst/>
              <a:cxnLst/>
              <a:rect l="l" t="t" r="r" b="b"/>
              <a:pathLst>
                <a:path w="9525" h="209550">
                  <a:moveTo>
                    <a:pt x="0" y="0"/>
                  </a:moveTo>
                  <a:lnTo>
                    <a:pt x="0" y="209550"/>
                  </a:lnTo>
                </a:path>
              </a:pathLst>
            </a:custGeom>
            <a:noFill/>
            <a:ln w="9525">
              <a:solidFill>
                <a:srgbClr val="DAE1E6"/>
              </a:solidFill>
            </a:ln>
          </p:spPr>
          <p:txBody>
            <a:bodyPr/>
            <a:lstStyle/>
            <a:p>
              <a:endParaRPr lang="zh-CN" altLang="en-US"/>
            </a:p>
          </p:txBody>
        </p:sp>
        <p:sp>
          <p:nvSpPr>
            <p:cNvPr id="13" name="TextBox 13"/>
            <p:cNvSpPr txBox="1"/>
            <p:nvPr/>
          </p:nvSpPr>
          <p:spPr>
            <a:xfrm>
              <a:off x="5146358" y="1281589"/>
              <a:ext cx="2310670"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9</a:t>
              </a:r>
              <a:r>
                <a:rPr lang="zh-CN" sz="1275" dirty="0">
                  <a:solidFill>
                    <a:srgbClr val="002D4C"/>
                  </a:solidFill>
                  <a:latin typeface="Arial"/>
                  <a:ea typeface="Microsoft YaHei"/>
                  <a:cs typeface="Arial"/>
                </a:rPr>
                <a:t> official asking strategies</a:t>
              </a:r>
            </a:p>
          </p:txBody>
        </p:sp>
        <p:sp>
          <p:nvSpPr>
            <p:cNvPr id="14" name="Line 14"/>
            <p:cNvSpPr/>
            <p:nvPr/>
          </p:nvSpPr>
          <p:spPr>
            <a:xfrm>
              <a:off x="8001000" y="1257300"/>
              <a:ext cx="9525" cy="209550"/>
            </a:xfrm>
            <a:custGeom>
              <a:avLst/>
              <a:gdLst/>
              <a:ahLst/>
              <a:cxnLst/>
              <a:rect l="l" t="t" r="r" b="b"/>
              <a:pathLst>
                <a:path w="9525" h="209550">
                  <a:moveTo>
                    <a:pt x="0" y="0"/>
                  </a:moveTo>
                  <a:lnTo>
                    <a:pt x="0" y="209550"/>
                  </a:lnTo>
                </a:path>
              </a:pathLst>
            </a:custGeom>
            <a:noFill/>
            <a:ln w="9525">
              <a:solidFill>
                <a:srgbClr val="DAE1E6"/>
              </a:solidFill>
            </a:ln>
          </p:spPr>
          <p:txBody>
            <a:bodyPr/>
            <a:lstStyle/>
            <a:p>
              <a:endParaRPr lang="zh-CN" altLang="en-US"/>
            </a:p>
          </p:txBody>
        </p:sp>
        <p:sp>
          <p:nvSpPr>
            <p:cNvPr id="15" name="TextBox 15"/>
            <p:cNvSpPr txBox="1"/>
            <p:nvPr/>
          </p:nvSpPr>
          <p:spPr>
            <a:xfrm>
              <a:off x="8289608" y="1281589"/>
              <a:ext cx="1579578"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Gold </a:t>
              </a:r>
              <a:r>
                <a:rPr lang="zh-CN" sz="1275" b="1" dirty="0">
                  <a:solidFill>
                    <a:srgbClr val="005A50"/>
                  </a:solidFill>
                  <a:latin typeface="Arial"/>
                  <a:ea typeface="Microsoft YaHei"/>
                  <a:cs typeface="Arial"/>
                </a:rPr>
                <a:t>KoPL + SPARQL</a:t>
              </a:r>
            </a:p>
          </p:txBody>
        </p:sp>
      </p:grpSp>
      <p:grpSp>
        <p:nvGrpSpPr>
          <p:cNvPr id="54" name="Group 54"/>
          <p:cNvGrpSpPr/>
          <p:nvPr/>
        </p:nvGrpSpPr>
        <p:grpSpPr>
          <a:xfrm>
            <a:off x="495300" y="1676400"/>
            <a:ext cx="11201400" cy="4445794"/>
            <a:chOff x="495300" y="1676400"/>
            <a:chExt cx="11201400" cy="4445794"/>
          </a:xfrm>
        </p:grpSpPr>
        <p:sp>
          <p:nvSpPr>
            <p:cNvPr id="17" name="Rectangle 17"/>
            <p:cNvSpPr/>
            <p:nvPr/>
          </p:nvSpPr>
          <p:spPr>
            <a:xfrm>
              <a:off x="495300" y="1676400"/>
              <a:ext cx="11201400" cy="342900"/>
            </a:xfrm>
            <a:prstGeom prst="rect">
              <a:avLst/>
            </a:prstGeom>
            <a:solidFill>
              <a:srgbClr val="002D4C"/>
            </a:solidFill>
            <a:ln>
              <a:noFill/>
            </a:ln>
          </p:spPr>
          <p:txBody>
            <a:bodyPr/>
            <a:lstStyle/>
            <a:p>
              <a:endParaRPr lang="zh-CN" altLang="en-US"/>
            </a:p>
          </p:txBody>
        </p:sp>
        <p:sp>
          <p:nvSpPr>
            <p:cNvPr id="18" name="TextBox 18"/>
            <p:cNvSpPr txBox="1"/>
            <p:nvPr/>
          </p:nvSpPr>
          <p:spPr>
            <a:xfrm>
              <a:off x="654368" y="1790224"/>
              <a:ext cx="68687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DIMENSION</a:t>
              </a:r>
            </a:p>
          </p:txBody>
        </p:sp>
        <p:sp>
          <p:nvSpPr>
            <p:cNvPr id="19" name="TextBox 19"/>
            <p:cNvSpPr txBox="1"/>
            <p:nvPr/>
          </p:nvSpPr>
          <p:spPr>
            <a:xfrm>
              <a:off x="3073718" y="1790224"/>
              <a:ext cx="57083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KQA PRO</a:t>
              </a:r>
            </a:p>
          </p:txBody>
        </p:sp>
        <p:sp>
          <p:nvSpPr>
            <p:cNvPr id="20" name="Line 20"/>
            <p:cNvSpPr/>
            <p:nvPr/>
          </p:nvSpPr>
          <p:spPr>
            <a:xfrm>
              <a:off x="2914650" y="1676400"/>
              <a:ext cx="9525" cy="4438650"/>
            </a:xfrm>
            <a:custGeom>
              <a:avLst/>
              <a:gdLst/>
              <a:ahLst/>
              <a:cxnLst/>
              <a:rect l="l" t="t" r="r" b="b"/>
              <a:pathLst>
                <a:path w="9525" h="4438650">
                  <a:moveTo>
                    <a:pt x="0" y="0"/>
                  </a:moveTo>
                  <a:lnTo>
                    <a:pt x="0" y="4438650"/>
                  </a:lnTo>
                </a:path>
              </a:pathLst>
            </a:custGeom>
            <a:noFill/>
            <a:ln w="9525">
              <a:solidFill>
                <a:srgbClr val="DAE1E6"/>
              </a:solidFill>
            </a:ln>
          </p:spPr>
          <p:txBody>
            <a:bodyPr/>
            <a:lstStyle/>
            <a:p>
              <a:endParaRPr lang="zh-CN" altLang="en-US"/>
            </a:p>
          </p:txBody>
        </p:sp>
        <p:sp>
          <p:nvSpPr>
            <p:cNvPr id="21" name="Rectangle 21"/>
            <p:cNvSpPr/>
            <p:nvPr/>
          </p:nvSpPr>
          <p:spPr>
            <a:xfrm>
              <a:off x="495300" y="2019300"/>
              <a:ext cx="11201400" cy="400050"/>
            </a:xfrm>
            <a:prstGeom prst="rect">
              <a:avLst/>
            </a:prstGeom>
            <a:solidFill>
              <a:srgbClr val="EAF6F4"/>
            </a:solidFill>
            <a:ln>
              <a:noFill/>
            </a:ln>
          </p:spPr>
          <p:txBody>
            <a:bodyPr/>
            <a:lstStyle/>
            <a:p>
              <a:endParaRPr lang="zh-CN" altLang="en-US"/>
            </a:p>
          </p:txBody>
        </p:sp>
        <p:sp>
          <p:nvSpPr>
            <p:cNvPr id="22" name="TextBox 22"/>
            <p:cNvSpPr txBox="1"/>
            <p:nvPr/>
          </p:nvSpPr>
          <p:spPr>
            <a:xfrm>
              <a:off x="654368" y="2152174"/>
              <a:ext cx="1185160"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Question Type(s)</a:t>
              </a:r>
            </a:p>
          </p:txBody>
        </p:sp>
        <p:sp>
          <p:nvSpPr>
            <p:cNvPr id="23" name="TextBox 23"/>
            <p:cNvSpPr txBox="1"/>
            <p:nvPr/>
          </p:nvSpPr>
          <p:spPr>
            <a:xfrm>
              <a:off x="3073718" y="2075974"/>
              <a:ext cx="4906875"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QueryName; Count; QueryAttribute; Relation; SelectAmong; SelectBetween;</a:t>
              </a:r>
            </a:p>
          </p:txBody>
        </p:sp>
        <p:sp>
          <p:nvSpPr>
            <p:cNvPr id="24" name="TextBox 24"/>
            <p:cNvSpPr txBox="1"/>
            <p:nvPr/>
          </p:nvSpPr>
          <p:spPr>
            <a:xfrm>
              <a:off x="3073718" y="2247424"/>
              <a:ext cx="2839617"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Verify; QualifierLiteral; QualifierRelational</a:t>
              </a:r>
            </a:p>
          </p:txBody>
        </p:sp>
        <p:sp>
          <p:nvSpPr>
            <p:cNvPr id="25" name="Rectangle 25"/>
            <p:cNvSpPr/>
            <p:nvPr/>
          </p:nvSpPr>
          <p:spPr>
            <a:xfrm>
              <a:off x="495300" y="2419350"/>
              <a:ext cx="11201400" cy="438150"/>
            </a:xfrm>
            <a:prstGeom prst="rect">
              <a:avLst/>
            </a:prstGeom>
            <a:solidFill>
              <a:srgbClr val="F4F7F8"/>
            </a:solidFill>
            <a:ln>
              <a:noFill/>
            </a:ln>
          </p:spPr>
          <p:txBody>
            <a:bodyPr/>
            <a:lstStyle/>
            <a:p>
              <a:endParaRPr lang="zh-CN" altLang="en-US"/>
            </a:p>
          </p:txBody>
        </p:sp>
        <p:sp>
          <p:nvSpPr>
            <p:cNvPr id="26" name="TextBox 26"/>
            <p:cNvSpPr txBox="1"/>
            <p:nvPr/>
          </p:nvSpPr>
          <p:spPr>
            <a:xfrm>
              <a:off x="654368" y="2580799"/>
              <a:ext cx="1765358"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Expected Solving Strategy</a:t>
              </a:r>
            </a:p>
          </p:txBody>
        </p:sp>
        <p:sp>
          <p:nvSpPr>
            <p:cNvPr id="27" name="TextBox 27"/>
            <p:cNvSpPr txBox="1"/>
            <p:nvPr/>
          </p:nvSpPr>
          <p:spPr>
            <a:xfrm>
              <a:off x="3073718" y="2495074"/>
              <a:ext cx="5329428"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Retrieval; relation traversal; filtering; set operations; aggregation; comparison;</a:t>
              </a:r>
            </a:p>
          </p:txBody>
        </p:sp>
        <p:sp>
          <p:nvSpPr>
            <p:cNvPr id="28" name="TextBox 28"/>
            <p:cNvSpPr txBox="1"/>
            <p:nvPr/>
          </p:nvSpPr>
          <p:spPr>
            <a:xfrm>
              <a:off x="3073718" y="2666524"/>
              <a:ext cx="3327178"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relation discovery; qualifier retrieval; verification</a:t>
              </a:r>
            </a:p>
          </p:txBody>
        </p:sp>
        <p:sp>
          <p:nvSpPr>
            <p:cNvPr id="29" name="Rectangle 29"/>
            <p:cNvSpPr/>
            <p:nvPr/>
          </p:nvSpPr>
          <p:spPr>
            <a:xfrm>
              <a:off x="495300" y="2857500"/>
              <a:ext cx="11201400" cy="400050"/>
            </a:xfrm>
            <a:prstGeom prst="rect">
              <a:avLst/>
            </a:prstGeom>
            <a:solidFill>
              <a:srgbClr val="EAF6F4"/>
            </a:solidFill>
            <a:ln>
              <a:noFill/>
            </a:ln>
          </p:spPr>
          <p:txBody>
            <a:bodyPr/>
            <a:lstStyle/>
            <a:p>
              <a:endParaRPr lang="zh-CN" altLang="en-US"/>
            </a:p>
          </p:txBody>
        </p:sp>
        <p:sp>
          <p:nvSpPr>
            <p:cNvPr id="30" name="TextBox 30"/>
            <p:cNvSpPr txBox="1"/>
            <p:nvPr/>
          </p:nvSpPr>
          <p:spPr>
            <a:xfrm>
              <a:off x="654368" y="2990374"/>
              <a:ext cx="843867"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Answer Type</a:t>
              </a:r>
            </a:p>
          </p:txBody>
        </p:sp>
        <p:sp>
          <p:nvSpPr>
            <p:cNvPr id="31" name="TextBox 31"/>
            <p:cNvSpPr txBox="1"/>
            <p:nvPr/>
          </p:nvSpPr>
          <p:spPr>
            <a:xfrm>
              <a:off x="3073718" y="2990374"/>
              <a:ext cx="4997887"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Entity; Relation; Number; Boolean; String/Literal; Date/Year; Qualifier Value</a:t>
              </a:r>
            </a:p>
          </p:txBody>
        </p:sp>
        <p:sp>
          <p:nvSpPr>
            <p:cNvPr id="32" name="Rectangle 32"/>
            <p:cNvSpPr/>
            <p:nvPr/>
          </p:nvSpPr>
          <p:spPr>
            <a:xfrm>
              <a:off x="495300" y="3257550"/>
              <a:ext cx="11201400" cy="400050"/>
            </a:xfrm>
            <a:prstGeom prst="rect">
              <a:avLst/>
            </a:prstGeom>
            <a:solidFill>
              <a:srgbClr val="F4F7F8"/>
            </a:solidFill>
            <a:ln>
              <a:noFill/>
            </a:ln>
          </p:spPr>
          <p:txBody>
            <a:bodyPr/>
            <a:lstStyle/>
            <a:p>
              <a:endParaRPr lang="zh-CN" altLang="en-US"/>
            </a:p>
          </p:txBody>
        </p:sp>
        <p:sp>
          <p:nvSpPr>
            <p:cNvPr id="33" name="TextBox 33"/>
            <p:cNvSpPr txBox="1"/>
            <p:nvPr/>
          </p:nvSpPr>
          <p:spPr>
            <a:xfrm>
              <a:off x="654368" y="3390424"/>
              <a:ext cx="925778"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Answerability</a:t>
              </a:r>
            </a:p>
          </p:txBody>
        </p:sp>
        <p:sp>
          <p:nvSpPr>
            <p:cNvPr id="34" name="TextBox 34"/>
            <p:cNvSpPr txBox="1"/>
            <p:nvPr/>
          </p:nvSpPr>
          <p:spPr>
            <a:xfrm>
              <a:off x="3073718" y="3390424"/>
              <a:ext cx="5335929"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Answerable by construction; unique gold answer; no dedicated unanswerable subset</a:t>
              </a:r>
            </a:p>
          </p:txBody>
        </p:sp>
        <p:sp>
          <p:nvSpPr>
            <p:cNvPr id="35" name="Rectangle 35"/>
            <p:cNvSpPr/>
            <p:nvPr/>
          </p:nvSpPr>
          <p:spPr>
            <a:xfrm>
              <a:off x="495300" y="3657600"/>
              <a:ext cx="11201400" cy="400050"/>
            </a:xfrm>
            <a:prstGeom prst="rect">
              <a:avLst/>
            </a:prstGeom>
            <a:solidFill>
              <a:srgbClr val="EAF6F4"/>
            </a:solidFill>
            <a:ln>
              <a:noFill/>
            </a:ln>
          </p:spPr>
          <p:txBody>
            <a:bodyPr/>
            <a:lstStyle/>
            <a:p>
              <a:endParaRPr lang="zh-CN" altLang="en-US"/>
            </a:p>
          </p:txBody>
        </p:sp>
        <p:sp>
          <p:nvSpPr>
            <p:cNvPr id="36" name="TextBox 36"/>
            <p:cNvSpPr txBox="1"/>
            <p:nvPr/>
          </p:nvSpPr>
          <p:spPr>
            <a:xfrm>
              <a:off x="654368" y="3790474"/>
              <a:ext cx="1471846"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Hop Count / Definition</a:t>
              </a:r>
            </a:p>
          </p:txBody>
        </p:sp>
        <p:sp>
          <p:nvSpPr>
            <p:cNvPr id="37" name="TextBox 37"/>
            <p:cNvSpPr txBox="1"/>
            <p:nvPr/>
          </p:nvSpPr>
          <p:spPr>
            <a:xfrm>
              <a:off x="3073718" y="3790474"/>
              <a:ext cx="3710726"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1 to ≥5 hops; 73.7% multi-hop; dataset-specific definition</a:t>
              </a:r>
            </a:p>
          </p:txBody>
        </p:sp>
        <p:sp>
          <p:nvSpPr>
            <p:cNvPr id="38" name="Rectangle 38"/>
            <p:cNvSpPr/>
            <p:nvPr/>
          </p:nvSpPr>
          <p:spPr>
            <a:xfrm>
              <a:off x="495300" y="4057650"/>
              <a:ext cx="11201400" cy="400050"/>
            </a:xfrm>
            <a:prstGeom prst="rect">
              <a:avLst/>
            </a:prstGeom>
            <a:solidFill>
              <a:srgbClr val="F4F7F8"/>
            </a:solidFill>
            <a:ln>
              <a:noFill/>
            </a:ln>
          </p:spPr>
          <p:txBody>
            <a:bodyPr/>
            <a:lstStyle/>
            <a:p>
              <a:endParaRPr lang="zh-CN" altLang="en-US"/>
            </a:p>
          </p:txBody>
        </p:sp>
        <p:sp>
          <p:nvSpPr>
            <p:cNvPr id="39" name="TextBox 39"/>
            <p:cNvSpPr txBox="1"/>
            <p:nvPr/>
          </p:nvSpPr>
          <p:spPr>
            <a:xfrm>
              <a:off x="654368" y="4190524"/>
              <a:ext cx="1444542"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Gold Query / Program</a:t>
              </a:r>
            </a:p>
          </p:txBody>
        </p:sp>
        <p:sp>
          <p:nvSpPr>
            <p:cNvPr id="40" name="TextBox 40"/>
            <p:cNvSpPr txBox="1"/>
            <p:nvPr/>
          </p:nvSpPr>
          <p:spPr>
            <a:xfrm>
              <a:off x="3073718" y="4190524"/>
              <a:ext cx="1500449"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Gold SPARQL + Gold KoPL</a:t>
              </a:r>
            </a:p>
          </p:txBody>
        </p:sp>
        <p:sp>
          <p:nvSpPr>
            <p:cNvPr id="41" name="Rectangle 41"/>
            <p:cNvSpPr/>
            <p:nvPr/>
          </p:nvSpPr>
          <p:spPr>
            <a:xfrm>
              <a:off x="495300" y="4457700"/>
              <a:ext cx="11201400" cy="400050"/>
            </a:xfrm>
            <a:prstGeom prst="rect">
              <a:avLst/>
            </a:prstGeom>
            <a:solidFill>
              <a:srgbClr val="EAF6F4"/>
            </a:solidFill>
            <a:ln>
              <a:noFill/>
            </a:ln>
          </p:spPr>
          <p:txBody>
            <a:bodyPr/>
            <a:lstStyle/>
            <a:p>
              <a:endParaRPr lang="zh-CN" altLang="en-US"/>
            </a:p>
          </p:txBody>
        </p:sp>
        <p:sp>
          <p:nvSpPr>
            <p:cNvPr id="42" name="TextBox 42"/>
            <p:cNvSpPr txBox="1"/>
            <p:nvPr/>
          </p:nvSpPr>
          <p:spPr>
            <a:xfrm>
              <a:off x="654368" y="4590574"/>
              <a:ext cx="1034991"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KG Requirement</a:t>
              </a:r>
            </a:p>
          </p:txBody>
        </p:sp>
        <p:sp>
          <p:nvSpPr>
            <p:cNvPr id="43" name="TextBox 43"/>
            <p:cNvSpPr txBox="1"/>
            <p:nvPr/>
          </p:nvSpPr>
          <p:spPr>
            <a:xfrm>
              <a:off x="3073718" y="4590574"/>
              <a:ext cx="3307675"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Wikidata-derived dense KB subset; kb.json available</a:t>
              </a:r>
            </a:p>
          </p:txBody>
        </p:sp>
        <p:sp>
          <p:nvSpPr>
            <p:cNvPr id="44" name="Rectangle 44"/>
            <p:cNvSpPr/>
            <p:nvPr/>
          </p:nvSpPr>
          <p:spPr>
            <a:xfrm>
              <a:off x="495300" y="4857750"/>
              <a:ext cx="11201400" cy="400050"/>
            </a:xfrm>
            <a:prstGeom prst="rect">
              <a:avLst/>
            </a:prstGeom>
            <a:solidFill>
              <a:srgbClr val="F4F7F8"/>
            </a:solidFill>
            <a:ln>
              <a:noFill/>
            </a:ln>
          </p:spPr>
          <p:txBody>
            <a:bodyPr/>
            <a:lstStyle/>
            <a:p>
              <a:endParaRPr lang="zh-CN" altLang="en-US"/>
            </a:p>
          </p:txBody>
        </p:sp>
        <p:sp>
          <p:nvSpPr>
            <p:cNvPr id="45" name="TextBox 45"/>
            <p:cNvSpPr txBox="1"/>
            <p:nvPr/>
          </p:nvSpPr>
          <p:spPr>
            <a:xfrm>
              <a:off x="654368" y="4990624"/>
              <a:ext cx="1526453"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Question Construction</a:t>
              </a:r>
            </a:p>
          </p:txBody>
        </p:sp>
        <p:sp>
          <p:nvSpPr>
            <p:cNvPr id="46" name="TextBox 46"/>
            <p:cNvSpPr txBox="1"/>
            <p:nvPr/>
          </p:nvSpPr>
          <p:spPr>
            <a:xfrm>
              <a:off x="3073718" y="4990624"/>
              <a:ext cx="4731353"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Synthetic canonical question + KoPL + SPARQL; crowdsourced paraphrasing</a:t>
              </a:r>
            </a:p>
          </p:txBody>
        </p:sp>
        <p:sp>
          <p:nvSpPr>
            <p:cNvPr id="47" name="Rectangle 47"/>
            <p:cNvSpPr/>
            <p:nvPr/>
          </p:nvSpPr>
          <p:spPr>
            <a:xfrm>
              <a:off x="495300" y="5257800"/>
              <a:ext cx="11201400" cy="400050"/>
            </a:xfrm>
            <a:prstGeom prst="rect">
              <a:avLst/>
            </a:prstGeom>
            <a:solidFill>
              <a:srgbClr val="EAF6F4"/>
            </a:solidFill>
            <a:ln>
              <a:noFill/>
            </a:ln>
          </p:spPr>
          <p:txBody>
            <a:bodyPr/>
            <a:lstStyle/>
            <a:p>
              <a:endParaRPr lang="zh-CN" altLang="en-US"/>
            </a:p>
          </p:txBody>
        </p:sp>
        <p:sp>
          <p:nvSpPr>
            <p:cNvPr id="48" name="TextBox 48"/>
            <p:cNvSpPr txBox="1"/>
            <p:nvPr/>
          </p:nvSpPr>
          <p:spPr>
            <a:xfrm>
              <a:off x="654368" y="5390674"/>
              <a:ext cx="1936004"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Domain / Knowledge Exposure</a:t>
              </a:r>
            </a:p>
          </p:txBody>
        </p:sp>
        <p:sp>
          <p:nvSpPr>
            <p:cNvPr id="49" name="TextBox 49"/>
            <p:cNvSpPr txBox="1"/>
            <p:nvPr/>
          </p:nvSpPr>
          <p:spPr>
            <a:xfrm>
              <a:off x="3073718" y="5390674"/>
              <a:ext cx="4542830"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General Wikidata-derived knowledge; possible pretrained-LLM exposure</a:t>
              </a:r>
            </a:p>
          </p:txBody>
        </p:sp>
        <p:sp>
          <p:nvSpPr>
            <p:cNvPr id="50" name="Rectangle 50"/>
            <p:cNvSpPr/>
            <p:nvPr/>
          </p:nvSpPr>
          <p:spPr>
            <a:xfrm>
              <a:off x="495300" y="5657850"/>
              <a:ext cx="11201400" cy="457200"/>
            </a:xfrm>
            <a:prstGeom prst="rect">
              <a:avLst/>
            </a:prstGeom>
            <a:solidFill>
              <a:srgbClr val="F4F7F8"/>
            </a:solidFill>
            <a:ln>
              <a:noFill/>
            </a:ln>
          </p:spPr>
          <p:txBody>
            <a:bodyPr/>
            <a:lstStyle/>
            <a:p>
              <a:endParaRPr lang="zh-CN" altLang="en-US"/>
            </a:p>
          </p:txBody>
        </p:sp>
        <p:sp>
          <p:nvSpPr>
            <p:cNvPr id="51" name="TextBox 51"/>
            <p:cNvSpPr txBox="1"/>
            <p:nvPr/>
          </p:nvSpPr>
          <p:spPr>
            <a:xfrm>
              <a:off x="654368" y="5828824"/>
              <a:ext cx="1314851"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Relevance to Thesis</a:t>
              </a:r>
            </a:p>
          </p:txBody>
        </p:sp>
        <p:sp>
          <p:nvSpPr>
            <p:cNvPr id="52" name="TextBox 52"/>
            <p:cNvSpPr txBox="1"/>
            <p:nvPr/>
          </p:nvSpPr>
          <p:spPr>
            <a:xfrm>
              <a:off x="3073718" y="5752624"/>
              <a:ext cx="4360807"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Strong for complex/multi-hop reasoning and answer-type diversity;</a:t>
              </a:r>
            </a:p>
          </p:txBody>
        </p:sp>
        <p:sp>
          <p:nvSpPr>
            <p:cNvPr id="53" name="TextBox 53"/>
            <p:cNvSpPr txBox="1"/>
            <p:nvPr/>
          </p:nvSpPr>
          <p:spPr>
            <a:xfrm>
              <a:off x="3073718" y="5924074"/>
              <a:ext cx="3509200"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limited for refusal and low-exposure domain evaluation</a:t>
              </a:r>
            </a:p>
          </p:txBody>
        </p:sp>
      </p:grpSp>
      <p:grpSp>
        <p:nvGrpSpPr>
          <p:cNvPr id="59" name="Group 59"/>
          <p:cNvGrpSpPr/>
          <p:nvPr/>
        </p:nvGrpSpPr>
        <p:grpSpPr>
          <a:xfrm>
            <a:off x="485775" y="6167438"/>
            <a:ext cx="11210925" cy="590550"/>
            <a:chOff x="485775" y="6167438"/>
            <a:chExt cx="11210925" cy="590550"/>
          </a:xfrm>
        </p:grpSpPr>
        <p:sp>
          <p:nvSpPr>
            <p:cNvPr id="55" name="TextBox 55"/>
            <p:cNvSpPr txBox="1"/>
            <p:nvPr/>
          </p:nvSpPr>
          <p:spPr>
            <a:xfrm>
              <a:off x="485775" y="6167438"/>
              <a:ext cx="2919412"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KQA Pro Dataset Analysis in KGQA Dataset Research</a:t>
              </a:r>
            </a:p>
          </p:txBody>
        </p:sp>
        <p:sp>
          <p:nvSpPr>
            <p:cNvPr id="56" name="Line 56"/>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57" name="TextBox 57"/>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8" name="TextBox 58"/>
            <p:cNvSpPr txBox="1"/>
            <p:nvPr/>
          </p:nvSpPr>
          <p:spPr>
            <a:xfrm>
              <a:off x="10887075" y="6605588"/>
              <a:ext cx="12906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03</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400"/>
                                        <p:tgtEl>
                                          <p:spTgt spid="1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left)">
                                      <p:cBhvr>
                                        <p:cTn id="11"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7" name="Group 7"/>
          <p:cNvGrpSpPr/>
          <p:nvPr/>
        </p:nvGrpSpPr>
        <p:grpSpPr>
          <a:xfrm>
            <a:off x="495300" y="400050"/>
            <a:ext cx="7647384" cy="792956"/>
            <a:chOff x="495300" y="400050"/>
            <a:chExt cx="7647384" cy="792956"/>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681990" y="410528"/>
              <a:ext cx="7460694"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KQA Pro: Selected Representative Questions</a:t>
              </a:r>
            </a:p>
          </p:txBody>
        </p:sp>
        <p:sp>
          <p:nvSpPr>
            <p:cNvPr id="5" name="TextBox 5"/>
            <p:cNvSpPr txBox="1"/>
            <p:nvPr/>
          </p:nvSpPr>
          <p:spPr>
            <a:xfrm>
              <a:off x="719138" y="792956"/>
              <a:ext cx="5601772"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Six asking strategies expose different retrieval, comparison, aggregation,</a:t>
              </a:r>
            </a:p>
          </p:txBody>
        </p:sp>
        <p:sp>
          <p:nvSpPr>
            <p:cNvPr id="6" name="TextBox 6"/>
            <p:cNvSpPr txBox="1"/>
            <p:nvPr/>
          </p:nvSpPr>
          <p:spPr>
            <a:xfrm>
              <a:off x="719138" y="964406"/>
              <a:ext cx="1821299"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and qualifier structures</a:t>
              </a:r>
            </a:p>
          </p:txBody>
        </p:sp>
      </p:grpSp>
      <p:grpSp>
        <p:nvGrpSpPr>
          <p:cNvPr id="102" name="Group 102"/>
          <p:cNvGrpSpPr/>
          <p:nvPr/>
        </p:nvGrpSpPr>
        <p:grpSpPr>
          <a:xfrm>
            <a:off x="495300" y="1295400"/>
            <a:ext cx="11201400" cy="4819650"/>
            <a:chOff x="495300" y="1295400"/>
            <a:chExt cx="11201400" cy="4819650"/>
          </a:xfrm>
        </p:grpSpPr>
        <p:sp>
          <p:nvSpPr>
            <p:cNvPr id="8" name="Rectangle 8"/>
            <p:cNvSpPr/>
            <p:nvPr/>
          </p:nvSpPr>
          <p:spPr>
            <a:xfrm>
              <a:off x="495300" y="1295400"/>
              <a:ext cx="11201400" cy="457200"/>
            </a:xfrm>
            <a:prstGeom prst="rect">
              <a:avLst/>
            </a:prstGeom>
            <a:solidFill>
              <a:srgbClr val="002D4C"/>
            </a:solidFill>
            <a:ln>
              <a:noFill/>
            </a:ln>
          </p:spPr>
          <p:txBody>
            <a:bodyPr/>
            <a:lstStyle/>
            <a:p>
              <a:endParaRPr lang="zh-CN" altLang="en-US"/>
            </a:p>
          </p:txBody>
        </p:sp>
        <p:sp>
          <p:nvSpPr>
            <p:cNvPr id="9" name="TextBox 9"/>
            <p:cNvSpPr txBox="1"/>
            <p:nvPr/>
          </p:nvSpPr>
          <p:spPr>
            <a:xfrm>
              <a:off x="625809" y="1398270"/>
              <a:ext cx="59623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QUESTION</a:t>
              </a:r>
            </a:p>
          </p:txBody>
        </p:sp>
        <p:sp>
          <p:nvSpPr>
            <p:cNvPr id="10" name="TextBox 10"/>
            <p:cNvSpPr txBox="1"/>
            <p:nvPr/>
          </p:nvSpPr>
          <p:spPr>
            <a:xfrm>
              <a:off x="773878" y="1560195"/>
              <a:ext cx="30009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TYPE</a:t>
              </a:r>
            </a:p>
          </p:txBody>
        </p:sp>
        <p:sp>
          <p:nvSpPr>
            <p:cNvPr id="11" name="TextBox 11"/>
            <p:cNvSpPr txBox="1"/>
            <p:nvPr/>
          </p:nvSpPr>
          <p:spPr>
            <a:xfrm>
              <a:off x="1431915" y="1398270"/>
              <a:ext cx="5080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DATASET</a:t>
              </a:r>
            </a:p>
          </p:txBody>
        </p:sp>
        <p:sp>
          <p:nvSpPr>
            <p:cNvPr id="12" name="TextBox 12"/>
            <p:cNvSpPr txBox="1"/>
            <p:nvPr/>
          </p:nvSpPr>
          <p:spPr>
            <a:xfrm>
              <a:off x="1501223" y="1560195"/>
              <a:ext cx="36940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SHARE</a:t>
              </a:r>
            </a:p>
          </p:txBody>
        </p:sp>
        <p:sp>
          <p:nvSpPr>
            <p:cNvPr id="13" name="TextBox 13"/>
            <p:cNvSpPr txBox="1"/>
            <p:nvPr/>
          </p:nvSpPr>
          <p:spPr>
            <a:xfrm>
              <a:off x="2978877" y="1474470"/>
              <a:ext cx="150984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REPRESENTATIVE EXAMPLE</a:t>
              </a:r>
            </a:p>
          </p:txBody>
        </p:sp>
        <p:sp>
          <p:nvSpPr>
            <p:cNvPr id="14" name="TextBox 14"/>
            <p:cNvSpPr txBox="1"/>
            <p:nvPr/>
          </p:nvSpPr>
          <p:spPr>
            <a:xfrm>
              <a:off x="6091928" y="1398270"/>
              <a:ext cx="109399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EXPECTED SOLVING</a:t>
              </a:r>
            </a:p>
          </p:txBody>
        </p:sp>
        <p:sp>
          <p:nvSpPr>
            <p:cNvPr id="15" name="TextBox 15"/>
            <p:cNvSpPr txBox="1"/>
            <p:nvPr/>
          </p:nvSpPr>
          <p:spPr>
            <a:xfrm>
              <a:off x="6350260" y="1560195"/>
              <a:ext cx="57732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STRATEGY</a:t>
              </a:r>
            </a:p>
          </p:txBody>
        </p:sp>
        <p:sp>
          <p:nvSpPr>
            <p:cNvPr id="16" name="TextBox 16"/>
            <p:cNvSpPr txBox="1"/>
            <p:nvPr/>
          </p:nvSpPr>
          <p:spPr>
            <a:xfrm>
              <a:off x="8406848" y="1398270"/>
              <a:ext cx="36940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GRAPH</a:t>
              </a:r>
            </a:p>
          </p:txBody>
        </p:sp>
        <p:sp>
          <p:nvSpPr>
            <p:cNvPr id="17" name="TextBox 17"/>
            <p:cNvSpPr txBox="1"/>
            <p:nvPr/>
          </p:nvSpPr>
          <p:spPr>
            <a:xfrm>
              <a:off x="8337540" y="1560195"/>
              <a:ext cx="5080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PATTERN</a:t>
              </a:r>
            </a:p>
          </p:txBody>
        </p:sp>
        <p:sp>
          <p:nvSpPr>
            <p:cNvPr id="18" name="TextBox 18"/>
            <p:cNvSpPr txBox="1"/>
            <p:nvPr/>
          </p:nvSpPr>
          <p:spPr>
            <a:xfrm>
              <a:off x="9673230" y="1398270"/>
              <a:ext cx="25598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HOP</a:t>
              </a:r>
            </a:p>
          </p:txBody>
        </p:sp>
        <p:sp>
          <p:nvSpPr>
            <p:cNvPr id="19" name="TextBox 19"/>
            <p:cNvSpPr txBox="1"/>
            <p:nvPr/>
          </p:nvSpPr>
          <p:spPr>
            <a:xfrm>
              <a:off x="9603922" y="1560195"/>
              <a:ext cx="39460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COUNT</a:t>
              </a:r>
            </a:p>
          </p:txBody>
        </p:sp>
        <p:sp>
          <p:nvSpPr>
            <p:cNvPr id="20" name="TextBox 20"/>
            <p:cNvSpPr txBox="1"/>
            <p:nvPr/>
          </p:nvSpPr>
          <p:spPr>
            <a:xfrm>
              <a:off x="10740842" y="1398270"/>
              <a:ext cx="46391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ANSWER</a:t>
              </a:r>
            </a:p>
          </p:txBody>
        </p:sp>
        <p:sp>
          <p:nvSpPr>
            <p:cNvPr id="21" name="TextBox 21"/>
            <p:cNvSpPr txBox="1"/>
            <p:nvPr/>
          </p:nvSpPr>
          <p:spPr>
            <a:xfrm>
              <a:off x="10822753" y="1560195"/>
              <a:ext cx="30009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TYPE</a:t>
              </a:r>
            </a:p>
          </p:txBody>
        </p:sp>
        <p:sp>
          <p:nvSpPr>
            <p:cNvPr id="22" name="Rectangle 22"/>
            <p:cNvSpPr/>
            <p:nvPr/>
          </p:nvSpPr>
          <p:spPr>
            <a:xfrm>
              <a:off x="495300" y="1752600"/>
              <a:ext cx="11201400" cy="685800"/>
            </a:xfrm>
            <a:prstGeom prst="rect">
              <a:avLst/>
            </a:prstGeom>
            <a:solidFill>
              <a:srgbClr val="EAF6F4"/>
            </a:solidFill>
            <a:ln>
              <a:noFill/>
            </a:ln>
          </p:spPr>
          <p:txBody>
            <a:bodyPr/>
            <a:lstStyle/>
            <a:p>
              <a:endParaRPr lang="zh-CN" altLang="en-US"/>
            </a:p>
          </p:txBody>
        </p:sp>
        <p:sp>
          <p:nvSpPr>
            <p:cNvPr id="23" name="TextBox 23"/>
            <p:cNvSpPr txBox="1"/>
            <p:nvPr/>
          </p:nvSpPr>
          <p:spPr>
            <a:xfrm>
              <a:off x="575403" y="2045970"/>
              <a:ext cx="697044"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QueryName</a:t>
              </a:r>
            </a:p>
          </p:txBody>
        </p:sp>
        <p:sp>
          <p:nvSpPr>
            <p:cNvPr id="24" name="TextBox 24"/>
            <p:cNvSpPr txBox="1"/>
            <p:nvPr/>
          </p:nvSpPr>
          <p:spPr>
            <a:xfrm>
              <a:off x="1524476" y="2045970"/>
              <a:ext cx="32289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12.0%</a:t>
              </a:r>
            </a:p>
          </p:txBody>
        </p:sp>
        <p:sp>
          <p:nvSpPr>
            <p:cNvPr id="25" name="TextBox 25"/>
            <p:cNvSpPr txBox="1"/>
            <p:nvPr/>
          </p:nvSpPr>
          <p:spPr>
            <a:xfrm>
              <a:off x="2140268" y="1933099"/>
              <a:ext cx="1610963"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Who is the person that is</a:t>
              </a:r>
            </a:p>
          </p:txBody>
        </p:sp>
        <p:sp>
          <p:nvSpPr>
            <p:cNvPr id="26" name="TextBox 26"/>
            <p:cNvSpPr txBox="1"/>
            <p:nvPr/>
          </p:nvSpPr>
          <p:spPr>
            <a:xfrm>
              <a:off x="2140268" y="2123599"/>
              <a:ext cx="1506950"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Kylie Minogue's sibling?</a:t>
              </a:r>
            </a:p>
          </p:txBody>
        </p:sp>
        <p:sp>
          <p:nvSpPr>
            <p:cNvPr id="27" name="TextBox 27"/>
            <p:cNvSpPr txBox="1"/>
            <p:nvPr/>
          </p:nvSpPr>
          <p:spPr>
            <a:xfrm>
              <a:off x="5570220" y="1941195"/>
              <a:ext cx="1090993"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Relation traversal</a:t>
              </a:r>
            </a:p>
          </p:txBody>
        </p:sp>
        <p:sp>
          <p:nvSpPr>
            <p:cNvPr id="28" name="TextBox 28"/>
            <p:cNvSpPr txBox="1"/>
            <p:nvPr/>
          </p:nvSpPr>
          <p:spPr>
            <a:xfrm>
              <a:off x="5570220" y="2131695"/>
              <a:ext cx="628936"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 filtering</a:t>
              </a:r>
            </a:p>
          </p:txBody>
        </p:sp>
        <p:sp>
          <p:nvSpPr>
            <p:cNvPr id="29" name="TextBox 29"/>
            <p:cNvSpPr txBox="1"/>
            <p:nvPr/>
          </p:nvSpPr>
          <p:spPr>
            <a:xfrm>
              <a:off x="8397097" y="2045970"/>
              <a:ext cx="388906"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Linear</a:t>
              </a:r>
            </a:p>
          </p:txBody>
        </p:sp>
        <p:sp>
          <p:nvSpPr>
            <p:cNvPr id="30" name="TextBox 30"/>
            <p:cNvSpPr txBox="1"/>
            <p:nvPr/>
          </p:nvSpPr>
          <p:spPr>
            <a:xfrm>
              <a:off x="9771793" y="1941195"/>
              <a:ext cx="58864"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1</a:t>
              </a:r>
            </a:p>
          </p:txBody>
        </p:sp>
        <p:sp>
          <p:nvSpPr>
            <p:cNvPr id="31" name="TextBox 31"/>
            <p:cNvSpPr txBox="1"/>
            <p:nvPr/>
          </p:nvSpPr>
          <p:spPr>
            <a:xfrm>
              <a:off x="9474756" y="2131695"/>
              <a:ext cx="652939" cy="182880"/>
            </a:xfrm>
            <a:prstGeom prst="rect">
              <a:avLst/>
            </a:prstGeom>
            <a:noFill/>
            <a:ln>
              <a:noFill/>
            </a:ln>
          </p:spPr>
          <p:txBody>
            <a:bodyPr wrap="none" lIns="0" tIns="0" rIns="0" bIns="0" anchor="t" anchorCtr="0">
              <a:spAutoFit/>
            </a:bodyPr>
            <a:lstStyle/>
            <a:p>
              <a:pPr algn="ctr"/>
              <a:r>
                <a:rPr lang="zh-CN" sz="900" dirty="0">
                  <a:solidFill>
                    <a:srgbClr val="768993"/>
                  </a:solidFill>
                  <a:latin typeface="Arial"/>
                  <a:ea typeface="Microsoft YaHei"/>
                  <a:cs typeface="Arial"/>
                </a:rPr>
                <a:t>(inferred)</a:t>
              </a:r>
            </a:p>
          </p:txBody>
        </p:sp>
        <p:sp>
          <p:nvSpPr>
            <p:cNvPr id="32" name="TextBox 32"/>
            <p:cNvSpPr txBox="1"/>
            <p:nvPr/>
          </p:nvSpPr>
          <p:spPr>
            <a:xfrm>
              <a:off x="10778347" y="2045970"/>
              <a:ext cx="388906"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Entity</a:t>
              </a:r>
            </a:p>
          </p:txBody>
        </p:sp>
        <p:sp>
          <p:nvSpPr>
            <p:cNvPr id="33" name="Rectangle 33"/>
            <p:cNvSpPr/>
            <p:nvPr/>
          </p:nvSpPr>
          <p:spPr>
            <a:xfrm>
              <a:off x="495300" y="2438400"/>
              <a:ext cx="11201400" cy="781050"/>
            </a:xfrm>
            <a:prstGeom prst="rect">
              <a:avLst/>
            </a:prstGeom>
            <a:solidFill>
              <a:srgbClr val="F4F7F8"/>
            </a:solidFill>
            <a:ln>
              <a:noFill/>
            </a:ln>
          </p:spPr>
          <p:txBody>
            <a:bodyPr/>
            <a:lstStyle/>
            <a:p>
              <a:endParaRPr lang="zh-CN" altLang="en-US"/>
            </a:p>
          </p:txBody>
        </p:sp>
        <p:sp>
          <p:nvSpPr>
            <p:cNvPr id="34" name="TextBox 34"/>
            <p:cNvSpPr txBox="1"/>
            <p:nvPr/>
          </p:nvSpPr>
          <p:spPr>
            <a:xfrm>
              <a:off x="737288" y="2692241"/>
              <a:ext cx="373274" cy="167640"/>
            </a:xfrm>
            <a:prstGeom prst="rect">
              <a:avLst/>
            </a:prstGeom>
            <a:noFill/>
            <a:ln>
              <a:noFill/>
            </a:ln>
          </p:spPr>
          <p:txBody>
            <a:bodyPr wrap="none" lIns="0" tIns="0" rIns="0" bIns="0" anchor="t" anchorCtr="0">
              <a:spAutoFit/>
            </a:bodyPr>
            <a:lstStyle/>
            <a:p>
              <a:pPr algn="ctr"/>
              <a:r>
                <a:rPr lang="zh-CN" sz="825" b="1" dirty="0">
                  <a:solidFill>
                    <a:srgbClr val="002D4C"/>
                  </a:solidFill>
                  <a:latin typeface="Arial"/>
                  <a:ea typeface="Microsoft YaHei"/>
                  <a:cs typeface="Arial"/>
                </a:rPr>
                <a:t>Select</a:t>
              </a:r>
            </a:p>
          </p:txBody>
        </p:sp>
        <p:sp>
          <p:nvSpPr>
            <p:cNvPr id="35" name="TextBox 35"/>
            <p:cNvSpPr txBox="1"/>
            <p:nvPr/>
          </p:nvSpPr>
          <p:spPr>
            <a:xfrm>
              <a:off x="679531" y="2854166"/>
              <a:ext cx="488788" cy="167640"/>
            </a:xfrm>
            <a:prstGeom prst="rect">
              <a:avLst/>
            </a:prstGeom>
            <a:noFill/>
            <a:ln>
              <a:noFill/>
            </a:ln>
          </p:spPr>
          <p:txBody>
            <a:bodyPr wrap="none" lIns="0" tIns="0" rIns="0" bIns="0" anchor="t" anchorCtr="0">
              <a:spAutoFit/>
            </a:bodyPr>
            <a:lstStyle/>
            <a:p>
              <a:pPr algn="ctr"/>
              <a:r>
                <a:rPr lang="zh-CN" sz="825" b="1" dirty="0">
                  <a:solidFill>
                    <a:srgbClr val="002D4C"/>
                  </a:solidFill>
                  <a:latin typeface="Arial"/>
                  <a:ea typeface="Microsoft YaHei"/>
                  <a:cs typeface="Arial"/>
                </a:rPr>
                <a:t>Between</a:t>
              </a:r>
            </a:p>
          </p:txBody>
        </p:sp>
        <p:sp>
          <p:nvSpPr>
            <p:cNvPr id="36" name="TextBox 36"/>
            <p:cNvSpPr txBox="1"/>
            <p:nvPr/>
          </p:nvSpPr>
          <p:spPr>
            <a:xfrm>
              <a:off x="1524476" y="2769870"/>
              <a:ext cx="32289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14.0%</a:t>
              </a:r>
            </a:p>
          </p:txBody>
        </p:sp>
        <p:sp>
          <p:nvSpPr>
            <p:cNvPr id="37" name="TextBox 37"/>
            <p:cNvSpPr txBox="1"/>
            <p:nvPr/>
          </p:nvSpPr>
          <p:spPr>
            <a:xfrm>
              <a:off x="2141220" y="2550795"/>
              <a:ext cx="1853089"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Which area has higher elevation</a:t>
              </a:r>
            </a:p>
          </p:txBody>
        </p:sp>
        <p:sp>
          <p:nvSpPr>
            <p:cNvPr id="38" name="TextBox 38"/>
            <p:cNvSpPr txBox="1"/>
            <p:nvPr/>
          </p:nvSpPr>
          <p:spPr>
            <a:xfrm>
              <a:off x="2141220" y="2722245"/>
              <a:ext cx="1757077"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(above sea level), Baghdad or</a:t>
              </a:r>
            </a:p>
          </p:txBody>
        </p:sp>
        <p:sp>
          <p:nvSpPr>
            <p:cNvPr id="39" name="TextBox 39"/>
            <p:cNvSpPr txBox="1"/>
            <p:nvPr/>
          </p:nvSpPr>
          <p:spPr>
            <a:xfrm>
              <a:off x="2141220" y="2893695"/>
              <a:ext cx="1811083"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Jerusalem (population 75200)?</a:t>
              </a:r>
            </a:p>
          </p:txBody>
        </p:sp>
        <p:sp>
          <p:nvSpPr>
            <p:cNvPr id="40" name="TextBox 40"/>
            <p:cNvSpPr txBox="1"/>
            <p:nvPr/>
          </p:nvSpPr>
          <p:spPr>
            <a:xfrm>
              <a:off x="5570220" y="2646045"/>
              <a:ext cx="1223010"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Constraint retrieval</a:t>
              </a:r>
            </a:p>
          </p:txBody>
        </p:sp>
        <p:sp>
          <p:nvSpPr>
            <p:cNvPr id="41" name="TextBox 41"/>
            <p:cNvSpPr txBox="1"/>
            <p:nvPr/>
          </p:nvSpPr>
          <p:spPr>
            <a:xfrm>
              <a:off x="5570220" y="2836545"/>
              <a:ext cx="778955"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 comparison</a:t>
              </a:r>
            </a:p>
          </p:txBody>
        </p:sp>
        <p:sp>
          <p:nvSpPr>
            <p:cNvPr id="42" name="TextBox 42"/>
            <p:cNvSpPr txBox="1"/>
            <p:nvPr/>
          </p:nvSpPr>
          <p:spPr>
            <a:xfrm>
              <a:off x="8202073" y="2646045"/>
              <a:ext cx="778955"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Multi-anchor</a:t>
              </a:r>
            </a:p>
          </p:txBody>
        </p:sp>
        <p:sp>
          <p:nvSpPr>
            <p:cNvPr id="43" name="TextBox 43"/>
            <p:cNvSpPr txBox="1"/>
            <p:nvPr/>
          </p:nvSpPr>
          <p:spPr>
            <a:xfrm>
              <a:off x="8214074" y="2836545"/>
              <a:ext cx="754952"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 constraint</a:t>
              </a:r>
            </a:p>
          </p:txBody>
        </p:sp>
        <p:sp>
          <p:nvSpPr>
            <p:cNvPr id="44" name="TextBox 44"/>
            <p:cNvSpPr txBox="1"/>
            <p:nvPr/>
          </p:nvSpPr>
          <p:spPr>
            <a:xfrm>
              <a:off x="9756791" y="2646045"/>
              <a:ext cx="8886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4</a:t>
              </a:r>
            </a:p>
          </p:txBody>
        </p:sp>
        <p:sp>
          <p:nvSpPr>
            <p:cNvPr id="45" name="TextBox 45"/>
            <p:cNvSpPr txBox="1"/>
            <p:nvPr/>
          </p:nvSpPr>
          <p:spPr>
            <a:xfrm>
              <a:off x="9474756" y="2836545"/>
              <a:ext cx="652939" cy="182880"/>
            </a:xfrm>
            <a:prstGeom prst="rect">
              <a:avLst/>
            </a:prstGeom>
            <a:noFill/>
            <a:ln>
              <a:noFill/>
            </a:ln>
          </p:spPr>
          <p:txBody>
            <a:bodyPr wrap="none" lIns="0" tIns="0" rIns="0" bIns="0" anchor="t" anchorCtr="0">
              <a:spAutoFit/>
            </a:bodyPr>
            <a:lstStyle/>
            <a:p>
              <a:pPr algn="ctr"/>
              <a:r>
                <a:rPr lang="zh-CN" sz="900" dirty="0">
                  <a:solidFill>
                    <a:srgbClr val="768993"/>
                  </a:solidFill>
                  <a:latin typeface="Arial"/>
                  <a:ea typeface="Microsoft YaHei"/>
                  <a:cs typeface="Arial"/>
                </a:rPr>
                <a:t>(inferred)</a:t>
              </a:r>
            </a:p>
          </p:txBody>
        </p:sp>
        <p:sp>
          <p:nvSpPr>
            <p:cNvPr id="46" name="TextBox 46"/>
            <p:cNvSpPr txBox="1"/>
            <p:nvPr/>
          </p:nvSpPr>
          <p:spPr>
            <a:xfrm>
              <a:off x="10778347" y="2769870"/>
              <a:ext cx="388906"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Entity</a:t>
              </a:r>
            </a:p>
          </p:txBody>
        </p:sp>
        <p:sp>
          <p:nvSpPr>
            <p:cNvPr id="47" name="Rectangle 47"/>
            <p:cNvSpPr/>
            <p:nvPr/>
          </p:nvSpPr>
          <p:spPr>
            <a:xfrm>
              <a:off x="495300" y="3219450"/>
              <a:ext cx="11201400" cy="685800"/>
            </a:xfrm>
            <a:prstGeom prst="rect">
              <a:avLst/>
            </a:prstGeom>
            <a:solidFill>
              <a:srgbClr val="EAF6F4"/>
            </a:solidFill>
            <a:ln>
              <a:noFill/>
            </a:ln>
          </p:spPr>
          <p:txBody>
            <a:bodyPr/>
            <a:lstStyle/>
            <a:p>
              <a:endParaRPr lang="zh-CN" altLang="en-US"/>
            </a:p>
          </p:txBody>
        </p:sp>
        <p:sp>
          <p:nvSpPr>
            <p:cNvPr id="48" name="TextBox 48"/>
            <p:cNvSpPr txBox="1"/>
            <p:nvPr/>
          </p:nvSpPr>
          <p:spPr>
            <a:xfrm>
              <a:off x="739223" y="3512820"/>
              <a:ext cx="369403"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Count</a:t>
              </a:r>
            </a:p>
          </p:txBody>
        </p:sp>
        <p:sp>
          <p:nvSpPr>
            <p:cNvPr id="49" name="TextBox 49"/>
            <p:cNvSpPr txBox="1"/>
            <p:nvPr/>
          </p:nvSpPr>
          <p:spPr>
            <a:xfrm>
              <a:off x="1539478" y="3512820"/>
              <a:ext cx="292894"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11.5%</a:t>
              </a:r>
            </a:p>
          </p:txBody>
        </p:sp>
        <p:sp>
          <p:nvSpPr>
            <p:cNvPr id="50" name="TextBox 50"/>
            <p:cNvSpPr txBox="1"/>
            <p:nvPr/>
          </p:nvSpPr>
          <p:spPr>
            <a:xfrm>
              <a:off x="2140268" y="3399949"/>
              <a:ext cx="2079022"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What number of animated movies</a:t>
              </a:r>
            </a:p>
          </p:txBody>
        </p:sp>
        <p:sp>
          <p:nvSpPr>
            <p:cNvPr id="51" name="TextBox 51"/>
            <p:cNvSpPr txBox="1"/>
            <p:nvPr/>
          </p:nvSpPr>
          <p:spPr>
            <a:xfrm>
              <a:off x="2140268" y="3590449"/>
              <a:ext cx="1714976"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were published after 1940?</a:t>
              </a:r>
            </a:p>
          </p:txBody>
        </p:sp>
        <p:sp>
          <p:nvSpPr>
            <p:cNvPr id="52" name="TextBox 52"/>
            <p:cNvSpPr txBox="1"/>
            <p:nvPr/>
          </p:nvSpPr>
          <p:spPr>
            <a:xfrm>
              <a:off x="5570220" y="3408045"/>
              <a:ext cx="526923"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Filtering</a:t>
              </a:r>
            </a:p>
          </p:txBody>
        </p:sp>
        <p:sp>
          <p:nvSpPr>
            <p:cNvPr id="53" name="TextBox 53"/>
            <p:cNvSpPr txBox="1"/>
            <p:nvPr/>
          </p:nvSpPr>
          <p:spPr>
            <a:xfrm>
              <a:off x="5570220" y="3598545"/>
              <a:ext cx="820960"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 aggregation</a:t>
              </a:r>
            </a:p>
          </p:txBody>
        </p:sp>
        <p:sp>
          <p:nvSpPr>
            <p:cNvPr id="54" name="TextBox 54"/>
            <p:cNvSpPr txBox="1"/>
            <p:nvPr/>
          </p:nvSpPr>
          <p:spPr>
            <a:xfrm>
              <a:off x="8211074" y="3512820"/>
              <a:ext cx="760952"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Set filtering</a:t>
              </a:r>
            </a:p>
          </p:txBody>
        </p:sp>
        <p:sp>
          <p:nvSpPr>
            <p:cNvPr id="55" name="TextBox 55"/>
            <p:cNvSpPr txBox="1"/>
            <p:nvPr/>
          </p:nvSpPr>
          <p:spPr>
            <a:xfrm>
              <a:off x="9756791" y="3408045"/>
              <a:ext cx="8886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2</a:t>
              </a:r>
            </a:p>
          </p:txBody>
        </p:sp>
        <p:sp>
          <p:nvSpPr>
            <p:cNvPr id="56" name="TextBox 56"/>
            <p:cNvSpPr txBox="1"/>
            <p:nvPr/>
          </p:nvSpPr>
          <p:spPr>
            <a:xfrm>
              <a:off x="9474756" y="3598545"/>
              <a:ext cx="652939" cy="182880"/>
            </a:xfrm>
            <a:prstGeom prst="rect">
              <a:avLst/>
            </a:prstGeom>
            <a:noFill/>
            <a:ln>
              <a:noFill/>
            </a:ln>
          </p:spPr>
          <p:txBody>
            <a:bodyPr wrap="none" lIns="0" tIns="0" rIns="0" bIns="0" anchor="t" anchorCtr="0">
              <a:spAutoFit/>
            </a:bodyPr>
            <a:lstStyle/>
            <a:p>
              <a:pPr algn="ctr"/>
              <a:r>
                <a:rPr lang="zh-CN" sz="900" dirty="0">
                  <a:solidFill>
                    <a:srgbClr val="768993"/>
                  </a:solidFill>
                  <a:latin typeface="Arial"/>
                  <a:ea typeface="Microsoft YaHei"/>
                  <a:cs typeface="Arial"/>
                </a:rPr>
                <a:t>(inferred)</a:t>
              </a:r>
            </a:p>
          </p:txBody>
        </p:sp>
        <p:sp>
          <p:nvSpPr>
            <p:cNvPr id="57" name="TextBox 57"/>
            <p:cNvSpPr txBox="1"/>
            <p:nvPr/>
          </p:nvSpPr>
          <p:spPr>
            <a:xfrm>
              <a:off x="10751344" y="3512820"/>
              <a:ext cx="442913"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Number</a:t>
              </a:r>
            </a:p>
          </p:txBody>
        </p:sp>
        <p:sp>
          <p:nvSpPr>
            <p:cNvPr id="58" name="Rectangle 58"/>
            <p:cNvSpPr/>
            <p:nvPr/>
          </p:nvSpPr>
          <p:spPr>
            <a:xfrm>
              <a:off x="495300" y="3905250"/>
              <a:ext cx="11201400" cy="781050"/>
            </a:xfrm>
            <a:prstGeom prst="rect">
              <a:avLst/>
            </a:prstGeom>
            <a:solidFill>
              <a:srgbClr val="F4F7F8"/>
            </a:solidFill>
            <a:ln>
              <a:noFill/>
            </a:ln>
          </p:spPr>
          <p:txBody>
            <a:bodyPr/>
            <a:lstStyle/>
            <a:p>
              <a:endParaRPr lang="zh-CN" altLang="en-US"/>
            </a:p>
          </p:txBody>
        </p:sp>
        <p:sp>
          <p:nvSpPr>
            <p:cNvPr id="59" name="TextBox 59"/>
            <p:cNvSpPr txBox="1"/>
            <p:nvPr/>
          </p:nvSpPr>
          <p:spPr>
            <a:xfrm>
              <a:off x="666764" y="4236720"/>
              <a:ext cx="514321"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Relation</a:t>
              </a:r>
            </a:p>
          </p:txBody>
        </p:sp>
        <p:sp>
          <p:nvSpPr>
            <p:cNvPr id="60" name="TextBox 60"/>
            <p:cNvSpPr txBox="1"/>
            <p:nvPr/>
          </p:nvSpPr>
          <p:spPr>
            <a:xfrm>
              <a:off x="1524476" y="4236720"/>
              <a:ext cx="32289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14.8%</a:t>
              </a:r>
            </a:p>
          </p:txBody>
        </p:sp>
        <p:sp>
          <p:nvSpPr>
            <p:cNvPr id="61" name="TextBox 61"/>
            <p:cNvSpPr txBox="1"/>
            <p:nvPr/>
          </p:nvSpPr>
          <p:spPr>
            <a:xfrm>
              <a:off x="2141220" y="4017645"/>
              <a:ext cx="1913096"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How are the Pittsburgh Steelers</a:t>
              </a:r>
            </a:p>
          </p:txBody>
        </p:sp>
        <p:sp>
          <p:nvSpPr>
            <p:cNvPr id="62" name="TextBox 62"/>
            <p:cNvSpPr txBox="1"/>
            <p:nvPr/>
          </p:nvSpPr>
          <p:spPr>
            <a:xfrm>
              <a:off x="2141220" y="4189095"/>
              <a:ext cx="1913096"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related to the Pittsburgh where</a:t>
              </a:r>
            </a:p>
          </p:txBody>
        </p:sp>
        <p:sp>
          <p:nvSpPr>
            <p:cNvPr id="63" name="TextBox 63"/>
            <p:cNvSpPr txBox="1"/>
            <p:nvPr/>
          </p:nvSpPr>
          <p:spPr>
            <a:xfrm>
              <a:off x="2141220" y="4360545"/>
              <a:ext cx="1643062"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David O. Selznick was born?</a:t>
              </a:r>
            </a:p>
          </p:txBody>
        </p:sp>
        <p:sp>
          <p:nvSpPr>
            <p:cNvPr id="64" name="TextBox 64"/>
            <p:cNvSpPr txBox="1"/>
            <p:nvPr/>
          </p:nvSpPr>
          <p:spPr>
            <a:xfrm>
              <a:off x="5570220" y="4112895"/>
              <a:ext cx="1090993"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Relation traversal</a:t>
              </a:r>
            </a:p>
          </p:txBody>
        </p:sp>
        <p:sp>
          <p:nvSpPr>
            <p:cNvPr id="65" name="TextBox 65"/>
            <p:cNvSpPr txBox="1"/>
            <p:nvPr/>
          </p:nvSpPr>
          <p:spPr>
            <a:xfrm>
              <a:off x="5570220" y="4303395"/>
              <a:ext cx="1193006"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 relation discovery</a:t>
              </a:r>
            </a:p>
          </p:txBody>
        </p:sp>
        <p:sp>
          <p:nvSpPr>
            <p:cNvPr id="66" name="TextBox 66"/>
            <p:cNvSpPr txBox="1"/>
            <p:nvPr/>
          </p:nvSpPr>
          <p:spPr>
            <a:xfrm>
              <a:off x="8148066" y="4236720"/>
              <a:ext cx="88696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Derived anchor</a:t>
              </a:r>
            </a:p>
          </p:txBody>
        </p:sp>
        <p:sp>
          <p:nvSpPr>
            <p:cNvPr id="67" name="TextBox 67"/>
            <p:cNvSpPr txBox="1"/>
            <p:nvPr/>
          </p:nvSpPr>
          <p:spPr>
            <a:xfrm>
              <a:off x="9756791" y="4112895"/>
              <a:ext cx="8886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2</a:t>
              </a:r>
            </a:p>
          </p:txBody>
        </p:sp>
        <p:sp>
          <p:nvSpPr>
            <p:cNvPr id="68" name="TextBox 68"/>
            <p:cNvSpPr txBox="1"/>
            <p:nvPr/>
          </p:nvSpPr>
          <p:spPr>
            <a:xfrm>
              <a:off x="9474756" y="4303395"/>
              <a:ext cx="652939" cy="182880"/>
            </a:xfrm>
            <a:prstGeom prst="rect">
              <a:avLst/>
            </a:prstGeom>
            <a:noFill/>
            <a:ln>
              <a:noFill/>
            </a:ln>
          </p:spPr>
          <p:txBody>
            <a:bodyPr wrap="none" lIns="0" tIns="0" rIns="0" bIns="0" anchor="t" anchorCtr="0">
              <a:spAutoFit/>
            </a:bodyPr>
            <a:lstStyle/>
            <a:p>
              <a:pPr algn="ctr"/>
              <a:r>
                <a:rPr lang="zh-CN" sz="900" dirty="0">
                  <a:solidFill>
                    <a:srgbClr val="768993"/>
                  </a:solidFill>
                  <a:latin typeface="Arial"/>
                  <a:ea typeface="Microsoft YaHei"/>
                  <a:cs typeface="Arial"/>
                </a:rPr>
                <a:t>(inferred)</a:t>
              </a:r>
            </a:p>
          </p:txBody>
        </p:sp>
        <p:sp>
          <p:nvSpPr>
            <p:cNvPr id="69" name="TextBox 69"/>
            <p:cNvSpPr txBox="1"/>
            <p:nvPr/>
          </p:nvSpPr>
          <p:spPr>
            <a:xfrm>
              <a:off x="10727341" y="4236720"/>
              <a:ext cx="490919"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Relation</a:t>
              </a:r>
            </a:p>
          </p:txBody>
        </p:sp>
        <p:sp>
          <p:nvSpPr>
            <p:cNvPr id="70" name="Rectangle 70"/>
            <p:cNvSpPr/>
            <p:nvPr/>
          </p:nvSpPr>
          <p:spPr>
            <a:xfrm>
              <a:off x="495300" y="4686300"/>
              <a:ext cx="11201400" cy="685800"/>
            </a:xfrm>
            <a:prstGeom prst="rect">
              <a:avLst/>
            </a:prstGeom>
            <a:solidFill>
              <a:srgbClr val="EAF6F4"/>
            </a:solidFill>
            <a:ln>
              <a:noFill/>
            </a:ln>
          </p:spPr>
          <p:txBody>
            <a:bodyPr/>
            <a:lstStyle/>
            <a:p>
              <a:endParaRPr lang="zh-CN" altLang="en-US"/>
            </a:p>
          </p:txBody>
        </p:sp>
        <p:sp>
          <p:nvSpPr>
            <p:cNvPr id="71" name="TextBox 71"/>
            <p:cNvSpPr txBox="1"/>
            <p:nvPr/>
          </p:nvSpPr>
          <p:spPr>
            <a:xfrm>
              <a:off x="683371" y="4862512"/>
              <a:ext cx="481108" cy="152400"/>
            </a:xfrm>
            <a:prstGeom prst="rect">
              <a:avLst/>
            </a:prstGeom>
            <a:noFill/>
            <a:ln>
              <a:noFill/>
            </a:ln>
          </p:spPr>
          <p:txBody>
            <a:bodyPr wrap="none" lIns="0" tIns="0" rIns="0" bIns="0" anchor="t" anchorCtr="0">
              <a:spAutoFit/>
            </a:bodyPr>
            <a:lstStyle/>
            <a:p>
              <a:pPr algn="ctr"/>
              <a:r>
                <a:rPr lang="zh-CN" sz="750" b="1" dirty="0">
                  <a:solidFill>
                    <a:srgbClr val="002D4C"/>
                  </a:solidFill>
                  <a:latin typeface="Arial"/>
                  <a:ea typeface="Microsoft YaHei"/>
                  <a:cs typeface="Arial"/>
                </a:rPr>
                <a:t>Qualifier</a:t>
              </a:r>
            </a:p>
          </p:txBody>
        </p:sp>
        <p:sp>
          <p:nvSpPr>
            <p:cNvPr id="72" name="TextBox 72"/>
            <p:cNvSpPr txBox="1"/>
            <p:nvPr/>
          </p:nvSpPr>
          <p:spPr>
            <a:xfrm>
              <a:off x="664994" y="5014912"/>
              <a:ext cx="517862" cy="152400"/>
            </a:xfrm>
            <a:prstGeom prst="rect">
              <a:avLst/>
            </a:prstGeom>
            <a:noFill/>
            <a:ln>
              <a:noFill/>
            </a:ln>
          </p:spPr>
          <p:txBody>
            <a:bodyPr wrap="none" lIns="0" tIns="0" rIns="0" bIns="0" anchor="t" anchorCtr="0">
              <a:spAutoFit/>
            </a:bodyPr>
            <a:lstStyle/>
            <a:p>
              <a:pPr algn="ctr"/>
              <a:r>
                <a:rPr lang="zh-CN" sz="750" b="1" dirty="0">
                  <a:solidFill>
                    <a:srgbClr val="002D4C"/>
                  </a:solidFill>
                  <a:latin typeface="Arial"/>
                  <a:ea typeface="Microsoft YaHei"/>
                  <a:cs typeface="Arial"/>
                </a:rPr>
                <a:t>Relational</a:t>
              </a:r>
            </a:p>
          </p:txBody>
        </p:sp>
        <p:sp>
          <p:nvSpPr>
            <p:cNvPr id="73" name="TextBox 73"/>
            <p:cNvSpPr txBox="1"/>
            <p:nvPr/>
          </p:nvSpPr>
          <p:spPr>
            <a:xfrm>
              <a:off x="1542478" y="4979670"/>
              <a:ext cx="286893"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8.6%</a:t>
              </a:r>
            </a:p>
          </p:txBody>
        </p:sp>
        <p:sp>
          <p:nvSpPr>
            <p:cNvPr id="74" name="TextBox 74"/>
            <p:cNvSpPr txBox="1"/>
            <p:nvPr/>
          </p:nvSpPr>
          <p:spPr>
            <a:xfrm>
              <a:off x="2141220" y="4779645"/>
              <a:ext cx="1973104"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When did T-Pain win the MTV Video</a:t>
              </a:r>
            </a:p>
          </p:txBody>
        </p:sp>
        <p:sp>
          <p:nvSpPr>
            <p:cNvPr id="75" name="TextBox 75"/>
            <p:cNvSpPr txBox="1"/>
            <p:nvPr/>
          </p:nvSpPr>
          <p:spPr>
            <a:xfrm>
              <a:off x="2141220" y="4951095"/>
              <a:ext cx="2207133"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Music Award for Best Visual Effects?</a:t>
              </a:r>
            </a:p>
          </p:txBody>
        </p:sp>
        <p:sp>
          <p:nvSpPr>
            <p:cNvPr id="76" name="TextBox 76"/>
            <p:cNvSpPr txBox="1"/>
            <p:nvPr/>
          </p:nvSpPr>
          <p:spPr>
            <a:xfrm>
              <a:off x="5570220" y="4779645"/>
              <a:ext cx="856964"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Fact retrieval</a:t>
              </a:r>
            </a:p>
          </p:txBody>
        </p:sp>
        <p:sp>
          <p:nvSpPr>
            <p:cNvPr id="77" name="TextBox 77"/>
            <p:cNvSpPr txBox="1"/>
            <p:nvPr/>
          </p:nvSpPr>
          <p:spPr>
            <a:xfrm>
              <a:off x="5570220" y="4970145"/>
              <a:ext cx="1030986"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 qualifier lookup</a:t>
              </a:r>
            </a:p>
          </p:txBody>
        </p:sp>
        <p:sp>
          <p:nvSpPr>
            <p:cNvPr id="78" name="TextBox 78"/>
            <p:cNvSpPr txBox="1"/>
            <p:nvPr/>
          </p:nvSpPr>
          <p:spPr>
            <a:xfrm>
              <a:off x="8397097" y="4846320"/>
              <a:ext cx="388906"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Fact +</a:t>
              </a:r>
            </a:p>
          </p:txBody>
        </p:sp>
        <p:sp>
          <p:nvSpPr>
            <p:cNvPr id="79" name="TextBox 79"/>
            <p:cNvSpPr txBox="1"/>
            <p:nvPr/>
          </p:nvSpPr>
          <p:spPr>
            <a:xfrm>
              <a:off x="8328088" y="5017770"/>
              <a:ext cx="526923"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qualifier</a:t>
              </a:r>
            </a:p>
          </p:txBody>
        </p:sp>
        <p:sp>
          <p:nvSpPr>
            <p:cNvPr id="80" name="TextBox 80"/>
            <p:cNvSpPr txBox="1"/>
            <p:nvPr/>
          </p:nvSpPr>
          <p:spPr>
            <a:xfrm>
              <a:off x="9756791" y="4779645"/>
              <a:ext cx="8886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2</a:t>
              </a:r>
            </a:p>
          </p:txBody>
        </p:sp>
        <p:sp>
          <p:nvSpPr>
            <p:cNvPr id="81" name="TextBox 81"/>
            <p:cNvSpPr txBox="1"/>
            <p:nvPr/>
          </p:nvSpPr>
          <p:spPr>
            <a:xfrm>
              <a:off x="9474756" y="4970145"/>
              <a:ext cx="652939" cy="182880"/>
            </a:xfrm>
            <a:prstGeom prst="rect">
              <a:avLst/>
            </a:prstGeom>
            <a:noFill/>
            <a:ln>
              <a:noFill/>
            </a:ln>
          </p:spPr>
          <p:txBody>
            <a:bodyPr wrap="none" lIns="0" tIns="0" rIns="0" bIns="0" anchor="t" anchorCtr="0">
              <a:spAutoFit/>
            </a:bodyPr>
            <a:lstStyle/>
            <a:p>
              <a:pPr algn="ctr"/>
              <a:r>
                <a:rPr lang="zh-CN" sz="900" dirty="0">
                  <a:solidFill>
                    <a:srgbClr val="768993"/>
                  </a:solidFill>
                  <a:latin typeface="Arial"/>
                  <a:ea typeface="Microsoft YaHei"/>
                  <a:cs typeface="Arial"/>
                </a:rPr>
                <a:t>(inferred)</a:t>
              </a:r>
            </a:p>
          </p:txBody>
        </p:sp>
        <p:sp>
          <p:nvSpPr>
            <p:cNvPr id="82" name="TextBox 82"/>
            <p:cNvSpPr txBox="1"/>
            <p:nvPr/>
          </p:nvSpPr>
          <p:spPr>
            <a:xfrm>
              <a:off x="10829354" y="4979670"/>
              <a:ext cx="286893"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Year</a:t>
              </a:r>
            </a:p>
          </p:txBody>
        </p:sp>
        <p:sp>
          <p:nvSpPr>
            <p:cNvPr id="83" name="Rectangle 83"/>
            <p:cNvSpPr/>
            <p:nvPr/>
          </p:nvSpPr>
          <p:spPr>
            <a:xfrm>
              <a:off x="495300" y="5372100"/>
              <a:ext cx="11201400" cy="742950"/>
            </a:xfrm>
            <a:prstGeom prst="rect">
              <a:avLst/>
            </a:prstGeom>
            <a:solidFill>
              <a:srgbClr val="F4F7F8"/>
            </a:solidFill>
            <a:ln>
              <a:noFill/>
            </a:ln>
          </p:spPr>
          <p:txBody>
            <a:bodyPr/>
            <a:lstStyle/>
            <a:p>
              <a:endParaRPr lang="zh-CN" altLang="en-US"/>
            </a:p>
          </p:txBody>
        </p:sp>
        <p:sp>
          <p:nvSpPr>
            <p:cNvPr id="84" name="TextBox 84"/>
            <p:cNvSpPr txBox="1"/>
            <p:nvPr/>
          </p:nvSpPr>
          <p:spPr>
            <a:xfrm>
              <a:off x="720321" y="5694045"/>
              <a:ext cx="407208"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Verify</a:t>
              </a:r>
            </a:p>
          </p:txBody>
        </p:sp>
        <p:sp>
          <p:nvSpPr>
            <p:cNvPr id="85" name="TextBox 85"/>
            <p:cNvSpPr txBox="1"/>
            <p:nvPr/>
          </p:nvSpPr>
          <p:spPr>
            <a:xfrm>
              <a:off x="1524476" y="5694045"/>
              <a:ext cx="32289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12.3%</a:t>
              </a:r>
            </a:p>
          </p:txBody>
        </p:sp>
        <p:sp>
          <p:nvSpPr>
            <p:cNvPr id="86" name="TextBox 86"/>
            <p:cNvSpPr txBox="1"/>
            <p:nvPr/>
          </p:nvSpPr>
          <p:spPr>
            <a:xfrm>
              <a:off x="2141220" y="5484495"/>
              <a:ext cx="2069116"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Is the elevation above sea level for</a:t>
              </a:r>
            </a:p>
          </p:txBody>
        </p:sp>
        <p:sp>
          <p:nvSpPr>
            <p:cNvPr id="87" name="TextBox 87"/>
            <p:cNvSpPr txBox="1"/>
            <p:nvPr/>
          </p:nvSpPr>
          <p:spPr>
            <a:xfrm>
              <a:off x="2141220" y="5655945"/>
              <a:ext cx="2099119"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the capital city of Guyana less than</a:t>
              </a:r>
            </a:p>
          </p:txBody>
        </p:sp>
        <p:sp>
          <p:nvSpPr>
            <p:cNvPr id="88" name="TextBox 88"/>
            <p:cNvSpPr txBox="1"/>
            <p:nvPr/>
          </p:nvSpPr>
          <p:spPr>
            <a:xfrm>
              <a:off x="2141220" y="5827395"/>
              <a:ext cx="712946"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130 meters?</a:t>
              </a:r>
            </a:p>
          </p:txBody>
        </p:sp>
        <p:sp>
          <p:nvSpPr>
            <p:cNvPr id="89" name="TextBox 89"/>
            <p:cNvSpPr txBox="1"/>
            <p:nvPr/>
          </p:nvSpPr>
          <p:spPr>
            <a:xfrm>
              <a:off x="5570220" y="5579745"/>
              <a:ext cx="1151001"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Retrieval + numeric</a:t>
              </a:r>
            </a:p>
          </p:txBody>
        </p:sp>
        <p:sp>
          <p:nvSpPr>
            <p:cNvPr id="90" name="TextBox 90"/>
            <p:cNvSpPr txBox="1"/>
            <p:nvPr/>
          </p:nvSpPr>
          <p:spPr>
            <a:xfrm>
              <a:off x="5570220" y="5770245"/>
              <a:ext cx="676942"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comparison</a:t>
              </a:r>
            </a:p>
          </p:txBody>
        </p:sp>
        <p:sp>
          <p:nvSpPr>
            <p:cNvPr id="91" name="TextBox 91"/>
            <p:cNvSpPr txBox="1"/>
            <p:nvPr/>
          </p:nvSpPr>
          <p:spPr>
            <a:xfrm>
              <a:off x="8346091" y="5579745"/>
              <a:ext cx="490919"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Linear +</a:t>
              </a:r>
            </a:p>
          </p:txBody>
        </p:sp>
        <p:sp>
          <p:nvSpPr>
            <p:cNvPr id="92" name="TextBox 92"/>
            <p:cNvSpPr txBox="1"/>
            <p:nvPr/>
          </p:nvSpPr>
          <p:spPr>
            <a:xfrm>
              <a:off x="8253079" y="5770245"/>
              <a:ext cx="676942"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comparison</a:t>
              </a:r>
            </a:p>
          </p:txBody>
        </p:sp>
        <p:sp>
          <p:nvSpPr>
            <p:cNvPr id="93" name="TextBox 93"/>
            <p:cNvSpPr txBox="1"/>
            <p:nvPr/>
          </p:nvSpPr>
          <p:spPr>
            <a:xfrm>
              <a:off x="9756791" y="5579745"/>
              <a:ext cx="88868"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3</a:t>
              </a:r>
            </a:p>
          </p:txBody>
        </p:sp>
        <p:sp>
          <p:nvSpPr>
            <p:cNvPr id="94" name="TextBox 94"/>
            <p:cNvSpPr txBox="1"/>
            <p:nvPr/>
          </p:nvSpPr>
          <p:spPr>
            <a:xfrm>
              <a:off x="9474756" y="5770245"/>
              <a:ext cx="652939" cy="182880"/>
            </a:xfrm>
            <a:prstGeom prst="rect">
              <a:avLst/>
            </a:prstGeom>
            <a:noFill/>
            <a:ln>
              <a:noFill/>
            </a:ln>
          </p:spPr>
          <p:txBody>
            <a:bodyPr wrap="none" lIns="0" tIns="0" rIns="0" bIns="0" anchor="t" anchorCtr="0">
              <a:spAutoFit/>
            </a:bodyPr>
            <a:lstStyle/>
            <a:p>
              <a:pPr algn="ctr"/>
              <a:r>
                <a:rPr lang="zh-CN" sz="900" dirty="0">
                  <a:solidFill>
                    <a:srgbClr val="768993"/>
                  </a:solidFill>
                  <a:latin typeface="Arial"/>
                  <a:ea typeface="Microsoft YaHei"/>
                  <a:cs typeface="Arial"/>
                </a:rPr>
                <a:t>(inferred)</a:t>
              </a:r>
            </a:p>
          </p:txBody>
        </p:sp>
        <p:sp>
          <p:nvSpPr>
            <p:cNvPr id="95" name="TextBox 95"/>
            <p:cNvSpPr txBox="1"/>
            <p:nvPr/>
          </p:nvSpPr>
          <p:spPr>
            <a:xfrm>
              <a:off x="10745343" y="5694045"/>
              <a:ext cx="454914"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Boolean</a:t>
              </a:r>
            </a:p>
          </p:txBody>
        </p:sp>
        <p:sp>
          <p:nvSpPr>
            <p:cNvPr id="96" name="Line 96"/>
            <p:cNvSpPr/>
            <p:nvPr/>
          </p:nvSpPr>
          <p:spPr>
            <a:xfrm>
              <a:off x="135255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97" name="Line 97"/>
            <p:cNvSpPr/>
            <p:nvPr/>
          </p:nvSpPr>
          <p:spPr>
            <a:xfrm>
              <a:off x="201930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98" name="Line 98"/>
            <p:cNvSpPr/>
            <p:nvPr/>
          </p:nvSpPr>
          <p:spPr>
            <a:xfrm>
              <a:off x="544830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99" name="Line 99"/>
            <p:cNvSpPr/>
            <p:nvPr/>
          </p:nvSpPr>
          <p:spPr>
            <a:xfrm>
              <a:off x="782955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100" name="Line 100"/>
            <p:cNvSpPr/>
            <p:nvPr/>
          </p:nvSpPr>
          <p:spPr>
            <a:xfrm>
              <a:off x="935355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101" name="Line 101"/>
            <p:cNvSpPr/>
            <p:nvPr/>
          </p:nvSpPr>
          <p:spPr>
            <a:xfrm>
              <a:off x="10258425"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grpSp>
      <p:grpSp>
        <p:nvGrpSpPr>
          <p:cNvPr id="107" name="Group 107"/>
          <p:cNvGrpSpPr/>
          <p:nvPr/>
        </p:nvGrpSpPr>
        <p:grpSpPr>
          <a:xfrm>
            <a:off x="485775" y="6167438"/>
            <a:ext cx="11210925" cy="590550"/>
            <a:chOff x="485775" y="6167438"/>
            <a:chExt cx="11210925" cy="590550"/>
          </a:xfrm>
        </p:grpSpPr>
        <p:sp>
          <p:nvSpPr>
            <p:cNvPr id="103" name="TextBox 103"/>
            <p:cNvSpPr txBox="1"/>
            <p:nvPr/>
          </p:nvSpPr>
          <p:spPr>
            <a:xfrm>
              <a:off x="485775" y="6167438"/>
              <a:ext cx="4234577"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KQA Pro Dataset Analysis · Hop counts are inferred using KQA Pro's definition</a:t>
              </a:r>
            </a:p>
          </p:txBody>
        </p:sp>
        <p:sp>
          <p:nvSpPr>
            <p:cNvPr id="104" name="Line 104"/>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105" name="TextBox 105"/>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106" name="TextBox 106"/>
            <p:cNvSpPr txBox="1"/>
            <p:nvPr/>
          </p:nvSpPr>
          <p:spPr>
            <a:xfrm>
              <a:off x="10887075" y="6605588"/>
              <a:ext cx="12906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04</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ipe(left)">
                                      <p:cBhvr>
                                        <p:cTn id="7" dur="4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0" y="0"/>
            <a:ext cx="6387466" cy="6858000"/>
            <a:chOff x="0" y="0"/>
            <a:chExt cx="6387466" cy="6858000"/>
          </a:xfrm>
        </p:grpSpPr>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48640" y="410528"/>
              <a:ext cx="5114401"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KQA Pro Case 1: SelectBetween</a:t>
              </a:r>
            </a:p>
          </p:txBody>
        </p:sp>
        <p:sp>
          <p:nvSpPr>
            <p:cNvPr id="5" name="TextBox 5"/>
            <p:cNvSpPr txBox="1"/>
            <p:nvPr/>
          </p:nvSpPr>
          <p:spPr>
            <a:xfrm>
              <a:off x="574358" y="862489"/>
              <a:ext cx="5813108"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Multi-anchor retrieval with a constraint and an attribute comparison</a:t>
              </a:r>
            </a:p>
          </p:txBody>
        </p:sp>
      </p:grpSp>
      <p:grpSp>
        <p:nvGrpSpPr>
          <p:cNvPr id="14" name="Group 14"/>
          <p:cNvGrpSpPr/>
          <p:nvPr/>
        </p:nvGrpSpPr>
        <p:grpSpPr>
          <a:xfrm>
            <a:off x="590550" y="1219200"/>
            <a:ext cx="11010900" cy="750094"/>
            <a:chOff x="590550" y="1219200"/>
            <a:chExt cx="11010900" cy="750094"/>
          </a:xfrm>
        </p:grpSpPr>
        <p:sp>
          <p:nvSpPr>
            <p:cNvPr id="7" name="Rectangle 7"/>
            <p:cNvSpPr/>
            <p:nvPr/>
          </p:nvSpPr>
          <p:spPr>
            <a:xfrm>
              <a:off x="590550" y="1219200"/>
              <a:ext cx="11010900" cy="704850"/>
            </a:xfrm>
            <a:prstGeom prst="rect">
              <a:avLst/>
            </a:prstGeom>
            <a:solidFill>
              <a:srgbClr val="EAF6F4"/>
            </a:solidFill>
            <a:ln w="14288">
              <a:solidFill>
                <a:srgbClr val="009682"/>
              </a:solidFill>
            </a:ln>
          </p:spPr>
          <p:txBody>
            <a:bodyPr/>
            <a:lstStyle/>
            <a:p>
              <a:endParaRPr lang="zh-CN" altLang="en-US"/>
            </a:p>
          </p:txBody>
        </p:sp>
        <p:sp>
          <p:nvSpPr>
            <p:cNvPr id="8" name="TextBox 8"/>
            <p:cNvSpPr txBox="1"/>
            <p:nvPr/>
          </p:nvSpPr>
          <p:spPr>
            <a:xfrm>
              <a:off x="768668" y="1361599"/>
              <a:ext cx="645918"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QUESTION</a:t>
              </a:r>
            </a:p>
          </p:txBody>
        </p:sp>
        <p:sp>
          <p:nvSpPr>
            <p:cNvPr id="9" name="TextBox 9"/>
            <p:cNvSpPr txBox="1"/>
            <p:nvPr/>
          </p:nvSpPr>
          <p:spPr>
            <a:xfrm>
              <a:off x="764858" y="1519714"/>
              <a:ext cx="6017133"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Which area has higher elevation (above sea level), Baghdad or Jerusalem</a:t>
              </a:r>
            </a:p>
          </p:txBody>
        </p:sp>
        <p:sp>
          <p:nvSpPr>
            <p:cNvPr id="10" name="TextBox 10"/>
            <p:cNvSpPr txBox="1"/>
            <p:nvPr/>
          </p:nvSpPr>
          <p:spPr>
            <a:xfrm>
              <a:off x="764858" y="1710214"/>
              <a:ext cx="3092768"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(the one whose population is 75200)?</a:t>
              </a:r>
            </a:p>
          </p:txBody>
        </p:sp>
        <p:sp>
          <p:nvSpPr>
            <p:cNvPr id="11" name="Rectangle 11"/>
            <p:cNvSpPr/>
            <p:nvPr/>
          </p:nvSpPr>
          <p:spPr>
            <a:xfrm>
              <a:off x="9734550" y="1362075"/>
              <a:ext cx="1619250" cy="400050"/>
            </a:xfrm>
            <a:prstGeom prst="rect">
              <a:avLst/>
            </a:prstGeom>
            <a:solidFill>
              <a:srgbClr val="002D4C"/>
            </a:solidFill>
            <a:ln>
              <a:noFill/>
            </a:ln>
          </p:spPr>
          <p:txBody>
            <a:bodyPr/>
            <a:lstStyle/>
            <a:p>
              <a:endParaRPr lang="zh-CN" altLang="en-US"/>
            </a:p>
          </p:txBody>
        </p:sp>
        <p:sp>
          <p:nvSpPr>
            <p:cNvPr id="12" name="TextBox 12"/>
            <p:cNvSpPr txBox="1"/>
            <p:nvPr/>
          </p:nvSpPr>
          <p:spPr>
            <a:xfrm>
              <a:off x="10209109" y="1443038"/>
              <a:ext cx="670131"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GOLD ANSWER</a:t>
              </a:r>
            </a:p>
          </p:txBody>
        </p:sp>
        <p:sp>
          <p:nvSpPr>
            <p:cNvPr id="13" name="TextBox 13"/>
            <p:cNvSpPr txBox="1"/>
            <p:nvPr/>
          </p:nvSpPr>
          <p:spPr>
            <a:xfrm>
              <a:off x="10090603" y="1567339"/>
              <a:ext cx="90714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Jerusalem</a:t>
              </a:r>
            </a:p>
          </p:txBody>
        </p:sp>
      </p:grpSp>
      <p:grpSp>
        <p:nvGrpSpPr>
          <p:cNvPr id="32" name="Group 32"/>
          <p:cNvGrpSpPr/>
          <p:nvPr/>
        </p:nvGrpSpPr>
        <p:grpSpPr>
          <a:xfrm>
            <a:off x="590550" y="2114550"/>
            <a:ext cx="4099513" cy="3257550"/>
            <a:chOff x="590550" y="2114550"/>
            <a:chExt cx="4099513" cy="3257550"/>
          </a:xfrm>
        </p:grpSpPr>
        <p:sp>
          <p:nvSpPr>
            <p:cNvPr id="15" name="Rectangle 15"/>
            <p:cNvSpPr/>
            <p:nvPr/>
          </p:nvSpPr>
          <p:spPr>
            <a:xfrm>
              <a:off x="590550" y="2114550"/>
              <a:ext cx="4000500" cy="3257550"/>
            </a:xfrm>
            <a:prstGeom prst="rect">
              <a:avLst/>
            </a:prstGeom>
            <a:solidFill>
              <a:srgbClr val="F4F7F8"/>
            </a:solidFill>
            <a:ln w="14288">
              <a:solidFill>
                <a:srgbClr val="DAE1E6"/>
              </a:solidFill>
            </a:ln>
          </p:spPr>
          <p:txBody>
            <a:bodyPr/>
            <a:lstStyle/>
            <a:p>
              <a:endParaRPr lang="zh-CN" altLang="en-US"/>
            </a:p>
          </p:txBody>
        </p:sp>
        <p:sp>
          <p:nvSpPr>
            <p:cNvPr id="16" name="Rectangle 16"/>
            <p:cNvSpPr/>
            <p:nvPr/>
          </p:nvSpPr>
          <p:spPr>
            <a:xfrm>
              <a:off x="590550" y="2114550"/>
              <a:ext cx="4000500" cy="400050"/>
            </a:xfrm>
            <a:prstGeom prst="rect">
              <a:avLst/>
            </a:prstGeom>
            <a:solidFill>
              <a:srgbClr val="002D4C"/>
            </a:solidFill>
            <a:ln>
              <a:noFill/>
            </a:ln>
          </p:spPr>
          <p:txBody>
            <a:bodyPr/>
            <a:lstStyle/>
            <a:p>
              <a:endParaRPr lang="zh-CN" altLang="en-US"/>
            </a:p>
          </p:txBody>
        </p:sp>
        <p:sp>
          <p:nvSpPr>
            <p:cNvPr id="17" name="TextBox 17"/>
            <p:cNvSpPr txBox="1"/>
            <p:nvPr/>
          </p:nvSpPr>
          <p:spPr>
            <a:xfrm>
              <a:off x="764858" y="2234089"/>
              <a:ext cx="298692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Case metadata and simplified KoPL</a:t>
              </a:r>
            </a:p>
          </p:txBody>
        </p:sp>
        <p:sp>
          <p:nvSpPr>
            <p:cNvPr id="18" name="TextBox 18"/>
            <p:cNvSpPr txBox="1"/>
            <p:nvPr/>
          </p:nvSpPr>
          <p:spPr>
            <a:xfrm>
              <a:off x="769620" y="2703195"/>
              <a:ext cx="146574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OFFICIAL QUESTION TYPE</a:t>
              </a:r>
            </a:p>
          </p:txBody>
        </p:sp>
        <p:sp>
          <p:nvSpPr>
            <p:cNvPr id="19" name="TextBox 19"/>
            <p:cNvSpPr txBox="1"/>
            <p:nvPr/>
          </p:nvSpPr>
          <p:spPr>
            <a:xfrm>
              <a:off x="2498408" y="2662714"/>
              <a:ext cx="1299893"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SelectBetween</a:t>
              </a:r>
            </a:p>
          </p:txBody>
        </p:sp>
        <p:sp>
          <p:nvSpPr>
            <p:cNvPr id="20" name="TextBox 20"/>
            <p:cNvSpPr txBox="1"/>
            <p:nvPr/>
          </p:nvSpPr>
          <p:spPr>
            <a:xfrm>
              <a:off x="769620" y="3007995"/>
              <a:ext cx="892369"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GRAPH PATTERN</a:t>
              </a:r>
            </a:p>
          </p:txBody>
        </p:sp>
        <p:sp>
          <p:nvSpPr>
            <p:cNvPr id="21" name="TextBox 21"/>
            <p:cNvSpPr txBox="1"/>
            <p:nvPr/>
          </p:nvSpPr>
          <p:spPr>
            <a:xfrm>
              <a:off x="2498408" y="2967514"/>
              <a:ext cx="219165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Multi-anchor + constraint</a:t>
              </a:r>
            </a:p>
          </p:txBody>
        </p:sp>
        <p:sp>
          <p:nvSpPr>
            <p:cNvPr id="22" name="TextBox 22"/>
            <p:cNvSpPr txBox="1"/>
            <p:nvPr/>
          </p:nvSpPr>
          <p:spPr>
            <a:xfrm>
              <a:off x="769620" y="3312795"/>
              <a:ext cx="66554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HOP COUNT</a:t>
              </a:r>
            </a:p>
          </p:txBody>
        </p:sp>
        <p:sp>
          <p:nvSpPr>
            <p:cNvPr id="23" name="TextBox 23"/>
            <p:cNvSpPr txBox="1"/>
            <p:nvPr/>
          </p:nvSpPr>
          <p:spPr>
            <a:xfrm>
              <a:off x="2498408" y="3272314"/>
              <a:ext cx="106951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4 </a:t>
              </a:r>
              <a:r>
                <a:rPr lang="zh-CN" sz="1275" dirty="0">
                  <a:solidFill>
                    <a:srgbClr val="768993"/>
                  </a:solidFill>
                  <a:latin typeface="Arial"/>
                  <a:ea typeface="Microsoft YaHei"/>
                  <a:cs typeface="Arial"/>
                </a:rPr>
                <a:t>(inferred)</a:t>
              </a:r>
            </a:p>
          </p:txBody>
        </p:sp>
        <p:sp>
          <p:nvSpPr>
            <p:cNvPr id="24" name="TextBox 24"/>
            <p:cNvSpPr txBox="1"/>
            <p:nvPr/>
          </p:nvSpPr>
          <p:spPr>
            <a:xfrm>
              <a:off x="769620" y="3617595"/>
              <a:ext cx="778955"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ANSWER TYPE</a:t>
              </a:r>
            </a:p>
          </p:txBody>
        </p:sp>
        <p:sp>
          <p:nvSpPr>
            <p:cNvPr id="25" name="TextBox 25"/>
            <p:cNvSpPr txBox="1"/>
            <p:nvPr/>
          </p:nvSpPr>
          <p:spPr>
            <a:xfrm>
              <a:off x="2498408" y="3577114"/>
              <a:ext cx="550950"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Entity</a:t>
              </a:r>
            </a:p>
          </p:txBody>
        </p:sp>
        <p:sp>
          <p:nvSpPr>
            <p:cNvPr id="26" name="Line 26"/>
            <p:cNvSpPr/>
            <p:nvPr/>
          </p:nvSpPr>
          <p:spPr>
            <a:xfrm>
              <a:off x="781050" y="392430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7" name="TextBox 27"/>
            <p:cNvSpPr txBox="1"/>
            <p:nvPr/>
          </p:nvSpPr>
          <p:spPr>
            <a:xfrm>
              <a:off x="769620" y="4093845"/>
              <a:ext cx="98688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SIMPLIFIED KOPL</a:t>
              </a:r>
            </a:p>
          </p:txBody>
        </p:sp>
        <p:sp>
          <p:nvSpPr>
            <p:cNvPr id="28" name="TextBox 28"/>
            <p:cNvSpPr txBox="1"/>
            <p:nvPr/>
          </p:nvSpPr>
          <p:spPr>
            <a:xfrm>
              <a:off x="766762" y="4345781"/>
              <a:ext cx="1063704" cy="228600"/>
            </a:xfrm>
            <a:prstGeom prst="rect">
              <a:avLst/>
            </a:prstGeom>
            <a:noFill/>
            <a:ln>
              <a:noFill/>
            </a:ln>
          </p:spPr>
          <p:txBody>
            <a:bodyPr wrap="none" lIns="0" tIns="0" rIns="0" bIns="0" anchor="t" anchorCtr="0">
              <a:spAutoFit/>
            </a:bodyPr>
            <a:lstStyle/>
            <a:p>
              <a:pPr algn="l"/>
              <a:r>
                <a:rPr lang="zh-CN" sz="1125" dirty="0">
                  <a:solidFill>
                    <a:srgbClr val="005A50"/>
                  </a:solidFill>
                  <a:latin typeface="Consolas"/>
                  <a:ea typeface="Microsoft YaHei"/>
                  <a:cs typeface="Consolas"/>
                </a:rPr>
                <a:t>Find(Baghdad)</a:t>
              </a:r>
            </a:p>
          </p:txBody>
        </p:sp>
        <p:sp>
          <p:nvSpPr>
            <p:cNvPr id="29" name="TextBox 29"/>
            <p:cNvSpPr txBox="1"/>
            <p:nvPr/>
          </p:nvSpPr>
          <p:spPr>
            <a:xfrm>
              <a:off x="766762" y="4583906"/>
              <a:ext cx="1221224" cy="228600"/>
            </a:xfrm>
            <a:prstGeom prst="rect">
              <a:avLst/>
            </a:prstGeom>
            <a:noFill/>
            <a:ln>
              <a:noFill/>
            </a:ln>
          </p:spPr>
          <p:txBody>
            <a:bodyPr wrap="none" lIns="0" tIns="0" rIns="0" bIns="0" anchor="t" anchorCtr="0">
              <a:spAutoFit/>
            </a:bodyPr>
            <a:lstStyle/>
            <a:p>
              <a:pPr algn="l"/>
              <a:r>
                <a:rPr lang="zh-CN" sz="1125" dirty="0">
                  <a:solidFill>
                    <a:srgbClr val="005A50"/>
                  </a:solidFill>
                  <a:latin typeface="Consolas"/>
                  <a:ea typeface="Microsoft YaHei"/>
                  <a:cs typeface="Consolas"/>
                </a:rPr>
                <a:t>Find(Jerusalem)</a:t>
              </a:r>
            </a:p>
          </p:txBody>
        </p:sp>
        <p:sp>
          <p:nvSpPr>
            <p:cNvPr id="30" name="TextBox 30"/>
            <p:cNvSpPr txBox="1"/>
            <p:nvPr/>
          </p:nvSpPr>
          <p:spPr>
            <a:xfrm>
              <a:off x="766762" y="4822031"/>
              <a:ext cx="2518886" cy="228600"/>
            </a:xfrm>
            <a:prstGeom prst="rect">
              <a:avLst/>
            </a:prstGeom>
            <a:noFill/>
            <a:ln>
              <a:noFill/>
            </a:ln>
          </p:spPr>
          <p:txBody>
            <a:bodyPr wrap="none" lIns="0" tIns="0" rIns="0" bIns="0" anchor="t" anchorCtr="0">
              <a:spAutoFit/>
            </a:bodyPr>
            <a:lstStyle/>
            <a:p>
              <a:pPr algn="l"/>
              <a:r>
                <a:rPr lang="zh-CN" sz="1125" dirty="0">
                  <a:solidFill>
                    <a:srgbClr val="005A50"/>
                  </a:solidFill>
                  <a:latin typeface="Consolas"/>
                  <a:ea typeface="Microsoft YaHei"/>
                  <a:cs typeface="Consolas"/>
                </a:rPr>
                <a:t>→ FilterNum(population, 75200, =)</a:t>
              </a:r>
            </a:p>
          </p:txBody>
        </p:sp>
        <p:sp>
          <p:nvSpPr>
            <p:cNvPr id="31" name="TextBox 31"/>
            <p:cNvSpPr txBox="1"/>
            <p:nvPr/>
          </p:nvSpPr>
          <p:spPr>
            <a:xfrm>
              <a:off x="766762" y="5060156"/>
              <a:ext cx="2758916" cy="228600"/>
            </a:xfrm>
            <a:prstGeom prst="rect">
              <a:avLst/>
            </a:prstGeom>
            <a:noFill/>
            <a:ln>
              <a:noFill/>
            </a:ln>
          </p:spPr>
          <p:txBody>
            <a:bodyPr wrap="none" lIns="0" tIns="0" rIns="0" bIns="0" anchor="t" anchorCtr="0">
              <a:spAutoFit/>
            </a:bodyPr>
            <a:lstStyle/>
            <a:p>
              <a:pPr algn="l"/>
              <a:r>
                <a:rPr lang="zh-CN" sz="1125" dirty="0">
                  <a:solidFill>
                    <a:srgbClr val="005A50"/>
                  </a:solidFill>
                  <a:latin typeface="Consolas"/>
                  <a:ea typeface="Microsoft YaHei"/>
                  <a:cs typeface="Consolas"/>
                </a:rPr>
                <a:t>→ SelectBetween(elevation, greater)</a:t>
              </a:r>
            </a:p>
          </p:txBody>
        </p:sp>
      </p:grpSp>
      <p:grpSp>
        <p:nvGrpSpPr>
          <p:cNvPr id="65" name="Group 65"/>
          <p:cNvGrpSpPr/>
          <p:nvPr/>
        </p:nvGrpSpPr>
        <p:grpSpPr>
          <a:xfrm>
            <a:off x="4936808" y="2234089"/>
            <a:ext cx="6664642" cy="1785461"/>
            <a:chOff x="4936808" y="2234089"/>
            <a:chExt cx="6664642" cy="1785461"/>
          </a:xfrm>
        </p:grpSpPr>
        <p:sp>
          <p:nvSpPr>
            <p:cNvPr id="33" name="TextBox 33"/>
            <p:cNvSpPr txBox="1"/>
            <p:nvPr/>
          </p:nvSpPr>
          <p:spPr>
            <a:xfrm>
              <a:off x="4936808" y="2234089"/>
              <a:ext cx="2397806"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Operational interpretation</a:t>
              </a:r>
            </a:p>
          </p:txBody>
        </p:sp>
        <p:sp>
          <p:nvSpPr>
            <p:cNvPr id="34" name="Line 34"/>
            <p:cNvSpPr/>
            <p:nvPr/>
          </p:nvSpPr>
          <p:spPr>
            <a:xfrm>
              <a:off x="4953000" y="2524125"/>
              <a:ext cx="6648450" cy="9525"/>
            </a:xfrm>
            <a:custGeom>
              <a:avLst/>
              <a:gdLst/>
              <a:ahLst/>
              <a:cxnLst/>
              <a:rect l="l" t="t" r="r" b="b"/>
              <a:pathLst>
                <a:path w="6648450" h="9525">
                  <a:moveTo>
                    <a:pt x="0" y="0"/>
                  </a:moveTo>
                  <a:lnTo>
                    <a:pt x="6648450" y="0"/>
                  </a:lnTo>
                </a:path>
              </a:pathLst>
            </a:custGeom>
            <a:noFill/>
            <a:ln w="9525">
              <a:solidFill>
                <a:srgbClr val="DAE1E6"/>
              </a:solidFill>
            </a:ln>
          </p:spPr>
          <p:txBody>
            <a:bodyPr/>
            <a:lstStyle/>
            <a:p>
              <a:endParaRPr lang="zh-CN" altLang="en-US"/>
            </a:p>
          </p:txBody>
        </p:sp>
        <p:sp>
          <p:nvSpPr>
            <p:cNvPr id="35" name="Rectangle 35"/>
            <p:cNvSpPr/>
            <p:nvPr/>
          </p:nvSpPr>
          <p:spPr>
            <a:xfrm>
              <a:off x="4953000" y="2895600"/>
              <a:ext cx="1123950" cy="1123950"/>
            </a:xfrm>
            <a:prstGeom prst="rect">
              <a:avLst/>
            </a:prstGeom>
            <a:solidFill>
              <a:srgbClr val="F4F7F8"/>
            </a:solidFill>
            <a:ln w="14288">
              <a:solidFill>
                <a:srgbClr val="DAE1E6"/>
              </a:solidFill>
            </a:ln>
          </p:spPr>
          <p:txBody>
            <a:bodyPr/>
            <a:lstStyle/>
            <a:p>
              <a:endParaRPr lang="zh-CN" altLang="en-US"/>
            </a:p>
          </p:txBody>
        </p:sp>
        <p:sp>
          <p:nvSpPr>
            <p:cNvPr id="36" name="Ellipse 36"/>
            <p:cNvSpPr/>
            <p:nvPr/>
          </p:nvSpPr>
          <p:spPr>
            <a:xfrm>
              <a:off x="5372100" y="2952750"/>
              <a:ext cx="285750" cy="285750"/>
            </a:xfrm>
            <a:prstGeom prst="ellipse">
              <a:avLst/>
            </a:prstGeom>
            <a:solidFill>
              <a:srgbClr val="002D4C"/>
            </a:solidFill>
            <a:ln>
              <a:noFill/>
            </a:ln>
          </p:spPr>
          <p:txBody>
            <a:bodyPr/>
            <a:lstStyle/>
            <a:p>
              <a:endParaRPr lang="zh-CN" altLang="en-US"/>
            </a:p>
          </p:txBody>
        </p:sp>
        <p:sp>
          <p:nvSpPr>
            <p:cNvPr id="37" name="TextBox 37"/>
            <p:cNvSpPr txBox="1"/>
            <p:nvPr/>
          </p:nvSpPr>
          <p:spPr>
            <a:xfrm>
              <a:off x="5484643" y="3046095"/>
              <a:ext cx="606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38" name="TextBox 38"/>
            <p:cNvSpPr txBox="1"/>
            <p:nvPr/>
          </p:nvSpPr>
          <p:spPr>
            <a:xfrm>
              <a:off x="5071446" y="3355181"/>
              <a:ext cx="887057"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Locate two</a:t>
              </a:r>
            </a:p>
          </p:txBody>
        </p:sp>
        <p:sp>
          <p:nvSpPr>
            <p:cNvPr id="39" name="TextBox 39"/>
            <p:cNvSpPr txBox="1"/>
            <p:nvPr/>
          </p:nvSpPr>
          <p:spPr>
            <a:xfrm>
              <a:off x="5087198" y="3555206"/>
              <a:ext cx="855553"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candidates</a:t>
              </a:r>
            </a:p>
          </p:txBody>
        </p:sp>
        <p:sp>
          <p:nvSpPr>
            <p:cNvPr id="40" name="Polygon 40"/>
            <p:cNvSpPr/>
            <p:nvPr/>
          </p:nvSpPr>
          <p:spPr>
            <a:xfrm>
              <a:off x="61912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1" name="Rectangle 41"/>
            <p:cNvSpPr/>
            <p:nvPr/>
          </p:nvSpPr>
          <p:spPr>
            <a:xfrm>
              <a:off x="6496050" y="2895600"/>
              <a:ext cx="1123950" cy="1123950"/>
            </a:xfrm>
            <a:prstGeom prst="rect">
              <a:avLst/>
            </a:prstGeom>
            <a:solidFill>
              <a:srgbClr val="EAF6F4"/>
            </a:solidFill>
            <a:ln w="14288">
              <a:solidFill>
                <a:srgbClr val="DAE1E6"/>
              </a:solidFill>
            </a:ln>
          </p:spPr>
          <p:txBody>
            <a:bodyPr/>
            <a:lstStyle/>
            <a:p>
              <a:endParaRPr lang="zh-CN" altLang="en-US"/>
            </a:p>
          </p:txBody>
        </p:sp>
        <p:sp>
          <p:nvSpPr>
            <p:cNvPr id="42" name="Ellipse 42"/>
            <p:cNvSpPr/>
            <p:nvPr/>
          </p:nvSpPr>
          <p:spPr>
            <a:xfrm>
              <a:off x="6915150" y="2952750"/>
              <a:ext cx="285750" cy="285750"/>
            </a:xfrm>
            <a:prstGeom prst="ellipse">
              <a:avLst/>
            </a:prstGeom>
            <a:solidFill>
              <a:srgbClr val="009682"/>
            </a:solidFill>
            <a:ln>
              <a:noFill/>
            </a:ln>
          </p:spPr>
          <p:txBody>
            <a:bodyPr/>
            <a:lstStyle/>
            <a:p>
              <a:endParaRPr lang="zh-CN" altLang="en-US"/>
            </a:p>
          </p:txBody>
        </p:sp>
        <p:sp>
          <p:nvSpPr>
            <p:cNvPr id="43" name="TextBox 43"/>
            <p:cNvSpPr txBox="1"/>
            <p:nvPr/>
          </p:nvSpPr>
          <p:spPr>
            <a:xfrm>
              <a:off x="701194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44" name="TextBox 44"/>
            <p:cNvSpPr txBox="1"/>
            <p:nvPr/>
          </p:nvSpPr>
          <p:spPr>
            <a:xfrm>
              <a:off x="6846838" y="3259931"/>
              <a:ext cx="422374"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Apply</a:t>
              </a:r>
            </a:p>
          </p:txBody>
        </p:sp>
        <p:sp>
          <p:nvSpPr>
            <p:cNvPr id="45" name="TextBox 45"/>
            <p:cNvSpPr txBox="1"/>
            <p:nvPr/>
          </p:nvSpPr>
          <p:spPr>
            <a:xfrm>
              <a:off x="6649938" y="3459956"/>
              <a:ext cx="816173"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population</a:t>
              </a:r>
            </a:p>
          </p:txBody>
        </p:sp>
        <p:sp>
          <p:nvSpPr>
            <p:cNvPr id="46" name="TextBox 46"/>
            <p:cNvSpPr txBox="1"/>
            <p:nvPr/>
          </p:nvSpPr>
          <p:spPr>
            <a:xfrm>
              <a:off x="6630248" y="3659981"/>
              <a:ext cx="855553"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constraint</a:t>
              </a:r>
            </a:p>
          </p:txBody>
        </p:sp>
        <p:sp>
          <p:nvSpPr>
            <p:cNvPr id="47" name="Polygon 47"/>
            <p:cNvSpPr/>
            <p:nvPr/>
          </p:nvSpPr>
          <p:spPr>
            <a:xfrm>
              <a:off x="773430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8" name="Rectangle 48"/>
            <p:cNvSpPr/>
            <p:nvPr/>
          </p:nvSpPr>
          <p:spPr>
            <a:xfrm>
              <a:off x="8039100" y="2895600"/>
              <a:ext cx="1123950" cy="1123950"/>
            </a:xfrm>
            <a:prstGeom prst="rect">
              <a:avLst/>
            </a:prstGeom>
            <a:solidFill>
              <a:srgbClr val="F4F7F8"/>
            </a:solidFill>
            <a:ln w="14288">
              <a:solidFill>
                <a:srgbClr val="DAE1E6"/>
              </a:solidFill>
            </a:ln>
          </p:spPr>
          <p:txBody>
            <a:bodyPr/>
            <a:lstStyle/>
            <a:p>
              <a:endParaRPr lang="zh-CN" altLang="en-US"/>
            </a:p>
          </p:txBody>
        </p:sp>
        <p:sp>
          <p:nvSpPr>
            <p:cNvPr id="49" name="Ellipse 49"/>
            <p:cNvSpPr/>
            <p:nvPr/>
          </p:nvSpPr>
          <p:spPr>
            <a:xfrm>
              <a:off x="8458200" y="2952750"/>
              <a:ext cx="285750" cy="285750"/>
            </a:xfrm>
            <a:prstGeom prst="ellipse">
              <a:avLst/>
            </a:prstGeom>
            <a:solidFill>
              <a:srgbClr val="23A1E0"/>
            </a:solidFill>
            <a:ln>
              <a:noFill/>
            </a:ln>
          </p:spPr>
          <p:txBody>
            <a:bodyPr/>
            <a:lstStyle/>
            <a:p>
              <a:endParaRPr lang="zh-CN" altLang="en-US"/>
            </a:p>
          </p:txBody>
        </p:sp>
        <p:sp>
          <p:nvSpPr>
            <p:cNvPr id="50" name="TextBox 50"/>
            <p:cNvSpPr txBox="1"/>
            <p:nvPr/>
          </p:nvSpPr>
          <p:spPr>
            <a:xfrm>
              <a:off x="855499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51" name="TextBox 51"/>
            <p:cNvSpPr txBox="1"/>
            <p:nvPr/>
          </p:nvSpPr>
          <p:spPr>
            <a:xfrm>
              <a:off x="8259934" y="3355181"/>
              <a:ext cx="68228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Retrieve</a:t>
              </a:r>
            </a:p>
          </p:txBody>
        </p:sp>
        <p:sp>
          <p:nvSpPr>
            <p:cNvPr id="52" name="TextBox 52"/>
            <p:cNvSpPr txBox="1"/>
            <p:nvPr/>
          </p:nvSpPr>
          <p:spPr>
            <a:xfrm>
              <a:off x="8192988" y="3555206"/>
              <a:ext cx="816173"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elevations</a:t>
              </a:r>
            </a:p>
          </p:txBody>
        </p:sp>
        <p:sp>
          <p:nvSpPr>
            <p:cNvPr id="53" name="Polygon 53"/>
            <p:cNvSpPr/>
            <p:nvPr/>
          </p:nvSpPr>
          <p:spPr>
            <a:xfrm>
              <a:off x="92773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54" name="Rectangle 54"/>
            <p:cNvSpPr/>
            <p:nvPr/>
          </p:nvSpPr>
          <p:spPr>
            <a:xfrm>
              <a:off x="9582150" y="2895600"/>
              <a:ext cx="876300" cy="1123950"/>
            </a:xfrm>
            <a:prstGeom prst="rect">
              <a:avLst/>
            </a:prstGeom>
            <a:solidFill>
              <a:srgbClr val="EAF6F4"/>
            </a:solidFill>
            <a:ln w="14288">
              <a:solidFill>
                <a:srgbClr val="DAE1E6"/>
              </a:solidFill>
            </a:ln>
          </p:spPr>
          <p:txBody>
            <a:bodyPr/>
            <a:lstStyle/>
            <a:p>
              <a:endParaRPr lang="zh-CN" altLang="en-US"/>
            </a:p>
          </p:txBody>
        </p:sp>
        <p:sp>
          <p:nvSpPr>
            <p:cNvPr id="55" name="Ellipse 55"/>
            <p:cNvSpPr/>
            <p:nvPr/>
          </p:nvSpPr>
          <p:spPr>
            <a:xfrm>
              <a:off x="9877425" y="2952750"/>
              <a:ext cx="285750" cy="285750"/>
            </a:xfrm>
            <a:prstGeom prst="ellipse">
              <a:avLst/>
            </a:prstGeom>
            <a:solidFill>
              <a:srgbClr val="009682"/>
            </a:solidFill>
            <a:ln>
              <a:noFill/>
            </a:ln>
          </p:spPr>
          <p:txBody>
            <a:bodyPr/>
            <a:lstStyle/>
            <a:p>
              <a:endParaRPr lang="zh-CN" altLang="en-US"/>
            </a:p>
          </p:txBody>
        </p:sp>
        <p:sp>
          <p:nvSpPr>
            <p:cNvPr id="56" name="TextBox 56"/>
            <p:cNvSpPr txBox="1"/>
            <p:nvPr/>
          </p:nvSpPr>
          <p:spPr>
            <a:xfrm>
              <a:off x="997421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57" name="TextBox 57"/>
            <p:cNvSpPr txBox="1"/>
            <p:nvPr/>
          </p:nvSpPr>
          <p:spPr>
            <a:xfrm>
              <a:off x="9687035" y="3355181"/>
              <a:ext cx="666530"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Compare</a:t>
              </a:r>
            </a:p>
          </p:txBody>
        </p:sp>
        <p:sp>
          <p:nvSpPr>
            <p:cNvPr id="58" name="TextBox 58"/>
            <p:cNvSpPr txBox="1"/>
            <p:nvPr/>
          </p:nvSpPr>
          <p:spPr>
            <a:xfrm>
              <a:off x="9765795" y="3555206"/>
              <a:ext cx="509010"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values</a:t>
              </a:r>
            </a:p>
          </p:txBody>
        </p:sp>
        <p:sp>
          <p:nvSpPr>
            <p:cNvPr id="59" name="Polygon 59"/>
            <p:cNvSpPr/>
            <p:nvPr/>
          </p:nvSpPr>
          <p:spPr>
            <a:xfrm>
              <a:off x="105727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60" name="Rectangle 60"/>
            <p:cNvSpPr/>
            <p:nvPr/>
          </p:nvSpPr>
          <p:spPr>
            <a:xfrm>
              <a:off x="10877550" y="2895600"/>
              <a:ext cx="723900" cy="1123950"/>
            </a:xfrm>
            <a:prstGeom prst="rect">
              <a:avLst/>
            </a:prstGeom>
            <a:solidFill>
              <a:srgbClr val="002D4C"/>
            </a:solidFill>
            <a:ln>
              <a:noFill/>
            </a:ln>
          </p:spPr>
          <p:txBody>
            <a:bodyPr/>
            <a:lstStyle/>
            <a:p>
              <a:endParaRPr lang="zh-CN" altLang="en-US"/>
            </a:p>
          </p:txBody>
        </p:sp>
        <p:sp>
          <p:nvSpPr>
            <p:cNvPr id="61" name="Ellipse 61"/>
            <p:cNvSpPr/>
            <p:nvPr/>
          </p:nvSpPr>
          <p:spPr>
            <a:xfrm>
              <a:off x="11096625" y="2952750"/>
              <a:ext cx="285750" cy="285750"/>
            </a:xfrm>
            <a:prstGeom prst="ellipse">
              <a:avLst/>
            </a:prstGeom>
            <a:solidFill>
              <a:srgbClr val="009682"/>
            </a:solidFill>
            <a:ln>
              <a:noFill/>
            </a:ln>
          </p:spPr>
          <p:txBody>
            <a:bodyPr/>
            <a:lstStyle/>
            <a:p>
              <a:endParaRPr lang="zh-CN" altLang="en-US"/>
            </a:p>
          </p:txBody>
        </p:sp>
        <p:sp>
          <p:nvSpPr>
            <p:cNvPr id="62" name="TextBox 62"/>
            <p:cNvSpPr txBox="1"/>
            <p:nvPr/>
          </p:nvSpPr>
          <p:spPr>
            <a:xfrm>
              <a:off x="1119341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5</a:t>
              </a:r>
            </a:p>
          </p:txBody>
        </p:sp>
        <p:sp>
          <p:nvSpPr>
            <p:cNvPr id="63" name="TextBox 63"/>
            <p:cNvSpPr txBox="1"/>
            <p:nvPr/>
          </p:nvSpPr>
          <p:spPr>
            <a:xfrm>
              <a:off x="11018929" y="3276124"/>
              <a:ext cx="44114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Select</a:t>
              </a:r>
            </a:p>
          </p:txBody>
        </p:sp>
        <p:sp>
          <p:nvSpPr>
            <p:cNvPr id="64" name="TextBox 64"/>
            <p:cNvSpPr txBox="1"/>
            <p:nvPr/>
          </p:nvSpPr>
          <p:spPr>
            <a:xfrm>
              <a:off x="11018929" y="3457099"/>
              <a:ext cx="44114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entity</a:t>
              </a:r>
            </a:p>
          </p:txBody>
        </p:sp>
      </p:grpSp>
      <p:grpSp>
        <p:nvGrpSpPr>
          <p:cNvPr id="70" name="Group 70"/>
          <p:cNvGrpSpPr/>
          <p:nvPr/>
        </p:nvGrpSpPr>
        <p:grpSpPr>
          <a:xfrm>
            <a:off x="4953000" y="4419600"/>
            <a:ext cx="6648450" cy="952500"/>
            <a:chOff x="4953000" y="4419600"/>
            <a:chExt cx="6648450" cy="952500"/>
          </a:xfrm>
        </p:grpSpPr>
        <p:sp>
          <p:nvSpPr>
            <p:cNvPr id="66" name="Rectangle 66"/>
            <p:cNvSpPr/>
            <p:nvPr/>
          </p:nvSpPr>
          <p:spPr>
            <a:xfrm>
              <a:off x="4953000" y="4419600"/>
              <a:ext cx="6648450" cy="952500"/>
            </a:xfrm>
            <a:prstGeom prst="rect">
              <a:avLst/>
            </a:prstGeom>
            <a:solidFill>
              <a:srgbClr val="002D4C"/>
            </a:solidFill>
            <a:ln>
              <a:noFill/>
            </a:ln>
          </p:spPr>
          <p:txBody>
            <a:bodyPr/>
            <a:lstStyle/>
            <a:p>
              <a:endParaRPr lang="zh-CN" altLang="en-US"/>
            </a:p>
          </p:txBody>
        </p:sp>
        <p:sp>
          <p:nvSpPr>
            <p:cNvPr id="67" name="TextBox 67"/>
            <p:cNvSpPr txBox="1"/>
            <p:nvPr/>
          </p:nvSpPr>
          <p:spPr>
            <a:xfrm>
              <a:off x="5170170" y="4598670"/>
              <a:ext cx="1686268"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SOLVING STRATEGY</a:t>
              </a:r>
            </a:p>
          </p:txBody>
        </p:sp>
        <p:sp>
          <p:nvSpPr>
            <p:cNvPr id="68" name="TextBox 68"/>
            <p:cNvSpPr txBox="1"/>
            <p:nvPr/>
          </p:nvSpPr>
          <p:spPr>
            <a:xfrm>
              <a:off x="5165408" y="4872514"/>
              <a:ext cx="5566577"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Multi-anchor retrieval → constraint filtering → attribute retrieval</a:t>
              </a:r>
            </a:p>
          </p:txBody>
        </p:sp>
        <p:sp>
          <p:nvSpPr>
            <p:cNvPr id="69" name="TextBox 69"/>
            <p:cNvSpPr txBox="1"/>
            <p:nvPr/>
          </p:nvSpPr>
          <p:spPr>
            <a:xfrm>
              <a:off x="5165408" y="5110639"/>
              <a:ext cx="2625209"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 comparison → entity selection</a:t>
              </a:r>
            </a:p>
          </p:txBody>
        </p:sp>
      </p:grpSp>
      <p:grpSp>
        <p:nvGrpSpPr>
          <p:cNvPr id="75" name="Group 75"/>
          <p:cNvGrpSpPr/>
          <p:nvPr/>
        </p:nvGrpSpPr>
        <p:grpSpPr>
          <a:xfrm>
            <a:off x="495300" y="6167438"/>
            <a:ext cx="11201400" cy="590550"/>
            <a:chOff x="495300" y="6167438"/>
            <a:chExt cx="11201400" cy="590550"/>
          </a:xfrm>
        </p:grpSpPr>
        <p:sp>
          <p:nvSpPr>
            <p:cNvPr id="71" name="TextBox 71"/>
            <p:cNvSpPr txBox="1"/>
            <p:nvPr/>
          </p:nvSpPr>
          <p:spPr>
            <a:xfrm>
              <a:off x="581025" y="6167438"/>
              <a:ext cx="28694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KQA Pro Dataset Analysis · Case 1 — SelectBetween</a:t>
              </a:r>
            </a:p>
          </p:txBody>
        </p:sp>
        <p:sp>
          <p:nvSpPr>
            <p:cNvPr id="72" name="Line 72"/>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73" name="TextBox 73"/>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74" name="TextBox 74"/>
            <p:cNvSpPr txBox="1"/>
            <p:nvPr/>
          </p:nvSpPr>
          <p:spPr>
            <a:xfrm>
              <a:off x="10887075" y="6605588"/>
              <a:ext cx="12906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05</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400"/>
                                        <p:tgtEl>
                                          <p:spTgt spid="14"/>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image">
                                      <p:cBhvr>
                                        <p:cTn id="11" dur="400"/>
                                        <p:tgtEl>
                                          <p:spTgt spid="32"/>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fade">
                                      <p:cBhvr>
                                        <p:cTn id="15" dur="400"/>
                                        <p:tgtEl>
                                          <p:spTgt spid="65"/>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wipe(left)">
                                      <p:cBhvr>
                                        <p:cTn id="19"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2" grpId="0"/>
      <p:bldP spid="65" grpId="0"/>
      <p:bldP spid="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0" y="0"/>
            <a:ext cx="7509606" cy="6858000"/>
            <a:chOff x="0" y="0"/>
            <a:chExt cx="7509606" cy="6858000"/>
          </a:xfrm>
        </p:grpSpPr>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48640" y="410528"/>
              <a:ext cx="5896499"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KQA Pro Case 2: QualifierRelational</a:t>
              </a:r>
            </a:p>
          </p:txBody>
        </p:sp>
        <p:sp>
          <p:nvSpPr>
            <p:cNvPr id="5" name="TextBox 5"/>
            <p:cNvSpPr txBox="1"/>
            <p:nvPr/>
          </p:nvSpPr>
          <p:spPr>
            <a:xfrm>
              <a:off x="574358" y="862489"/>
              <a:ext cx="6935248"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Retrieving information attached to a relational fact rather than an ordinary triple</a:t>
              </a:r>
            </a:p>
          </p:txBody>
        </p:sp>
      </p:grpSp>
      <p:grpSp>
        <p:nvGrpSpPr>
          <p:cNvPr id="13" name="Group 13"/>
          <p:cNvGrpSpPr/>
          <p:nvPr/>
        </p:nvGrpSpPr>
        <p:grpSpPr>
          <a:xfrm>
            <a:off x="590550" y="1219200"/>
            <a:ext cx="11010900" cy="704850"/>
            <a:chOff x="590550" y="1219200"/>
            <a:chExt cx="11010900" cy="704850"/>
          </a:xfrm>
        </p:grpSpPr>
        <p:sp>
          <p:nvSpPr>
            <p:cNvPr id="7" name="Rectangle 7"/>
            <p:cNvSpPr/>
            <p:nvPr/>
          </p:nvSpPr>
          <p:spPr>
            <a:xfrm>
              <a:off x="590550" y="1219200"/>
              <a:ext cx="11010900" cy="704850"/>
            </a:xfrm>
            <a:prstGeom prst="rect">
              <a:avLst/>
            </a:prstGeom>
            <a:solidFill>
              <a:srgbClr val="EAF6F4"/>
            </a:solidFill>
            <a:ln w="14288">
              <a:solidFill>
                <a:srgbClr val="009682"/>
              </a:solidFill>
            </a:ln>
          </p:spPr>
          <p:txBody>
            <a:bodyPr/>
            <a:lstStyle/>
            <a:p>
              <a:endParaRPr lang="zh-CN" altLang="en-US"/>
            </a:p>
          </p:txBody>
        </p:sp>
        <p:sp>
          <p:nvSpPr>
            <p:cNvPr id="8" name="TextBox 8"/>
            <p:cNvSpPr txBox="1"/>
            <p:nvPr/>
          </p:nvSpPr>
          <p:spPr>
            <a:xfrm>
              <a:off x="768668" y="1361599"/>
              <a:ext cx="645918"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QUESTION</a:t>
              </a:r>
            </a:p>
          </p:txBody>
        </p:sp>
        <p:sp>
          <p:nvSpPr>
            <p:cNvPr id="9" name="TextBox 9"/>
            <p:cNvSpPr txBox="1"/>
            <p:nvPr/>
          </p:nvSpPr>
          <p:spPr>
            <a:xfrm>
              <a:off x="763905" y="1597342"/>
              <a:ext cx="6290072"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When did T-Pain win the MTV Video Music Award for Best Visual Effects?</a:t>
              </a:r>
            </a:p>
          </p:txBody>
        </p:sp>
        <p:sp>
          <p:nvSpPr>
            <p:cNvPr id="10" name="Rectangle 10"/>
            <p:cNvSpPr/>
            <p:nvPr/>
          </p:nvSpPr>
          <p:spPr>
            <a:xfrm>
              <a:off x="9734550" y="1362075"/>
              <a:ext cx="1619250" cy="400050"/>
            </a:xfrm>
            <a:prstGeom prst="rect">
              <a:avLst/>
            </a:prstGeom>
            <a:solidFill>
              <a:srgbClr val="002D4C"/>
            </a:solidFill>
            <a:ln>
              <a:noFill/>
            </a:ln>
          </p:spPr>
          <p:txBody>
            <a:bodyPr/>
            <a:lstStyle/>
            <a:p>
              <a:endParaRPr lang="zh-CN" altLang="en-US"/>
            </a:p>
          </p:txBody>
        </p:sp>
        <p:sp>
          <p:nvSpPr>
            <p:cNvPr id="11" name="TextBox 11"/>
            <p:cNvSpPr txBox="1"/>
            <p:nvPr/>
          </p:nvSpPr>
          <p:spPr>
            <a:xfrm>
              <a:off x="10209109" y="1443038"/>
              <a:ext cx="670131"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GOLD ANSWER</a:t>
              </a:r>
            </a:p>
          </p:txBody>
        </p:sp>
        <p:sp>
          <p:nvSpPr>
            <p:cNvPr id="12" name="TextBox 12"/>
            <p:cNvSpPr txBox="1"/>
            <p:nvPr/>
          </p:nvSpPr>
          <p:spPr>
            <a:xfrm>
              <a:off x="10331608" y="1567339"/>
              <a:ext cx="42513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2008</a:t>
              </a:r>
            </a:p>
          </p:txBody>
        </p:sp>
      </p:grpSp>
      <p:grpSp>
        <p:nvGrpSpPr>
          <p:cNvPr id="31" name="Group 31"/>
          <p:cNvGrpSpPr/>
          <p:nvPr/>
        </p:nvGrpSpPr>
        <p:grpSpPr>
          <a:xfrm>
            <a:off x="590550" y="2114550"/>
            <a:ext cx="4000500" cy="3257550"/>
            <a:chOff x="590550" y="2114550"/>
            <a:chExt cx="4000500" cy="3257550"/>
          </a:xfrm>
        </p:grpSpPr>
        <p:sp>
          <p:nvSpPr>
            <p:cNvPr id="14" name="Rectangle 14"/>
            <p:cNvSpPr/>
            <p:nvPr/>
          </p:nvSpPr>
          <p:spPr>
            <a:xfrm>
              <a:off x="590550" y="2114550"/>
              <a:ext cx="4000500" cy="3257550"/>
            </a:xfrm>
            <a:prstGeom prst="rect">
              <a:avLst/>
            </a:prstGeom>
            <a:solidFill>
              <a:srgbClr val="F4F7F8"/>
            </a:solidFill>
            <a:ln w="14288">
              <a:solidFill>
                <a:srgbClr val="DAE1E6"/>
              </a:solidFill>
            </a:ln>
          </p:spPr>
          <p:txBody>
            <a:bodyPr/>
            <a:lstStyle/>
            <a:p>
              <a:endParaRPr lang="zh-CN" altLang="en-US"/>
            </a:p>
          </p:txBody>
        </p:sp>
        <p:sp>
          <p:nvSpPr>
            <p:cNvPr id="15" name="Rectangle 15"/>
            <p:cNvSpPr/>
            <p:nvPr/>
          </p:nvSpPr>
          <p:spPr>
            <a:xfrm>
              <a:off x="590550" y="2114550"/>
              <a:ext cx="4000500" cy="400050"/>
            </a:xfrm>
            <a:prstGeom prst="rect">
              <a:avLst/>
            </a:prstGeom>
            <a:solidFill>
              <a:srgbClr val="002D4C"/>
            </a:solidFill>
            <a:ln>
              <a:noFill/>
            </a:ln>
          </p:spPr>
          <p:txBody>
            <a:bodyPr/>
            <a:lstStyle/>
            <a:p>
              <a:endParaRPr lang="zh-CN" altLang="en-US"/>
            </a:p>
          </p:txBody>
        </p:sp>
        <p:sp>
          <p:nvSpPr>
            <p:cNvPr id="16" name="TextBox 16"/>
            <p:cNvSpPr txBox="1"/>
            <p:nvPr/>
          </p:nvSpPr>
          <p:spPr>
            <a:xfrm>
              <a:off x="764858" y="2234089"/>
              <a:ext cx="298692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Case metadata and simplified KoPL</a:t>
              </a:r>
            </a:p>
          </p:txBody>
        </p:sp>
        <p:sp>
          <p:nvSpPr>
            <p:cNvPr id="17" name="TextBox 17"/>
            <p:cNvSpPr txBox="1"/>
            <p:nvPr/>
          </p:nvSpPr>
          <p:spPr>
            <a:xfrm>
              <a:off x="769620" y="2703195"/>
              <a:ext cx="146574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OFFICIAL QUESTION TYPE</a:t>
              </a:r>
            </a:p>
          </p:txBody>
        </p:sp>
        <p:sp>
          <p:nvSpPr>
            <p:cNvPr id="18" name="TextBox 18"/>
            <p:cNvSpPr txBox="1"/>
            <p:nvPr/>
          </p:nvSpPr>
          <p:spPr>
            <a:xfrm>
              <a:off x="2498408" y="2662714"/>
              <a:ext cx="1665864"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QualifierRelational</a:t>
              </a:r>
            </a:p>
          </p:txBody>
        </p:sp>
        <p:sp>
          <p:nvSpPr>
            <p:cNvPr id="19" name="TextBox 19"/>
            <p:cNvSpPr txBox="1"/>
            <p:nvPr/>
          </p:nvSpPr>
          <p:spPr>
            <a:xfrm>
              <a:off x="769620" y="3007995"/>
              <a:ext cx="892369"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GRAPH PATTERN</a:t>
              </a:r>
            </a:p>
          </p:txBody>
        </p:sp>
        <p:sp>
          <p:nvSpPr>
            <p:cNvPr id="20" name="TextBox 20"/>
            <p:cNvSpPr txBox="1"/>
            <p:nvPr/>
          </p:nvSpPr>
          <p:spPr>
            <a:xfrm>
              <a:off x="2498408" y="2967514"/>
              <a:ext cx="131604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Fact + qualifier</a:t>
              </a:r>
            </a:p>
          </p:txBody>
        </p:sp>
        <p:sp>
          <p:nvSpPr>
            <p:cNvPr id="21" name="TextBox 21"/>
            <p:cNvSpPr txBox="1"/>
            <p:nvPr/>
          </p:nvSpPr>
          <p:spPr>
            <a:xfrm>
              <a:off x="769620" y="3312795"/>
              <a:ext cx="66554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HOP COUNT</a:t>
              </a:r>
            </a:p>
          </p:txBody>
        </p:sp>
        <p:sp>
          <p:nvSpPr>
            <p:cNvPr id="22" name="TextBox 22"/>
            <p:cNvSpPr txBox="1"/>
            <p:nvPr/>
          </p:nvSpPr>
          <p:spPr>
            <a:xfrm>
              <a:off x="2498408" y="3272314"/>
              <a:ext cx="106951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2 </a:t>
              </a:r>
              <a:r>
                <a:rPr lang="zh-CN" sz="1275" dirty="0">
                  <a:solidFill>
                    <a:srgbClr val="768993"/>
                  </a:solidFill>
                  <a:latin typeface="Arial"/>
                  <a:ea typeface="Microsoft YaHei"/>
                  <a:cs typeface="Arial"/>
                </a:rPr>
                <a:t>(inferred)</a:t>
              </a:r>
            </a:p>
          </p:txBody>
        </p:sp>
        <p:sp>
          <p:nvSpPr>
            <p:cNvPr id="23" name="TextBox 23"/>
            <p:cNvSpPr txBox="1"/>
            <p:nvPr/>
          </p:nvSpPr>
          <p:spPr>
            <a:xfrm>
              <a:off x="769620" y="3617595"/>
              <a:ext cx="778955"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ANSWER TYPE</a:t>
              </a:r>
            </a:p>
          </p:txBody>
        </p:sp>
        <p:sp>
          <p:nvSpPr>
            <p:cNvPr id="24" name="TextBox 24"/>
            <p:cNvSpPr txBox="1"/>
            <p:nvPr/>
          </p:nvSpPr>
          <p:spPr>
            <a:xfrm>
              <a:off x="2498408" y="3577114"/>
              <a:ext cx="406432"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Year</a:t>
              </a:r>
            </a:p>
          </p:txBody>
        </p:sp>
        <p:sp>
          <p:nvSpPr>
            <p:cNvPr id="25" name="Line 25"/>
            <p:cNvSpPr/>
            <p:nvPr/>
          </p:nvSpPr>
          <p:spPr>
            <a:xfrm>
              <a:off x="781050" y="392430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6" name="TextBox 26"/>
            <p:cNvSpPr txBox="1"/>
            <p:nvPr/>
          </p:nvSpPr>
          <p:spPr>
            <a:xfrm>
              <a:off x="769620" y="4093845"/>
              <a:ext cx="98688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SIMPLIFIED KOPL</a:t>
              </a:r>
            </a:p>
          </p:txBody>
        </p:sp>
        <p:sp>
          <p:nvSpPr>
            <p:cNvPr id="27" name="TextBox 27"/>
            <p:cNvSpPr txBox="1"/>
            <p:nvPr/>
          </p:nvSpPr>
          <p:spPr>
            <a:xfrm>
              <a:off x="769620" y="4341495"/>
              <a:ext cx="1631061" cy="182880"/>
            </a:xfrm>
            <a:prstGeom prst="rect">
              <a:avLst/>
            </a:prstGeom>
            <a:noFill/>
            <a:ln>
              <a:noFill/>
            </a:ln>
          </p:spPr>
          <p:txBody>
            <a:bodyPr wrap="none" lIns="0" tIns="0" rIns="0" bIns="0" anchor="t" anchorCtr="0">
              <a:spAutoFit/>
            </a:bodyPr>
            <a:lstStyle/>
            <a:p>
              <a:pPr algn="l"/>
              <a:r>
                <a:rPr lang="zh-CN" sz="900" dirty="0">
                  <a:solidFill>
                    <a:srgbClr val="005A50"/>
                  </a:solidFill>
                  <a:latin typeface="Consolas"/>
                  <a:ea typeface="Microsoft YaHei"/>
                  <a:cs typeface="Consolas"/>
                </a:rPr>
                <a:t>Find(MTV Video Music Award</a:t>
              </a:r>
            </a:p>
          </p:txBody>
        </p:sp>
        <p:sp>
          <p:nvSpPr>
            <p:cNvPr id="28" name="TextBox 28"/>
            <p:cNvSpPr txBox="1"/>
            <p:nvPr/>
          </p:nvSpPr>
          <p:spPr>
            <a:xfrm>
              <a:off x="769620" y="4522470"/>
              <a:ext cx="1457039" cy="182880"/>
            </a:xfrm>
            <a:prstGeom prst="rect">
              <a:avLst/>
            </a:prstGeom>
            <a:noFill/>
            <a:ln>
              <a:noFill/>
            </a:ln>
          </p:spPr>
          <p:txBody>
            <a:bodyPr wrap="none" lIns="0" tIns="0" rIns="0" bIns="0" anchor="t" anchorCtr="0">
              <a:spAutoFit/>
            </a:bodyPr>
            <a:lstStyle/>
            <a:p>
              <a:pPr algn="l"/>
              <a:r>
                <a:rPr lang="zh-CN" sz="900" dirty="0">
                  <a:solidFill>
                    <a:srgbClr val="005A50"/>
                  </a:solidFill>
                  <a:latin typeface="Consolas"/>
                  <a:ea typeface="Microsoft YaHei"/>
                  <a:cs typeface="Consolas"/>
                </a:rPr>
                <a:t>for Best Visual Effects)</a:t>
              </a:r>
            </a:p>
          </p:txBody>
        </p:sp>
        <p:sp>
          <p:nvSpPr>
            <p:cNvPr id="29" name="TextBox 29"/>
            <p:cNvSpPr txBox="1"/>
            <p:nvPr/>
          </p:nvSpPr>
          <p:spPr>
            <a:xfrm>
              <a:off x="769620" y="4760595"/>
              <a:ext cx="754952" cy="182880"/>
            </a:xfrm>
            <a:prstGeom prst="rect">
              <a:avLst/>
            </a:prstGeom>
            <a:noFill/>
            <a:ln>
              <a:noFill/>
            </a:ln>
          </p:spPr>
          <p:txBody>
            <a:bodyPr wrap="none" lIns="0" tIns="0" rIns="0" bIns="0" anchor="t" anchorCtr="0">
              <a:spAutoFit/>
            </a:bodyPr>
            <a:lstStyle/>
            <a:p>
              <a:pPr algn="l"/>
              <a:r>
                <a:rPr lang="zh-CN" sz="900" dirty="0">
                  <a:solidFill>
                    <a:srgbClr val="005A50"/>
                  </a:solidFill>
                  <a:latin typeface="Consolas"/>
                  <a:ea typeface="Microsoft YaHei"/>
                  <a:cs typeface="Consolas"/>
                </a:rPr>
                <a:t>Find(T-Pain)</a:t>
              </a:r>
            </a:p>
          </p:txBody>
        </p:sp>
        <p:sp>
          <p:nvSpPr>
            <p:cNvPr id="30" name="TextBox 30"/>
            <p:cNvSpPr txBox="1"/>
            <p:nvPr/>
          </p:nvSpPr>
          <p:spPr>
            <a:xfrm>
              <a:off x="769620" y="4998720"/>
              <a:ext cx="2831211" cy="182880"/>
            </a:xfrm>
            <a:prstGeom prst="rect">
              <a:avLst/>
            </a:prstGeom>
            <a:noFill/>
            <a:ln>
              <a:noFill/>
            </a:ln>
          </p:spPr>
          <p:txBody>
            <a:bodyPr wrap="none" lIns="0" tIns="0" rIns="0" bIns="0" anchor="t" anchorCtr="0">
              <a:spAutoFit/>
            </a:bodyPr>
            <a:lstStyle/>
            <a:p>
              <a:pPr algn="l"/>
              <a:r>
                <a:rPr lang="zh-CN" sz="900" dirty="0">
                  <a:solidFill>
                    <a:srgbClr val="005A50"/>
                  </a:solidFill>
                  <a:latin typeface="Consolas"/>
                  <a:ea typeface="Microsoft YaHei"/>
                  <a:cs typeface="Consolas"/>
                </a:rPr>
                <a:t>→ QueryRelationQualifier(winner, point in time)</a:t>
              </a:r>
            </a:p>
          </p:txBody>
        </p:sp>
      </p:grpSp>
      <p:grpSp>
        <p:nvGrpSpPr>
          <p:cNvPr id="51" name="Group 51"/>
          <p:cNvGrpSpPr/>
          <p:nvPr/>
        </p:nvGrpSpPr>
        <p:grpSpPr>
          <a:xfrm>
            <a:off x="4936808" y="2234089"/>
            <a:ext cx="6664642" cy="1785461"/>
            <a:chOff x="4936808" y="2234089"/>
            <a:chExt cx="6664642" cy="1785461"/>
          </a:xfrm>
        </p:grpSpPr>
        <p:sp>
          <p:nvSpPr>
            <p:cNvPr id="32" name="TextBox 32"/>
            <p:cNvSpPr txBox="1"/>
            <p:nvPr/>
          </p:nvSpPr>
          <p:spPr>
            <a:xfrm>
              <a:off x="4936808" y="2234089"/>
              <a:ext cx="2397806"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Operational interpretation</a:t>
              </a:r>
            </a:p>
          </p:txBody>
        </p:sp>
        <p:sp>
          <p:nvSpPr>
            <p:cNvPr id="33" name="Line 33"/>
            <p:cNvSpPr/>
            <p:nvPr/>
          </p:nvSpPr>
          <p:spPr>
            <a:xfrm>
              <a:off x="4953000" y="2524125"/>
              <a:ext cx="6648450" cy="9525"/>
            </a:xfrm>
            <a:custGeom>
              <a:avLst/>
              <a:gdLst/>
              <a:ahLst/>
              <a:cxnLst/>
              <a:rect l="l" t="t" r="r" b="b"/>
              <a:pathLst>
                <a:path w="6648450" h="9525">
                  <a:moveTo>
                    <a:pt x="0" y="0"/>
                  </a:moveTo>
                  <a:lnTo>
                    <a:pt x="6648450" y="0"/>
                  </a:lnTo>
                </a:path>
              </a:pathLst>
            </a:custGeom>
            <a:noFill/>
            <a:ln w="9525">
              <a:solidFill>
                <a:srgbClr val="DAE1E6"/>
              </a:solidFill>
            </a:ln>
          </p:spPr>
          <p:txBody>
            <a:bodyPr/>
            <a:lstStyle/>
            <a:p>
              <a:endParaRPr lang="zh-CN" altLang="en-US"/>
            </a:p>
          </p:txBody>
        </p:sp>
        <p:sp>
          <p:nvSpPr>
            <p:cNvPr id="34" name="Rectangle 34"/>
            <p:cNvSpPr/>
            <p:nvPr/>
          </p:nvSpPr>
          <p:spPr>
            <a:xfrm>
              <a:off x="4953000" y="2895600"/>
              <a:ext cx="1847850" cy="1123950"/>
            </a:xfrm>
            <a:prstGeom prst="rect">
              <a:avLst/>
            </a:prstGeom>
            <a:solidFill>
              <a:srgbClr val="F4F7F8"/>
            </a:solidFill>
            <a:ln w="14288">
              <a:solidFill>
                <a:srgbClr val="DAE1E6"/>
              </a:solidFill>
            </a:ln>
          </p:spPr>
          <p:txBody>
            <a:bodyPr/>
            <a:lstStyle/>
            <a:p>
              <a:endParaRPr lang="zh-CN" altLang="en-US"/>
            </a:p>
          </p:txBody>
        </p:sp>
        <p:sp>
          <p:nvSpPr>
            <p:cNvPr id="35" name="Ellipse 35"/>
            <p:cNvSpPr/>
            <p:nvPr/>
          </p:nvSpPr>
          <p:spPr>
            <a:xfrm>
              <a:off x="5734050" y="2952750"/>
              <a:ext cx="285750" cy="285750"/>
            </a:xfrm>
            <a:prstGeom prst="ellipse">
              <a:avLst/>
            </a:prstGeom>
            <a:solidFill>
              <a:srgbClr val="002D4C"/>
            </a:solidFill>
            <a:ln>
              <a:noFill/>
            </a:ln>
          </p:spPr>
          <p:txBody>
            <a:bodyPr/>
            <a:lstStyle/>
            <a:p>
              <a:endParaRPr lang="zh-CN" altLang="en-US"/>
            </a:p>
          </p:txBody>
        </p:sp>
        <p:sp>
          <p:nvSpPr>
            <p:cNvPr id="36" name="TextBox 36"/>
            <p:cNvSpPr txBox="1"/>
            <p:nvPr/>
          </p:nvSpPr>
          <p:spPr>
            <a:xfrm>
              <a:off x="5846593" y="3046095"/>
              <a:ext cx="606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37" name="TextBox 37"/>
            <p:cNvSpPr txBox="1"/>
            <p:nvPr/>
          </p:nvSpPr>
          <p:spPr>
            <a:xfrm>
              <a:off x="5602730" y="3355181"/>
              <a:ext cx="548390"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Locate</a:t>
              </a:r>
            </a:p>
          </p:txBody>
        </p:sp>
        <p:sp>
          <p:nvSpPr>
            <p:cNvPr id="38" name="TextBox 38"/>
            <p:cNvSpPr txBox="1"/>
            <p:nvPr/>
          </p:nvSpPr>
          <p:spPr>
            <a:xfrm>
              <a:off x="5555474" y="3555206"/>
              <a:ext cx="64290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entities</a:t>
              </a:r>
            </a:p>
          </p:txBody>
        </p:sp>
        <p:sp>
          <p:nvSpPr>
            <p:cNvPr id="39" name="Polygon 39"/>
            <p:cNvSpPr/>
            <p:nvPr/>
          </p:nvSpPr>
          <p:spPr>
            <a:xfrm>
              <a:off x="693420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0" name="Rectangle 40"/>
            <p:cNvSpPr/>
            <p:nvPr/>
          </p:nvSpPr>
          <p:spPr>
            <a:xfrm>
              <a:off x="7258050" y="2895600"/>
              <a:ext cx="1847850" cy="1123950"/>
            </a:xfrm>
            <a:prstGeom prst="rect">
              <a:avLst/>
            </a:prstGeom>
            <a:solidFill>
              <a:srgbClr val="EAF6F4"/>
            </a:solidFill>
            <a:ln w="14288">
              <a:solidFill>
                <a:srgbClr val="DAE1E6"/>
              </a:solidFill>
            </a:ln>
          </p:spPr>
          <p:txBody>
            <a:bodyPr/>
            <a:lstStyle/>
            <a:p>
              <a:endParaRPr lang="zh-CN" altLang="en-US"/>
            </a:p>
          </p:txBody>
        </p:sp>
        <p:sp>
          <p:nvSpPr>
            <p:cNvPr id="41" name="Ellipse 41"/>
            <p:cNvSpPr/>
            <p:nvPr/>
          </p:nvSpPr>
          <p:spPr>
            <a:xfrm>
              <a:off x="8039100" y="2952750"/>
              <a:ext cx="285750" cy="285750"/>
            </a:xfrm>
            <a:prstGeom prst="ellipse">
              <a:avLst/>
            </a:prstGeom>
            <a:solidFill>
              <a:srgbClr val="009682"/>
            </a:solidFill>
            <a:ln>
              <a:noFill/>
            </a:ln>
          </p:spPr>
          <p:txBody>
            <a:bodyPr/>
            <a:lstStyle/>
            <a:p>
              <a:endParaRPr lang="zh-CN" altLang="en-US"/>
            </a:p>
          </p:txBody>
        </p:sp>
        <p:sp>
          <p:nvSpPr>
            <p:cNvPr id="42" name="TextBox 42"/>
            <p:cNvSpPr txBox="1"/>
            <p:nvPr/>
          </p:nvSpPr>
          <p:spPr>
            <a:xfrm>
              <a:off x="813589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43" name="TextBox 43"/>
            <p:cNvSpPr txBox="1"/>
            <p:nvPr/>
          </p:nvSpPr>
          <p:spPr>
            <a:xfrm>
              <a:off x="7860524" y="3259931"/>
              <a:ext cx="64290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Identify</a:t>
              </a:r>
            </a:p>
          </p:txBody>
        </p:sp>
        <p:sp>
          <p:nvSpPr>
            <p:cNvPr id="44" name="TextBox 44"/>
            <p:cNvSpPr txBox="1"/>
            <p:nvPr/>
          </p:nvSpPr>
          <p:spPr>
            <a:xfrm>
              <a:off x="7596679" y="3459956"/>
              <a:ext cx="1170593"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relational fact</a:t>
              </a:r>
            </a:p>
          </p:txBody>
        </p:sp>
        <p:sp>
          <p:nvSpPr>
            <p:cNvPr id="45" name="Polygon 45"/>
            <p:cNvSpPr/>
            <p:nvPr/>
          </p:nvSpPr>
          <p:spPr>
            <a:xfrm>
              <a:off x="92392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6" name="Rectangle 46"/>
            <p:cNvSpPr/>
            <p:nvPr/>
          </p:nvSpPr>
          <p:spPr>
            <a:xfrm>
              <a:off x="9563100" y="2895600"/>
              <a:ext cx="2038350" cy="1123950"/>
            </a:xfrm>
            <a:prstGeom prst="rect">
              <a:avLst/>
            </a:prstGeom>
            <a:solidFill>
              <a:srgbClr val="002D4C"/>
            </a:solidFill>
            <a:ln>
              <a:noFill/>
            </a:ln>
          </p:spPr>
          <p:txBody>
            <a:bodyPr/>
            <a:lstStyle/>
            <a:p>
              <a:endParaRPr lang="zh-CN" altLang="en-US"/>
            </a:p>
          </p:txBody>
        </p:sp>
        <p:sp>
          <p:nvSpPr>
            <p:cNvPr id="47" name="Ellipse 47"/>
            <p:cNvSpPr/>
            <p:nvPr/>
          </p:nvSpPr>
          <p:spPr>
            <a:xfrm>
              <a:off x="10439400" y="2952750"/>
              <a:ext cx="285750" cy="285750"/>
            </a:xfrm>
            <a:prstGeom prst="ellipse">
              <a:avLst/>
            </a:prstGeom>
            <a:solidFill>
              <a:srgbClr val="23A1E0"/>
            </a:solidFill>
            <a:ln>
              <a:noFill/>
            </a:ln>
          </p:spPr>
          <p:txBody>
            <a:bodyPr/>
            <a:lstStyle/>
            <a:p>
              <a:endParaRPr lang="zh-CN" altLang="en-US"/>
            </a:p>
          </p:txBody>
        </p:sp>
        <p:sp>
          <p:nvSpPr>
            <p:cNvPr id="48" name="TextBox 48"/>
            <p:cNvSpPr txBox="1"/>
            <p:nvPr/>
          </p:nvSpPr>
          <p:spPr>
            <a:xfrm>
              <a:off x="1053619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49" name="TextBox 49"/>
            <p:cNvSpPr txBox="1"/>
            <p:nvPr/>
          </p:nvSpPr>
          <p:spPr>
            <a:xfrm>
              <a:off x="10241134" y="3355181"/>
              <a:ext cx="68228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Retrieve</a:t>
              </a:r>
            </a:p>
          </p:txBody>
        </p:sp>
        <p:sp>
          <p:nvSpPr>
            <p:cNvPr id="50" name="TextBox 50"/>
            <p:cNvSpPr txBox="1"/>
            <p:nvPr/>
          </p:nvSpPr>
          <p:spPr>
            <a:xfrm>
              <a:off x="10237196" y="3555206"/>
              <a:ext cx="69015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qualifier</a:t>
              </a:r>
            </a:p>
          </p:txBody>
        </p:sp>
      </p:grpSp>
      <p:grpSp>
        <p:nvGrpSpPr>
          <p:cNvPr id="55" name="Group 55"/>
          <p:cNvGrpSpPr/>
          <p:nvPr/>
        </p:nvGrpSpPr>
        <p:grpSpPr>
          <a:xfrm>
            <a:off x="4953000" y="4419600"/>
            <a:ext cx="6648450" cy="952500"/>
            <a:chOff x="4953000" y="4419600"/>
            <a:chExt cx="6648450" cy="952500"/>
          </a:xfrm>
        </p:grpSpPr>
        <p:sp>
          <p:nvSpPr>
            <p:cNvPr id="52" name="Rectangle 52"/>
            <p:cNvSpPr/>
            <p:nvPr/>
          </p:nvSpPr>
          <p:spPr>
            <a:xfrm>
              <a:off x="4953000" y="4419600"/>
              <a:ext cx="6648450" cy="952500"/>
            </a:xfrm>
            <a:prstGeom prst="rect">
              <a:avLst/>
            </a:prstGeom>
            <a:solidFill>
              <a:srgbClr val="002D4C"/>
            </a:solidFill>
            <a:ln>
              <a:noFill/>
            </a:ln>
          </p:spPr>
          <p:txBody>
            <a:bodyPr/>
            <a:lstStyle/>
            <a:p>
              <a:endParaRPr lang="zh-CN" altLang="en-US"/>
            </a:p>
          </p:txBody>
        </p:sp>
        <p:sp>
          <p:nvSpPr>
            <p:cNvPr id="53" name="TextBox 53"/>
            <p:cNvSpPr txBox="1"/>
            <p:nvPr/>
          </p:nvSpPr>
          <p:spPr>
            <a:xfrm>
              <a:off x="5170170" y="4598670"/>
              <a:ext cx="1686268"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SOLVING STRATEGY</a:t>
              </a:r>
            </a:p>
          </p:txBody>
        </p:sp>
        <p:sp>
          <p:nvSpPr>
            <p:cNvPr id="54" name="TextBox 54"/>
            <p:cNvSpPr txBox="1"/>
            <p:nvPr/>
          </p:nvSpPr>
          <p:spPr>
            <a:xfrm>
              <a:off x="5165408" y="4872514"/>
              <a:ext cx="5456063"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Entity lookup → relational fact identification → qualifier retrieval</a:t>
              </a:r>
            </a:p>
          </p:txBody>
        </p:sp>
      </p:grpSp>
      <p:grpSp>
        <p:nvGrpSpPr>
          <p:cNvPr id="60" name="Group 60"/>
          <p:cNvGrpSpPr/>
          <p:nvPr/>
        </p:nvGrpSpPr>
        <p:grpSpPr>
          <a:xfrm>
            <a:off x="495300" y="6167438"/>
            <a:ext cx="11201400" cy="590550"/>
            <a:chOff x="495300" y="6167438"/>
            <a:chExt cx="11201400" cy="590550"/>
          </a:xfrm>
        </p:grpSpPr>
        <p:sp>
          <p:nvSpPr>
            <p:cNvPr id="56" name="TextBox 56"/>
            <p:cNvSpPr txBox="1"/>
            <p:nvPr/>
          </p:nvSpPr>
          <p:spPr>
            <a:xfrm>
              <a:off x="581025" y="6167438"/>
              <a:ext cx="3099435"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KQA Pro Dataset Analysis · Case 2 — QualifierRelational</a:t>
              </a:r>
            </a:p>
          </p:txBody>
        </p:sp>
        <p:sp>
          <p:nvSpPr>
            <p:cNvPr id="57" name="Line 57"/>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58" name="TextBox 58"/>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9" name="TextBox 59"/>
            <p:cNvSpPr txBox="1"/>
            <p:nvPr/>
          </p:nvSpPr>
          <p:spPr>
            <a:xfrm>
              <a:off x="10887075" y="6605588"/>
              <a:ext cx="12906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06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400"/>
                                        <p:tgtEl>
                                          <p:spTgt spid="13"/>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image">
                                      <p:cBhvr>
                                        <p:cTn id="11" dur="400"/>
                                        <p:tgtEl>
                                          <p:spTgt spid="3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fade">
                                      <p:cBhvr>
                                        <p:cTn id="15" dur="400"/>
                                        <p:tgtEl>
                                          <p:spTgt spid="51"/>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1" grpId="0"/>
      <p:bldP spid="51" grpId="0"/>
      <p:bldP spid="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0" y="0"/>
            <a:ext cx="8716757" cy="6858000"/>
            <a:chOff x="0" y="0"/>
            <a:chExt cx="8716757" cy="6858000"/>
          </a:xfrm>
        </p:grpSpPr>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48640" y="410528"/>
              <a:ext cx="3822240"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KQA Pro Case 3: Verify</a:t>
              </a:r>
            </a:p>
          </p:txBody>
        </p:sp>
        <p:sp>
          <p:nvSpPr>
            <p:cNvPr id="5" name="TextBox 5"/>
            <p:cNvSpPr txBox="1"/>
            <p:nvPr/>
          </p:nvSpPr>
          <p:spPr>
            <a:xfrm>
              <a:off x="574358" y="862489"/>
              <a:ext cx="8142399"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A Boolean question that requires relation traversal, attribute retrieval, and numeric comparison</a:t>
              </a:r>
            </a:p>
          </p:txBody>
        </p:sp>
      </p:grpSp>
      <p:grpSp>
        <p:nvGrpSpPr>
          <p:cNvPr id="13" name="Group 13"/>
          <p:cNvGrpSpPr/>
          <p:nvPr/>
        </p:nvGrpSpPr>
        <p:grpSpPr>
          <a:xfrm>
            <a:off x="590550" y="1219200"/>
            <a:ext cx="11010900" cy="704850"/>
            <a:chOff x="590550" y="1219200"/>
            <a:chExt cx="11010900" cy="704850"/>
          </a:xfrm>
        </p:grpSpPr>
        <p:sp>
          <p:nvSpPr>
            <p:cNvPr id="7" name="Rectangle 7"/>
            <p:cNvSpPr/>
            <p:nvPr/>
          </p:nvSpPr>
          <p:spPr>
            <a:xfrm>
              <a:off x="590550" y="1219200"/>
              <a:ext cx="11010900" cy="704850"/>
            </a:xfrm>
            <a:prstGeom prst="rect">
              <a:avLst/>
            </a:prstGeom>
            <a:solidFill>
              <a:srgbClr val="EAF6F4"/>
            </a:solidFill>
            <a:ln w="14288">
              <a:solidFill>
                <a:srgbClr val="009682"/>
              </a:solidFill>
            </a:ln>
          </p:spPr>
          <p:txBody>
            <a:bodyPr/>
            <a:lstStyle/>
            <a:p>
              <a:endParaRPr lang="zh-CN" altLang="en-US"/>
            </a:p>
          </p:txBody>
        </p:sp>
        <p:sp>
          <p:nvSpPr>
            <p:cNvPr id="8" name="TextBox 8"/>
            <p:cNvSpPr txBox="1"/>
            <p:nvPr/>
          </p:nvSpPr>
          <p:spPr>
            <a:xfrm>
              <a:off x="768668" y="1361599"/>
              <a:ext cx="645918"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QUESTION</a:t>
              </a:r>
            </a:p>
          </p:txBody>
        </p:sp>
        <p:sp>
          <p:nvSpPr>
            <p:cNvPr id="9" name="TextBox 9"/>
            <p:cNvSpPr txBox="1"/>
            <p:nvPr/>
          </p:nvSpPr>
          <p:spPr>
            <a:xfrm>
              <a:off x="763905" y="1597342"/>
              <a:ext cx="7361206"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Is the elevation above sea level for the capital city of Guyana less than 130 meters?</a:t>
              </a:r>
            </a:p>
          </p:txBody>
        </p:sp>
        <p:sp>
          <p:nvSpPr>
            <p:cNvPr id="10" name="Rectangle 10"/>
            <p:cNvSpPr/>
            <p:nvPr/>
          </p:nvSpPr>
          <p:spPr>
            <a:xfrm>
              <a:off x="9734550" y="1362075"/>
              <a:ext cx="1619250" cy="400050"/>
            </a:xfrm>
            <a:prstGeom prst="rect">
              <a:avLst/>
            </a:prstGeom>
            <a:solidFill>
              <a:srgbClr val="002D4C"/>
            </a:solidFill>
            <a:ln>
              <a:noFill/>
            </a:ln>
          </p:spPr>
          <p:txBody>
            <a:bodyPr/>
            <a:lstStyle/>
            <a:p>
              <a:endParaRPr lang="zh-CN" altLang="en-US"/>
            </a:p>
          </p:txBody>
        </p:sp>
        <p:sp>
          <p:nvSpPr>
            <p:cNvPr id="11" name="TextBox 11"/>
            <p:cNvSpPr txBox="1"/>
            <p:nvPr/>
          </p:nvSpPr>
          <p:spPr>
            <a:xfrm>
              <a:off x="10209109" y="1443038"/>
              <a:ext cx="670131"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GOLD ANSWER</a:t>
              </a:r>
            </a:p>
          </p:txBody>
        </p:sp>
        <p:sp>
          <p:nvSpPr>
            <p:cNvPr id="12" name="TextBox 12"/>
            <p:cNvSpPr txBox="1"/>
            <p:nvPr/>
          </p:nvSpPr>
          <p:spPr>
            <a:xfrm>
              <a:off x="10380702" y="1567339"/>
              <a:ext cx="326947"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Yes</a:t>
              </a:r>
            </a:p>
          </p:txBody>
        </p:sp>
      </p:grpSp>
      <p:grpSp>
        <p:nvGrpSpPr>
          <p:cNvPr id="32" name="Group 32"/>
          <p:cNvGrpSpPr/>
          <p:nvPr/>
        </p:nvGrpSpPr>
        <p:grpSpPr>
          <a:xfrm>
            <a:off x="590550" y="2114550"/>
            <a:ext cx="4000500" cy="3257550"/>
            <a:chOff x="590550" y="2114550"/>
            <a:chExt cx="4000500" cy="3257550"/>
          </a:xfrm>
        </p:grpSpPr>
        <p:sp>
          <p:nvSpPr>
            <p:cNvPr id="14" name="Rectangle 14"/>
            <p:cNvSpPr/>
            <p:nvPr/>
          </p:nvSpPr>
          <p:spPr>
            <a:xfrm>
              <a:off x="590550" y="2114550"/>
              <a:ext cx="4000500" cy="3257550"/>
            </a:xfrm>
            <a:prstGeom prst="rect">
              <a:avLst/>
            </a:prstGeom>
            <a:solidFill>
              <a:srgbClr val="F4F7F8"/>
            </a:solidFill>
            <a:ln w="14288">
              <a:solidFill>
                <a:srgbClr val="DAE1E6"/>
              </a:solidFill>
            </a:ln>
          </p:spPr>
          <p:txBody>
            <a:bodyPr/>
            <a:lstStyle/>
            <a:p>
              <a:endParaRPr lang="zh-CN" altLang="en-US"/>
            </a:p>
          </p:txBody>
        </p:sp>
        <p:sp>
          <p:nvSpPr>
            <p:cNvPr id="15" name="Rectangle 15"/>
            <p:cNvSpPr/>
            <p:nvPr/>
          </p:nvSpPr>
          <p:spPr>
            <a:xfrm>
              <a:off x="590550" y="2114550"/>
              <a:ext cx="4000500" cy="400050"/>
            </a:xfrm>
            <a:prstGeom prst="rect">
              <a:avLst/>
            </a:prstGeom>
            <a:solidFill>
              <a:srgbClr val="002D4C"/>
            </a:solidFill>
            <a:ln>
              <a:noFill/>
            </a:ln>
          </p:spPr>
          <p:txBody>
            <a:bodyPr/>
            <a:lstStyle/>
            <a:p>
              <a:endParaRPr lang="zh-CN" altLang="en-US"/>
            </a:p>
          </p:txBody>
        </p:sp>
        <p:sp>
          <p:nvSpPr>
            <p:cNvPr id="16" name="TextBox 16"/>
            <p:cNvSpPr txBox="1"/>
            <p:nvPr/>
          </p:nvSpPr>
          <p:spPr>
            <a:xfrm>
              <a:off x="764858" y="2234089"/>
              <a:ext cx="298692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Case metadata and simplified KoPL</a:t>
              </a:r>
            </a:p>
          </p:txBody>
        </p:sp>
        <p:sp>
          <p:nvSpPr>
            <p:cNvPr id="17" name="TextBox 17"/>
            <p:cNvSpPr txBox="1"/>
            <p:nvPr/>
          </p:nvSpPr>
          <p:spPr>
            <a:xfrm>
              <a:off x="769620" y="2703195"/>
              <a:ext cx="146574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OFFICIAL QUESTION TYPE</a:t>
              </a:r>
            </a:p>
          </p:txBody>
        </p:sp>
        <p:sp>
          <p:nvSpPr>
            <p:cNvPr id="18" name="TextBox 18"/>
            <p:cNvSpPr txBox="1"/>
            <p:nvPr/>
          </p:nvSpPr>
          <p:spPr>
            <a:xfrm>
              <a:off x="2498408" y="2662714"/>
              <a:ext cx="576878"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Verify</a:t>
              </a:r>
            </a:p>
          </p:txBody>
        </p:sp>
        <p:sp>
          <p:nvSpPr>
            <p:cNvPr id="19" name="TextBox 19"/>
            <p:cNvSpPr txBox="1"/>
            <p:nvPr/>
          </p:nvSpPr>
          <p:spPr>
            <a:xfrm>
              <a:off x="769620" y="3007995"/>
              <a:ext cx="892369"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GRAPH PATTERN</a:t>
              </a:r>
            </a:p>
          </p:txBody>
        </p:sp>
        <p:sp>
          <p:nvSpPr>
            <p:cNvPr id="20" name="TextBox 20"/>
            <p:cNvSpPr txBox="1"/>
            <p:nvPr/>
          </p:nvSpPr>
          <p:spPr>
            <a:xfrm>
              <a:off x="2498408" y="2967514"/>
              <a:ext cx="1673090"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Linear + comparison</a:t>
              </a:r>
            </a:p>
          </p:txBody>
        </p:sp>
        <p:sp>
          <p:nvSpPr>
            <p:cNvPr id="21" name="TextBox 21"/>
            <p:cNvSpPr txBox="1"/>
            <p:nvPr/>
          </p:nvSpPr>
          <p:spPr>
            <a:xfrm>
              <a:off x="769620" y="3312795"/>
              <a:ext cx="66554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HOP COUNT</a:t>
              </a:r>
            </a:p>
          </p:txBody>
        </p:sp>
        <p:sp>
          <p:nvSpPr>
            <p:cNvPr id="22" name="TextBox 22"/>
            <p:cNvSpPr txBox="1"/>
            <p:nvPr/>
          </p:nvSpPr>
          <p:spPr>
            <a:xfrm>
              <a:off x="2498408" y="3272314"/>
              <a:ext cx="1069515"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3 </a:t>
              </a:r>
              <a:r>
                <a:rPr lang="zh-CN" sz="1275" dirty="0">
                  <a:solidFill>
                    <a:srgbClr val="768993"/>
                  </a:solidFill>
                  <a:latin typeface="Arial"/>
                  <a:ea typeface="Microsoft YaHei"/>
                  <a:cs typeface="Arial"/>
                </a:rPr>
                <a:t>(inferred)</a:t>
              </a:r>
            </a:p>
          </p:txBody>
        </p:sp>
        <p:sp>
          <p:nvSpPr>
            <p:cNvPr id="23" name="TextBox 23"/>
            <p:cNvSpPr txBox="1"/>
            <p:nvPr/>
          </p:nvSpPr>
          <p:spPr>
            <a:xfrm>
              <a:off x="769620" y="3617595"/>
              <a:ext cx="778955"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ANSWER TYPE</a:t>
              </a:r>
            </a:p>
          </p:txBody>
        </p:sp>
        <p:sp>
          <p:nvSpPr>
            <p:cNvPr id="24" name="TextBox 24"/>
            <p:cNvSpPr txBox="1"/>
            <p:nvPr/>
          </p:nvSpPr>
          <p:spPr>
            <a:xfrm>
              <a:off x="2498408" y="3577114"/>
              <a:ext cx="644462"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Boolean</a:t>
              </a:r>
            </a:p>
          </p:txBody>
        </p:sp>
        <p:sp>
          <p:nvSpPr>
            <p:cNvPr id="25" name="Line 25"/>
            <p:cNvSpPr/>
            <p:nvPr/>
          </p:nvSpPr>
          <p:spPr>
            <a:xfrm>
              <a:off x="781050" y="392430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6" name="TextBox 26"/>
            <p:cNvSpPr txBox="1"/>
            <p:nvPr/>
          </p:nvSpPr>
          <p:spPr>
            <a:xfrm>
              <a:off x="769620" y="4093845"/>
              <a:ext cx="98688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SIMPLIFIED KOPL</a:t>
              </a:r>
            </a:p>
          </p:txBody>
        </p:sp>
        <p:sp>
          <p:nvSpPr>
            <p:cNvPr id="27" name="TextBox 27"/>
            <p:cNvSpPr txBox="1"/>
            <p:nvPr/>
          </p:nvSpPr>
          <p:spPr>
            <a:xfrm>
              <a:off x="768668" y="4333399"/>
              <a:ext cx="850368"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Find(Guyana)</a:t>
              </a:r>
            </a:p>
          </p:txBody>
        </p:sp>
        <p:sp>
          <p:nvSpPr>
            <p:cNvPr id="28" name="TextBox 28"/>
            <p:cNvSpPr txBox="1"/>
            <p:nvPr/>
          </p:nvSpPr>
          <p:spPr>
            <a:xfrm>
              <a:off x="768668" y="4514374"/>
              <a:ext cx="2001012"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 Relate(capital of, backward)</a:t>
              </a:r>
            </a:p>
          </p:txBody>
        </p:sp>
        <p:sp>
          <p:nvSpPr>
            <p:cNvPr id="29" name="TextBox 29"/>
            <p:cNvSpPr txBox="1"/>
            <p:nvPr/>
          </p:nvSpPr>
          <p:spPr>
            <a:xfrm>
              <a:off x="768668" y="4695349"/>
              <a:ext cx="1396436"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 FilterConcept(city)</a:t>
              </a:r>
            </a:p>
          </p:txBody>
        </p:sp>
        <p:sp>
          <p:nvSpPr>
            <p:cNvPr id="30" name="TextBox 30"/>
            <p:cNvSpPr txBox="1"/>
            <p:nvPr/>
          </p:nvSpPr>
          <p:spPr>
            <a:xfrm>
              <a:off x="768668" y="4876324"/>
              <a:ext cx="2508075"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 QueryAttr(elevation above sea level)</a:t>
              </a:r>
            </a:p>
          </p:txBody>
        </p:sp>
        <p:sp>
          <p:nvSpPr>
            <p:cNvPr id="31" name="TextBox 31"/>
            <p:cNvSpPr txBox="1"/>
            <p:nvPr/>
          </p:nvSpPr>
          <p:spPr>
            <a:xfrm>
              <a:off x="768668" y="5057299"/>
              <a:ext cx="1701975"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 VerifyNum(130 metre, &lt;)</a:t>
              </a:r>
            </a:p>
          </p:txBody>
        </p:sp>
      </p:grpSp>
      <p:grpSp>
        <p:nvGrpSpPr>
          <p:cNvPr id="64" name="Group 64"/>
          <p:cNvGrpSpPr/>
          <p:nvPr/>
        </p:nvGrpSpPr>
        <p:grpSpPr>
          <a:xfrm>
            <a:off x="4936808" y="2234089"/>
            <a:ext cx="6664642" cy="1785461"/>
            <a:chOff x="4936808" y="2234089"/>
            <a:chExt cx="6664642" cy="1785461"/>
          </a:xfrm>
        </p:grpSpPr>
        <p:sp>
          <p:nvSpPr>
            <p:cNvPr id="33" name="TextBox 33"/>
            <p:cNvSpPr txBox="1"/>
            <p:nvPr/>
          </p:nvSpPr>
          <p:spPr>
            <a:xfrm>
              <a:off x="4936808" y="2234089"/>
              <a:ext cx="2397806"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Operational interpretation</a:t>
              </a:r>
            </a:p>
          </p:txBody>
        </p:sp>
        <p:sp>
          <p:nvSpPr>
            <p:cNvPr id="34" name="Line 34"/>
            <p:cNvSpPr/>
            <p:nvPr/>
          </p:nvSpPr>
          <p:spPr>
            <a:xfrm>
              <a:off x="4953000" y="2524125"/>
              <a:ext cx="6648450" cy="9525"/>
            </a:xfrm>
            <a:custGeom>
              <a:avLst/>
              <a:gdLst/>
              <a:ahLst/>
              <a:cxnLst/>
              <a:rect l="l" t="t" r="r" b="b"/>
              <a:pathLst>
                <a:path w="6648450" h="9525">
                  <a:moveTo>
                    <a:pt x="0" y="0"/>
                  </a:moveTo>
                  <a:lnTo>
                    <a:pt x="6648450" y="0"/>
                  </a:lnTo>
                </a:path>
              </a:pathLst>
            </a:custGeom>
            <a:noFill/>
            <a:ln w="9525">
              <a:solidFill>
                <a:srgbClr val="DAE1E6"/>
              </a:solidFill>
            </a:ln>
          </p:spPr>
          <p:txBody>
            <a:bodyPr/>
            <a:lstStyle/>
            <a:p>
              <a:endParaRPr lang="zh-CN" altLang="en-US"/>
            </a:p>
          </p:txBody>
        </p:sp>
        <p:sp>
          <p:nvSpPr>
            <p:cNvPr id="35" name="Rectangle 35"/>
            <p:cNvSpPr/>
            <p:nvPr/>
          </p:nvSpPr>
          <p:spPr>
            <a:xfrm>
              <a:off x="4953000" y="2895600"/>
              <a:ext cx="1123950" cy="1123950"/>
            </a:xfrm>
            <a:prstGeom prst="rect">
              <a:avLst/>
            </a:prstGeom>
            <a:solidFill>
              <a:srgbClr val="F4F7F8"/>
            </a:solidFill>
            <a:ln w="14288">
              <a:solidFill>
                <a:srgbClr val="DAE1E6"/>
              </a:solidFill>
            </a:ln>
          </p:spPr>
          <p:txBody>
            <a:bodyPr/>
            <a:lstStyle/>
            <a:p>
              <a:endParaRPr lang="zh-CN" altLang="en-US"/>
            </a:p>
          </p:txBody>
        </p:sp>
        <p:sp>
          <p:nvSpPr>
            <p:cNvPr id="36" name="Ellipse 36"/>
            <p:cNvSpPr/>
            <p:nvPr/>
          </p:nvSpPr>
          <p:spPr>
            <a:xfrm>
              <a:off x="5372100" y="2952750"/>
              <a:ext cx="285750" cy="285750"/>
            </a:xfrm>
            <a:prstGeom prst="ellipse">
              <a:avLst/>
            </a:prstGeom>
            <a:solidFill>
              <a:srgbClr val="002D4C"/>
            </a:solidFill>
            <a:ln>
              <a:noFill/>
            </a:ln>
          </p:spPr>
          <p:txBody>
            <a:bodyPr/>
            <a:lstStyle/>
            <a:p>
              <a:endParaRPr lang="zh-CN" altLang="en-US"/>
            </a:p>
          </p:txBody>
        </p:sp>
        <p:sp>
          <p:nvSpPr>
            <p:cNvPr id="37" name="TextBox 37"/>
            <p:cNvSpPr txBox="1"/>
            <p:nvPr/>
          </p:nvSpPr>
          <p:spPr>
            <a:xfrm>
              <a:off x="5484643" y="3046095"/>
              <a:ext cx="606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38" name="TextBox 38"/>
            <p:cNvSpPr txBox="1"/>
            <p:nvPr/>
          </p:nvSpPr>
          <p:spPr>
            <a:xfrm>
              <a:off x="5260470" y="3355181"/>
              <a:ext cx="509010"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Entity</a:t>
              </a:r>
            </a:p>
          </p:txBody>
        </p:sp>
        <p:sp>
          <p:nvSpPr>
            <p:cNvPr id="39" name="TextBox 39"/>
            <p:cNvSpPr txBox="1"/>
            <p:nvPr/>
          </p:nvSpPr>
          <p:spPr>
            <a:xfrm>
              <a:off x="5260470" y="3555206"/>
              <a:ext cx="509010"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lookup</a:t>
              </a:r>
            </a:p>
          </p:txBody>
        </p:sp>
        <p:sp>
          <p:nvSpPr>
            <p:cNvPr id="40" name="Polygon 40"/>
            <p:cNvSpPr/>
            <p:nvPr/>
          </p:nvSpPr>
          <p:spPr>
            <a:xfrm>
              <a:off x="61912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1" name="Rectangle 41"/>
            <p:cNvSpPr/>
            <p:nvPr/>
          </p:nvSpPr>
          <p:spPr>
            <a:xfrm>
              <a:off x="6496050" y="2895600"/>
              <a:ext cx="1123950" cy="1123950"/>
            </a:xfrm>
            <a:prstGeom prst="rect">
              <a:avLst/>
            </a:prstGeom>
            <a:solidFill>
              <a:srgbClr val="EAF6F4"/>
            </a:solidFill>
            <a:ln w="14288">
              <a:solidFill>
                <a:srgbClr val="DAE1E6"/>
              </a:solidFill>
            </a:ln>
          </p:spPr>
          <p:txBody>
            <a:bodyPr/>
            <a:lstStyle/>
            <a:p>
              <a:endParaRPr lang="zh-CN" altLang="en-US"/>
            </a:p>
          </p:txBody>
        </p:sp>
        <p:sp>
          <p:nvSpPr>
            <p:cNvPr id="42" name="Ellipse 42"/>
            <p:cNvSpPr/>
            <p:nvPr/>
          </p:nvSpPr>
          <p:spPr>
            <a:xfrm>
              <a:off x="6915150" y="2952750"/>
              <a:ext cx="285750" cy="285750"/>
            </a:xfrm>
            <a:prstGeom prst="ellipse">
              <a:avLst/>
            </a:prstGeom>
            <a:solidFill>
              <a:srgbClr val="009682"/>
            </a:solidFill>
            <a:ln>
              <a:noFill/>
            </a:ln>
          </p:spPr>
          <p:txBody>
            <a:bodyPr/>
            <a:lstStyle/>
            <a:p>
              <a:endParaRPr lang="zh-CN" altLang="en-US"/>
            </a:p>
          </p:txBody>
        </p:sp>
        <p:sp>
          <p:nvSpPr>
            <p:cNvPr id="43" name="TextBox 43"/>
            <p:cNvSpPr txBox="1"/>
            <p:nvPr/>
          </p:nvSpPr>
          <p:spPr>
            <a:xfrm>
              <a:off x="701194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44" name="TextBox 44"/>
            <p:cNvSpPr txBox="1"/>
            <p:nvPr/>
          </p:nvSpPr>
          <p:spPr>
            <a:xfrm>
              <a:off x="6736574" y="3259931"/>
              <a:ext cx="64290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Relation</a:t>
              </a:r>
            </a:p>
          </p:txBody>
        </p:sp>
        <p:sp>
          <p:nvSpPr>
            <p:cNvPr id="45" name="TextBox 45"/>
            <p:cNvSpPr txBox="1"/>
            <p:nvPr/>
          </p:nvSpPr>
          <p:spPr>
            <a:xfrm>
              <a:off x="6673566" y="3459956"/>
              <a:ext cx="768918"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traversal</a:t>
              </a:r>
            </a:p>
          </p:txBody>
        </p:sp>
        <p:sp>
          <p:nvSpPr>
            <p:cNvPr id="46" name="Polygon 46"/>
            <p:cNvSpPr/>
            <p:nvPr/>
          </p:nvSpPr>
          <p:spPr>
            <a:xfrm>
              <a:off x="773430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7" name="Rectangle 47"/>
            <p:cNvSpPr/>
            <p:nvPr/>
          </p:nvSpPr>
          <p:spPr>
            <a:xfrm>
              <a:off x="8039100" y="2895600"/>
              <a:ext cx="1123950" cy="1123950"/>
            </a:xfrm>
            <a:prstGeom prst="rect">
              <a:avLst/>
            </a:prstGeom>
            <a:solidFill>
              <a:srgbClr val="F4F7F8"/>
            </a:solidFill>
            <a:ln w="14288">
              <a:solidFill>
                <a:srgbClr val="DAE1E6"/>
              </a:solidFill>
            </a:ln>
          </p:spPr>
          <p:txBody>
            <a:bodyPr/>
            <a:lstStyle/>
            <a:p>
              <a:endParaRPr lang="zh-CN" altLang="en-US"/>
            </a:p>
          </p:txBody>
        </p:sp>
        <p:sp>
          <p:nvSpPr>
            <p:cNvPr id="48" name="Ellipse 48"/>
            <p:cNvSpPr/>
            <p:nvPr/>
          </p:nvSpPr>
          <p:spPr>
            <a:xfrm>
              <a:off x="8458200" y="2952750"/>
              <a:ext cx="285750" cy="285750"/>
            </a:xfrm>
            <a:prstGeom prst="ellipse">
              <a:avLst/>
            </a:prstGeom>
            <a:solidFill>
              <a:srgbClr val="23A1E0"/>
            </a:solidFill>
            <a:ln>
              <a:noFill/>
            </a:ln>
          </p:spPr>
          <p:txBody>
            <a:bodyPr/>
            <a:lstStyle/>
            <a:p>
              <a:endParaRPr lang="zh-CN" altLang="en-US"/>
            </a:p>
          </p:txBody>
        </p:sp>
        <p:sp>
          <p:nvSpPr>
            <p:cNvPr id="49" name="TextBox 49"/>
            <p:cNvSpPr txBox="1"/>
            <p:nvPr/>
          </p:nvSpPr>
          <p:spPr>
            <a:xfrm>
              <a:off x="855499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50" name="TextBox 50"/>
            <p:cNvSpPr txBox="1"/>
            <p:nvPr/>
          </p:nvSpPr>
          <p:spPr>
            <a:xfrm>
              <a:off x="8216616" y="3259931"/>
              <a:ext cx="768918"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Attribute</a:t>
              </a:r>
            </a:p>
          </p:txBody>
        </p:sp>
        <p:sp>
          <p:nvSpPr>
            <p:cNvPr id="51" name="TextBox 51"/>
            <p:cNvSpPr txBox="1"/>
            <p:nvPr/>
          </p:nvSpPr>
          <p:spPr>
            <a:xfrm>
              <a:off x="8236306" y="3459956"/>
              <a:ext cx="729538"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retrieval</a:t>
              </a:r>
            </a:p>
          </p:txBody>
        </p:sp>
        <p:sp>
          <p:nvSpPr>
            <p:cNvPr id="52" name="Polygon 52"/>
            <p:cNvSpPr/>
            <p:nvPr/>
          </p:nvSpPr>
          <p:spPr>
            <a:xfrm>
              <a:off x="92773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53" name="Rectangle 53"/>
            <p:cNvSpPr/>
            <p:nvPr/>
          </p:nvSpPr>
          <p:spPr>
            <a:xfrm>
              <a:off x="9582150" y="2895600"/>
              <a:ext cx="876300" cy="1123950"/>
            </a:xfrm>
            <a:prstGeom prst="rect">
              <a:avLst/>
            </a:prstGeom>
            <a:solidFill>
              <a:srgbClr val="EAF6F4"/>
            </a:solidFill>
            <a:ln w="14288">
              <a:solidFill>
                <a:srgbClr val="DAE1E6"/>
              </a:solidFill>
            </a:ln>
          </p:spPr>
          <p:txBody>
            <a:bodyPr/>
            <a:lstStyle/>
            <a:p>
              <a:endParaRPr lang="zh-CN" altLang="en-US"/>
            </a:p>
          </p:txBody>
        </p:sp>
        <p:sp>
          <p:nvSpPr>
            <p:cNvPr id="54" name="Ellipse 54"/>
            <p:cNvSpPr/>
            <p:nvPr/>
          </p:nvSpPr>
          <p:spPr>
            <a:xfrm>
              <a:off x="9877425" y="2952750"/>
              <a:ext cx="285750" cy="285750"/>
            </a:xfrm>
            <a:prstGeom prst="ellipse">
              <a:avLst/>
            </a:prstGeom>
            <a:solidFill>
              <a:srgbClr val="009682"/>
            </a:solidFill>
            <a:ln>
              <a:noFill/>
            </a:ln>
          </p:spPr>
          <p:txBody>
            <a:bodyPr/>
            <a:lstStyle/>
            <a:p>
              <a:endParaRPr lang="zh-CN" altLang="en-US"/>
            </a:p>
          </p:txBody>
        </p:sp>
        <p:sp>
          <p:nvSpPr>
            <p:cNvPr id="55" name="TextBox 55"/>
            <p:cNvSpPr txBox="1"/>
            <p:nvPr/>
          </p:nvSpPr>
          <p:spPr>
            <a:xfrm>
              <a:off x="997421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56" name="TextBox 56"/>
            <p:cNvSpPr txBox="1"/>
            <p:nvPr/>
          </p:nvSpPr>
          <p:spPr>
            <a:xfrm>
              <a:off x="9748535" y="3190399"/>
              <a:ext cx="543530"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Numeric</a:t>
              </a:r>
            </a:p>
          </p:txBody>
        </p:sp>
        <p:sp>
          <p:nvSpPr>
            <p:cNvPr id="57" name="TextBox 57"/>
            <p:cNvSpPr txBox="1"/>
            <p:nvPr/>
          </p:nvSpPr>
          <p:spPr>
            <a:xfrm>
              <a:off x="9635909" y="3371374"/>
              <a:ext cx="768783"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comparison</a:t>
              </a:r>
            </a:p>
          </p:txBody>
        </p:sp>
        <p:sp>
          <p:nvSpPr>
            <p:cNvPr id="58" name="Polygon 58"/>
            <p:cNvSpPr/>
            <p:nvPr/>
          </p:nvSpPr>
          <p:spPr>
            <a:xfrm>
              <a:off x="105727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59" name="Rectangle 59"/>
            <p:cNvSpPr/>
            <p:nvPr/>
          </p:nvSpPr>
          <p:spPr>
            <a:xfrm>
              <a:off x="10877550" y="2895600"/>
              <a:ext cx="723900" cy="1123950"/>
            </a:xfrm>
            <a:prstGeom prst="rect">
              <a:avLst/>
            </a:prstGeom>
            <a:solidFill>
              <a:srgbClr val="002D4C"/>
            </a:solidFill>
            <a:ln>
              <a:noFill/>
            </a:ln>
          </p:spPr>
          <p:txBody>
            <a:bodyPr/>
            <a:lstStyle/>
            <a:p>
              <a:endParaRPr lang="zh-CN" altLang="en-US"/>
            </a:p>
          </p:txBody>
        </p:sp>
        <p:sp>
          <p:nvSpPr>
            <p:cNvPr id="60" name="Ellipse 60"/>
            <p:cNvSpPr/>
            <p:nvPr/>
          </p:nvSpPr>
          <p:spPr>
            <a:xfrm>
              <a:off x="11096625" y="2952750"/>
              <a:ext cx="285750" cy="285750"/>
            </a:xfrm>
            <a:prstGeom prst="ellipse">
              <a:avLst/>
            </a:prstGeom>
            <a:solidFill>
              <a:srgbClr val="009682"/>
            </a:solidFill>
            <a:ln>
              <a:noFill/>
            </a:ln>
          </p:spPr>
          <p:txBody>
            <a:bodyPr/>
            <a:lstStyle/>
            <a:p>
              <a:endParaRPr lang="zh-CN" altLang="en-US"/>
            </a:p>
          </p:txBody>
        </p:sp>
        <p:sp>
          <p:nvSpPr>
            <p:cNvPr id="61" name="TextBox 61"/>
            <p:cNvSpPr txBox="1"/>
            <p:nvPr/>
          </p:nvSpPr>
          <p:spPr>
            <a:xfrm>
              <a:off x="1119341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5</a:t>
              </a:r>
            </a:p>
          </p:txBody>
        </p:sp>
        <p:sp>
          <p:nvSpPr>
            <p:cNvPr id="62" name="TextBox 62"/>
            <p:cNvSpPr txBox="1"/>
            <p:nvPr/>
          </p:nvSpPr>
          <p:spPr>
            <a:xfrm>
              <a:off x="11001242" y="3198495"/>
              <a:ext cx="476517"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Boolean</a:t>
              </a:r>
            </a:p>
          </p:txBody>
        </p:sp>
        <p:sp>
          <p:nvSpPr>
            <p:cNvPr id="63" name="TextBox 63"/>
            <p:cNvSpPr txBox="1"/>
            <p:nvPr/>
          </p:nvSpPr>
          <p:spPr>
            <a:xfrm>
              <a:off x="10982339" y="3369945"/>
              <a:ext cx="5143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decision</a:t>
              </a:r>
            </a:p>
          </p:txBody>
        </p:sp>
      </p:grpSp>
      <p:grpSp>
        <p:nvGrpSpPr>
          <p:cNvPr id="69" name="Group 69"/>
          <p:cNvGrpSpPr/>
          <p:nvPr/>
        </p:nvGrpSpPr>
        <p:grpSpPr>
          <a:xfrm>
            <a:off x="4953000" y="4419600"/>
            <a:ext cx="6648450" cy="952500"/>
            <a:chOff x="4953000" y="4419600"/>
            <a:chExt cx="6648450" cy="952500"/>
          </a:xfrm>
        </p:grpSpPr>
        <p:sp>
          <p:nvSpPr>
            <p:cNvPr id="65" name="Rectangle 65"/>
            <p:cNvSpPr/>
            <p:nvPr/>
          </p:nvSpPr>
          <p:spPr>
            <a:xfrm>
              <a:off x="4953000" y="4419600"/>
              <a:ext cx="6648450" cy="952500"/>
            </a:xfrm>
            <a:prstGeom prst="rect">
              <a:avLst/>
            </a:prstGeom>
            <a:solidFill>
              <a:srgbClr val="002D4C"/>
            </a:solidFill>
            <a:ln>
              <a:noFill/>
            </a:ln>
          </p:spPr>
          <p:txBody>
            <a:bodyPr/>
            <a:lstStyle/>
            <a:p>
              <a:endParaRPr lang="zh-CN" altLang="en-US"/>
            </a:p>
          </p:txBody>
        </p:sp>
        <p:sp>
          <p:nvSpPr>
            <p:cNvPr id="66" name="TextBox 66"/>
            <p:cNvSpPr txBox="1"/>
            <p:nvPr/>
          </p:nvSpPr>
          <p:spPr>
            <a:xfrm>
              <a:off x="5170170" y="4598670"/>
              <a:ext cx="1686268"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SOLVING STRATEGY</a:t>
              </a:r>
            </a:p>
          </p:txBody>
        </p:sp>
        <p:sp>
          <p:nvSpPr>
            <p:cNvPr id="67" name="TextBox 67"/>
            <p:cNvSpPr txBox="1"/>
            <p:nvPr/>
          </p:nvSpPr>
          <p:spPr>
            <a:xfrm>
              <a:off x="5165408" y="4872514"/>
              <a:ext cx="4631460"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Entity lookup → relation traversal → attribute retrieval</a:t>
              </a:r>
            </a:p>
          </p:txBody>
        </p:sp>
        <p:sp>
          <p:nvSpPr>
            <p:cNvPr id="68" name="TextBox 68"/>
            <p:cNvSpPr txBox="1"/>
            <p:nvPr/>
          </p:nvSpPr>
          <p:spPr>
            <a:xfrm>
              <a:off x="5165408" y="5110639"/>
              <a:ext cx="3653838"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 numeric comparison → Boolean verification</a:t>
              </a:r>
            </a:p>
          </p:txBody>
        </p:sp>
      </p:grpSp>
      <p:grpSp>
        <p:nvGrpSpPr>
          <p:cNvPr id="74" name="Group 74"/>
          <p:cNvGrpSpPr/>
          <p:nvPr/>
        </p:nvGrpSpPr>
        <p:grpSpPr>
          <a:xfrm>
            <a:off x="495300" y="6167438"/>
            <a:ext cx="11201400" cy="590550"/>
            <a:chOff x="495300" y="6167438"/>
            <a:chExt cx="11201400" cy="590550"/>
          </a:xfrm>
        </p:grpSpPr>
        <p:sp>
          <p:nvSpPr>
            <p:cNvPr id="70" name="TextBox 70"/>
            <p:cNvSpPr txBox="1"/>
            <p:nvPr/>
          </p:nvSpPr>
          <p:spPr>
            <a:xfrm>
              <a:off x="581025" y="6167438"/>
              <a:ext cx="2489359"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KQA Pro Dataset Analysis · Case 3 — Verify</a:t>
              </a:r>
            </a:p>
          </p:txBody>
        </p:sp>
        <p:sp>
          <p:nvSpPr>
            <p:cNvPr id="71" name="Line 71"/>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72" name="TextBox 72"/>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73" name="TextBox 73"/>
            <p:cNvSpPr txBox="1"/>
            <p:nvPr/>
          </p:nvSpPr>
          <p:spPr>
            <a:xfrm>
              <a:off x="10887075" y="6605588"/>
              <a:ext cx="12906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07</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400"/>
                                        <p:tgtEl>
                                          <p:spTgt spid="13"/>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image">
                                      <p:cBhvr>
                                        <p:cTn id="11" dur="400"/>
                                        <p:tgtEl>
                                          <p:spTgt spid="32"/>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400"/>
                                        <p:tgtEl>
                                          <p:spTgt spid="64"/>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wipe(left)">
                                      <p:cBhvr>
                                        <p:cTn id="19"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2" grpId="0"/>
      <p:bldP spid="64" grpId="0"/>
      <p:bldP spid="6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7" name="Group 7"/>
          <p:cNvGrpSpPr/>
          <p:nvPr/>
        </p:nvGrpSpPr>
        <p:grpSpPr>
          <a:xfrm>
            <a:off x="495300" y="400050"/>
            <a:ext cx="5573125" cy="792956"/>
            <a:chOff x="495300" y="400050"/>
            <a:chExt cx="5573125" cy="792956"/>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681990" y="410528"/>
              <a:ext cx="5386435"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GrailQAbility: Dataset Overview</a:t>
              </a:r>
            </a:p>
          </p:txBody>
        </p:sp>
        <p:sp>
          <p:nvSpPr>
            <p:cNvPr id="5" name="TextBox 5"/>
            <p:cNvSpPr txBox="1"/>
            <p:nvPr/>
          </p:nvSpPr>
          <p:spPr>
            <a:xfrm>
              <a:off x="719138" y="792956"/>
              <a:ext cx="4844177"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GrailQA questions adapted through controlled KB-element deletion</a:t>
              </a:r>
            </a:p>
          </p:txBody>
        </p:sp>
        <p:sp>
          <p:nvSpPr>
            <p:cNvPr id="6" name="TextBox 6"/>
            <p:cNvSpPr txBox="1"/>
            <p:nvPr/>
          </p:nvSpPr>
          <p:spPr>
            <a:xfrm>
              <a:off x="719138" y="964406"/>
              <a:ext cx="3373993"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to create answerable and unanswerable cases</a:t>
              </a:r>
            </a:p>
          </p:txBody>
        </p:sp>
      </p:grpSp>
      <p:grpSp>
        <p:nvGrpSpPr>
          <p:cNvPr id="16" name="Group 16"/>
          <p:cNvGrpSpPr/>
          <p:nvPr/>
        </p:nvGrpSpPr>
        <p:grpSpPr>
          <a:xfrm>
            <a:off x="495300" y="1162050"/>
            <a:ext cx="11201400" cy="400050"/>
            <a:chOff x="495300" y="1162050"/>
            <a:chExt cx="11201400" cy="400050"/>
          </a:xfrm>
        </p:grpSpPr>
        <p:sp>
          <p:nvSpPr>
            <p:cNvPr id="8" name="Rectangle 8"/>
            <p:cNvSpPr/>
            <p:nvPr/>
          </p:nvSpPr>
          <p:spPr>
            <a:xfrm>
              <a:off x="495300" y="1162050"/>
              <a:ext cx="11201400" cy="400050"/>
            </a:xfrm>
            <a:prstGeom prst="rect">
              <a:avLst/>
            </a:prstGeom>
            <a:solidFill>
              <a:srgbClr val="EAF6F4"/>
            </a:solidFill>
            <a:ln>
              <a:noFill/>
            </a:ln>
          </p:spPr>
          <p:txBody>
            <a:bodyPr/>
            <a:lstStyle/>
            <a:p>
              <a:endParaRPr lang="zh-CN" altLang="en-US"/>
            </a:p>
          </p:txBody>
        </p:sp>
        <p:sp>
          <p:nvSpPr>
            <p:cNvPr id="9" name="TextBox 9"/>
            <p:cNvSpPr txBox="1"/>
            <p:nvPr/>
          </p:nvSpPr>
          <p:spPr>
            <a:xfrm>
              <a:off x="764858" y="1281589"/>
              <a:ext cx="1443561"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50,507</a:t>
              </a:r>
              <a:r>
                <a:rPr lang="zh-CN" sz="1275" dirty="0">
                  <a:solidFill>
                    <a:srgbClr val="002D4C"/>
                  </a:solidFill>
                  <a:latin typeface="Arial"/>
                  <a:ea typeface="Microsoft YaHei"/>
                  <a:cs typeface="Arial"/>
                </a:rPr>
                <a:t> questions</a:t>
              </a:r>
            </a:p>
          </p:txBody>
        </p:sp>
        <p:sp>
          <p:nvSpPr>
            <p:cNvPr id="10" name="Line 10"/>
            <p:cNvSpPr/>
            <p:nvPr/>
          </p:nvSpPr>
          <p:spPr>
            <a:xfrm>
              <a:off x="2724150" y="1257300"/>
              <a:ext cx="9525" cy="209550"/>
            </a:xfrm>
            <a:custGeom>
              <a:avLst/>
              <a:gdLst/>
              <a:ahLst/>
              <a:cxnLst/>
              <a:rect l="l" t="t" r="r" b="b"/>
              <a:pathLst>
                <a:path w="9525" h="209550">
                  <a:moveTo>
                    <a:pt x="0" y="0"/>
                  </a:moveTo>
                  <a:lnTo>
                    <a:pt x="0" y="209550"/>
                  </a:lnTo>
                </a:path>
              </a:pathLst>
            </a:custGeom>
            <a:noFill/>
            <a:ln w="9525">
              <a:solidFill>
                <a:srgbClr val="DAE1E6"/>
              </a:solidFill>
            </a:ln>
          </p:spPr>
          <p:txBody>
            <a:bodyPr/>
            <a:lstStyle/>
            <a:p>
              <a:endParaRPr lang="zh-CN" altLang="en-US"/>
            </a:p>
          </p:txBody>
        </p:sp>
        <p:sp>
          <p:nvSpPr>
            <p:cNvPr id="11" name="TextBox 11"/>
            <p:cNvSpPr txBox="1"/>
            <p:nvPr/>
          </p:nvSpPr>
          <p:spPr>
            <a:xfrm>
              <a:off x="3012758" y="1281589"/>
              <a:ext cx="1571077"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≈33%</a:t>
              </a:r>
              <a:r>
                <a:rPr lang="zh-CN" sz="1275" dirty="0">
                  <a:solidFill>
                    <a:srgbClr val="002D4C"/>
                  </a:solidFill>
                  <a:latin typeface="Arial"/>
                  <a:ea typeface="Microsoft YaHei"/>
                  <a:cs typeface="Arial"/>
                </a:rPr>
                <a:t> unanswerable</a:t>
              </a:r>
            </a:p>
          </p:txBody>
        </p:sp>
        <p:sp>
          <p:nvSpPr>
            <p:cNvPr id="12" name="Line 12"/>
            <p:cNvSpPr/>
            <p:nvPr/>
          </p:nvSpPr>
          <p:spPr>
            <a:xfrm>
              <a:off x="5219700" y="1257300"/>
              <a:ext cx="9525" cy="209550"/>
            </a:xfrm>
            <a:custGeom>
              <a:avLst/>
              <a:gdLst/>
              <a:ahLst/>
              <a:cxnLst/>
              <a:rect l="l" t="t" r="r" b="b"/>
              <a:pathLst>
                <a:path w="9525" h="209550">
                  <a:moveTo>
                    <a:pt x="0" y="0"/>
                  </a:moveTo>
                  <a:lnTo>
                    <a:pt x="0" y="209550"/>
                  </a:lnTo>
                </a:path>
              </a:pathLst>
            </a:custGeom>
            <a:noFill/>
            <a:ln w="9525">
              <a:solidFill>
                <a:srgbClr val="DAE1E6"/>
              </a:solidFill>
            </a:ln>
          </p:spPr>
          <p:txBody>
            <a:bodyPr/>
            <a:lstStyle/>
            <a:p>
              <a:endParaRPr lang="zh-CN" altLang="en-US"/>
            </a:p>
          </p:txBody>
        </p:sp>
        <p:sp>
          <p:nvSpPr>
            <p:cNvPr id="13" name="TextBox 13"/>
            <p:cNvSpPr txBox="1"/>
            <p:nvPr/>
          </p:nvSpPr>
          <p:spPr>
            <a:xfrm>
              <a:off x="5508308" y="1281589"/>
              <a:ext cx="1783604"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4</a:t>
              </a:r>
              <a:r>
                <a:rPr lang="zh-CN" sz="1275" dirty="0">
                  <a:solidFill>
                    <a:srgbClr val="002D4C"/>
                  </a:solidFill>
                  <a:latin typeface="Arial"/>
                  <a:ea typeface="Microsoft YaHei"/>
                  <a:cs typeface="Arial"/>
                </a:rPr>
                <a:t> deletion categories</a:t>
              </a:r>
            </a:p>
          </p:txBody>
        </p:sp>
        <p:sp>
          <p:nvSpPr>
            <p:cNvPr id="14" name="Line 14"/>
            <p:cNvSpPr/>
            <p:nvPr/>
          </p:nvSpPr>
          <p:spPr>
            <a:xfrm>
              <a:off x="7848600" y="1257300"/>
              <a:ext cx="9525" cy="209550"/>
            </a:xfrm>
            <a:custGeom>
              <a:avLst/>
              <a:gdLst/>
              <a:ahLst/>
              <a:cxnLst/>
              <a:rect l="l" t="t" r="r" b="b"/>
              <a:pathLst>
                <a:path w="9525" h="209550">
                  <a:moveTo>
                    <a:pt x="0" y="0"/>
                  </a:moveTo>
                  <a:lnTo>
                    <a:pt x="0" y="209550"/>
                  </a:lnTo>
                </a:path>
              </a:pathLst>
            </a:custGeom>
            <a:noFill/>
            <a:ln w="9525">
              <a:solidFill>
                <a:srgbClr val="DAE1E6"/>
              </a:solidFill>
            </a:ln>
          </p:spPr>
          <p:txBody>
            <a:bodyPr/>
            <a:lstStyle/>
            <a:p>
              <a:endParaRPr lang="zh-CN" altLang="en-US"/>
            </a:p>
          </p:txBody>
        </p:sp>
        <p:sp>
          <p:nvSpPr>
            <p:cNvPr id="15" name="TextBox 15"/>
            <p:cNvSpPr txBox="1"/>
            <p:nvPr/>
          </p:nvSpPr>
          <p:spPr>
            <a:xfrm>
              <a:off x="8137208" y="1281589"/>
              <a:ext cx="2285167"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Gold </a:t>
              </a:r>
              <a:r>
                <a:rPr lang="zh-CN" sz="1275" b="1" dirty="0">
                  <a:solidFill>
                    <a:srgbClr val="005A50"/>
                  </a:solidFill>
                  <a:latin typeface="Arial"/>
                  <a:ea typeface="Microsoft YaHei"/>
                  <a:cs typeface="Arial"/>
                </a:rPr>
                <a:t>logical forms + SPARQL</a:t>
              </a:r>
            </a:p>
          </p:txBody>
        </p:sp>
      </p:grpSp>
      <p:grpSp>
        <p:nvGrpSpPr>
          <p:cNvPr id="55" name="Group 55"/>
          <p:cNvGrpSpPr/>
          <p:nvPr/>
        </p:nvGrpSpPr>
        <p:grpSpPr>
          <a:xfrm>
            <a:off x="495300" y="1676400"/>
            <a:ext cx="11201400" cy="4483894"/>
            <a:chOff x="495300" y="1676400"/>
            <a:chExt cx="11201400" cy="4483894"/>
          </a:xfrm>
        </p:grpSpPr>
        <p:sp>
          <p:nvSpPr>
            <p:cNvPr id="17" name="Rectangle 17"/>
            <p:cNvSpPr/>
            <p:nvPr/>
          </p:nvSpPr>
          <p:spPr>
            <a:xfrm>
              <a:off x="495300" y="1676400"/>
              <a:ext cx="11201400" cy="342900"/>
            </a:xfrm>
            <a:prstGeom prst="rect">
              <a:avLst/>
            </a:prstGeom>
            <a:solidFill>
              <a:srgbClr val="002D4C"/>
            </a:solidFill>
            <a:ln>
              <a:noFill/>
            </a:ln>
          </p:spPr>
          <p:txBody>
            <a:bodyPr/>
            <a:lstStyle/>
            <a:p>
              <a:endParaRPr lang="zh-CN" altLang="en-US"/>
            </a:p>
          </p:txBody>
        </p:sp>
        <p:sp>
          <p:nvSpPr>
            <p:cNvPr id="18" name="TextBox 18"/>
            <p:cNvSpPr txBox="1"/>
            <p:nvPr/>
          </p:nvSpPr>
          <p:spPr>
            <a:xfrm>
              <a:off x="654368" y="1790224"/>
              <a:ext cx="68687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DIMENSION</a:t>
              </a:r>
            </a:p>
          </p:txBody>
        </p:sp>
        <p:sp>
          <p:nvSpPr>
            <p:cNvPr id="19" name="TextBox 19"/>
            <p:cNvSpPr txBox="1"/>
            <p:nvPr/>
          </p:nvSpPr>
          <p:spPr>
            <a:xfrm>
              <a:off x="3073718" y="1790224"/>
              <a:ext cx="925778"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GRAILQABILITY</a:t>
              </a:r>
            </a:p>
          </p:txBody>
        </p:sp>
        <p:sp>
          <p:nvSpPr>
            <p:cNvPr id="20" name="Line 20"/>
            <p:cNvSpPr/>
            <p:nvPr/>
          </p:nvSpPr>
          <p:spPr>
            <a:xfrm>
              <a:off x="2914650" y="1676400"/>
              <a:ext cx="9525" cy="4438650"/>
            </a:xfrm>
            <a:custGeom>
              <a:avLst/>
              <a:gdLst/>
              <a:ahLst/>
              <a:cxnLst/>
              <a:rect l="l" t="t" r="r" b="b"/>
              <a:pathLst>
                <a:path w="9525" h="4438650">
                  <a:moveTo>
                    <a:pt x="0" y="0"/>
                  </a:moveTo>
                  <a:lnTo>
                    <a:pt x="0" y="4438650"/>
                  </a:lnTo>
                </a:path>
              </a:pathLst>
            </a:custGeom>
            <a:noFill/>
            <a:ln w="9525">
              <a:solidFill>
                <a:srgbClr val="DAE1E6"/>
              </a:solidFill>
            </a:ln>
          </p:spPr>
          <p:txBody>
            <a:bodyPr/>
            <a:lstStyle/>
            <a:p>
              <a:endParaRPr lang="zh-CN" altLang="en-US"/>
            </a:p>
          </p:txBody>
        </p:sp>
        <p:sp>
          <p:nvSpPr>
            <p:cNvPr id="21" name="Rectangle 21"/>
            <p:cNvSpPr/>
            <p:nvPr/>
          </p:nvSpPr>
          <p:spPr>
            <a:xfrm>
              <a:off x="495300" y="2019300"/>
              <a:ext cx="11201400" cy="438150"/>
            </a:xfrm>
            <a:prstGeom prst="rect">
              <a:avLst/>
            </a:prstGeom>
            <a:solidFill>
              <a:srgbClr val="EAF6F4"/>
            </a:solidFill>
            <a:ln>
              <a:noFill/>
            </a:ln>
          </p:spPr>
          <p:txBody>
            <a:bodyPr/>
            <a:lstStyle/>
            <a:p>
              <a:endParaRPr lang="zh-CN" altLang="en-US"/>
            </a:p>
          </p:txBody>
        </p:sp>
        <p:sp>
          <p:nvSpPr>
            <p:cNvPr id="22" name="TextBox 22"/>
            <p:cNvSpPr txBox="1"/>
            <p:nvPr/>
          </p:nvSpPr>
          <p:spPr>
            <a:xfrm>
              <a:off x="654368" y="2180749"/>
              <a:ext cx="1185160"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Question Type(s)</a:t>
              </a:r>
            </a:p>
          </p:txBody>
        </p:sp>
        <p:sp>
          <p:nvSpPr>
            <p:cNvPr id="23" name="TextBox 23"/>
            <p:cNvSpPr txBox="1"/>
            <p:nvPr/>
          </p:nvSpPr>
          <p:spPr>
            <a:xfrm>
              <a:off x="3073718" y="2095024"/>
              <a:ext cx="4737854"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Inherited GrailQA KBQA questions; unanswerability induced by Entity Type,</a:t>
              </a:r>
            </a:p>
          </p:txBody>
        </p:sp>
        <p:sp>
          <p:nvSpPr>
            <p:cNvPr id="24" name="TextBox 24"/>
            <p:cNvSpPr txBox="1"/>
            <p:nvPr/>
          </p:nvSpPr>
          <p:spPr>
            <a:xfrm>
              <a:off x="3073718" y="2266474"/>
              <a:ext cx="2235041"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Relation, Entity, and Fact Deletion</a:t>
              </a:r>
            </a:p>
          </p:txBody>
        </p:sp>
        <p:sp>
          <p:nvSpPr>
            <p:cNvPr id="25" name="Rectangle 25"/>
            <p:cNvSpPr/>
            <p:nvPr/>
          </p:nvSpPr>
          <p:spPr>
            <a:xfrm>
              <a:off x="495300" y="2457450"/>
              <a:ext cx="11201400" cy="438150"/>
            </a:xfrm>
            <a:prstGeom prst="rect">
              <a:avLst/>
            </a:prstGeom>
            <a:solidFill>
              <a:srgbClr val="F4F7F8"/>
            </a:solidFill>
            <a:ln>
              <a:noFill/>
            </a:ln>
          </p:spPr>
          <p:txBody>
            <a:bodyPr/>
            <a:lstStyle/>
            <a:p>
              <a:endParaRPr lang="zh-CN" altLang="en-US"/>
            </a:p>
          </p:txBody>
        </p:sp>
        <p:sp>
          <p:nvSpPr>
            <p:cNvPr id="26" name="TextBox 26"/>
            <p:cNvSpPr txBox="1"/>
            <p:nvPr/>
          </p:nvSpPr>
          <p:spPr>
            <a:xfrm>
              <a:off x="654368" y="2618899"/>
              <a:ext cx="1765358"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Expected Solving Strategy</a:t>
              </a:r>
            </a:p>
          </p:txBody>
        </p:sp>
        <p:sp>
          <p:nvSpPr>
            <p:cNvPr id="27" name="TextBox 27"/>
            <p:cNvSpPr txBox="1"/>
            <p:nvPr/>
          </p:nvSpPr>
          <p:spPr>
            <a:xfrm>
              <a:off x="3073718" y="2533174"/>
              <a:ext cx="3905750"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KG access; evidence retrieval; missing-knowledge detection;</a:t>
              </a:r>
            </a:p>
          </p:txBody>
        </p:sp>
        <p:sp>
          <p:nvSpPr>
            <p:cNvPr id="28" name="TextBox 28"/>
            <p:cNvSpPr txBox="1"/>
            <p:nvPr/>
          </p:nvSpPr>
          <p:spPr>
            <a:xfrm>
              <a:off x="3073718" y="2704624"/>
              <a:ext cx="2007513"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answerability decision; refusal</a:t>
              </a:r>
            </a:p>
          </p:txBody>
        </p:sp>
        <p:sp>
          <p:nvSpPr>
            <p:cNvPr id="29" name="Rectangle 29"/>
            <p:cNvSpPr/>
            <p:nvPr/>
          </p:nvSpPr>
          <p:spPr>
            <a:xfrm>
              <a:off x="495300" y="2895600"/>
              <a:ext cx="11201400" cy="400050"/>
            </a:xfrm>
            <a:prstGeom prst="rect">
              <a:avLst/>
            </a:prstGeom>
            <a:solidFill>
              <a:srgbClr val="EAF6F4"/>
            </a:solidFill>
            <a:ln>
              <a:noFill/>
            </a:ln>
          </p:spPr>
          <p:txBody>
            <a:bodyPr/>
            <a:lstStyle/>
            <a:p>
              <a:endParaRPr lang="zh-CN" altLang="en-US"/>
            </a:p>
          </p:txBody>
        </p:sp>
        <p:sp>
          <p:nvSpPr>
            <p:cNvPr id="30" name="TextBox 30"/>
            <p:cNvSpPr txBox="1"/>
            <p:nvPr/>
          </p:nvSpPr>
          <p:spPr>
            <a:xfrm>
              <a:off x="654368" y="3028474"/>
              <a:ext cx="843867"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Answer Type</a:t>
              </a:r>
            </a:p>
          </p:txBody>
        </p:sp>
        <p:sp>
          <p:nvSpPr>
            <p:cNvPr id="31" name="TextBox 31"/>
            <p:cNvSpPr txBox="1"/>
            <p:nvPr/>
          </p:nvSpPr>
          <p:spPr>
            <a:xfrm>
              <a:off x="3073718" y="3028474"/>
              <a:ext cx="4588335"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Original answer; NA for unanswerable cases; NK applies to logical forms</a:t>
              </a:r>
            </a:p>
          </p:txBody>
        </p:sp>
        <p:sp>
          <p:nvSpPr>
            <p:cNvPr id="32" name="Rectangle 32"/>
            <p:cNvSpPr/>
            <p:nvPr/>
          </p:nvSpPr>
          <p:spPr>
            <a:xfrm>
              <a:off x="495300" y="3295650"/>
              <a:ext cx="11201400" cy="400050"/>
            </a:xfrm>
            <a:prstGeom prst="rect">
              <a:avLst/>
            </a:prstGeom>
            <a:solidFill>
              <a:srgbClr val="F4F7F8"/>
            </a:solidFill>
            <a:ln>
              <a:noFill/>
            </a:ln>
          </p:spPr>
          <p:txBody>
            <a:bodyPr/>
            <a:lstStyle/>
            <a:p>
              <a:endParaRPr lang="zh-CN" altLang="en-US"/>
            </a:p>
          </p:txBody>
        </p:sp>
        <p:sp>
          <p:nvSpPr>
            <p:cNvPr id="33" name="TextBox 33"/>
            <p:cNvSpPr txBox="1"/>
            <p:nvPr/>
          </p:nvSpPr>
          <p:spPr>
            <a:xfrm>
              <a:off x="654368" y="3428524"/>
              <a:ext cx="925778"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Answerability</a:t>
              </a:r>
            </a:p>
          </p:txBody>
        </p:sp>
        <p:sp>
          <p:nvSpPr>
            <p:cNvPr id="34" name="TextBox 34"/>
            <p:cNvSpPr txBox="1"/>
            <p:nvPr/>
          </p:nvSpPr>
          <p:spPr>
            <a:xfrm>
              <a:off x="3073718" y="3428524"/>
              <a:ext cx="5153906"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≈67% answerable; ≈33% unanswerable; four controlled incompleteness categories</a:t>
              </a:r>
            </a:p>
          </p:txBody>
        </p:sp>
        <p:sp>
          <p:nvSpPr>
            <p:cNvPr id="35" name="Rectangle 35"/>
            <p:cNvSpPr/>
            <p:nvPr/>
          </p:nvSpPr>
          <p:spPr>
            <a:xfrm>
              <a:off x="495300" y="3695700"/>
              <a:ext cx="11201400" cy="400050"/>
            </a:xfrm>
            <a:prstGeom prst="rect">
              <a:avLst/>
            </a:prstGeom>
            <a:solidFill>
              <a:srgbClr val="EAF6F4"/>
            </a:solidFill>
            <a:ln>
              <a:noFill/>
            </a:ln>
          </p:spPr>
          <p:txBody>
            <a:bodyPr/>
            <a:lstStyle/>
            <a:p>
              <a:endParaRPr lang="zh-CN" altLang="en-US"/>
            </a:p>
          </p:txBody>
        </p:sp>
        <p:sp>
          <p:nvSpPr>
            <p:cNvPr id="36" name="TextBox 36"/>
            <p:cNvSpPr txBox="1"/>
            <p:nvPr/>
          </p:nvSpPr>
          <p:spPr>
            <a:xfrm>
              <a:off x="654368" y="3828574"/>
              <a:ext cx="1471846"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Hop Count / Definition</a:t>
              </a:r>
            </a:p>
          </p:txBody>
        </p:sp>
        <p:sp>
          <p:nvSpPr>
            <p:cNvPr id="37" name="TextBox 37"/>
            <p:cNvSpPr txBox="1"/>
            <p:nvPr/>
          </p:nvSpPr>
          <p:spPr>
            <a:xfrm>
              <a:off x="3073718" y="3828574"/>
              <a:ext cx="2625090"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Not a focus of GrailQAbility construction</a:t>
              </a:r>
            </a:p>
          </p:txBody>
        </p:sp>
        <p:sp>
          <p:nvSpPr>
            <p:cNvPr id="38" name="Rectangle 38"/>
            <p:cNvSpPr/>
            <p:nvPr/>
          </p:nvSpPr>
          <p:spPr>
            <a:xfrm>
              <a:off x="495300" y="4095750"/>
              <a:ext cx="11201400" cy="438150"/>
            </a:xfrm>
            <a:prstGeom prst="rect">
              <a:avLst/>
            </a:prstGeom>
            <a:solidFill>
              <a:srgbClr val="F4F7F8"/>
            </a:solidFill>
            <a:ln>
              <a:noFill/>
            </a:ln>
          </p:spPr>
          <p:txBody>
            <a:bodyPr/>
            <a:lstStyle/>
            <a:p>
              <a:endParaRPr lang="zh-CN" altLang="en-US"/>
            </a:p>
          </p:txBody>
        </p:sp>
        <p:sp>
          <p:nvSpPr>
            <p:cNvPr id="39" name="TextBox 39"/>
            <p:cNvSpPr txBox="1"/>
            <p:nvPr/>
          </p:nvSpPr>
          <p:spPr>
            <a:xfrm>
              <a:off x="654368" y="4257199"/>
              <a:ext cx="1717577"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Gold Query / Logical Form</a:t>
              </a:r>
            </a:p>
          </p:txBody>
        </p:sp>
        <p:sp>
          <p:nvSpPr>
            <p:cNvPr id="40" name="TextBox 40"/>
            <p:cNvSpPr txBox="1"/>
            <p:nvPr/>
          </p:nvSpPr>
          <p:spPr>
            <a:xfrm>
              <a:off x="3073718" y="4171474"/>
              <a:ext cx="4256794"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Gold logical forms / SPARQL; answer paths computationally derived</a:t>
              </a:r>
            </a:p>
          </p:txBody>
        </p:sp>
        <p:sp>
          <p:nvSpPr>
            <p:cNvPr id="41" name="TextBox 41"/>
            <p:cNvSpPr txBox="1"/>
            <p:nvPr/>
          </p:nvSpPr>
          <p:spPr>
            <a:xfrm>
              <a:off x="3073718" y="4342924"/>
              <a:ext cx="2488573"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from SPARQL for dataset construction</a:t>
              </a:r>
            </a:p>
          </p:txBody>
        </p:sp>
        <p:sp>
          <p:nvSpPr>
            <p:cNvPr id="42" name="Rectangle 42"/>
            <p:cNvSpPr/>
            <p:nvPr/>
          </p:nvSpPr>
          <p:spPr>
            <a:xfrm>
              <a:off x="495300" y="4533900"/>
              <a:ext cx="11201400" cy="400050"/>
            </a:xfrm>
            <a:prstGeom prst="rect">
              <a:avLst/>
            </a:prstGeom>
            <a:solidFill>
              <a:srgbClr val="EAF6F4"/>
            </a:solidFill>
            <a:ln>
              <a:noFill/>
            </a:ln>
          </p:spPr>
          <p:txBody>
            <a:bodyPr/>
            <a:lstStyle/>
            <a:p>
              <a:endParaRPr lang="zh-CN" altLang="en-US"/>
            </a:p>
          </p:txBody>
        </p:sp>
        <p:sp>
          <p:nvSpPr>
            <p:cNvPr id="43" name="TextBox 43"/>
            <p:cNvSpPr txBox="1"/>
            <p:nvPr/>
          </p:nvSpPr>
          <p:spPr>
            <a:xfrm>
              <a:off x="654368" y="4666774"/>
              <a:ext cx="1034991"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KG Requirement</a:t>
              </a:r>
            </a:p>
          </p:txBody>
        </p:sp>
        <p:sp>
          <p:nvSpPr>
            <p:cNvPr id="44" name="TextBox 44"/>
            <p:cNvSpPr txBox="1"/>
            <p:nvPr/>
          </p:nvSpPr>
          <p:spPr>
            <a:xfrm>
              <a:off x="3073718" y="4666774"/>
              <a:ext cx="3255669"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Original KB + systematically modified incomplete KB</a:t>
              </a:r>
            </a:p>
          </p:txBody>
        </p:sp>
        <p:sp>
          <p:nvSpPr>
            <p:cNvPr id="45" name="Rectangle 45"/>
            <p:cNvSpPr/>
            <p:nvPr/>
          </p:nvSpPr>
          <p:spPr>
            <a:xfrm>
              <a:off x="495300" y="4933950"/>
              <a:ext cx="11201400" cy="400050"/>
            </a:xfrm>
            <a:prstGeom prst="rect">
              <a:avLst/>
            </a:prstGeom>
            <a:solidFill>
              <a:srgbClr val="F4F7F8"/>
            </a:solidFill>
            <a:ln>
              <a:noFill/>
            </a:ln>
          </p:spPr>
          <p:txBody>
            <a:bodyPr/>
            <a:lstStyle/>
            <a:p>
              <a:endParaRPr lang="zh-CN" altLang="en-US"/>
            </a:p>
          </p:txBody>
        </p:sp>
        <p:sp>
          <p:nvSpPr>
            <p:cNvPr id="46" name="TextBox 46"/>
            <p:cNvSpPr txBox="1"/>
            <p:nvPr/>
          </p:nvSpPr>
          <p:spPr>
            <a:xfrm>
              <a:off x="654368" y="5066824"/>
              <a:ext cx="1526453"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Question Construction</a:t>
              </a:r>
            </a:p>
          </p:txBody>
        </p:sp>
        <p:sp>
          <p:nvSpPr>
            <p:cNvPr id="47" name="TextBox 47"/>
            <p:cNvSpPr txBox="1"/>
            <p:nvPr/>
          </p:nvSpPr>
          <p:spPr>
            <a:xfrm>
              <a:off x="3073718" y="5066824"/>
              <a:ext cx="3808238"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Original questions retained; controlled KB-element deletion</a:t>
              </a:r>
            </a:p>
          </p:txBody>
        </p:sp>
        <p:sp>
          <p:nvSpPr>
            <p:cNvPr id="48" name="Rectangle 48"/>
            <p:cNvSpPr/>
            <p:nvPr/>
          </p:nvSpPr>
          <p:spPr>
            <a:xfrm>
              <a:off x="495300" y="5334000"/>
              <a:ext cx="11201400" cy="400050"/>
            </a:xfrm>
            <a:prstGeom prst="rect">
              <a:avLst/>
            </a:prstGeom>
            <a:solidFill>
              <a:srgbClr val="EAF6F4"/>
            </a:solidFill>
            <a:ln>
              <a:noFill/>
            </a:ln>
          </p:spPr>
          <p:txBody>
            <a:bodyPr/>
            <a:lstStyle/>
            <a:p>
              <a:endParaRPr lang="zh-CN" altLang="en-US"/>
            </a:p>
          </p:txBody>
        </p:sp>
        <p:sp>
          <p:nvSpPr>
            <p:cNvPr id="49" name="TextBox 49"/>
            <p:cNvSpPr txBox="1"/>
            <p:nvPr/>
          </p:nvSpPr>
          <p:spPr>
            <a:xfrm>
              <a:off x="654368" y="5466874"/>
              <a:ext cx="1936004"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Domain / Knowledge Exposure</a:t>
              </a:r>
            </a:p>
          </p:txBody>
        </p:sp>
        <p:sp>
          <p:nvSpPr>
            <p:cNvPr id="50" name="TextBox 50"/>
            <p:cNvSpPr txBox="1"/>
            <p:nvPr/>
          </p:nvSpPr>
          <p:spPr>
            <a:xfrm>
              <a:off x="3073718" y="5466874"/>
              <a:ext cx="4536329"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General-domain Freebase knowledge; possible pretrained-LLM exposure</a:t>
              </a:r>
            </a:p>
          </p:txBody>
        </p:sp>
        <p:sp>
          <p:nvSpPr>
            <p:cNvPr id="51" name="Rectangle 51"/>
            <p:cNvSpPr/>
            <p:nvPr/>
          </p:nvSpPr>
          <p:spPr>
            <a:xfrm>
              <a:off x="495300" y="5734050"/>
              <a:ext cx="11201400" cy="381000"/>
            </a:xfrm>
            <a:prstGeom prst="rect">
              <a:avLst/>
            </a:prstGeom>
            <a:solidFill>
              <a:srgbClr val="F4F7F8"/>
            </a:solidFill>
            <a:ln>
              <a:noFill/>
            </a:ln>
          </p:spPr>
          <p:txBody>
            <a:bodyPr/>
            <a:lstStyle/>
            <a:p>
              <a:endParaRPr lang="zh-CN" altLang="en-US"/>
            </a:p>
          </p:txBody>
        </p:sp>
        <p:sp>
          <p:nvSpPr>
            <p:cNvPr id="52" name="TextBox 52"/>
            <p:cNvSpPr txBox="1"/>
            <p:nvPr/>
          </p:nvSpPr>
          <p:spPr>
            <a:xfrm>
              <a:off x="654368" y="5866924"/>
              <a:ext cx="1314851"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Relevance to Thesis</a:t>
              </a:r>
            </a:p>
          </p:txBody>
        </p:sp>
        <p:sp>
          <p:nvSpPr>
            <p:cNvPr id="53" name="TextBox 53"/>
            <p:cNvSpPr txBox="1"/>
            <p:nvPr/>
          </p:nvSpPr>
          <p:spPr>
            <a:xfrm>
              <a:off x="3073718" y="5790724"/>
              <a:ext cx="4464820"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Strong methodological reference for unanswerable KGQA construction</a:t>
              </a:r>
            </a:p>
          </p:txBody>
        </p:sp>
        <p:sp>
          <p:nvSpPr>
            <p:cNvPr id="54" name="TextBox 54"/>
            <p:cNvSpPr txBox="1"/>
            <p:nvPr/>
          </p:nvSpPr>
          <p:spPr>
            <a:xfrm>
              <a:off x="3073718" y="5962174"/>
              <a:ext cx="1753981"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and Refusal / Answerability</a:t>
              </a:r>
            </a:p>
          </p:txBody>
        </p:sp>
      </p:grpSp>
      <p:grpSp>
        <p:nvGrpSpPr>
          <p:cNvPr id="60" name="Group 60"/>
          <p:cNvGrpSpPr/>
          <p:nvPr/>
        </p:nvGrpSpPr>
        <p:grpSpPr>
          <a:xfrm>
            <a:off x="485775" y="6167438"/>
            <a:ext cx="11210925" cy="590550"/>
            <a:chOff x="485775" y="6167438"/>
            <a:chExt cx="11210925" cy="590550"/>
          </a:xfrm>
        </p:grpSpPr>
        <p:sp>
          <p:nvSpPr>
            <p:cNvPr id="56" name="TextBox 56"/>
            <p:cNvSpPr txBox="1"/>
            <p:nvPr/>
          </p:nvSpPr>
          <p:spPr>
            <a:xfrm>
              <a:off x="485775" y="6167438"/>
              <a:ext cx="314944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GrailQAbility Dataset Analysis in KGQA Dataset Research</a:t>
              </a:r>
            </a:p>
          </p:txBody>
        </p:sp>
        <p:sp>
          <p:nvSpPr>
            <p:cNvPr id="57" name="Line 57"/>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58" name="TextBox 58"/>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9" name="TextBox 59"/>
            <p:cNvSpPr txBox="1"/>
            <p:nvPr/>
          </p:nvSpPr>
          <p:spPr>
            <a:xfrm>
              <a:off x="10887075" y="6605588"/>
              <a:ext cx="12906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08</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amond(in)">
                                      <p:cBhvr>
                                        <p:cTn id="7" dur="400"/>
                                        <p:tgtEl>
                                          <p:spTgt spid="1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ipe(left)">
                                      <p:cBhvr>
                                        <p:cTn id="11"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495300" y="400050"/>
            <a:ext cx="9194578" cy="721519"/>
            <a:chOff x="495300" y="400050"/>
            <a:chExt cx="9194578" cy="721519"/>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681990" y="410528"/>
              <a:ext cx="9007888"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GrailQAbility: Selected Unanswerability Constructions</a:t>
              </a:r>
            </a:p>
          </p:txBody>
        </p:sp>
        <p:sp>
          <p:nvSpPr>
            <p:cNvPr id="5" name="TextBox 5"/>
            <p:cNvSpPr txBox="1"/>
            <p:nvPr/>
          </p:nvSpPr>
          <p:spPr>
            <a:xfrm>
              <a:off x="717232" y="862489"/>
              <a:ext cx="6204156"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Controlled KB deletion exposes data-level and schema-level incompleteness</a:t>
              </a:r>
            </a:p>
          </p:txBody>
        </p:sp>
      </p:grpSp>
      <p:grpSp>
        <p:nvGrpSpPr>
          <p:cNvPr id="69" name="Group 69"/>
          <p:cNvGrpSpPr/>
          <p:nvPr/>
        </p:nvGrpSpPr>
        <p:grpSpPr>
          <a:xfrm>
            <a:off x="495300" y="1295400"/>
            <a:ext cx="11201400" cy="4819650"/>
            <a:chOff x="495300" y="1295400"/>
            <a:chExt cx="11201400" cy="4819650"/>
          </a:xfrm>
        </p:grpSpPr>
        <p:sp>
          <p:nvSpPr>
            <p:cNvPr id="7" name="Rectangle 7"/>
            <p:cNvSpPr/>
            <p:nvPr/>
          </p:nvSpPr>
          <p:spPr>
            <a:xfrm>
              <a:off x="495300" y="1295400"/>
              <a:ext cx="11201400" cy="457200"/>
            </a:xfrm>
            <a:prstGeom prst="rect">
              <a:avLst/>
            </a:prstGeom>
            <a:solidFill>
              <a:srgbClr val="002D4C"/>
            </a:solidFill>
            <a:ln>
              <a:noFill/>
            </a:ln>
          </p:spPr>
          <p:txBody>
            <a:bodyPr/>
            <a:lstStyle/>
            <a:p>
              <a:endParaRPr lang="zh-CN" altLang="en-US"/>
            </a:p>
          </p:txBody>
        </p:sp>
        <p:sp>
          <p:nvSpPr>
            <p:cNvPr id="8" name="TextBox 8"/>
            <p:cNvSpPr txBox="1"/>
            <p:nvPr/>
          </p:nvSpPr>
          <p:spPr>
            <a:xfrm>
              <a:off x="906292" y="1398270"/>
              <a:ext cx="87346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CONSTRUCTION</a:t>
              </a:r>
            </a:p>
          </p:txBody>
        </p:sp>
        <p:sp>
          <p:nvSpPr>
            <p:cNvPr id="9" name="TextBox 9"/>
            <p:cNvSpPr txBox="1"/>
            <p:nvPr/>
          </p:nvSpPr>
          <p:spPr>
            <a:xfrm>
              <a:off x="1041759" y="1560195"/>
              <a:ext cx="60253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CATEGORY</a:t>
              </a:r>
            </a:p>
          </p:txBody>
        </p:sp>
        <p:sp>
          <p:nvSpPr>
            <p:cNvPr id="10" name="TextBox 10"/>
            <p:cNvSpPr txBox="1"/>
            <p:nvPr/>
          </p:nvSpPr>
          <p:spPr>
            <a:xfrm>
              <a:off x="2816952" y="1474470"/>
              <a:ext cx="150984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REPRESENTATIVE EXAMPLE</a:t>
              </a:r>
            </a:p>
          </p:txBody>
        </p:sp>
        <p:sp>
          <p:nvSpPr>
            <p:cNvPr id="11" name="TextBox 11"/>
            <p:cNvSpPr txBox="1"/>
            <p:nvPr/>
          </p:nvSpPr>
          <p:spPr>
            <a:xfrm>
              <a:off x="5699115" y="1398270"/>
              <a:ext cx="50802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DELETED</a:t>
              </a:r>
            </a:p>
          </p:txBody>
        </p:sp>
        <p:sp>
          <p:nvSpPr>
            <p:cNvPr id="12" name="TextBox 12"/>
            <p:cNvSpPr txBox="1"/>
            <p:nvPr/>
          </p:nvSpPr>
          <p:spPr>
            <a:xfrm>
              <a:off x="5598302" y="1560195"/>
              <a:ext cx="70964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KB ELEMENT</a:t>
              </a:r>
            </a:p>
          </p:txBody>
        </p:sp>
        <p:sp>
          <p:nvSpPr>
            <p:cNvPr id="13" name="TextBox 13"/>
            <p:cNvSpPr txBox="1"/>
            <p:nvPr/>
          </p:nvSpPr>
          <p:spPr>
            <a:xfrm>
              <a:off x="7774407" y="1474470"/>
              <a:ext cx="102468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DELETION EFFECT</a:t>
              </a:r>
            </a:p>
          </p:txBody>
        </p:sp>
        <p:sp>
          <p:nvSpPr>
            <p:cNvPr id="14" name="TextBox 14"/>
            <p:cNvSpPr txBox="1"/>
            <p:nvPr/>
          </p:nvSpPr>
          <p:spPr>
            <a:xfrm>
              <a:off x="10366660" y="1474470"/>
              <a:ext cx="58363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OUTCOME</a:t>
              </a:r>
            </a:p>
          </p:txBody>
        </p:sp>
        <p:sp>
          <p:nvSpPr>
            <p:cNvPr id="15" name="Rectangle 15"/>
            <p:cNvSpPr/>
            <p:nvPr/>
          </p:nvSpPr>
          <p:spPr>
            <a:xfrm>
              <a:off x="495300" y="1752600"/>
              <a:ext cx="11201400" cy="800100"/>
            </a:xfrm>
            <a:prstGeom prst="rect">
              <a:avLst/>
            </a:prstGeom>
            <a:solidFill>
              <a:srgbClr val="EAF6F4"/>
            </a:solidFill>
            <a:ln>
              <a:noFill/>
            </a:ln>
          </p:spPr>
          <p:txBody>
            <a:bodyPr/>
            <a:lstStyle/>
            <a:p>
              <a:endParaRPr lang="zh-CN" altLang="en-US"/>
            </a:p>
          </p:txBody>
        </p:sp>
        <p:sp>
          <p:nvSpPr>
            <p:cNvPr id="16" name="TextBox 16"/>
            <p:cNvSpPr txBox="1"/>
            <p:nvPr/>
          </p:nvSpPr>
          <p:spPr>
            <a:xfrm>
              <a:off x="893788" y="2085499"/>
              <a:ext cx="898474"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Fact Deletion</a:t>
              </a:r>
            </a:p>
          </p:txBody>
        </p:sp>
        <p:sp>
          <p:nvSpPr>
            <p:cNvPr id="17" name="TextBox 17"/>
            <p:cNvSpPr txBox="1"/>
            <p:nvPr/>
          </p:nvSpPr>
          <p:spPr>
            <a:xfrm>
              <a:off x="2349818" y="1971199"/>
              <a:ext cx="1097399"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Where does Chris</a:t>
              </a:r>
            </a:p>
          </p:txBody>
        </p:sp>
        <p:sp>
          <p:nvSpPr>
            <p:cNvPr id="18" name="TextBox 18"/>
            <p:cNvSpPr txBox="1"/>
            <p:nvPr/>
          </p:nvSpPr>
          <p:spPr>
            <a:xfrm>
              <a:off x="2349818" y="2161699"/>
              <a:ext cx="941380"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Manning work?</a:t>
              </a:r>
            </a:p>
          </p:txBody>
        </p:sp>
        <p:sp>
          <p:nvSpPr>
            <p:cNvPr id="19" name="TextBox 19"/>
            <p:cNvSpPr txBox="1"/>
            <p:nvPr/>
          </p:nvSpPr>
          <p:spPr>
            <a:xfrm>
              <a:off x="5524690" y="2085499"/>
              <a:ext cx="856869" cy="198120"/>
            </a:xfrm>
            <a:prstGeom prst="rect">
              <a:avLst/>
            </a:prstGeom>
            <a:noFill/>
            <a:ln>
              <a:noFill/>
            </a:ln>
          </p:spPr>
          <p:txBody>
            <a:bodyPr wrap="none" lIns="0" tIns="0" rIns="0" bIns="0" anchor="t" anchorCtr="0">
              <a:spAutoFit/>
            </a:bodyPr>
            <a:lstStyle/>
            <a:p>
              <a:pPr algn="ctr"/>
              <a:r>
                <a:rPr lang="zh-CN" sz="975" dirty="0">
                  <a:solidFill>
                    <a:srgbClr val="002D4C"/>
                  </a:solidFill>
                  <a:latin typeface="Arial"/>
                  <a:ea typeface="Microsoft YaHei"/>
                  <a:cs typeface="Arial"/>
                </a:rPr>
                <a:t>Specific fact</a:t>
              </a:r>
            </a:p>
          </p:txBody>
        </p:sp>
        <p:sp>
          <p:nvSpPr>
            <p:cNvPr id="20" name="TextBox 20"/>
            <p:cNvSpPr txBox="1"/>
            <p:nvPr/>
          </p:nvSpPr>
          <p:spPr>
            <a:xfrm>
              <a:off x="7112318" y="1971199"/>
              <a:ext cx="1032391"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Breaks required</a:t>
              </a:r>
            </a:p>
          </p:txBody>
        </p:sp>
        <p:sp>
          <p:nvSpPr>
            <p:cNvPr id="21" name="TextBox 21"/>
            <p:cNvSpPr txBox="1"/>
            <p:nvPr/>
          </p:nvSpPr>
          <p:spPr>
            <a:xfrm>
              <a:off x="7112318" y="2161699"/>
              <a:ext cx="804862"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answer path</a:t>
              </a:r>
            </a:p>
          </p:txBody>
        </p:sp>
        <p:sp>
          <p:nvSpPr>
            <p:cNvPr id="22" name="TextBox 22"/>
            <p:cNvSpPr txBox="1"/>
            <p:nvPr/>
          </p:nvSpPr>
          <p:spPr>
            <a:xfrm>
              <a:off x="10253606" y="2085499"/>
              <a:ext cx="809738" cy="198120"/>
            </a:xfrm>
            <a:prstGeom prst="rect">
              <a:avLst/>
            </a:prstGeom>
            <a:noFill/>
            <a:ln>
              <a:noFill/>
            </a:ln>
          </p:spPr>
          <p:txBody>
            <a:bodyPr wrap="none" lIns="0" tIns="0" rIns="0" bIns="0" anchor="t" anchorCtr="0">
              <a:spAutoFit/>
            </a:bodyPr>
            <a:lstStyle/>
            <a:p>
              <a:pPr algn="ctr"/>
              <a:r>
                <a:rPr lang="zh-CN" sz="975" b="1" dirty="0">
                  <a:solidFill>
                    <a:srgbClr val="005A50"/>
                  </a:solidFill>
                  <a:latin typeface="Consolas"/>
                  <a:ea typeface="Microsoft YaHei"/>
                  <a:cs typeface="Consolas"/>
                </a:rPr>
                <a:t>Answer = NA</a:t>
              </a:r>
            </a:p>
          </p:txBody>
        </p:sp>
        <p:sp>
          <p:nvSpPr>
            <p:cNvPr id="23" name="Rectangle 23"/>
            <p:cNvSpPr/>
            <p:nvPr/>
          </p:nvSpPr>
          <p:spPr>
            <a:xfrm>
              <a:off x="495300" y="2552700"/>
              <a:ext cx="11201400" cy="876300"/>
            </a:xfrm>
            <a:prstGeom prst="rect">
              <a:avLst/>
            </a:prstGeom>
            <a:solidFill>
              <a:srgbClr val="F4F7F8"/>
            </a:solidFill>
            <a:ln>
              <a:noFill/>
            </a:ln>
          </p:spPr>
          <p:txBody>
            <a:bodyPr/>
            <a:lstStyle/>
            <a:p>
              <a:endParaRPr lang="zh-CN" altLang="en-US"/>
            </a:p>
          </p:txBody>
        </p:sp>
        <p:sp>
          <p:nvSpPr>
            <p:cNvPr id="24" name="TextBox 24"/>
            <p:cNvSpPr txBox="1"/>
            <p:nvPr/>
          </p:nvSpPr>
          <p:spPr>
            <a:xfrm>
              <a:off x="874788" y="2817495"/>
              <a:ext cx="936474"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Entity Deletion</a:t>
              </a:r>
            </a:p>
          </p:txBody>
        </p:sp>
        <p:sp>
          <p:nvSpPr>
            <p:cNvPr id="25" name="TextBox 25"/>
            <p:cNvSpPr txBox="1"/>
            <p:nvPr/>
          </p:nvSpPr>
          <p:spPr>
            <a:xfrm>
              <a:off x="928345" y="2998470"/>
              <a:ext cx="829361"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 Path Entity</a:t>
              </a:r>
            </a:p>
          </p:txBody>
        </p:sp>
        <p:sp>
          <p:nvSpPr>
            <p:cNvPr id="26" name="TextBox 26"/>
            <p:cNvSpPr txBox="1"/>
            <p:nvPr/>
          </p:nvSpPr>
          <p:spPr>
            <a:xfrm>
              <a:off x="2350770" y="2722245"/>
              <a:ext cx="814959"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Who are Chris</a:t>
              </a:r>
            </a:p>
          </p:txBody>
        </p:sp>
        <p:sp>
          <p:nvSpPr>
            <p:cNvPr id="27" name="TextBox 27"/>
            <p:cNvSpPr txBox="1"/>
            <p:nvPr/>
          </p:nvSpPr>
          <p:spPr>
            <a:xfrm>
              <a:off x="2350770" y="2903220"/>
              <a:ext cx="1241012"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Manning's students?</a:t>
              </a:r>
            </a:p>
          </p:txBody>
        </p:sp>
        <p:sp>
          <p:nvSpPr>
            <p:cNvPr id="28" name="TextBox 28"/>
            <p:cNvSpPr txBox="1"/>
            <p:nvPr/>
          </p:nvSpPr>
          <p:spPr>
            <a:xfrm>
              <a:off x="5707666" y="2817495"/>
              <a:ext cx="490919"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Entity +</a:t>
              </a:r>
            </a:p>
          </p:txBody>
        </p:sp>
        <p:sp>
          <p:nvSpPr>
            <p:cNvPr id="29" name="TextBox 29"/>
            <p:cNvSpPr txBox="1"/>
            <p:nvPr/>
          </p:nvSpPr>
          <p:spPr>
            <a:xfrm>
              <a:off x="5443633" y="2998470"/>
              <a:ext cx="1018984"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associated facts</a:t>
              </a:r>
            </a:p>
          </p:txBody>
        </p:sp>
        <p:sp>
          <p:nvSpPr>
            <p:cNvPr id="30" name="TextBox 30"/>
            <p:cNvSpPr txBox="1"/>
            <p:nvPr/>
          </p:nvSpPr>
          <p:spPr>
            <a:xfrm>
              <a:off x="7113270" y="2722245"/>
              <a:ext cx="1066990"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Removes answer /</a:t>
              </a:r>
            </a:p>
          </p:txBody>
        </p:sp>
        <p:sp>
          <p:nvSpPr>
            <p:cNvPr id="31" name="TextBox 31"/>
            <p:cNvSpPr txBox="1"/>
            <p:nvPr/>
          </p:nvSpPr>
          <p:spPr>
            <a:xfrm>
              <a:off x="7113270" y="2903220"/>
              <a:ext cx="688943"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path entity</a:t>
              </a:r>
            </a:p>
          </p:txBody>
        </p:sp>
        <p:sp>
          <p:nvSpPr>
            <p:cNvPr id="32" name="TextBox 32"/>
            <p:cNvSpPr txBox="1"/>
            <p:nvPr/>
          </p:nvSpPr>
          <p:spPr>
            <a:xfrm>
              <a:off x="10253606" y="2895124"/>
              <a:ext cx="809738" cy="198120"/>
            </a:xfrm>
            <a:prstGeom prst="rect">
              <a:avLst/>
            </a:prstGeom>
            <a:noFill/>
            <a:ln>
              <a:noFill/>
            </a:ln>
          </p:spPr>
          <p:txBody>
            <a:bodyPr wrap="none" lIns="0" tIns="0" rIns="0" bIns="0" anchor="t" anchorCtr="0">
              <a:spAutoFit/>
            </a:bodyPr>
            <a:lstStyle/>
            <a:p>
              <a:pPr algn="ctr"/>
              <a:r>
                <a:rPr lang="zh-CN" sz="975" b="1" dirty="0">
                  <a:solidFill>
                    <a:srgbClr val="005A50"/>
                  </a:solidFill>
                  <a:latin typeface="Consolas"/>
                  <a:ea typeface="Microsoft YaHei"/>
                  <a:cs typeface="Consolas"/>
                </a:rPr>
                <a:t>Answer = NA</a:t>
              </a:r>
            </a:p>
          </p:txBody>
        </p:sp>
        <p:sp>
          <p:nvSpPr>
            <p:cNvPr id="33" name="Rectangle 33"/>
            <p:cNvSpPr/>
            <p:nvPr/>
          </p:nvSpPr>
          <p:spPr>
            <a:xfrm>
              <a:off x="495300" y="3429000"/>
              <a:ext cx="11201400" cy="914400"/>
            </a:xfrm>
            <a:prstGeom prst="rect">
              <a:avLst/>
            </a:prstGeom>
            <a:solidFill>
              <a:srgbClr val="EAF6F4"/>
            </a:solidFill>
            <a:ln>
              <a:noFill/>
            </a:ln>
          </p:spPr>
          <p:txBody>
            <a:bodyPr/>
            <a:lstStyle/>
            <a:p>
              <a:endParaRPr lang="zh-CN" altLang="en-US"/>
            </a:p>
          </p:txBody>
        </p:sp>
        <p:sp>
          <p:nvSpPr>
            <p:cNvPr id="34" name="TextBox 34"/>
            <p:cNvSpPr txBox="1"/>
            <p:nvPr/>
          </p:nvSpPr>
          <p:spPr>
            <a:xfrm>
              <a:off x="874788" y="3693795"/>
              <a:ext cx="936474"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Entity Deletion</a:t>
              </a:r>
            </a:p>
          </p:txBody>
        </p:sp>
        <p:sp>
          <p:nvSpPr>
            <p:cNvPr id="35" name="TextBox 35"/>
            <p:cNvSpPr txBox="1"/>
            <p:nvPr/>
          </p:nvSpPr>
          <p:spPr>
            <a:xfrm>
              <a:off x="758223" y="3874770"/>
              <a:ext cx="1169603"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 Mentioned Entity</a:t>
              </a:r>
            </a:p>
          </p:txBody>
        </p:sp>
        <p:sp>
          <p:nvSpPr>
            <p:cNvPr id="36" name="TextBox 36"/>
            <p:cNvSpPr txBox="1"/>
            <p:nvPr/>
          </p:nvSpPr>
          <p:spPr>
            <a:xfrm>
              <a:off x="2350770" y="3541395"/>
              <a:ext cx="1379029"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What paper has Richard</a:t>
              </a:r>
            </a:p>
          </p:txBody>
        </p:sp>
        <p:sp>
          <p:nvSpPr>
            <p:cNvPr id="37" name="TextBox 37"/>
            <p:cNvSpPr txBox="1"/>
            <p:nvPr/>
          </p:nvSpPr>
          <p:spPr>
            <a:xfrm>
              <a:off x="2350770" y="3722370"/>
              <a:ext cx="1078992"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Socher written at</a:t>
              </a:r>
            </a:p>
          </p:txBody>
        </p:sp>
        <p:sp>
          <p:nvSpPr>
            <p:cNvPr id="38" name="TextBox 38"/>
            <p:cNvSpPr txBox="1"/>
            <p:nvPr/>
          </p:nvSpPr>
          <p:spPr>
            <a:xfrm>
              <a:off x="2350770" y="3903345"/>
              <a:ext cx="442913"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EMNLP?</a:t>
              </a:r>
            </a:p>
          </p:txBody>
        </p:sp>
        <p:sp>
          <p:nvSpPr>
            <p:cNvPr id="39" name="TextBox 39"/>
            <p:cNvSpPr txBox="1"/>
            <p:nvPr/>
          </p:nvSpPr>
          <p:spPr>
            <a:xfrm>
              <a:off x="5707666" y="3693795"/>
              <a:ext cx="490919"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Entity +</a:t>
              </a:r>
            </a:p>
          </p:txBody>
        </p:sp>
        <p:sp>
          <p:nvSpPr>
            <p:cNvPr id="40" name="TextBox 40"/>
            <p:cNvSpPr txBox="1"/>
            <p:nvPr/>
          </p:nvSpPr>
          <p:spPr>
            <a:xfrm>
              <a:off x="5443633" y="3874770"/>
              <a:ext cx="1018984"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associated facts</a:t>
              </a:r>
            </a:p>
          </p:txBody>
        </p:sp>
        <p:sp>
          <p:nvSpPr>
            <p:cNvPr id="41" name="TextBox 41"/>
            <p:cNvSpPr txBox="1"/>
            <p:nvPr/>
          </p:nvSpPr>
          <p:spPr>
            <a:xfrm>
              <a:off x="7113270" y="3693795"/>
              <a:ext cx="922972"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Required entity</a:t>
              </a:r>
            </a:p>
          </p:txBody>
        </p:sp>
        <p:sp>
          <p:nvSpPr>
            <p:cNvPr id="42" name="TextBox 42"/>
            <p:cNvSpPr txBox="1"/>
            <p:nvPr/>
          </p:nvSpPr>
          <p:spPr>
            <a:xfrm>
              <a:off x="7113270" y="3874770"/>
              <a:ext cx="658940"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unavailable</a:t>
              </a:r>
            </a:p>
          </p:txBody>
        </p:sp>
        <p:sp>
          <p:nvSpPr>
            <p:cNvPr id="43" name="TextBox 43"/>
            <p:cNvSpPr txBox="1"/>
            <p:nvPr/>
          </p:nvSpPr>
          <p:spPr>
            <a:xfrm>
              <a:off x="10401314" y="3693795"/>
              <a:ext cx="514321" cy="182880"/>
            </a:xfrm>
            <a:prstGeom prst="rect">
              <a:avLst/>
            </a:prstGeom>
            <a:noFill/>
            <a:ln>
              <a:noFill/>
            </a:ln>
          </p:spPr>
          <p:txBody>
            <a:bodyPr wrap="none" lIns="0" tIns="0" rIns="0" bIns="0" anchor="t" anchorCtr="0">
              <a:spAutoFit/>
            </a:bodyPr>
            <a:lstStyle/>
            <a:p>
              <a:pPr algn="ctr"/>
              <a:r>
                <a:rPr lang="zh-CN" sz="900" b="1" dirty="0">
                  <a:solidFill>
                    <a:srgbClr val="005A50"/>
                  </a:solidFill>
                  <a:latin typeface="Consolas"/>
                  <a:ea typeface="Microsoft YaHei"/>
                  <a:cs typeface="Consolas"/>
                </a:rPr>
                <a:t>LF = NK;</a:t>
              </a:r>
            </a:p>
          </p:txBody>
        </p:sp>
        <p:sp>
          <p:nvSpPr>
            <p:cNvPr id="44" name="TextBox 44"/>
            <p:cNvSpPr txBox="1"/>
            <p:nvPr/>
          </p:nvSpPr>
          <p:spPr>
            <a:xfrm>
              <a:off x="10284750" y="3893820"/>
              <a:ext cx="747451" cy="182880"/>
            </a:xfrm>
            <a:prstGeom prst="rect">
              <a:avLst/>
            </a:prstGeom>
            <a:noFill/>
            <a:ln>
              <a:noFill/>
            </a:ln>
          </p:spPr>
          <p:txBody>
            <a:bodyPr wrap="none" lIns="0" tIns="0" rIns="0" bIns="0" anchor="t" anchorCtr="0">
              <a:spAutoFit/>
            </a:bodyPr>
            <a:lstStyle/>
            <a:p>
              <a:pPr algn="ctr"/>
              <a:r>
                <a:rPr lang="zh-CN" sz="900" b="1" dirty="0">
                  <a:solidFill>
                    <a:srgbClr val="005A50"/>
                  </a:solidFill>
                  <a:latin typeface="Consolas"/>
                  <a:ea typeface="Microsoft YaHei"/>
                  <a:cs typeface="Consolas"/>
                </a:rPr>
                <a:t>Answer = NA</a:t>
              </a:r>
            </a:p>
          </p:txBody>
        </p:sp>
        <p:sp>
          <p:nvSpPr>
            <p:cNvPr id="45" name="Rectangle 45"/>
            <p:cNvSpPr/>
            <p:nvPr/>
          </p:nvSpPr>
          <p:spPr>
            <a:xfrm>
              <a:off x="495300" y="4343400"/>
              <a:ext cx="11201400" cy="876300"/>
            </a:xfrm>
            <a:prstGeom prst="rect">
              <a:avLst/>
            </a:prstGeom>
            <a:solidFill>
              <a:srgbClr val="F4F7F8"/>
            </a:solidFill>
            <a:ln>
              <a:noFill/>
            </a:ln>
          </p:spPr>
          <p:txBody>
            <a:bodyPr/>
            <a:lstStyle/>
            <a:p>
              <a:endParaRPr lang="zh-CN" altLang="en-US"/>
            </a:p>
          </p:txBody>
        </p:sp>
        <p:sp>
          <p:nvSpPr>
            <p:cNvPr id="46" name="TextBox 46"/>
            <p:cNvSpPr txBox="1"/>
            <p:nvPr/>
          </p:nvSpPr>
          <p:spPr>
            <a:xfrm>
              <a:off x="777748" y="4704874"/>
              <a:ext cx="1130553"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Relation Deletion</a:t>
              </a:r>
            </a:p>
          </p:txBody>
        </p:sp>
        <p:sp>
          <p:nvSpPr>
            <p:cNvPr id="47" name="TextBox 47"/>
            <p:cNvSpPr txBox="1"/>
            <p:nvPr/>
          </p:nvSpPr>
          <p:spPr>
            <a:xfrm>
              <a:off x="2350770" y="4551045"/>
              <a:ext cx="982980"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Which country is</a:t>
              </a:r>
            </a:p>
          </p:txBody>
        </p:sp>
        <p:sp>
          <p:nvSpPr>
            <p:cNvPr id="48" name="TextBox 48"/>
            <p:cNvSpPr txBox="1"/>
            <p:nvPr/>
          </p:nvSpPr>
          <p:spPr>
            <a:xfrm>
              <a:off x="2350770" y="4732020"/>
              <a:ext cx="754952"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Stanford in?</a:t>
              </a:r>
            </a:p>
          </p:txBody>
        </p:sp>
        <p:sp>
          <p:nvSpPr>
            <p:cNvPr id="49" name="TextBox 49"/>
            <p:cNvSpPr txBox="1"/>
            <p:nvPr/>
          </p:nvSpPr>
          <p:spPr>
            <a:xfrm>
              <a:off x="5569648" y="4551045"/>
              <a:ext cx="766953"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Relation + all</a:t>
              </a:r>
            </a:p>
          </p:txBody>
        </p:sp>
        <p:sp>
          <p:nvSpPr>
            <p:cNvPr id="50" name="TextBox 50"/>
            <p:cNvSpPr txBox="1"/>
            <p:nvPr/>
          </p:nvSpPr>
          <p:spPr>
            <a:xfrm>
              <a:off x="5443633" y="4732020"/>
              <a:ext cx="1018984"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associated facts</a:t>
              </a:r>
            </a:p>
          </p:txBody>
        </p:sp>
        <p:sp>
          <p:nvSpPr>
            <p:cNvPr id="51" name="TextBox 51"/>
            <p:cNvSpPr txBox="1"/>
            <p:nvPr/>
          </p:nvSpPr>
          <p:spPr>
            <a:xfrm>
              <a:off x="7113270" y="4551045"/>
              <a:ext cx="1024985"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Required relation</a:t>
              </a:r>
            </a:p>
          </p:txBody>
        </p:sp>
        <p:sp>
          <p:nvSpPr>
            <p:cNvPr id="52" name="TextBox 52"/>
            <p:cNvSpPr txBox="1"/>
            <p:nvPr/>
          </p:nvSpPr>
          <p:spPr>
            <a:xfrm>
              <a:off x="7113270" y="4732020"/>
              <a:ext cx="658940"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unavailable</a:t>
              </a:r>
            </a:p>
          </p:txBody>
        </p:sp>
        <p:sp>
          <p:nvSpPr>
            <p:cNvPr id="53" name="TextBox 53"/>
            <p:cNvSpPr txBox="1"/>
            <p:nvPr/>
          </p:nvSpPr>
          <p:spPr>
            <a:xfrm>
              <a:off x="10401314" y="4551045"/>
              <a:ext cx="514321" cy="182880"/>
            </a:xfrm>
            <a:prstGeom prst="rect">
              <a:avLst/>
            </a:prstGeom>
            <a:noFill/>
            <a:ln>
              <a:noFill/>
            </a:ln>
          </p:spPr>
          <p:txBody>
            <a:bodyPr wrap="none" lIns="0" tIns="0" rIns="0" bIns="0" anchor="t" anchorCtr="0">
              <a:spAutoFit/>
            </a:bodyPr>
            <a:lstStyle/>
            <a:p>
              <a:pPr algn="ctr"/>
              <a:r>
                <a:rPr lang="zh-CN" sz="900" b="1" dirty="0">
                  <a:solidFill>
                    <a:srgbClr val="005A50"/>
                  </a:solidFill>
                  <a:latin typeface="Consolas"/>
                  <a:ea typeface="Microsoft YaHei"/>
                  <a:cs typeface="Consolas"/>
                </a:rPr>
                <a:t>LF = NK;</a:t>
              </a:r>
            </a:p>
          </p:txBody>
        </p:sp>
        <p:sp>
          <p:nvSpPr>
            <p:cNvPr id="54" name="TextBox 54"/>
            <p:cNvSpPr txBox="1"/>
            <p:nvPr/>
          </p:nvSpPr>
          <p:spPr>
            <a:xfrm>
              <a:off x="10284750" y="4751070"/>
              <a:ext cx="747451" cy="182880"/>
            </a:xfrm>
            <a:prstGeom prst="rect">
              <a:avLst/>
            </a:prstGeom>
            <a:noFill/>
            <a:ln>
              <a:noFill/>
            </a:ln>
          </p:spPr>
          <p:txBody>
            <a:bodyPr wrap="none" lIns="0" tIns="0" rIns="0" bIns="0" anchor="t" anchorCtr="0">
              <a:spAutoFit/>
            </a:bodyPr>
            <a:lstStyle/>
            <a:p>
              <a:pPr algn="ctr"/>
              <a:r>
                <a:rPr lang="zh-CN" sz="900" b="1" dirty="0">
                  <a:solidFill>
                    <a:srgbClr val="005A50"/>
                  </a:solidFill>
                  <a:latin typeface="Consolas"/>
                  <a:ea typeface="Microsoft YaHei"/>
                  <a:cs typeface="Consolas"/>
                </a:rPr>
                <a:t>Answer = NA</a:t>
              </a:r>
            </a:p>
          </p:txBody>
        </p:sp>
        <p:sp>
          <p:nvSpPr>
            <p:cNvPr id="55" name="Rectangle 55"/>
            <p:cNvSpPr/>
            <p:nvPr/>
          </p:nvSpPr>
          <p:spPr>
            <a:xfrm>
              <a:off x="495300" y="5219700"/>
              <a:ext cx="11201400" cy="895350"/>
            </a:xfrm>
            <a:prstGeom prst="rect">
              <a:avLst/>
            </a:prstGeom>
            <a:solidFill>
              <a:srgbClr val="EAF6F4"/>
            </a:solidFill>
            <a:ln>
              <a:noFill/>
            </a:ln>
          </p:spPr>
          <p:txBody>
            <a:bodyPr/>
            <a:lstStyle/>
            <a:p>
              <a:endParaRPr lang="zh-CN" altLang="en-US"/>
            </a:p>
          </p:txBody>
        </p:sp>
        <p:sp>
          <p:nvSpPr>
            <p:cNvPr id="56" name="TextBox 56"/>
            <p:cNvSpPr txBox="1"/>
            <p:nvPr/>
          </p:nvSpPr>
          <p:spPr>
            <a:xfrm>
              <a:off x="717268" y="5598795"/>
              <a:ext cx="1251514"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Entity Type Deletion</a:t>
              </a:r>
            </a:p>
          </p:txBody>
        </p:sp>
        <p:sp>
          <p:nvSpPr>
            <p:cNvPr id="57" name="TextBox 57"/>
            <p:cNvSpPr txBox="1"/>
            <p:nvPr/>
          </p:nvSpPr>
          <p:spPr>
            <a:xfrm>
              <a:off x="2350770" y="5417820"/>
              <a:ext cx="1409033"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What is Chris Manning's</a:t>
              </a:r>
            </a:p>
          </p:txBody>
        </p:sp>
        <p:sp>
          <p:nvSpPr>
            <p:cNvPr id="58" name="TextBox 58"/>
            <p:cNvSpPr txBox="1"/>
            <p:nvPr/>
          </p:nvSpPr>
          <p:spPr>
            <a:xfrm>
              <a:off x="2350770" y="5598795"/>
              <a:ext cx="916972"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research area?</a:t>
              </a:r>
            </a:p>
          </p:txBody>
        </p:sp>
        <p:sp>
          <p:nvSpPr>
            <p:cNvPr id="59" name="TextBox 59"/>
            <p:cNvSpPr txBox="1"/>
            <p:nvPr/>
          </p:nvSpPr>
          <p:spPr>
            <a:xfrm>
              <a:off x="5443633" y="5417820"/>
              <a:ext cx="1018984"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Type + dependent</a:t>
              </a:r>
            </a:p>
          </p:txBody>
        </p:sp>
        <p:sp>
          <p:nvSpPr>
            <p:cNvPr id="60" name="TextBox 60"/>
            <p:cNvSpPr txBox="1"/>
            <p:nvPr/>
          </p:nvSpPr>
          <p:spPr>
            <a:xfrm>
              <a:off x="5596652" y="5598795"/>
              <a:ext cx="712946"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KG elements</a:t>
              </a:r>
            </a:p>
          </p:txBody>
        </p:sp>
        <p:sp>
          <p:nvSpPr>
            <p:cNvPr id="61" name="TextBox 61"/>
            <p:cNvSpPr txBox="1"/>
            <p:nvPr/>
          </p:nvSpPr>
          <p:spPr>
            <a:xfrm>
              <a:off x="7113270" y="5417820"/>
              <a:ext cx="820960"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Required type</a:t>
              </a:r>
            </a:p>
          </p:txBody>
        </p:sp>
        <p:sp>
          <p:nvSpPr>
            <p:cNvPr id="62" name="TextBox 62"/>
            <p:cNvSpPr txBox="1"/>
            <p:nvPr/>
          </p:nvSpPr>
          <p:spPr>
            <a:xfrm>
              <a:off x="7113270" y="5598795"/>
              <a:ext cx="658940"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unavailable</a:t>
              </a:r>
            </a:p>
          </p:txBody>
        </p:sp>
        <p:sp>
          <p:nvSpPr>
            <p:cNvPr id="63" name="TextBox 63"/>
            <p:cNvSpPr txBox="1"/>
            <p:nvPr/>
          </p:nvSpPr>
          <p:spPr>
            <a:xfrm>
              <a:off x="10401314" y="5417820"/>
              <a:ext cx="514321" cy="182880"/>
            </a:xfrm>
            <a:prstGeom prst="rect">
              <a:avLst/>
            </a:prstGeom>
            <a:noFill/>
            <a:ln>
              <a:noFill/>
            </a:ln>
          </p:spPr>
          <p:txBody>
            <a:bodyPr wrap="none" lIns="0" tIns="0" rIns="0" bIns="0" anchor="t" anchorCtr="0">
              <a:spAutoFit/>
            </a:bodyPr>
            <a:lstStyle/>
            <a:p>
              <a:pPr algn="ctr"/>
              <a:r>
                <a:rPr lang="zh-CN" sz="900" b="1" dirty="0">
                  <a:solidFill>
                    <a:srgbClr val="005A50"/>
                  </a:solidFill>
                  <a:latin typeface="Consolas"/>
                  <a:ea typeface="Microsoft YaHei"/>
                  <a:cs typeface="Consolas"/>
                </a:rPr>
                <a:t>LF = NK;</a:t>
              </a:r>
            </a:p>
          </p:txBody>
        </p:sp>
        <p:sp>
          <p:nvSpPr>
            <p:cNvPr id="64" name="TextBox 64"/>
            <p:cNvSpPr txBox="1"/>
            <p:nvPr/>
          </p:nvSpPr>
          <p:spPr>
            <a:xfrm>
              <a:off x="10284750" y="5617845"/>
              <a:ext cx="747451" cy="182880"/>
            </a:xfrm>
            <a:prstGeom prst="rect">
              <a:avLst/>
            </a:prstGeom>
            <a:noFill/>
            <a:ln>
              <a:noFill/>
            </a:ln>
          </p:spPr>
          <p:txBody>
            <a:bodyPr wrap="none" lIns="0" tIns="0" rIns="0" bIns="0" anchor="t" anchorCtr="0">
              <a:spAutoFit/>
            </a:bodyPr>
            <a:lstStyle/>
            <a:p>
              <a:pPr algn="ctr"/>
              <a:r>
                <a:rPr lang="zh-CN" sz="900" b="1" dirty="0">
                  <a:solidFill>
                    <a:srgbClr val="005A50"/>
                  </a:solidFill>
                  <a:latin typeface="Consolas"/>
                  <a:ea typeface="Microsoft YaHei"/>
                  <a:cs typeface="Consolas"/>
                </a:rPr>
                <a:t>Answer = NA</a:t>
              </a:r>
            </a:p>
          </p:txBody>
        </p:sp>
        <p:sp>
          <p:nvSpPr>
            <p:cNvPr id="65" name="Line 65"/>
            <p:cNvSpPr/>
            <p:nvPr/>
          </p:nvSpPr>
          <p:spPr>
            <a:xfrm>
              <a:off x="219075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66" name="Line 66"/>
            <p:cNvSpPr/>
            <p:nvPr/>
          </p:nvSpPr>
          <p:spPr>
            <a:xfrm>
              <a:off x="495300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67" name="Line 67"/>
            <p:cNvSpPr/>
            <p:nvPr/>
          </p:nvSpPr>
          <p:spPr>
            <a:xfrm>
              <a:off x="695325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68" name="Line 68"/>
            <p:cNvSpPr/>
            <p:nvPr/>
          </p:nvSpPr>
          <p:spPr>
            <a:xfrm>
              <a:off x="962025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grpSp>
      <p:grpSp>
        <p:nvGrpSpPr>
          <p:cNvPr id="74" name="Group 74"/>
          <p:cNvGrpSpPr/>
          <p:nvPr/>
        </p:nvGrpSpPr>
        <p:grpSpPr>
          <a:xfrm>
            <a:off x="485775" y="6167438"/>
            <a:ext cx="11210925" cy="590550"/>
            <a:chOff x="485775" y="6167438"/>
            <a:chExt cx="11210925" cy="590550"/>
          </a:xfrm>
        </p:grpSpPr>
        <p:sp>
          <p:nvSpPr>
            <p:cNvPr id="70" name="TextBox 70"/>
            <p:cNvSpPr txBox="1"/>
            <p:nvPr/>
          </p:nvSpPr>
          <p:spPr>
            <a:xfrm>
              <a:off x="485775" y="6167438"/>
              <a:ext cx="486965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GrailQAbility Dataset Analysis · Categories are KB deletion mechanisms, not question types</a:t>
              </a:r>
            </a:p>
          </p:txBody>
        </p:sp>
        <p:sp>
          <p:nvSpPr>
            <p:cNvPr id="71" name="Line 71"/>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72" name="TextBox 72"/>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73" name="TextBox 73"/>
            <p:cNvSpPr txBox="1"/>
            <p:nvPr/>
          </p:nvSpPr>
          <p:spPr>
            <a:xfrm>
              <a:off x="10887075" y="6605588"/>
              <a:ext cx="12906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09</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0" y="0"/>
            <a:ext cx="7067551" cy="6858000"/>
            <a:chOff x="0" y="0"/>
            <a:chExt cx="7067551" cy="6858000"/>
          </a:xfrm>
        </p:grpSpPr>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48640" y="410528"/>
              <a:ext cx="5658469"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GrailQAbility Case 1: Fact Deletion</a:t>
              </a:r>
            </a:p>
          </p:txBody>
        </p:sp>
        <p:sp>
          <p:nvSpPr>
            <p:cNvPr id="5" name="TextBox 5"/>
            <p:cNvSpPr txBox="1"/>
            <p:nvPr/>
          </p:nvSpPr>
          <p:spPr>
            <a:xfrm>
              <a:off x="574358" y="862489"/>
              <a:ext cx="6493193"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A valid schema and valid entities remain, but the required evidence is removed</a:t>
              </a:r>
            </a:p>
          </p:txBody>
        </p:sp>
      </p:grpSp>
      <p:grpSp>
        <p:nvGrpSpPr>
          <p:cNvPr id="16" name="Group 16"/>
          <p:cNvGrpSpPr/>
          <p:nvPr/>
        </p:nvGrpSpPr>
        <p:grpSpPr>
          <a:xfrm>
            <a:off x="590550" y="1219200"/>
            <a:ext cx="11010900" cy="704850"/>
            <a:chOff x="590550" y="1219200"/>
            <a:chExt cx="11010900" cy="704850"/>
          </a:xfrm>
        </p:grpSpPr>
        <p:sp>
          <p:nvSpPr>
            <p:cNvPr id="7" name="Rectangle 7"/>
            <p:cNvSpPr/>
            <p:nvPr/>
          </p:nvSpPr>
          <p:spPr>
            <a:xfrm>
              <a:off x="590550" y="1219200"/>
              <a:ext cx="11010900" cy="704850"/>
            </a:xfrm>
            <a:prstGeom prst="rect">
              <a:avLst/>
            </a:prstGeom>
            <a:solidFill>
              <a:srgbClr val="EAF6F4"/>
            </a:solidFill>
            <a:ln w="14288">
              <a:solidFill>
                <a:srgbClr val="009682"/>
              </a:solidFill>
            </a:ln>
          </p:spPr>
          <p:txBody>
            <a:bodyPr/>
            <a:lstStyle/>
            <a:p>
              <a:endParaRPr lang="zh-CN" altLang="en-US"/>
            </a:p>
          </p:txBody>
        </p:sp>
        <p:sp>
          <p:nvSpPr>
            <p:cNvPr id="8" name="TextBox 8"/>
            <p:cNvSpPr txBox="1"/>
            <p:nvPr/>
          </p:nvSpPr>
          <p:spPr>
            <a:xfrm>
              <a:off x="768668" y="1361599"/>
              <a:ext cx="645918"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QUESTION</a:t>
              </a:r>
            </a:p>
          </p:txBody>
        </p:sp>
        <p:sp>
          <p:nvSpPr>
            <p:cNvPr id="9" name="TextBox 9"/>
            <p:cNvSpPr txBox="1"/>
            <p:nvPr/>
          </p:nvSpPr>
          <p:spPr>
            <a:xfrm>
              <a:off x="763905" y="1597342"/>
              <a:ext cx="2842641"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Where does Chris Manning work?</a:t>
              </a:r>
            </a:p>
          </p:txBody>
        </p:sp>
        <p:sp>
          <p:nvSpPr>
            <p:cNvPr id="10" name="Rectangle 10"/>
            <p:cNvSpPr/>
            <p:nvPr/>
          </p:nvSpPr>
          <p:spPr>
            <a:xfrm>
              <a:off x="9258300" y="1362075"/>
              <a:ext cx="1009650" cy="400050"/>
            </a:xfrm>
            <a:prstGeom prst="rect">
              <a:avLst/>
            </a:prstGeom>
            <a:solidFill>
              <a:srgbClr val="F4F7F8"/>
            </a:solidFill>
            <a:ln w="9525">
              <a:solidFill>
                <a:srgbClr val="DAE1E6"/>
              </a:solidFill>
            </a:ln>
          </p:spPr>
          <p:txBody>
            <a:bodyPr/>
            <a:lstStyle/>
            <a:p>
              <a:endParaRPr lang="zh-CN" altLang="en-US"/>
            </a:p>
          </p:txBody>
        </p:sp>
        <p:sp>
          <p:nvSpPr>
            <p:cNvPr id="11" name="TextBox 11"/>
            <p:cNvSpPr txBox="1"/>
            <p:nvPr/>
          </p:nvSpPr>
          <p:spPr>
            <a:xfrm>
              <a:off x="9456840" y="1451134"/>
              <a:ext cx="612569" cy="137160"/>
            </a:xfrm>
            <a:prstGeom prst="rect">
              <a:avLst/>
            </a:prstGeom>
            <a:noFill/>
            <a:ln>
              <a:noFill/>
            </a:ln>
          </p:spPr>
          <p:txBody>
            <a:bodyPr wrap="none" lIns="0" tIns="0" rIns="0" bIns="0" anchor="t" anchorCtr="0">
              <a:spAutoFit/>
            </a:bodyPr>
            <a:lstStyle/>
            <a:p>
              <a:pPr algn="ctr"/>
              <a:r>
                <a:rPr lang="zh-CN" sz="675" b="1" dirty="0">
                  <a:solidFill>
                    <a:srgbClr val="768993"/>
                  </a:solidFill>
                  <a:latin typeface="Arial"/>
                  <a:ea typeface="Microsoft YaHei"/>
                  <a:cs typeface="Arial"/>
                </a:rPr>
                <a:t>IDEAL ANSWER</a:t>
              </a:r>
            </a:p>
          </p:txBody>
        </p:sp>
        <p:sp>
          <p:nvSpPr>
            <p:cNvPr id="12" name="TextBox 12"/>
            <p:cNvSpPr txBox="1"/>
            <p:nvPr/>
          </p:nvSpPr>
          <p:spPr>
            <a:xfrm>
              <a:off x="9402294" y="1583531"/>
              <a:ext cx="72166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Stanford</a:t>
              </a:r>
            </a:p>
          </p:txBody>
        </p:sp>
        <p:sp>
          <p:nvSpPr>
            <p:cNvPr id="13" name="Rectangle 13"/>
            <p:cNvSpPr/>
            <p:nvPr/>
          </p:nvSpPr>
          <p:spPr>
            <a:xfrm>
              <a:off x="10344150" y="1362075"/>
              <a:ext cx="1009650" cy="400050"/>
            </a:xfrm>
            <a:prstGeom prst="rect">
              <a:avLst/>
            </a:prstGeom>
            <a:solidFill>
              <a:srgbClr val="002D4C"/>
            </a:solidFill>
            <a:ln>
              <a:noFill/>
            </a:ln>
          </p:spPr>
          <p:txBody>
            <a:bodyPr/>
            <a:lstStyle/>
            <a:p>
              <a:endParaRPr lang="zh-CN" altLang="en-US"/>
            </a:p>
          </p:txBody>
        </p:sp>
        <p:sp>
          <p:nvSpPr>
            <p:cNvPr id="14" name="TextBox 14"/>
            <p:cNvSpPr txBox="1"/>
            <p:nvPr/>
          </p:nvSpPr>
          <p:spPr>
            <a:xfrm>
              <a:off x="10552141" y="1451134"/>
              <a:ext cx="593667"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AVAILABLE KB</a:t>
              </a:r>
            </a:p>
          </p:txBody>
        </p:sp>
        <p:sp>
          <p:nvSpPr>
            <p:cNvPr id="15" name="TextBox 15"/>
            <p:cNvSpPr txBox="1"/>
            <p:nvPr/>
          </p:nvSpPr>
          <p:spPr>
            <a:xfrm>
              <a:off x="10734595" y="1567339"/>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NA</a:t>
              </a:r>
            </a:p>
          </p:txBody>
        </p:sp>
      </p:grpSp>
      <p:grpSp>
        <p:nvGrpSpPr>
          <p:cNvPr id="36" name="Group 36"/>
          <p:cNvGrpSpPr/>
          <p:nvPr/>
        </p:nvGrpSpPr>
        <p:grpSpPr>
          <a:xfrm>
            <a:off x="590550" y="2114550"/>
            <a:ext cx="4000500" cy="3269456"/>
            <a:chOff x="590550" y="2114550"/>
            <a:chExt cx="4000500" cy="3269456"/>
          </a:xfrm>
        </p:grpSpPr>
        <p:sp>
          <p:nvSpPr>
            <p:cNvPr id="17" name="Rectangle 17"/>
            <p:cNvSpPr/>
            <p:nvPr/>
          </p:nvSpPr>
          <p:spPr>
            <a:xfrm>
              <a:off x="590550" y="2114550"/>
              <a:ext cx="4000500" cy="3257550"/>
            </a:xfrm>
            <a:prstGeom prst="rect">
              <a:avLst/>
            </a:prstGeom>
            <a:solidFill>
              <a:srgbClr val="F4F7F8"/>
            </a:solidFill>
            <a:ln w="14288">
              <a:solidFill>
                <a:srgbClr val="DAE1E6"/>
              </a:solidFill>
            </a:ln>
          </p:spPr>
          <p:txBody>
            <a:bodyPr/>
            <a:lstStyle/>
            <a:p>
              <a:endParaRPr lang="zh-CN" altLang="en-US"/>
            </a:p>
          </p:txBody>
        </p:sp>
        <p:sp>
          <p:nvSpPr>
            <p:cNvPr id="18" name="Rectangle 18"/>
            <p:cNvSpPr/>
            <p:nvPr/>
          </p:nvSpPr>
          <p:spPr>
            <a:xfrm>
              <a:off x="590550" y="2114550"/>
              <a:ext cx="4000500" cy="400050"/>
            </a:xfrm>
            <a:prstGeom prst="rect">
              <a:avLst/>
            </a:prstGeom>
            <a:solidFill>
              <a:srgbClr val="002D4C"/>
            </a:solidFill>
            <a:ln>
              <a:noFill/>
            </a:ln>
          </p:spPr>
          <p:txBody>
            <a:bodyPr/>
            <a:lstStyle/>
            <a:p>
              <a:endParaRPr lang="zh-CN" altLang="en-US"/>
            </a:p>
          </p:txBody>
        </p:sp>
        <p:sp>
          <p:nvSpPr>
            <p:cNvPr id="19" name="TextBox 19"/>
            <p:cNvSpPr txBox="1"/>
            <p:nvPr/>
          </p:nvSpPr>
          <p:spPr>
            <a:xfrm>
              <a:off x="764858" y="2234089"/>
              <a:ext cx="2594180"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Deletion metadata and effect</a:t>
              </a:r>
            </a:p>
          </p:txBody>
        </p:sp>
        <p:sp>
          <p:nvSpPr>
            <p:cNvPr id="20" name="TextBox 20"/>
            <p:cNvSpPr txBox="1"/>
            <p:nvPr/>
          </p:nvSpPr>
          <p:spPr>
            <a:xfrm>
              <a:off x="769620" y="2703195"/>
              <a:ext cx="1232611"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DELETED KB ELEMENT</a:t>
              </a:r>
            </a:p>
          </p:txBody>
        </p:sp>
        <p:sp>
          <p:nvSpPr>
            <p:cNvPr id="21" name="TextBox 21"/>
            <p:cNvSpPr txBox="1"/>
            <p:nvPr/>
          </p:nvSpPr>
          <p:spPr>
            <a:xfrm>
              <a:off x="768668" y="2942749"/>
              <a:ext cx="1701975"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(Chris Manning, works at,</a:t>
              </a:r>
            </a:p>
          </p:txBody>
        </p:sp>
        <p:sp>
          <p:nvSpPr>
            <p:cNvPr id="22" name="TextBox 22"/>
            <p:cNvSpPr txBox="1"/>
            <p:nvPr/>
          </p:nvSpPr>
          <p:spPr>
            <a:xfrm>
              <a:off x="768668" y="3133249"/>
              <a:ext cx="668345"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Stanford)</a:t>
              </a:r>
            </a:p>
          </p:txBody>
        </p:sp>
        <p:sp>
          <p:nvSpPr>
            <p:cNvPr id="23" name="Line 23"/>
            <p:cNvSpPr/>
            <p:nvPr/>
          </p:nvSpPr>
          <p:spPr>
            <a:xfrm>
              <a:off x="781050" y="340995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4" name="TextBox 24"/>
            <p:cNvSpPr txBox="1"/>
            <p:nvPr/>
          </p:nvSpPr>
          <p:spPr>
            <a:xfrm>
              <a:off x="769620" y="3560445"/>
              <a:ext cx="1957202"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ELEMENT STATUS AFTER DELETION</a:t>
              </a:r>
            </a:p>
          </p:txBody>
        </p:sp>
        <p:sp>
          <p:nvSpPr>
            <p:cNvPr id="25" name="TextBox 25"/>
            <p:cNvSpPr txBox="1"/>
            <p:nvPr/>
          </p:nvSpPr>
          <p:spPr>
            <a:xfrm>
              <a:off x="768668" y="3819049"/>
              <a:ext cx="882872"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Chris Manning</a:t>
              </a:r>
            </a:p>
          </p:txBody>
        </p:sp>
        <p:sp>
          <p:nvSpPr>
            <p:cNvPr id="26" name="TextBox 26"/>
            <p:cNvSpPr txBox="1"/>
            <p:nvPr/>
          </p:nvSpPr>
          <p:spPr>
            <a:xfrm>
              <a:off x="3652871" y="3819049"/>
              <a:ext cx="598137" cy="198120"/>
            </a:xfrm>
            <a:prstGeom prst="rect">
              <a:avLst/>
            </a:prstGeom>
            <a:noFill/>
            <a:ln>
              <a:noFill/>
            </a:ln>
          </p:spPr>
          <p:txBody>
            <a:bodyPr wrap="none" lIns="0" tIns="0" rIns="0" bIns="0" anchor="t" anchorCtr="0">
              <a:spAutoFit/>
            </a:bodyPr>
            <a:lstStyle/>
            <a:p>
              <a:pPr algn="r"/>
              <a:r>
                <a:rPr lang="zh-CN" sz="975" b="1" dirty="0">
                  <a:solidFill>
                    <a:srgbClr val="009682"/>
                  </a:solidFill>
                  <a:latin typeface="Arial"/>
                  <a:ea typeface="Microsoft YaHei"/>
                  <a:cs typeface="Arial"/>
                </a:rPr>
                <a:t>available</a:t>
              </a:r>
            </a:p>
          </p:txBody>
        </p:sp>
        <p:sp>
          <p:nvSpPr>
            <p:cNvPr id="27" name="TextBox 27"/>
            <p:cNvSpPr txBox="1"/>
            <p:nvPr/>
          </p:nvSpPr>
          <p:spPr>
            <a:xfrm>
              <a:off x="768668" y="4066699"/>
              <a:ext cx="590336"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works at</a:t>
              </a:r>
            </a:p>
          </p:txBody>
        </p:sp>
        <p:sp>
          <p:nvSpPr>
            <p:cNvPr id="28" name="TextBox 28"/>
            <p:cNvSpPr txBox="1"/>
            <p:nvPr/>
          </p:nvSpPr>
          <p:spPr>
            <a:xfrm>
              <a:off x="3652871" y="4066699"/>
              <a:ext cx="598137" cy="198120"/>
            </a:xfrm>
            <a:prstGeom prst="rect">
              <a:avLst/>
            </a:prstGeom>
            <a:noFill/>
            <a:ln>
              <a:noFill/>
            </a:ln>
          </p:spPr>
          <p:txBody>
            <a:bodyPr wrap="none" lIns="0" tIns="0" rIns="0" bIns="0" anchor="t" anchorCtr="0">
              <a:spAutoFit/>
            </a:bodyPr>
            <a:lstStyle/>
            <a:p>
              <a:pPr algn="r"/>
              <a:r>
                <a:rPr lang="zh-CN" sz="975" b="1" dirty="0">
                  <a:solidFill>
                    <a:srgbClr val="009682"/>
                  </a:solidFill>
                  <a:latin typeface="Arial"/>
                  <a:ea typeface="Microsoft YaHei"/>
                  <a:cs typeface="Arial"/>
                </a:rPr>
                <a:t>available</a:t>
              </a:r>
            </a:p>
          </p:txBody>
        </p:sp>
        <p:sp>
          <p:nvSpPr>
            <p:cNvPr id="29" name="TextBox 29"/>
            <p:cNvSpPr txBox="1"/>
            <p:nvPr/>
          </p:nvSpPr>
          <p:spPr>
            <a:xfrm>
              <a:off x="768668" y="4314349"/>
              <a:ext cx="596836"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Stanford</a:t>
              </a:r>
            </a:p>
          </p:txBody>
        </p:sp>
        <p:sp>
          <p:nvSpPr>
            <p:cNvPr id="30" name="TextBox 30"/>
            <p:cNvSpPr txBox="1"/>
            <p:nvPr/>
          </p:nvSpPr>
          <p:spPr>
            <a:xfrm>
              <a:off x="3652871" y="4314349"/>
              <a:ext cx="598137" cy="198120"/>
            </a:xfrm>
            <a:prstGeom prst="rect">
              <a:avLst/>
            </a:prstGeom>
            <a:noFill/>
            <a:ln>
              <a:noFill/>
            </a:ln>
          </p:spPr>
          <p:txBody>
            <a:bodyPr wrap="none" lIns="0" tIns="0" rIns="0" bIns="0" anchor="t" anchorCtr="0">
              <a:spAutoFit/>
            </a:bodyPr>
            <a:lstStyle/>
            <a:p>
              <a:pPr algn="r"/>
              <a:r>
                <a:rPr lang="zh-CN" sz="975" b="1" dirty="0">
                  <a:solidFill>
                    <a:srgbClr val="009682"/>
                  </a:solidFill>
                  <a:latin typeface="Arial"/>
                  <a:ea typeface="Microsoft YaHei"/>
                  <a:cs typeface="Arial"/>
                </a:rPr>
                <a:t>available</a:t>
              </a:r>
            </a:p>
          </p:txBody>
        </p:sp>
        <p:sp>
          <p:nvSpPr>
            <p:cNvPr id="31" name="TextBox 31"/>
            <p:cNvSpPr txBox="1"/>
            <p:nvPr/>
          </p:nvSpPr>
          <p:spPr>
            <a:xfrm>
              <a:off x="768668" y="4561999"/>
              <a:ext cx="889373"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Required fact</a:t>
              </a:r>
            </a:p>
          </p:txBody>
        </p:sp>
        <p:sp>
          <p:nvSpPr>
            <p:cNvPr id="32" name="TextBox 32"/>
            <p:cNvSpPr txBox="1"/>
            <p:nvPr/>
          </p:nvSpPr>
          <p:spPr>
            <a:xfrm>
              <a:off x="3741607" y="4561999"/>
              <a:ext cx="509401" cy="198120"/>
            </a:xfrm>
            <a:prstGeom prst="rect">
              <a:avLst/>
            </a:prstGeom>
            <a:noFill/>
            <a:ln>
              <a:noFill/>
            </a:ln>
          </p:spPr>
          <p:txBody>
            <a:bodyPr wrap="none" lIns="0" tIns="0" rIns="0" bIns="0" anchor="t" anchorCtr="0">
              <a:spAutoFit/>
            </a:bodyPr>
            <a:lstStyle/>
            <a:p>
              <a:pPr algn="r"/>
              <a:r>
                <a:rPr lang="zh-CN" sz="975" b="1" dirty="0">
                  <a:solidFill>
                    <a:srgbClr val="23A1E0"/>
                  </a:solidFill>
                  <a:latin typeface="Arial"/>
                  <a:ea typeface="Microsoft YaHei"/>
                  <a:cs typeface="Arial"/>
                </a:rPr>
                <a:t>missing</a:t>
              </a:r>
            </a:p>
          </p:txBody>
        </p:sp>
        <p:sp>
          <p:nvSpPr>
            <p:cNvPr id="33" name="Line 33"/>
            <p:cNvSpPr/>
            <p:nvPr/>
          </p:nvSpPr>
          <p:spPr>
            <a:xfrm>
              <a:off x="781050" y="481965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34" name="TextBox 34"/>
            <p:cNvSpPr txBox="1"/>
            <p:nvPr/>
          </p:nvSpPr>
          <p:spPr>
            <a:xfrm>
              <a:off x="769620" y="4970145"/>
              <a:ext cx="1547651"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UNANSWERABILITY PATTERN</a:t>
              </a:r>
            </a:p>
          </p:txBody>
        </p:sp>
        <p:sp>
          <p:nvSpPr>
            <p:cNvPr id="35" name="TextBox 35"/>
            <p:cNvSpPr txBox="1"/>
            <p:nvPr/>
          </p:nvSpPr>
          <p:spPr>
            <a:xfrm>
              <a:off x="766762" y="5155406"/>
              <a:ext cx="2029075"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Arial"/>
                  <a:ea typeface="Microsoft YaHei"/>
                  <a:cs typeface="Arial"/>
                </a:rPr>
                <a:t>Local data incompleteness</a:t>
              </a:r>
            </a:p>
          </p:txBody>
        </p:sp>
      </p:grpSp>
      <p:grpSp>
        <p:nvGrpSpPr>
          <p:cNvPr id="68" name="Group 68"/>
          <p:cNvGrpSpPr/>
          <p:nvPr/>
        </p:nvGrpSpPr>
        <p:grpSpPr>
          <a:xfrm>
            <a:off x="4936808" y="2234089"/>
            <a:ext cx="6664642" cy="1785461"/>
            <a:chOff x="4936808" y="2234089"/>
            <a:chExt cx="6664642" cy="1785461"/>
          </a:xfrm>
        </p:grpSpPr>
        <p:sp>
          <p:nvSpPr>
            <p:cNvPr id="37" name="TextBox 37"/>
            <p:cNvSpPr txBox="1"/>
            <p:nvPr/>
          </p:nvSpPr>
          <p:spPr>
            <a:xfrm>
              <a:off x="4936808" y="2234089"/>
              <a:ext cx="2504919"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Construction interpretation</a:t>
              </a:r>
            </a:p>
          </p:txBody>
        </p:sp>
        <p:sp>
          <p:nvSpPr>
            <p:cNvPr id="38" name="Line 38"/>
            <p:cNvSpPr/>
            <p:nvPr/>
          </p:nvSpPr>
          <p:spPr>
            <a:xfrm>
              <a:off x="4953000" y="2524125"/>
              <a:ext cx="6648450" cy="9525"/>
            </a:xfrm>
            <a:custGeom>
              <a:avLst/>
              <a:gdLst/>
              <a:ahLst/>
              <a:cxnLst/>
              <a:rect l="l" t="t" r="r" b="b"/>
              <a:pathLst>
                <a:path w="6648450" h="9525">
                  <a:moveTo>
                    <a:pt x="0" y="0"/>
                  </a:moveTo>
                  <a:lnTo>
                    <a:pt x="6648450" y="0"/>
                  </a:lnTo>
                </a:path>
              </a:pathLst>
            </a:custGeom>
            <a:noFill/>
            <a:ln w="9525">
              <a:solidFill>
                <a:srgbClr val="DAE1E6"/>
              </a:solidFill>
            </a:ln>
          </p:spPr>
          <p:txBody>
            <a:bodyPr/>
            <a:lstStyle/>
            <a:p>
              <a:endParaRPr lang="zh-CN" altLang="en-US"/>
            </a:p>
          </p:txBody>
        </p:sp>
        <p:sp>
          <p:nvSpPr>
            <p:cNvPr id="39" name="Rectangle 39"/>
            <p:cNvSpPr/>
            <p:nvPr/>
          </p:nvSpPr>
          <p:spPr>
            <a:xfrm>
              <a:off x="4953000" y="2895600"/>
              <a:ext cx="1123950" cy="1123950"/>
            </a:xfrm>
            <a:prstGeom prst="rect">
              <a:avLst/>
            </a:prstGeom>
            <a:solidFill>
              <a:srgbClr val="F4F7F8"/>
            </a:solidFill>
            <a:ln w="14288">
              <a:solidFill>
                <a:srgbClr val="DAE1E6"/>
              </a:solidFill>
            </a:ln>
          </p:spPr>
          <p:txBody>
            <a:bodyPr/>
            <a:lstStyle/>
            <a:p>
              <a:endParaRPr lang="zh-CN" altLang="en-US"/>
            </a:p>
          </p:txBody>
        </p:sp>
        <p:sp>
          <p:nvSpPr>
            <p:cNvPr id="40" name="Ellipse 40"/>
            <p:cNvSpPr/>
            <p:nvPr/>
          </p:nvSpPr>
          <p:spPr>
            <a:xfrm>
              <a:off x="5372100" y="2952750"/>
              <a:ext cx="285750" cy="285750"/>
            </a:xfrm>
            <a:prstGeom prst="ellipse">
              <a:avLst/>
            </a:prstGeom>
            <a:solidFill>
              <a:srgbClr val="002D4C"/>
            </a:solidFill>
            <a:ln>
              <a:noFill/>
            </a:ln>
          </p:spPr>
          <p:txBody>
            <a:bodyPr/>
            <a:lstStyle/>
            <a:p>
              <a:endParaRPr lang="zh-CN" altLang="en-US"/>
            </a:p>
          </p:txBody>
        </p:sp>
        <p:sp>
          <p:nvSpPr>
            <p:cNvPr id="41" name="TextBox 41"/>
            <p:cNvSpPr txBox="1"/>
            <p:nvPr/>
          </p:nvSpPr>
          <p:spPr>
            <a:xfrm>
              <a:off x="5484643" y="3046095"/>
              <a:ext cx="606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42" name="TextBox 42"/>
            <p:cNvSpPr txBox="1"/>
            <p:nvPr/>
          </p:nvSpPr>
          <p:spPr>
            <a:xfrm>
              <a:off x="5327416" y="3355181"/>
              <a:ext cx="375118"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Keep</a:t>
              </a:r>
            </a:p>
          </p:txBody>
        </p:sp>
        <p:sp>
          <p:nvSpPr>
            <p:cNvPr id="43" name="TextBox 43"/>
            <p:cNvSpPr txBox="1"/>
            <p:nvPr/>
          </p:nvSpPr>
          <p:spPr>
            <a:xfrm>
              <a:off x="5173834" y="3555206"/>
              <a:ext cx="68228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question</a:t>
              </a:r>
            </a:p>
          </p:txBody>
        </p:sp>
        <p:sp>
          <p:nvSpPr>
            <p:cNvPr id="44" name="Polygon 44"/>
            <p:cNvSpPr/>
            <p:nvPr/>
          </p:nvSpPr>
          <p:spPr>
            <a:xfrm>
              <a:off x="61912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5" name="Rectangle 45"/>
            <p:cNvSpPr/>
            <p:nvPr/>
          </p:nvSpPr>
          <p:spPr>
            <a:xfrm>
              <a:off x="6496050" y="2895600"/>
              <a:ext cx="1123950" cy="1123950"/>
            </a:xfrm>
            <a:prstGeom prst="rect">
              <a:avLst/>
            </a:prstGeom>
            <a:solidFill>
              <a:srgbClr val="EAF6F4"/>
            </a:solidFill>
            <a:ln w="14288">
              <a:solidFill>
                <a:srgbClr val="DAE1E6"/>
              </a:solidFill>
            </a:ln>
          </p:spPr>
          <p:txBody>
            <a:bodyPr/>
            <a:lstStyle/>
            <a:p>
              <a:endParaRPr lang="zh-CN" altLang="en-US"/>
            </a:p>
          </p:txBody>
        </p:sp>
        <p:sp>
          <p:nvSpPr>
            <p:cNvPr id="46" name="Ellipse 46"/>
            <p:cNvSpPr/>
            <p:nvPr/>
          </p:nvSpPr>
          <p:spPr>
            <a:xfrm>
              <a:off x="6915150" y="2952750"/>
              <a:ext cx="285750" cy="285750"/>
            </a:xfrm>
            <a:prstGeom prst="ellipse">
              <a:avLst/>
            </a:prstGeom>
            <a:solidFill>
              <a:srgbClr val="009682"/>
            </a:solidFill>
            <a:ln>
              <a:noFill/>
            </a:ln>
          </p:spPr>
          <p:txBody>
            <a:bodyPr/>
            <a:lstStyle/>
            <a:p>
              <a:endParaRPr lang="zh-CN" altLang="en-US"/>
            </a:p>
          </p:txBody>
        </p:sp>
        <p:sp>
          <p:nvSpPr>
            <p:cNvPr id="47" name="TextBox 47"/>
            <p:cNvSpPr txBox="1"/>
            <p:nvPr/>
          </p:nvSpPr>
          <p:spPr>
            <a:xfrm>
              <a:off x="701194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48" name="TextBox 48"/>
            <p:cNvSpPr txBox="1"/>
            <p:nvPr/>
          </p:nvSpPr>
          <p:spPr>
            <a:xfrm>
              <a:off x="6574231" y="3268028"/>
              <a:ext cx="967588"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Keep entities</a:t>
              </a:r>
            </a:p>
          </p:txBody>
        </p:sp>
        <p:sp>
          <p:nvSpPr>
            <p:cNvPr id="49" name="TextBox 49"/>
            <p:cNvSpPr txBox="1"/>
            <p:nvPr/>
          </p:nvSpPr>
          <p:spPr>
            <a:xfrm>
              <a:off x="6614661" y="3468052"/>
              <a:ext cx="886727"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and relation</a:t>
              </a:r>
            </a:p>
          </p:txBody>
        </p:sp>
        <p:sp>
          <p:nvSpPr>
            <p:cNvPr id="50" name="Polygon 50"/>
            <p:cNvSpPr/>
            <p:nvPr/>
          </p:nvSpPr>
          <p:spPr>
            <a:xfrm>
              <a:off x="773430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51" name="Rectangle 51"/>
            <p:cNvSpPr/>
            <p:nvPr/>
          </p:nvSpPr>
          <p:spPr>
            <a:xfrm>
              <a:off x="8039100" y="2895600"/>
              <a:ext cx="1123950" cy="1123950"/>
            </a:xfrm>
            <a:prstGeom prst="rect">
              <a:avLst/>
            </a:prstGeom>
            <a:solidFill>
              <a:srgbClr val="F4F7F8"/>
            </a:solidFill>
            <a:ln w="14288">
              <a:solidFill>
                <a:srgbClr val="DAE1E6"/>
              </a:solidFill>
            </a:ln>
          </p:spPr>
          <p:txBody>
            <a:bodyPr/>
            <a:lstStyle/>
            <a:p>
              <a:endParaRPr lang="zh-CN" altLang="en-US"/>
            </a:p>
          </p:txBody>
        </p:sp>
        <p:sp>
          <p:nvSpPr>
            <p:cNvPr id="52" name="Ellipse 52"/>
            <p:cNvSpPr/>
            <p:nvPr/>
          </p:nvSpPr>
          <p:spPr>
            <a:xfrm>
              <a:off x="8458200" y="2952750"/>
              <a:ext cx="285750" cy="285750"/>
            </a:xfrm>
            <a:prstGeom prst="ellipse">
              <a:avLst/>
            </a:prstGeom>
            <a:solidFill>
              <a:srgbClr val="23A1E0"/>
            </a:solidFill>
            <a:ln>
              <a:noFill/>
            </a:ln>
          </p:spPr>
          <p:txBody>
            <a:bodyPr/>
            <a:lstStyle/>
            <a:p>
              <a:endParaRPr lang="zh-CN" altLang="en-US"/>
            </a:p>
          </p:txBody>
        </p:sp>
        <p:sp>
          <p:nvSpPr>
            <p:cNvPr id="53" name="TextBox 53"/>
            <p:cNvSpPr txBox="1"/>
            <p:nvPr/>
          </p:nvSpPr>
          <p:spPr>
            <a:xfrm>
              <a:off x="855499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54" name="TextBox 54"/>
            <p:cNvSpPr txBox="1"/>
            <p:nvPr/>
          </p:nvSpPr>
          <p:spPr>
            <a:xfrm>
              <a:off x="8363537" y="3268028"/>
              <a:ext cx="475076"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Delete</a:t>
              </a:r>
            </a:p>
          </p:txBody>
        </p:sp>
        <p:sp>
          <p:nvSpPr>
            <p:cNvPr id="55" name="TextBox 55"/>
            <p:cNvSpPr txBox="1"/>
            <p:nvPr/>
          </p:nvSpPr>
          <p:spPr>
            <a:xfrm>
              <a:off x="8098904" y="3468052"/>
              <a:ext cx="1004342"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required fact</a:t>
              </a:r>
            </a:p>
          </p:txBody>
        </p:sp>
        <p:sp>
          <p:nvSpPr>
            <p:cNvPr id="56" name="Polygon 56"/>
            <p:cNvSpPr/>
            <p:nvPr/>
          </p:nvSpPr>
          <p:spPr>
            <a:xfrm>
              <a:off x="92773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57" name="Rectangle 57"/>
            <p:cNvSpPr/>
            <p:nvPr/>
          </p:nvSpPr>
          <p:spPr>
            <a:xfrm>
              <a:off x="9582150" y="2895600"/>
              <a:ext cx="876300" cy="1123950"/>
            </a:xfrm>
            <a:prstGeom prst="rect">
              <a:avLst/>
            </a:prstGeom>
            <a:solidFill>
              <a:srgbClr val="EAF6F4"/>
            </a:solidFill>
            <a:ln w="14288">
              <a:solidFill>
                <a:srgbClr val="DAE1E6"/>
              </a:solidFill>
            </a:ln>
          </p:spPr>
          <p:txBody>
            <a:bodyPr/>
            <a:lstStyle/>
            <a:p>
              <a:endParaRPr lang="zh-CN" altLang="en-US"/>
            </a:p>
          </p:txBody>
        </p:sp>
        <p:sp>
          <p:nvSpPr>
            <p:cNvPr id="58" name="Ellipse 58"/>
            <p:cNvSpPr/>
            <p:nvPr/>
          </p:nvSpPr>
          <p:spPr>
            <a:xfrm>
              <a:off x="9877425" y="2952750"/>
              <a:ext cx="285750" cy="285750"/>
            </a:xfrm>
            <a:prstGeom prst="ellipse">
              <a:avLst/>
            </a:prstGeom>
            <a:solidFill>
              <a:srgbClr val="009682"/>
            </a:solidFill>
            <a:ln>
              <a:noFill/>
            </a:ln>
          </p:spPr>
          <p:txBody>
            <a:bodyPr/>
            <a:lstStyle/>
            <a:p>
              <a:endParaRPr lang="zh-CN" altLang="en-US"/>
            </a:p>
          </p:txBody>
        </p:sp>
        <p:sp>
          <p:nvSpPr>
            <p:cNvPr id="59" name="TextBox 59"/>
            <p:cNvSpPr txBox="1"/>
            <p:nvPr/>
          </p:nvSpPr>
          <p:spPr>
            <a:xfrm>
              <a:off x="997421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60" name="TextBox 60"/>
            <p:cNvSpPr txBox="1"/>
            <p:nvPr/>
          </p:nvSpPr>
          <p:spPr>
            <a:xfrm>
              <a:off x="9820207" y="3276124"/>
              <a:ext cx="400187"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Break</a:t>
              </a:r>
            </a:p>
          </p:txBody>
        </p:sp>
        <p:sp>
          <p:nvSpPr>
            <p:cNvPr id="61" name="TextBox 61"/>
            <p:cNvSpPr txBox="1"/>
            <p:nvPr/>
          </p:nvSpPr>
          <p:spPr>
            <a:xfrm>
              <a:off x="9598366" y="3457099"/>
              <a:ext cx="843867"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answer path</a:t>
              </a:r>
            </a:p>
          </p:txBody>
        </p:sp>
        <p:sp>
          <p:nvSpPr>
            <p:cNvPr id="62" name="Polygon 62"/>
            <p:cNvSpPr/>
            <p:nvPr/>
          </p:nvSpPr>
          <p:spPr>
            <a:xfrm>
              <a:off x="105727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63" name="Rectangle 63"/>
            <p:cNvSpPr/>
            <p:nvPr/>
          </p:nvSpPr>
          <p:spPr>
            <a:xfrm>
              <a:off x="10877550" y="2895600"/>
              <a:ext cx="723900" cy="1123950"/>
            </a:xfrm>
            <a:prstGeom prst="rect">
              <a:avLst/>
            </a:prstGeom>
            <a:solidFill>
              <a:srgbClr val="002D4C"/>
            </a:solidFill>
            <a:ln>
              <a:noFill/>
            </a:ln>
          </p:spPr>
          <p:txBody>
            <a:bodyPr/>
            <a:lstStyle/>
            <a:p>
              <a:endParaRPr lang="zh-CN" altLang="en-US"/>
            </a:p>
          </p:txBody>
        </p:sp>
        <p:sp>
          <p:nvSpPr>
            <p:cNvPr id="64" name="Ellipse 64"/>
            <p:cNvSpPr/>
            <p:nvPr/>
          </p:nvSpPr>
          <p:spPr>
            <a:xfrm>
              <a:off x="11096625" y="2952750"/>
              <a:ext cx="285750" cy="285750"/>
            </a:xfrm>
            <a:prstGeom prst="ellipse">
              <a:avLst/>
            </a:prstGeom>
            <a:solidFill>
              <a:srgbClr val="23A1E0"/>
            </a:solidFill>
            <a:ln>
              <a:noFill/>
            </a:ln>
          </p:spPr>
          <p:txBody>
            <a:bodyPr/>
            <a:lstStyle/>
            <a:p>
              <a:endParaRPr lang="zh-CN" altLang="en-US"/>
            </a:p>
          </p:txBody>
        </p:sp>
        <p:sp>
          <p:nvSpPr>
            <p:cNvPr id="65" name="TextBox 65"/>
            <p:cNvSpPr txBox="1"/>
            <p:nvPr/>
          </p:nvSpPr>
          <p:spPr>
            <a:xfrm>
              <a:off x="1119341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5</a:t>
              </a:r>
            </a:p>
          </p:txBody>
        </p:sp>
        <p:sp>
          <p:nvSpPr>
            <p:cNvPr id="66" name="TextBox 66"/>
            <p:cNvSpPr txBox="1"/>
            <p:nvPr/>
          </p:nvSpPr>
          <p:spPr>
            <a:xfrm>
              <a:off x="10903579" y="3284220"/>
              <a:ext cx="67184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Unanswer-</a:t>
              </a:r>
            </a:p>
          </p:txBody>
        </p:sp>
        <p:sp>
          <p:nvSpPr>
            <p:cNvPr id="67" name="TextBox 67"/>
            <p:cNvSpPr txBox="1"/>
            <p:nvPr/>
          </p:nvSpPr>
          <p:spPr>
            <a:xfrm>
              <a:off x="11105205" y="3465195"/>
              <a:ext cx="26859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able</a:t>
              </a:r>
            </a:p>
          </p:txBody>
        </p:sp>
      </p:grpSp>
      <p:grpSp>
        <p:nvGrpSpPr>
          <p:cNvPr id="73" name="Group 73"/>
          <p:cNvGrpSpPr/>
          <p:nvPr/>
        </p:nvGrpSpPr>
        <p:grpSpPr>
          <a:xfrm>
            <a:off x="4953000" y="4419600"/>
            <a:ext cx="6648450" cy="952500"/>
            <a:chOff x="4953000" y="4419600"/>
            <a:chExt cx="6648450" cy="952500"/>
          </a:xfrm>
        </p:grpSpPr>
        <p:sp>
          <p:nvSpPr>
            <p:cNvPr id="69" name="Rectangle 69"/>
            <p:cNvSpPr/>
            <p:nvPr/>
          </p:nvSpPr>
          <p:spPr>
            <a:xfrm>
              <a:off x="4953000" y="4419600"/>
              <a:ext cx="6648450" cy="952500"/>
            </a:xfrm>
            <a:prstGeom prst="rect">
              <a:avLst/>
            </a:prstGeom>
            <a:solidFill>
              <a:srgbClr val="002D4C"/>
            </a:solidFill>
            <a:ln>
              <a:noFill/>
            </a:ln>
          </p:spPr>
          <p:txBody>
            <a:bodyPr/>
            <a:lstStyle/>
            <a:p>
              <a:endParaRPr lang="zh-CN" altLang="en-US"/>
            </a:p>
          </p:txBody>
        </p:sp>
        <p:sp>
          <p:nvSpPr>
            <p:cNvPr id="70" name="TextBox 70"/>
            <p:cNvSpPr txBox="1"/>
            <p:nvPr/>
          </p:nvSpPr>
          <p:spPr>
            <a:xfrm>
              <a:off x="5170170" y="4598670"/>
              <a:ext cx="1547651"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AGENT BEHAVIOR</a:t>
              </a:r>
            </a:p>
          </p:txBody>
        </p:sp>
        <p:sp>
          <p:nvSpPr>
            <p:cNvPr id="71" name="TextBox 71"/>
            <p:cNvSpPr txBox="1"/>
            <p:nvPr/>
          </p:nvSpPr>
          <p:spPr>
            <a:xfrm>
              <a:off x="5165408" y="4872514"/>
              <a:ext cx="4656963"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KG access → evidence retrieval → missing-fact detection</a:t>
              </a:r>
            </a:p>
          </p:txBody>
        </p:sp>
        <p:sp>
          <p:nvSpPr>
            <p:cNvPr id="72" name="TextBox 72"/>
            <p:cNvSpPr txBox="1"/>
            <p:nvPr/>
          </p:nvSpPr>
          <p:spPr>
            <a:xfrm>
              <a:off x="5165408" y="5110639"/>
              <a:ext cx="2820733"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 answerability decision → refusal</a:t>
              </a:r>
            </a:p>
          </p:txBody>
        </p:sp>
      </p:grpSp>
      <p:grpSp>
        <p:nvGrpSpPr>
          <p:cNvPr id="78" name="Group 78"/>
          <p:cNvGrpSpPr/>
          <p:nvPr/>
        </p:nvGrpSpPr>
        <p:grpSpPr>
          <a:xfrm>
            <a:off x="495300" y="6167438"/>
            <a:ext cx="11201400" cy="590550"/>
            <a:chOff x="495300" y="6167438"/>
            <a:chExt cx="11201400" cy="590550"/>
          </a:xfrm>
        </p:grpSpPr>
        <p:sp>
          <p:nvSpPr>
            <p:cNvPr id="74" name="TextBox 74"/>
            <p:cNvSpPr txBox="1"/>
            <p:nvPr/>
          </p:nvSpPr>
          <p:spPr>
            <a:xfrm>
              <a:off x="581025" y="6167438"/>
              <a:ext cx="302942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GrailQAbility Dataset Analysis · Case 1 — Fact Deletion</a:t>
              </a:r>
            </a:p>
          </p:txBody>
        </p:sp>
        <p:sp>
          <p:nvSpPr>
            <p:cNvPr id="75" name="Line 75"/>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76" name="TextBox 76"/>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77" name="TextBox 77"/>
            <p:cNvSpPr txBox="1"/>
            <p:nvPr/>
          </p:nvSpPr>
          <p:spPr>
            <a:xfrm>
              <a:off x="10887075" y="6605588"/>
              <a:ext cx="10406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10</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400"/>
                                        <p:tgtEl>
                                          <p:spTgt spid="1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slide(fromBottom)">
                                      <p:cBhvr>
                                        <p:cTn id="11" dur="400"/>
                                        <p:tgtEl>
                                          <p:spTgt spid="36"/>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image">
                                      <p:cBhvr>
                                        <p:cTn id="15" dur="400"/>
                                        <p:tgtEl>
                                          <p:spTgt spid="68"/>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6" grpId="0"/>
      <p:bldP spid="68" grpId="0"/>
      <p:bldP spid="7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0" y="0"/>
            <a:ext cx="7552111" cy="6858000"/>
            <a:chOff x="0" y="0"/>
            <a:chExt cx="7552111" cy="6858000"/>
          </a:xfrm>
        </p:grpSpPr>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48640" y="410528"/>
              <a:ext cx="6032516"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GrailQAbility Case 2: Entity Deletion</a:t>
              </a:r>
            </a:p>
          </p:txBody>
        </p:sp>
        <p:sp>
          <p:nvSpPr>
            <p:cNvPr id="5" name="TextBox 5"/>
            <p:cNvSpPr txBox="1"/>
            <p:nvPr/>
          </p:nvSpPr>
          <p:spPr>
            <a:xfrm>
              <a:off x="574358" y="862489"/>
              <a:ext cx="6977753"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Removing a mentioned entity invalidates the required logical form in the available KB</a:t>
              </a:r>
            </a:p>
          </p:txBody>
        </p:sp>
      </p:grpSp>
      <p:grpSp>
        <p:nvGrpSpPr>
          <p:cNvPr id="13" name="Group 13"/>
          <p:cNvGrpSpPr/>
          <p:nvPr/>
        </p:nvGrpSpPr>
        <p:grpSpPr>
          <a:xfrm>
            <a:off x="590550" y="1219200"/>
            <a:ext cx="11010900" cy="704850"/>
            <a:chOff x="590550" y="1219200"/>
            <a:chExt cx="11010900" cy="704850"/>
          </a:xfrm>
        </p:grpSpPr>
        <p:sp>
          <p:nvSpPr>
            <p:cNvPr id="7" name="Rectangle 7"/>
            <p:cNvSpPr/>
            <p:nvPr/>
          </p:nvSpPr>
          <p:spPr>
            <a:xfrm>
              <a:off x="590550" y="1219200"/>
              <a:ext cx="11010900" cy="704850"/>
            </a:xfrm>
            <a:prstGeom prst="rect">
              <a:avLst/>
            </a:prstGeom>
            <a:solidFill>
              <a:srgbClr val="EAF6F4"/>
            </a:solidFill>
            <a:ln w="14288">
              <a:solidFill>
                <a:srgbClr val="009682"/>
              </a:solidFill>
            </a:ln>
          </p:spPr>
          <p:txBody>
            <a:bodyPr/>
            <a:lstStyle/>
            <a:p>
              <a:endParaRPr lang="zh-CN" altLang="en-US"/>
            </a:p>
          </p:txBody>
        </p:sp>
        <p:sp>
          <p:nvSpPr>
            <p:cNvPr id="8" name="TextBox 8"/>
            <p:cNvSpPr txBox="1"/>
            <p:nvPr/>
          </p:nvSpPr>
          <p:spPr>
            <a:xfrm>
              <a:off x="768668" y="1361599"/>
              <a:ext cx="645918"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QUESTION</a:t>
              </a:r>
            </a:p>
          </p:txBody>
        </p:sp>
        <p:sp>
          <p:nvSpPr>
            <p:cNvPr id="9" name="TextBox 9"/>
            <p:cNvSpPr txBox="1"/>
            <p:nvPr/>
          </p:nvSpPr>
          <p:spPr>
            <a:xfrm>
              <a:off x="763905" y="1597342"/>
              <a:ext cx="4390834"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What paper has Richard Socher written at EMNLP?</a:t>
              </a:r>
            </a:p>
          </p:txBody>
        </p:sp>
        <p:sp>
          <p:nvSpPr>
            <p:cNvPr id="10" name="Rectangle 10"/>
            <p:cNvSpPr/>
            <p:nvPr/>
          </p:nvSpPr>
          <p:spPr>
            <a:xfrm>
              <a:off x="9353550" y="1362075"/>
              <a:ext cx="2000250" cy="400050"/>
            </a:xfrm>
            <a:prstGeom prst="rect">
              <a:avLst/>
            </a:prstGeom>
            <a:solidFill>
              <a:srgbClr val="002D4C"/>
            </a:solidFill>
            <a:ln>
              <a:noFill/>
            </a:ln>
          </p:spPr>
          <p:txBody>
            <a:bodyPr/>
            <a:lstStyle/>
            <a:p>
              <a:endParaRPr lang="zh-CN" altLang="en-US"/>
            </a:p>
          </p:txBody>
        </p:sp>
        <p:sp>
          <p:nvSpPr>
            <p:cNvPr id="11" name="TextBox 11"/>
            <p:cNvSpPr txBox="1"/>
            <p:nvPr/>
          </p:nvSpPr>
          <p:spPr>
            <a:xfrm>
              <a:off x="9832376" y="1441609"/>
              <a:ext cx="1042598"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AVAILABLE KB OUTCOME</a:t>
              </a:r>
            </a:p>
          </p:txBody>
        </p:sp>
        <p:sp>
          <p:nvSpPr>
            <p:cNvPr id="12" name="TextBox 12"/>
            <p:cNvSpPr txBox="1"/>
            <p:nvPr/>
          </p:nvSpPr>
          <p:spPr>
            <a:xfrm>
              <a:off x="9586871" y="1582102"/>
              <a:ext cx="153360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Consolas"/>
                  <a:ea typeface="Microsoft YaHei"/>
                  <a:cs typeface="Consolas"/>
                </a:rPr>
                <a:t>LF = NK · Answer = NA</a:t>
              </a:r>
            </a:p>
          </p:txBody>
        </p:sp>
      </p:grpSp>
      <p:grpSp>
        <p:nvGrpSpPr>
          <p:cNvPr id="29" name="Group 29"/>
          <p:cNvGrpSpPr/>
          <p:nvPr/>
        </p:nvGrpSpPr>
        <p:grpSpPr>
          <a:xfrm>
            <a:off x="590550" y="2114550"/>
            <a:ext cx="4000500" cy="3257550"/>
            <a:chOff x="590550" y="2114550"/>
            <a:chExt cx="4000500" cy="3257550"/>
          </a:xfrm>
        </p:grpSpPr>
        <p:sp>
          <p:nvSpPr>
            <p:cNvPr id="14" name="Rectangle 14"/>
            <p:cNvSpPr/>
            <p:nvPr/>
          </p:nvSpPr>
          <p:spPr>
            <a:xfrm>
              <a:off x="590550" y="2114550"/>
              <a:ext cx="4000500" cy="3257550"/>
            </a:xfrm>
            <a:prstGeom prst="rect">
              <a:avLst/>
            </a:prstGeom>
            <a:solidFill>
              <a:srgbClr val="F4F7F8"/>
            </a:solidFill>
            <a:ln w="14288">
              <a:solidFill>
                <a:srgbClr val="DAE1E6"/>
              </a:solidFill>
            </a:ln>
          </p:spPr>
          <p:txBody>
            <a:bodyPr/>
            <a:lstStyle/>
            <a:p>
              <a:endParaRPr lang="zh-CN" altLang="en-US"/>
            </a:p>
          </p:txBody>
        </p:sp>
        <p:sp>
          <p:nvSpPr>
            <p:cNvPr id="15" name="Rectangle 15"/>
            <p:cNvSpPr/>
            <p:nvPr/>
          </p:nvSpPr>
          <p:spPr>
            <a:xfrm>
              <a:off x="590550" y="2114550"/>
              <a:ext cx="4000500" cy="400050"/>
            </a:xfrm>
            <a:prstGeom prst="rect">
              <a:avLst/>
            </a:prstGeom>
            <a:solidFill>
              <a:srgbClr val="002D4C"/>
            </a:solidFill>
            <a:ln>
              <a:noFill/>
            </a:ln>
          </p:spPr>
          <p:txBody>
            <a:bodyPr/>
            <a:lstStyle/>
            <a:p>
              <a:endParaRPr lang="zh-CN" altLang="en-US"/>
            </a:p>
          </p:txBody>
        </p:sp>
        <p:sp>
          <p:nvSpPr>
            <p:cNvPr id="16" name="TextBox 16"/>
            <p:cNvSpPr txBox="1"/>
            <p:nvPr/>
          </p:nvSpPr>
          <p:spPr>
            <a:xfrm>
              <a:off x="764858" y="2234089"/>
              <a:ext cx="2594180"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Deletion metadata and effect</a:t>
              </a:r>
            </a:p>
          </p:txBody>
        </p:sp>
        <p:sp>
          <p:nvSpPr>
            <p:cNvPr id="17" name="TextBox 17"/>
            <p:cNvSpPr txBox="1"/>
            <p:nvPr/>
          </p:nvSpPr>
          <p:spPr>
            <a:xfrm>
              <a:off x="769620" y="2703195"/>
              <a:ext cx="1232611"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DELETED KB ELEMENT</a:t>
              </a:r>
            </a:p>
          </p:txBody>
        </p:sp>
        <p:sp>
          <p:nvSpPr>
            <p:cNvPr id="18" name="TextBox 18"/>
            <p:cNvSpPr txBox="1"/>
            <p:nvPr/>
          </p:nvSpPr>
          <p:spPr>
            <a:xfrm>
              <a:off x="764858" y="2929414"/>
              <a:ext cx="1317746"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Richard Socher</a:t>
              </a:r>
            </a:p>
          </p:txBody>
        </p:sp>
        <p:sp>
          <p:nvSpPr>
            <p:cNvPr id="19" name="Line 19"/>
            <p:cNvSpPr/>
            <p:nvPr/>
          </p:nvSpPr>
          <p:spPr>
            <a:xfrm>
              <a:off x="781050" y="327660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0" name="TextBox 20"/>
            <p:cNvSpPr txBox="1"/>
            <p:nvPr/>
          </p:nvSpPr>
          <p:spPr>
            <a:xfrm>
              <a:off x="769620" y="3427095"/>
              <a:ext cx="1856389"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ORIGINAL REASONING STRUCTURE</a:t>
              </a:r>
            </a:p>
          </p:txBody>
        </p:sp>
        <p:sp>
          <p:nvSpPr>
            <p:cNvPr id="21" name="TextBox 21"/>
            <p:cNvSpPr txBox="1"/>
            <p:nvPr/>
          </p:nvSpPr>
          <p:spPr>
            <a:xfrm>
              <a:off x="768668" y="3704749"/>
              <a:ext cx="2040017"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Richard Socher → writes → Paper</a:t>
              </a:r>
            </a:p>
          </p:txBody>
        </p:sp>
        <p:sp>
          <p:nvSpPr>
            <p:cNvPr id="22" name="TextBox 22"/>
            <p:cNvSpPr txBox="1"/>
            <p:nvPr/>
          </p:nvSpPr>
          <p:spPr>
            <a:xfrm>
              <a:off x="768668" y="3933349"/>
              <a:ext cx="1428941" cy="198120"/>
            </a:xfrm>
            <a:prstGeom prst="rect">
              <a:avLst/>
            </a:prstGeom>
            <a:noFill/>
            <a:ln>
              <a:noFill/>
            </a:ln>
          </p:spPr>
          <p:txBody>
            <a:bodyPr wrap="none" lIns="0" tIns="0" rIns="0" bIns="0" anchor="t" anchorCtr="0">
              <a:spAutoFit/>
            </a:bodyPr>
            <a:lstStyle/>
            <a:p>
              <a:pPr algn="l"/>
              <a:r>
                <a:rPr lang="zh-CN" sz="975" dirty="0">
                  <a:solidFill>
                    <a:srgbClr val="005A50"/>
                  </a:solidFill>
                  <a:latin typeface="Consolas"/>
                  <a:ea typeface="Microsoft YaHei"/>
                  <a:cs typeface="Consolas"/>
                </a:rPr>
                <a:t>→ published at → EMNLP</a:t>
              </a:r>
            </a:p>
          </p:txBody>
        </p:sp>
        <p:sp>
          <p:nvSpPr>
            <p:cNvPr id="23" name="Line 23"/>
            <p:cNvSpPr/>
            <p:nvPr/>
          </p:nvSpPr>
          <p:spPr>
            <a:xfrm>
              <a:off x="781050" y="422910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4" name="TextBox 24"/>
            <p:cNvSpPr txBox="1"/>
            <p:nvPr/>
          </p:nvSpPr>
          <p:spPr>
            <a:xfrm>
              <a:off x="769620" y="4379595"/>
              <a:ext cx="955377"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AFTER DELETION</a:t>
              </a:r>
            </a:p>
          </p:txBody>
        </p:sp>
        <p:sp>
          <p:nvSpPr>
            <p:cNvPr id="25" name="TextBox 25"/>
            <p:cNvSpPr txBox="1"/>
            <p:nvPr/>
          </p:nvSpPr>
          <p:spPr>
            <a:xfrm>
              <a:off x="766762" y="4622006"/>
              <a:ext cx="1517136" cy="228600"/>
            </a:xfrm>
            <a:prstGeom prst="rect">
              <a:avLst/>
            </a:prstGeom>
            <a:noFill/>
            <a:ln>
              <a:noFill/>
            </a:ln>
          </p:spPr>
          <p:txBody>
            <a:bodyPr wrap="none" lIns="0" tIns="0" rIns="0" bIns="0" anchor="t" anchorCtr="0">
              <a:spAutoFit/>
            </a:bodyPr>
            <a:lstStyle/>
            <a:p>
              <a:pPr algn="l"/>
              <a:r>
                <a:rPr lang="zh-CN" sz="1125" b="1" dirty="0">
                  <a:solidFill>
                    <a:srgbClr val="23A1E0"/>
                  </a:solidFill>
                  <a:latin typeface="Consolas"/>
                  <a:ea typeface="Microsoft YaHei"/>
                  <a:cs typeface="Consolas"/>
                </a:rPr>
                <a:t>Richard Socher ∉ KB</a:t>
              </a:r>
            </a:p>
          </p:txBody>
        </p:sp>
        <p:sp>
          <p:nvSpPr>
            <p:cNvPr id="26" name="TextBox 26"/>
            <p:cNvSpPr txBox="1"/>
            <p:nvPr/>
          </p:nvSpPr>
          <p:spPr>
            <a:xfrm>
              <a:off x="768668" y="4885849"/>
              <a:ext cx="2527578"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Required logical form is no longer valid.</a:t>
              </a:r>
            </a:p>
          </p:txBody>
        </p:sp>
        <p:sp>
          <p:nvSpPr>
            <p:cNvPr id="27" name="TextBox 27"/>
            <p:cNvSpPr txBox="1"/>
            <p:nvPr/>
          </p:nvSpPr>
          <p:spPr>
            <a:xfrm>
              <a:off x="769620" y="5141595"/>
              <a:ext cx="508021"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PATTERN</a:t>
              </a:r>
            </a:p>
          </p:txBody>
        </p:sp>
        <p:sp>
          <p:nvSpPr>
            <p:cNvPr id="28" name="TextBox 28"/>
            <p:cNvSpPr txBox="1"/>
            <p:nvPr/>
          </p:nvSpPr>
          <p:spPr>
            <a:xfrm>
              <a:off x="1549718" y="5133499"/>
              <a:ext cx="2475246" cy="198120"/>
            </a:xfrm>
            <a:prstGeom prst="rect">
              <a:avLst/>
            </a:prstGeom>
            <a:noFill/>
            <a:ln>
              <a:noFill/>
            </a:ln>
          </p:spPr>
          <p:txBody>
            <a:bodyPr wrap="none" lIns="0" tIns="0" rIns="0" bIns="0" anchor="t" anchorCtr="0">
              <a:spAutoFit/>
            </a:bodyPr>
            <a:lstStyle/>
            <a:p>
              <a:pPr algn="l"/>
              <a:r>
                <a:rPr lang="zh-CN" sz="975" b="1" dirty="0">
                  <a:solidFill>
                    <a:srgbClr val="002D4C"/>
                  </a:solidFill>
                  <a:latin typeface="Arial"/>
                  <a:ea typeface="Microsoft YaHei"/>
                  <a:cs typeface="Arial"/>
                </a:rPr>
                <a:t>Missing entity / data incompleteness</a:t>
              </a:r>
            </a:p>
          </p:txBody>
        </p:sp>
      </p:grpSp>
      <p:grpSp>
        <p:nvGrpSpPr>
          <p:cNvPr id="57" name="Group 57"/>
          <p:cNvGrpSpPr/>
          <p:nvPr/>
        </p:nvGrpSpPr>
        <p:grpSpPr>
          <a:xfrm>
            <a:off x="4936808" y="2234089"/>
            <a:ext cx="6664642" cy="1785461"/>
            <a:chOff x="4936808" y="2234089"/>
            <a:chExt cx="6664642" cy="1785461"/>
          </a:xfrm>
        </p:grpSpPr>
        <p:sp>
          <p:nvSpPr>
            <p:cNvPr id="30" name="TextBox 30"/>
            <p:cNvSpPr txBox="1"/>
            <p:nvPr/>
          </p:nvSpPr>
          <p:spPr>
            <a:xfrm>
              <a:off x="4936808" y="2234089"/>
              <a:ext cx="2504919"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Construction interpretation</a:t>
              </a:r>
            </a:p>
          </p:txBody>
        </p:sp>
        <p:sp>
          <p:nvSpPr>
            <p:cNvPr id="31" name="Line 31"/>
            <p:cNvSpPr/>
            <p:nvPr/>
          </p:nvSpPr>
          <p:spPr>
            <a:xfrm>
              <a:off x="4953000" y="2524125"/>
              <a:ext cx="6648450" cy="9525"/>
            </a:xfrm>
            <a:custGeom>
              <a:avLst/>
              <a:gdLst/>
              <a:ahLst/>
              <a:cxnLst/>
              <a:rect l="l" t="t" r="r" b="b"/>
              <a:pathLst>
                <a:path w="6648450" h="9525">
                  <a:moveTo>
                    <a:pt x="0" y="0"/>
                  </a:moveTo>
                  <a:lnTo>
                    <a:pt x="6648450" y="0"/>
                  </a:lnTo>
                </a:path>
              </a:pathLst>
            </a:custGeom>
            <a:noFill/>
            <a:ln w="9525">
              <a:solidFill>
                <a:srgbClr val="DAE1E6"/>
              </a:solidFill>
            </a:ln>
          </p:spPr>
          <p:txBody>
            <a:bodyPr/>
            <a:lstStyle/>
            <a:p>
              <a:endParaRPr lang="zh-CN" altLang="en-US"/>
            </a:p>
          </p:txBody>
        </p:sp>
        <p:sp>
          <p:nvSpPr>
            <p:cNvPr id="32" name="Rectangle 32"/>
            <p:cNvSpPr/>
            <p:nvPr/>
          </p:nvSpPr>
          <p:spPr>
            <a:xfrm>
              <a:off x="4953000" y="2895600"/>
              <a:ext cx="1409700" cy="1123950"/>
            </a:xfrm>
            <a:prstGeom prst="rect">
              <a:avLst/>
            </a:prstGeom>
            <a:solidFill>
              <a:srgbClr val="F4F7F8"/>
            </a:solidFill>
            <a:ln w="14288">
              <a:solidFill>
                <a:srgbClr val="DAE1E6"/>
              </a:solidFill>
            </a:ln>
          </p:spPr>
          <p:txBody>
            <a:bodyPr/>
            <a:lstStyle/>
            <a:p>
              <a:endParaRPr lang="zh-CN" altLang="en-US"/>
            </a:p>
          </p:txBody>
        </p:sp>
        <p:sp>
          <p:nvSpPr>
            <p:cNvPr id="33" name="Ellipse 33"/>
            <p:cNvSpPr/>
            <p:nvPr/>
          </p:nvSpPr>
          <p:spPr>
            <a:xfrm>
              <a:off x="5514975" y="2952750"/>
              <a:ext cx="285750" cy="285750"/>
            </a:xfrm>
            <a:prstGeom prst="ellipse">
              <a:avLst/>
            </a:prstGeom>
            <a:solidFill>
              <a:srgbClr val="002D4C"/>
            </a:solidFill>
            <a:ln>
              <a:noFill/>
            </a:ln>
          </p:spPr>
          <p:txBody>
            <a:bodyPr/>
            <a:lstStyle/>
            <a:p>
              <a:endParaRPr lang="zh-CN" altLang="en-US"/>
            </a:p>
          </p:txBody>
        </p:sp>
        <p:sp>
          <p:nvSpPr>
            <p:cNvPr id="34" name="TextBox 34"/>
            <p:cNvSpPr txBox="1"/>
            <p:nvPr/>
          </p:nvSpPr>
          <p:spPr>
            <a:xfrm>
              <a:off x="5627518" y="3046095"/>
              <a:ext cx="606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35" name="TextBox 35"/>
            <p:cNvSpPr txBox="1"/>
            <p:nvPr/>
          </p:nvSpPr>
          <p:spPr>
            <a:xfrm>
              <a:off x="5470291" y="3355181"/>
              <a:ext cx="375118"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Keep</a:t>
              </a:r>
            </a:p>
          </p:txBody>
        </p:sp>
        <p:sp>
          <p:nvSpPr>
            <p:cNvPr id="36" name="TextBox 36"/>
            <p:cNvSpPr txBox="1"/>
            <p:nvPr/>
          </p:nvSpPr>
          <p:spPr>
            <a:xfrm>
              <a:off x="5316709" y="3555206"/>
              <a:ext cx="68228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question</a:t>
              </a:r>
            </a:p>
          </p:txBody>
        </p:sp>
        <p:sp>
          <p:nvSpPr>
            <p:cNvPr id="37" name="Polygon 37"/>
            <p:cNvSpPr/>
            <p:nvPr/>
          </p:nvSpPr>
          <p:spPr>
            <a:xfrm>
              <a:off x="647700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38" name="Rectangle 38"/>
            <p:cNvSpPr/>
            <p:nvPr/>
          </p:nvSpPr>
          <p:spPr>
            <a:xfrm>
              <a:off x="6781800" y="2895600"/>
              <a:ext cx="1409700" cy="1123950"/>
            </a:xfrm>
            <a:prstGeom prst="rect">
              <a:avLst/>
            </a:prstGeom>
            <a:solidFill>
              <a:srgbClr val="EAF6F4"/>
            </a:solidFill>
            <a:ln w="14288">
              <a:solidFill>
                <a:srgbClr val="DAE1E6"/>
              </a:solidFill>
            </a:ln>
          </p:spPr>
          <p:txBody>
            <a:bodyPr/>
            <a:lstStyle/>
            <a:p>
              <a:endParaRPr lang="zh-CN" altLang="en-US"/>
            </a:p>
          </p:txBody>
        </p:sp>
        <p:sp>
          <p:nvSpPr>
            <p:cNvPr id="39" name="Ellipse 39"/>
            <p:cNvSpPr/>
            <p:nvPr/>
          </p:nvSpPr>
          <p:spPr>
            <a:xfrm>
              <a:off x="7343775" y="2952750"/>
              <a:ext cx="285750" cy="285750"/>
            </a:xfrm>
            <a:prstGeom prst="ellipse">
              <a:avLst/>
            </a:prstGeom>
            <a:solidFill>
              <a:srgbClr val="009682"/>
            </a:solidFill>
            <a:ln>
              <a:noFill/>
            </a:ln>
          </p:spPr>
          <p:txBody>
            <a:bodyPr/>
            <a:lstStyle/>
            <a:p>
              <a:endParaRPr lang="zh-CN" altLang="en-US"/>
            </a:p>
          </p:txBody>
        </p:sp>
        <p:sp>
          <p:nvSpPr>
            <p:cNvPr id="40" name="TextBox 40"/>
            <p:cNvSpPr txBox="1"/>
            <p:nvPr/>
          </p:nvSpPr>
          <p:spPr>
            <a:xfrm>
              <a:off x="744056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41" name="TextBox 41"/>
            <p:cNvSpPr txBox="1"/>
            <p:nvPr/>
          </p:nvSpPr>
          <p:spPr>
            <a:xfrm>
              <a:off x="6911135" y="3199924"/>
              <a:ext cx="1151031"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Delete mentioned</a:t>
              </a:r>
            </a:p>
          </p:txBody>
        </p:sp>
        <p:sp>
          <p:nvSpPr>
            <p:cNvPr id="42" name="TextBox 42"/>
            <p:cNvSpPr txBox="1"/>
            <p:nvPr/>
          </p:nvSpPr>
          <p:spPr>
            <a:xfrm>
              <a:off x="7132975" y="3380899"/>
              <a:ext cx="707350"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entity and</a:t>
              </a:r>
            </a:p>
          </p:txBody>
        </p:sp>
        <p:sp>
          <p:nvSpPr>
            <p:cNvPr id="43" name="TextBox 43"/>
            <p:cNvSpPr txBox="1"/>
            <p:nvPr/>
          </p:nvSpPr>
          <p:spPr>
            <a:xfrm>
              <a:off x="6907722" y="3561874"/>
              <a:ext cx="1157857"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associated facts</a:t>
              </a:r>
            </a:p>
          </p:txBody>
        </p:sp>
        <p:sp>
          <p:nvSpPr>
            <p:cNvPr id="44" name="Polygon 44"/>
            <p:cNvSpPr/>
            <p:nvPr/>
          </p:nvSpPr>
          <p:spPr>
            <a:xfrm>
              <a:off x="830580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5" name="Rectangle 45"/>
            <p:cNvSpPr/>
            <p:nvPr/>
          </p:nvSpPr>
          <p:spPr>
            <a:xfrm>
              <a:off x="8610600" y="2895600"/>
              <a:ext cx="1409700" cy="1123950"/>
            </a:xfrm>
            <a:prstGeom prst="rect">
              <a:avLst/>
            </a:prstGeom>
            <a:solidFill>
              <a:srgbClr val="F4F7F8"/>
            </a:solidFill>
            <a:ln w="14288">
              <a:solidFill>
                <a:srgbClr val="DAE1E6"/>
              </a:solidFill>
            </a:ln>
          </p:spPr>
          <p:txBody>
            <a:bodyPr/>
            <a:lstStyle/>
            <a:p>
              <a:endParaRPr lang="zh-CN" altLang="en-US"/>
            </a:p>
          </p:txBody>
        </p:sp>
        <p:sp>
          <p:nvSpPr>
            <p:cNvPr id="46" name="Ellipse 46"/>
            <p:cNvSpPr/>
            <p:nvPr/>
          </p:nvSpPr>
          <p:spPr>
            <a:xfrm>
              <a:off x="9172575" y="2952750"/>
              <a:ext cx="285750" cy="285750"/>
            </a:xfrm>
            <a:prstGeom prst="ellipse">
              <a:avLst/>
            </a:prstGeom>
            <a:solidFill>
              <a:srgbClr val="23A1E0"/>
            </a:solidFill>
            <a:ln>
              <a:noFill/>
            </a:ln>
          </p:spPr>
          <p:txBody>
            <a:bodyPr/>
            <a:lstStyle/>
            <a:p>
              <a:endParaRPr lang="zh-CN" altLang="en-US"/>
            </a:p>
          </p:txBody>
        </p:sp>
        <p:sp>
          <p:nvSpPr>
            <p:cNvPr id="47" name="TextBox 47"/>
            <p:cNvSpPr txBox="1"/>
            <p:nvPr/>
          </p:nvSpPr>
          <p:spPr>
            <a:xfrm>
              <a:off x="926936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48" name="TextBox 48"/>
            <p:cNvSpPr txBox="1"/>
            <p:nvPr/>
          </p:nvSpPr>
          <p:spPr>
            <a:xfrm>
              <a:off x="8924233" y="3199924"/>
              <a:ext cx="782435"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Required KG</a:t>
              </a:r>
            </a:p>
          </p:txBody>
        </p:sp>
        <p:sp>
          <p:nvSpPr>
            <p:cNvPr id="49" name="TextBox 49"/>
            <p:cNvSpPr txBox="1"/>
            <p:nvPr/>
          </p:nvSpPr>
          <p:spPr>
            <a:xfrm>
              <a:off x="9094879" y="3380899"/>
              <a:ext cx="441142"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object</a:t>
              </a:r>
            </a:p>
          </p:txBody>
        </p:sp>
        <p:sp>
          <p:nvSpPr>
            <p:cNvPr id="50" name="TextBox 50"/>
            <p:cNvSpPr txBox="1"/>
            <p:nvPr/>
          </p:nvSpPr>
          <p:spPr>
            <a:xfrm>
              <a:off x="8941297" y="3561874"/>
              <a:ext cx="748305"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unavailable</a:t>
              </a:r>
            </a:p>
          </p:txBody>
        </p:sp>
        <p:sp>
          <p:nvSpPr>
            <p:cNvPr id="51" name="Polygon 51"/>
            <p:cNvSpPr/>
            <p:nvPr/>
          </p:nvSpPr>
          <p:spPr>
            <a:xfrm>
              <a:off x="1013460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52" name="Rectangle 52"/>
            <p:cNvSpPr/>
            <p:nvPr/>
          </p:nvSpPr>
          <p:spPr>
            <a:xfrm>
              <a:off x="10439400" y="2895600"/>
              <a:ext cx="1162050" cy="1123950"/>
            </a:xfrm>
            <a:prstGeom prst="rect">
              <a:avLst/>
            </a:prstGeom>
            <a:solidFill>
              <a:srgbClr val="002D4C"/>
            </a:solidFill>
            <a:ln>
              <a:noFill/>
            </a:ln>
          </p:spPr>
          <p:txBody>
            <a:bodyPr/>
            <a:lstStyle/>
            <a:p>
              <a:endParaRPr lang="zh-CN" altLang="en-US"/>
            </a:p>
          </p:txBody>
        </p:sp>
        <p:sp>
          <p:nvSpPr>
            <p:cNvPr id="53" name="Ellipse 53"/>
            <p:cNvSpPr/>
            <p:nvPr/>
          </p:nvSpPr>
          <p:spPr>
            <a:xfrm>
              <a:off x="10877550" y="2952750"/>
              <a:ext cx="285750" cy="285750"/>
            </a:xfrm>
            <a:prstGeom prst="ellipse">
              <a:avLst/>
            </a:prstGeom>
            <a:solidFill>
              <a:srgbClr val="23A1E0"/>
            </a:solidFill>
            <a:ln>
              <a:noFill/>
            </a:ln>
          </p:spPr>
          <p:txBody>
            <a:bodyPr/>
            <a:lstStyle/>
            <a:p>
              <a:endParaRPr lang="zh-CN" altLang="en-US"/>
            </a:p>
          </p:txBody>
        </p:sp>
        <p:sp>
          <p:nvSpPr>
            <p:cNvPr id="54" name="TextBox 54"/>
            <p:cNvSpPr txBox="1"/>
            <p:nvPr/>
          </p:nvSpPr>
          <p:spPr>
            <a:xfrm>
              <a:off x="1097434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55" name="TextBox 55"/>
            <p:cNvSpPr txBox="1"/>
            <p:nvPr/>
          </p:nvSpPr>
          <p:spPr>
            <a:xfrm>
              <a:off x="10628518" y="3363278"/>
              <a:ext cx="78381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Unanswer-</a:t>
              </a:r>
            </a:p>
          </p:txBody>
        </p:sp>
        <p:sp>
          <p:nvSpPr>
            <p:cNvPr id="56" name="TextBox 56"/>
            <p:cNvSpPr txBox="1"/>
            <p:nvPr/>
          </p:nvSpPr>
          <p:spPr>
            <a:xfrm>
              <a:off x="10863747" y="3563302"/>
              <a:ext cx="31335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able</a:t>
              </a:r>
            </a:p>
          </p:txBody>
        </p:sp>
      </p:grpSp>
      <p:grpSp>
        <p:nvGrpSpPr>
          <p:cNvPr id="62" name="Group 62"/>
          <p:cNvGrpSpPr/>
          <p:nvPr/>
        </p:nvGrpSpPr>
        <p:grpSpPr>
          <a:xfrm>
            <a:off x="4953000" y="4419600"/>
            <a:ext cx="6648450" cy="952500"/>
            <a:chOff x="4953000" y="4419600"/>
            <a:chExt cx="6648450" cy="952500"/>
          </a:xfrm>
        </p:grpSpPr>
        <p:sp>
          <p:nvSpPr>
            <p:cNvPr id="58" name="Rectangle 58"/>
            <p:cNvSpPr/>
            <p:nvPr/>
          </p:nvSpPr>
          <p:spPr>
            <a:xfrm>
              <a:off x="4953000" y="4419600"/>
              <a:ext cx="6648450" cy="952500"/>
            </a:xfrm>
            <a:prstGeom prst="rect">
              <a:avLst/>
            </a:prstGeom>
            <a:solidFill>
              <a:srgbClr val="002D4C"/>
            </a:solidFill>
            <a:ln>
              <a:noFill/>
            </a:ln>
          </p:spPr>
          <p:txBody>
            <a:bodyPr/>
            <a:lstStyle/>
            <a:p>
              <a:endParaRPr lang="zh-CN" altLang="en-US"/>
            </a:p>
          </p:txBody>
        </p:sp>
        <p:sp>
          <p:nvSpPr>
            <p:cNvPr id="59" name="TextBox 59"/>
            <p:cNvSpPr txBox="1"/>
            <p:nvPr/>
          </p:nvSpPr>
          <p:spPr>
            <a:xfrm>
              <a:off x="5170170" y="4598670"/>
              <a:ext cx="1547651"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AGENT BEHAVIOR</a:t>
              </a:r>
            </a:p>
          </p:txBody>
        </p:sp>
        <p:sp>
          <p:nvSpPr>
            <p:cNvPr id="60" name="TextBox 60"/>
            <p:cNvSpPr txBox="1"/>
            <p:nvPr/>
          </p:nvSpPr>
          <p:spPr>
            <a:xfrm>
              <a:off x="5165408" y="4872514"/>
              <a:ext cx="5379553"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Entity lookup → missing-entity detection → invalid-LF recognition</a:t>
              </a:r>
            </a:p>
          </p:txBody>
        </p:sp>
        <p:sp>
          <p:nvSpPr>
            <p:cNvPr id="61" name="TextBox 61"/>
            <p:cNvSpPr txBox="1"/>
            <p:nvPr/>
          </p:nvSpPr>
          <p:spPr>
            <a:xfrm>
              <a:off x="5165408" y="5110639"/>
              <a:ext cx="2820733"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 answerability decision → refusal</a:t>
              </a:r>
            </a:p>
          </p:txBody>
        </p:sp>
      </p:grpSp>
      <p:grpSp>
        <p:nvGrpSpPr>
          <p:cNvPr id="67" name="Group 67"/>
          <p:cNvGrpSpPr/>
          <p:nvPr/>
        </p:nvGrpSpPr>
        <p:grpSpPr>
          <a:xfrm>
            <a:off x="495300" y="6167438"/>
            <a:ext cx="11201400" cy="590550"/>
            <a:chOff x="495300" y="6167438"/>
            <a:chExt cx="11201400" cy="590550"/>
          </a:xfrm>
        </p:grpSpPr>
        <p:sp>
          <p:nvSpPr>
            <p:cNvPr id="63" name="TextBox 63"/>
            <p:cNvSpPr txBox="1"/>
            <p:nvPr/>
          </p:nvSpPr>
          <p:spPr>
            <a:xfrm>
              <a:off x="581025" y="6167438"/>
              <a:ext cx="3139440"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GrailQAbility Dataset Analysis · Case 2 — Entity Deletion</a:t>
              </a:r>
            </a:p>
          </p:txBody>
        </p:sp>
        <p:sp>
          <p:nvSpPr>
            <p:cNvPr id="64" name="Line 64"/>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65" name="TextBox 65"/>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66" name="TextBox 66"/>
            <p:cNvSpPr txBox="1"/>
            <p:nvPr/>
          </p:nvSpPr>
          <p:spPr>
            <a:xfrm>
              <a:off x="10887075" y="6605588"/>
              <a:ext cx="79058"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11</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slide(fromBottom)">
                                      <p:cBhvr>
                                        <p:cTn id="11" dur="400"/>
                                        <p:tgtEl>
                                          <p:spTgt spid="2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image">
                                      <p:cBhvr>
                                        <p:cTn id="15" dur="400"/>
                                        <p:tgtEl>
                                          <p:spTgt spid="57"/>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fade">
                                      <p:cBhvr>
                                        <p:cTn id="19"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9" grpId="0"/>
      <p:bldP spid="57" grpId="0"/>
      <p:bldP spid="6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0" y="0"/>
            <a:ext cx="7679627" cy="6858000"/>
            <a:chOff x="0" y="0"/>
            <a:chExt cx="7679627" cy="6858000"/>
          </a:xfrm>
        </p:grpSpPr>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48640" y="410528"/>
              <a:ext cx="6321552"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GrailQAbility Case 3: Relation Deletion</a:t>
              </a:r>
            </a:p>
          </p:txBody>
        </p:sp>
        <p:sp>
          <p:nvSpPr>
            <p:cNvPr id="5" name="TextBox 5"/>
            <p:cNvSpPr txBox="1"/>
            <p:nvPr/>
          </p:nvSpPr>
          <p:spPr>
            <a:xfrm>
              <a:off x="574358" y="862489"/>
              <a:ext cx="7105269"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All associated facts and the relation itself are removed from the available KB schema</a:t>
              </a:r>
            </a:p>
          </p:txBody>
        </p:sp>
      </p:grpSp>
      <p:grpSp>
        <p:nvGrpSpPr>
          <p:cNvPr id="16" name="Group 16"/>
          <p:cNvGrpSpPr/>
          <p:nvPr/>
        </p:nvGrpSpPr>
        <p:grpSpPr>
          <a:xfrm>
            <a:off x="590550" y="1219200"/>
            <a:ext cx="11010900" cy="704850"/>
            <a:chOff x="590550" y="1219200"/>
            <a:chExt cx="11010900" cy="704850"/>
          </a:xfrm>
        </p:grpSpPr>
        <p:sp>
          <p:nvSpPr>
            <p:cNvPr id="7" name="Rectangle 7"/>
            <p:cNvSpPr/>
            <p:nvPr/>
          </p:nvSpPr>
          <p:spPr>
            <a:xfrm>
              <a:off x="590550" y="1219200"/>
              <a:ext cx="11010900" cy="704850"/>
            </a:xfrm>
            <a:prstGeom prst="rect">
              <a:avLst/>
            </a:prstGeom>
            <a:solidFill>
              <a:srgbClr val="EAF6F4"/>
            </a:solidFill>
            <a:ln w="14288">
              <a:solidFill>
                <a:srgbClr val="009682"/>
              </a:solidFill>
            </a:ln>
          </p:spPr>
          <p:txBody>
            <a:bodyPr/>
            <a:lstStyle/>
            <a:p>
              <a:endParaRPr lang="zh-CN" altLang="en-US"/>
            </a:p>
          </p:txBody>
        </p:sp>
        <p:sp>
          <p:nvSpPr>
            <p:cNvPr id="8" name="TextBox 8"/>
            <p:cNvSpPr txBox="1"/>
            <p:nvPr/>
          </p:nvSpPr>
          <p:spPr>
            <a:xfrm>
              <a:off x="768668" y="1361599"/>
              <a:ext cx="645918"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QUESTION</a:t>
              </a:r>
            </a:p>
          </p:txBody>
        </p:sp>
        <p:sp>
          <p:nvSpPr>
            <p:cNvPr id="9" name="TextBox 9"/>
            <p:cNvSpPr txBox="1"/>
            <p:nvPr/>
          </p:nvSpPr>
          <p:spPr>
            <a:xfrm>
              <a:off x="763905" y="1597342"/>
              <a:ext cx="2626614" cy="274320"/>
            </a:xfrm>
            <a:prstGeom prst="rect">
              <a:avLst/>
            </a:prstGeom>
            <a:noFill/>
            <a:ln>
              <a:noFill/>
            </a:ln>
          </p:spPr>
          <p:txBody>
            <a:bodyPr wrap="none" lIns="0" tIns="0" rIns="0" bIns="0" anchor="t" anchorCtr="0">
              <a:spAutoFit/>
            </a:bodyPr>
            <a:lstStyle/>
            <a:p>
              <a:pPr algn="l"/>
              <a:r>
                <a:rPr lang="zh-CN" sz="1350" dirty="0">
                  <a:solidFill>
                    <a:srgbClr val="002D4C"/>
                  </a:solidFill>
                  <a:latin typeface="Arial"/>
                  <a:ea typeface="Microsoft YaHei"/>
                  <a:cs typeface="Arial"/>
                </a:rPr>
                <a:t>Which country is Stanford in?</a:t>
              </a:r>
            </a:p>
          </p:txBody>
        </p:sp>
        <p:sp>
          <p:nvSpPr>
            <p:cNvPr id="10" name="Rectangle 10"/>
            <p:cNvSpPr/>
            <p:nvPr/>
          </p:nvSpPr>
          <p:spPr>
            <a:xfrm>
              <a:off x="8972550" y="1362075"/>
              <a:ext cx="1104900" cy="400050"/>
            </a:xfrm>
            <a:prstGeom prst="rect">
              <a:avLst/>
            </a:prstGeom>
            <a:solidFill>
              <a:srgbClr val="F4F7F8"/>
            </a:solidFill>
            <a:ln w="9525">
              <a:solidFill>
                <a:srgbClr val="DAE1E6"/>
              </a:solidFill>
            </a:ln>
          </p:spPr>
          <p:txBody>
            <a:bodyPr/>
            <a:lstStyle/>
            <a:p>
              <a:endParaRPr lang="zh-CN" altLang="en-US"/>
            </a:p>
          </p:txBody>
        </p:sp>
        <p:sp>
          <p:nvSpPr>
            <p:cNvPr id="11" name="TextBox 11"/>
            <p:cNvSpPr txBox="1"/>
            <p:nvPr/>
          </p:nvSpPr>
          <p:spPr>
            <a:xfrm>
              <a:off x="9218715" y="1451134"/>
              <a:ext cx="612569" cy="137160"/>
            </a:xfrm>
            <a:prstGeom prst="rect">
              <a:avLst/>
            </a:prstGeom>
            <a:noFill/>
            <a:ln>
              <a:noFill/>
            </a:ln>
          </p:spPr>
          <p:txBody>
            <a:bodyPr wrap="none" lIns="0" tIns="0" rIns="0" bIns="0" anchor="t" anchorCtr="0">
              <a:spAutoFit/>
            </a:bodyPr>
            <a:lstStyle/>
            <a:p>
              <a:pPr algn="ctr"/>
              <a:r>
                <a:rPr lang="zh-CN" sz="675" b="1" dirty="0">
                  <a:solidFill>
                    <a:srgbClr val="768993"/>
                  </a:solidFill>
                  <a:latin typeface="Arial"/>
                  <a:ea typeface="Microsoft YaHei"/>
                  <a:cs typeface="Arial"/>
                </a:rPr>
                <a:t>IDEAL ANSWER</a:t>
              </a:r>
            </a:p>
          </p:txBody>
        </p:sp>
        <p:sp>
          <p:nvSpPr>
            <p:cNvPr id="12" name="TextBox 12"/>
            <p:cNvSpPr txBox="1"/>
            <p:nvPr/>
          </p:nvSpPr>
          <p:spPr>
            <a:xfrm>
              <a:off x="9380759" y="1583531"/>
              <a:ext cx="28848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USA</a:t>
              </a:r>
            </a:p>
          </p:txBody>
        </p:sp>
        <p:sp>
          <p:nvSpPr>
            <p:cNvPr id="13" name="Rectangle 13"/>
            <p:cNvSpPr/>
            <p:nvPr/>
          </p:nvSpPr>
          <p:spPr>
            <a:xfrm>
              <a:off x="10153650" y="1362075"/>
              <a:ext cx="1200150" cy="400050"/>
            </a:xfrm>
            <a:prstGeom prst="rect">
              <a:avLst/>
            </a:prstGeom>
            <a:solidFill>
              <a:srgbClr val="002D4C"/>
            </a:solidFill>
            <a:ln>
              <a:noFill/>
            </a:ln>
          </p:spPr>
          <p:txBody>
            <a:bodyPr/>
            <a:lstStyle/>
            <a:p>
              <a:endParaRPr lang="zh-CN" altLang="en-US"/>
            </a:p>
          </p:txBody>
        </p:sp>
        <p:sp>
          <p:nvSpPr>
            <p:cNvPr id="14" name="TextBox 14"/>
            <p:cNvSpPr txBox="1"/>
            <p:nvPr/>
          </p:nvSpPr>
          <p:spPr>
            <a:xfrm>
              <a:off x="10456891" y="1441609"/>
              <a:ext cx="593667"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AVAILABLE KB</a:t>
              </a:r>
            </a:p>
          </p:txBody>
        </p:sp>
        <p:sp>
          <p:nvSpPr>
            <p:cNvPr id="15" name="TextBox 15"/>
            <p:cNvSpPr txBox="1"/>
            <p:nvPr/>
          </p:nvSpPr>
          <p:spPr>
            <a:xfrm>
              <a:off x="10357947" y="1598295"/>
              <a:ext cx="79155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Consolas"/>
                  <a:ea typeface="Microsoft YaHei"/>
                  <a:cs typeface="Consolas"/>
                </a:rPr>
                <a:t>LF=NK · A=NA</a:t>
              </a:r>
            </a:p>
          </p:txBody>
        </p:sp>
      </p:grpSp>
      <p:grpSp>
        <p:nvGrpSpPr>
          <p:cNvPr id="31" name="Group 31"/>
          <p:cNvGrpSpPr/>
          <p:nvPr/>
        </p:nvGrpSpPr>
        <p:grpSpPr>
          <a:xfrm>
            <a:off x="590550" y="2114550"/>
            <a:ext cx="4000500" cy="3269456"/>
            <a:chOff x="590550" y="2114550"/>
            <a:chExt cx="4000500" cy="3269456"/>
          </a:xfrm>
        </p:grpSpPr>
        <p:sp>
          <p:nvSpPr>
            <p:cNvPr id="17" name="Rectangle 17"/>
            <p:cNvSpPr/>
            <p:nvPr/>
          </p:nvSpPr>
          <p:spPr>
            <a:xfrm>
              <a:off x="590550" y="2114550"/>
              <a:ext cx="4000500" cy="3257550"/>
            </a:xfrm>
            <a:prstGeom prst="rect">
              <a:avLst/>
            </a:prstGeom>
            <a:solidFill>
              <a:srgbClr val="F4F7F8"/>
            </a:solidFill>
            <a:ln w="14288">
              <a:solidFill>
                <a:srgbClr val="DAE1E6"/>
              </a:solidFill>
            </a:ln>
          </p:spPr>
          <p:txBody>
            <a:bodyPr/>
            <a:lstStyle/>
            <a:p>
              <a:endParaRPr lang="zh-CN" altLang="en-US"/>
            </a:p>
          </p:txBody>
        </p:sp>
        <p:sp>
          <p:nvSpPr>
            <p:cNvPr id="18" name="Rectangle 18"/>
            <p:cNvSpPr/>
            <p:nvPr/>
          </p:nvSpPr>
          <p:spPr>
            <a:xfrm>
              <a:off x="590550" y="2114550"/>
              <a:ext cx="4000500" cy="400050"/>
            </a:xfrm>
            <a:prstGeom prst="rect">
              <a:avLst/>
            </a:prstGeom>
            <a:solidFill>
              <a:srgbClr val="002D4C"/>
            </a:solidFill>
            <a:ln>
              <a:noFill/>
            </a:ln>
          </p:spPr>
          <p:txBody>
            <a:bodyPr/>
            <a:lstStyle/>
            <a:p>
              <a:endParaRPr lang="zh-CN" altLang="en-US"/>
            </a:p>
          </p:txBody>
        </p:sp>
        <p:sp>
          <p:nvSpPr>
            <p:cNvPr id="19" name="TextBox 19"/>
            <p:cNvSpPr txBox="1"/>
            <p:nvPr/>
          </p:nvSpPr>
          <p:spPr>
            <a:xfrm>
              <a:off x="764858" y="2234089"/>
              <a:ext cx="2594180"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Deletion metadata and effect</a:t>
              </a:r>
            </a:p>
          </p:txBody>
        </p:sp>
        <p:sp>
          <p:nvSpPr>
            <p:cNvPr id="20" name="TextBox 20"/>
            <p:cNvSpPr txBox="1"/>
            <p:nvPr/>
          </p:nvSpPr>
          <p:spPr>
            <a:xfrm>
              <a:off x="769620" y="2703195"/>
              <a:ext cx="1232611"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DELETED KB ELEMENT</a:t>
              </a:r>
            </a:p>
          </p:txBody>
        </p:sp>
        <p:sp>
          <p:nvSpPr>
            <p:cNvPr id="21" name="TextBox 21"/>
            <p:cNvSpPr txBox="1"/>
            <p:nvPr/>
          </p:nvSpPr>
          <p:spPr>
            <a:xfrm>
              <a:off x="764858" y="2929414"/>
              <a:ext cx="880366" cy="259080"/>
            </a:xfrm>
            <a:prstGeom prst="rect">
              <a:avLst/>
            </a:prstGeom>
            <a:noFill/>
            <a:ln>
              <a:noFill/>
            </a:ln>
          </p:spPr>
          <p:txBody>
            <a:bodyPr wrap="none" lIns="0" tIns="0" rIns="0" bIns="0" anchor="t" anchorCtr="0">
              <a:spAutoFit/>
            </a:bodyPr>
            <a:lstStyle/>
            <a:p>
              <a:pPr algn="l"/>
              <a:r>
                <a:rPr lang="zh-CN" sz="1275" b="1" dirty="0">
                  <a:solidFill>
                    <a:srgbClr val="005A50"/>
                  </a:solidFill>
                  <a:latin typeface="Consolas"/>
                  <a:ea typeface="Microsoft YaHei"/>
                  <a:cs typeface="Consolas"/>
                </a:rPr>
                <a:t>located in</a:t>
              </a:r>
            </a:p>
          </p:txBody>
        </p:sp>
        <p:sp>
          <p:nvSpPr>
            <p:cNvPr id="22" name="Line 22"/>
            <p:cNvSpPr/>
            <p:nvPr/>
          </p:nvSpPr>
          <p:spPr>
            <a:xfrm>
              <a:off x="781050" y="327660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3" name="TextBox 23"/>
            <p:cNvSpPr txBox="1"/>
            <p:nvPr/>
          </p:nvSpPr>
          <p:spPr>
            <a:xfrm>
              <a:off x="769620" y="3427095"/>
              <a:ext cx="1182205"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NOT ONLY ONE FACT</a:t>
              </a:r>
            </a:p>
          </p:txBody>
        </p:sp>
        <p:sp>
          <p:nvSpPr>
            <p:cNvPr id="24" name="TextBox 24"/>
            <p:cNvSpPr txBox="1"/>
            <p:nvPr/>
          </p:nvSpPr>
          <p:spPr>
            <a:xfrm>
              <a:off x="769620" y="3693795"/>
              <a:ext cx="1655064" cy="182880"/>
            </a:xfrm>
            <a:prstGeom prst="rect">
              <a:avLst/>
            </a:prstGeom>
            <a:noFill/>
            <a:ln>
              <a:noFill/>
            </a:ln>
          </p:spPr>
          <p:txBody>
            <a:bodyPr wrap="none" lIns="0" tIns="0" rIns="0" bIns="0" anchor="t" anchorCtr="0">
              <a:spAutoFit/>
            </a:bodyPr>
            <a:lstStyle/>
            <a:p>
              <a:pPr algn="l"/>
              <a:r>
                <a:rPr lang="zh-CN" sz="900" dirty="0">
                  <a:solidFill>
                    <a:srgbClr val="002D4C"/>
                  </a:solidFill>
                  <a:latin typeface="Consolas"/>
                  <a:ea typeface="Microsoft YaHei"/>
                  <a:cs typeface="Consolas"/>
                </a:rPr>
                <a:t>(Stanford, located in, USA)</a:t>
              </a:r>
            </a:p>
          </p:txBody>
        </p:sp>
        <p:sp>
          <p:nvSpPr>
            <p:cNvPr id="25" name="TextBox 25"/>
            <p:cNvSpPr txBox="1"/>
            <p:nvPr/>
          </p:nvSpPr>
          <p:spPr>
            <a:xfrm>
              <a:off x="769620" y="4036695"/>
              <a:ext cx="1730373"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RELATION DELETION REMOVES</a:t>
              </a:r>
            </a:p>
          </p:txBody>
        </p:sp>
        <p:sp>
          <p:nvSpPr>
            <p:cNvPr id="26" name="TextBox 26"/>
            <p:cNvSpPr txBox="1"/>
            <p:nvPr/>
          </p:nvSpPr>
          <p:spPr>
            <a:xfrm>
              <a:off x="769620" y="4303395"/>
              <a:ext cx="1865090" cy="182880"/>
            </a:xfrm>
            <a:prstGeom prst="rect">
              <a:avLst/>
            </a:prstGeom>
            <a:noFill/>
            <a:ln>
              <a:noFill/>
            </a:ln>
          </p:spPr>
          <p:txBody>
            <a:bodyPr wrap="none" lIns="0" tIns="0" rIns="0" bIns="0" anchor="t" anchorCtr="0">
              <a:spAutoFit/>
            </a:bodyPr>
            <a:lstStyle/>
            <a:p>
              <a:pPr algn="l"/>
              <a:r>
                <a:rPr lang="zh-CN" sz="900" dirty="0">
                  <a:solidFill>
                    <a:srgbClr val="005A50"/>
                  </a:solidFill>
                  <a:latin typeface="Consolas"/>
                  <a:ea typeface="Microsoft YaHei"/>
                  <a:cs typeface="Consolas"/>
                </a:rPr>
                <a:t>all (..., located in, ...) facts</a:t>
              </a:r>
            </a:p>
          </p:txBody>
        </p:sp>
        <p:sp>
          <p:nvSpPr>
            <p:cNvPr id="27" name="TextBox 27"/>
            <p:cNvSpPr txBox="1"/>
            <p:nvPr/>
          </p:nvSpPr>
          <p:spPr>
            <a:xfrm>
              <a:off x="769620" y="4512945"/>
              <a:ext cx="1877092" cy="182880"/>
            </a:xfrm>
            <a:prstGeom prst="rect">
              <a:avLst/>
            </a:prstGeom>
            <a:noFill/>
            <a:ln>
              <a:noFill/>
            </a:ln>
          </p:spPr>
          <p:txBody>
            <a:bodyPr wrap="none" lIns="0" tIns="0" rIns="0" bIns="0" anchor="t" anchorCtr="0">
              <a:spAutoFit/>
            </a:bodyPr>
            <a:lstStyle/>
            <a:p>
              <a:pPr algn="l"/>
              <a:r>
                <a:rPr lang="zh-CN" sz="900" dirty="0">
                  <a:solidFill>
                    <a:srgbClr val="005A50"/>
                  </a:solidFill>
                  <a:latin typeface="Consolas"/>
                  <a:ea typeface="Microsoft YaHei"/>
                  <a:cs typeface="Consolas"/>
                </a:rPr>
                <a:t>located in relation from schema</a:t>
              </a:r>
            </a:p>
          </p:txBody>
        </p:sp>
        <p:sp>
          <p:nvSpPr>
            <p:cNvPr id="28" name="Line 28"/>
            <p:cNvSpPr/>
            <p:nvPr/>
          </p:nvSpPr>
          <p:spPr>
            <a:xfrm>
              <a:off x="781050" y="480060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9" name="TextBox 29"/>
            <p:cNvSpPr txBox="1"/>
            <p:nvPr/>
          </p:nvSpPr>
          <p:spPr>
            <a:xfrm>
              <a:off x="769620" y="4951095"/>
              <a:ext cx="1547651"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UNANSWERABILITY PATTERN</a:t>
              </a:r>
            </a:p>
          </p:txBody>
        </p:sp>
        <p:sp>
          <p:nvSpPr>
            <p:cNvPr id="30" name="TextBox 30"/>
            <p:cNvSpPr txBox="1"/>
            <p:nvPr/>
          </p:nvSpPr>
          <p:spPr>
            <a:xfrm>
              <a:off x="766762" y="5155406"/>
              <a:ext cx="1792796"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Arial"/>
                  <a:ea typeface="Microsoft YaHei"/>
                  <a:cs typeface="Arial"/>
                </a:rPr>
                <a:t>Schema incompleteness</a:t>
              </a:r>
            </a:p>
          </p:txBody>
        </p:sp>
      </p:grpSp>
      <p:grpSp>
        <p:nvGrpSpPr>
          <p:cNvPr id="66" name="Group 66"/>
          <p:cNvGrpSpPr/>
          <p:nvPr/>
        </p:nvGrpSpPr>
        <p:grpSpPr>
          <a:xfrm>
            <a:off x="4936808" y="2234089"/>
            <a:ext cx="6664642" cy="1785461"/>
            <a:chOff x="4936808" y="2234089"/>
            <a:chExt cx="6664642" cy="1785461"/>
          </a:xfrm>
        </p:grpSpPr>
        <p:sp>
          <p:nvSpPr>
            <p:cNvPr id="32" name="TextBox 32"/>
            <p:cNvSpPr txBox="1"/>
            <p:nvPr/>
          </p:nvSpPr>
          <p:spPr>
            <a:xfrm>
              <a:off x="4936808" y="2234089"/>
              <a:ext cx="2504919"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Construction interpretation</a:t>
              </a:r>
            </a:p>
          </p:txBody>
        </p:sp>
        <p:sp>
          <p:nvSpPr>
            <p:cNvPr id="33" name="Line 33"/>
            <p:cNvSpPr/>
            <p:nvPr/>
          </p:nvSpPr>
          <p:spPr>
            <a:xfrm>
              <a:off x="4953000" y="2524125"/>
              <a:ext cx="6648450" cy="9525"/>
            </a:xfrm>
            <a:custGeom>
              <a:avLst/>
              <a:gdLst/>
              <a:ahLst/>
              <a:cxnLst/>
              <a:rect l="l" t="t" r="r" b="b"/>
              <a:pathLst>
                <a:path w="6648450" h="9525">
                  <a:moveTo>
                    <a:pt x="0" y="0"/>
                  </a:moveTo>
                  <a:lnTo>
                    <a:pt x="6648450" y="0"/>
                  </a:lnTo>
                </a:path>
              </a:pathLst>
            </a:custGeom>
            <a:noFill/>
            <a:ln w="9525">
              <a:solidFill>
                <a:srgbClr val="DAE1E6"/>
              </a:solidFill>
            </a:ln>
          </p:spPr>
          <p:txBody>
            <a:bodyPr/>
            <a:lstStyle/>
            <a:p>
              <a:endParaRPr lang="zh-CN" altLang="en-US"/>
            </a:p>
          </p:txBody>
        </p:sp>
        <p:sp>
          <p:nvSpPr>
            <p:cNvPr id="34" name="Rectangle 34"/>
            <p:cNvSpPr/>
            <p:nvPr/>
          </p:nvSpPr>
          <p:spPr>
            <a:xfrm>
              <a:off x="4953000" y="2895600"/>
              <a:ext cx="1123950" cy="1123950"/>
            </a:xfrm>
            <a:prstGeom prst="rect">
              <a:avLst/>
            </a:prstGeom>
            <a:solidFill>
              <a:srgbClr val="F4F7F8"/>
            </a:solidFill>
            <a:ln w="14288">
              <a:solidFill>
                <a:srgbClr val="DAE1E6"/>
              </a:solidFill>
            </a:ln>
          </p:spPr>
          <p:txBody>
            <a:bodyPr/>
            <a:lstStyle/>
            <a:p>
              <a:endParaRPr lang="zh-CN" altLang="en-US"/>
            </a:p>
          </p:txBody>
        </p:sp>
        <p:sp>
          <p:nvSpPr>
            <p:cNvPr id="35" name="Ellipse 35"/>
            <p:cNvSpPr/>
            <p:nvPr/>
          </p:nvSpPr>
          <p:spPr>
            <a:xfrm>
              <a:off x="5372100" y="2952750"/>
              <a:ext cx="285750" cy="285750"/>
            </a:xfrm>
            <a:prstGeom prst="ellipse">
              <a:avLst/>
            </a:prstGeom>
            <a:solidFill>
              <a:srgbClr val="002D4C"/>
            </a:solidFill>
            <a:ln>
              <a:noFill/>
            </a:ln>
          </p:spPr>
          <p:txBody>
            <a:bodyPr/>
            <a:lstStyle/>
            <a:p>
              <a:endParaRPr lang="zh-CN" altLang="en-US"/>
            </a:p>
          </p:txBody>
        </p:sp>
        <p:sp>
          <p:nvSpPr>
            <p:cNvPr id="36" name="TextBox 36"/>
            <p:cNvSpPr txBox="1"/>
            <p:nvPr/>
          </p:nvSpPr>
          <p:spPr>
            <a:xfrm>
              <a:off x="5484643" y="3046095"/>
              <a:ext cx="606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37" name="TextBox 37"/>
            <p:cNvSpPr txBox="1"/>
            <p:nvPr/>
          </p:nvSpPr>
          <p:spPr>
            <a:xfrm>
              <a:off x="5327416" y="3355181"/>
              <a:ext cx="375118"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Keep</a:t>
              </a:r>
            </a:p>
          </p:txBody>
        </p:sp>
        <p:sp>
          <p:nvSpPr>
            <p:cNvPr id="38" name="TextBox 38"/>
            <p:cNvSpPr txBox="1"/>
            <p:nvPr/>
          </p:nvSpPr>
          <p:spPr>
            <a:xfrm>
              <a:off x="5173834" y="3555206"/>
              <a:ext cx="682282"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question</a:t>
              </a:r>
            </a:p>
          </p:txBody>
        </p:sp>
        <p:sp>
          <p:nvSpPr>
            <p:cNvPr id="39" name="Polygon 39"/>
            <p:cNvSpPr/>
            <p:nvPr/>
          </p:nvSpPr>
          <p:spPr>
            <a:xfrm>
              <a:off x="61912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0" name="Rectangle 40"/>
            <p:cNvSpPr/>
            <p:nvPr/>
          </p:nvSpPr>
          <p:spPr>
            <a:xfrm>
              <a:off x="6496050" y="2895600"/>
              <a:ext cx="1123950" cy="1123950"/>
            </a:xfrm>
            <a:prstGeom prst="rect">
              <a:avLst/>
            </a:prstGeom>
            <a:solidFill>
              <a:srgbClr val="EAF6F4"/>
            </a:solidFill>
            <a:ln w="14288">
              <a:solidFill>
                <a:srgbClr val="DAE1E6"/>
              </a:solidFill>
            </a:ln>
          </p:spPr>
          <p:txBody>
            <a:bodyPr/>
            <a:lstStyle/>
            <a:p>
              <a:endParaRPr lang="zh-CN" altLang="en-US"/>
            </a:p>
          </p:txBody>
        </p:sp>
        <p:sp>
          <p:nvSpPr>
            <p:cNvPr id="41" name="Ellipse 41"/>
            <p:cNvSpPr/>
            <p:nvPr/>
          </p:nvSpPr>
          <p:spPr>
            <a:xfrm>
              <a:off x="6915150" y="2952750"/>
              <a:ext cx="285750" cy="285750"/>
            </a:xfrm>
            <a:prstGeom prst="ellipse">
              <a:avLst/>
            </a:prstGeom>
            <a:solidFill>
              <a:srgbClr val="009682"/>
            </a:solidFill>
            <a:ln>
              <a:noFill/>
            </a:ln>
          </p:spPr>
          <p:txBody>
            <a:bodyPr/>
            <a:lstStyle/>
            <a:p>
              <a:endParaRPr lang="zh-CN" altLang="en-US"/>
            </a:p>
          </p:txBody>
        </p:sp>
        <p:sp>
          <p:nvSpPr>
            <p:cNvPr id="42" name="TextBox 42"/>
            <p:cNvSpPr txBox="1"/>
            <p:nvPr/>
          </p:nvSpPr>
          <p:spPr>
            <a:xfrm>
              <a:off x="701194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43" name="TextBox 43"/>
            <p:cNvSpPr txBox="1"/>
            <p:nvPr/>
          </p:nvSpPr>
          <p:spPr>
            <a:xfrm>
              <a:off x="6837454" y="3199924"/>
              <a:ext cx="441142"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Delete</a:t>
              </a:r>
            </a:p>
          </p:txBody>
        </p:sp>
        <p:sp>
          <p:nvSpPr>
            <p:cNvPr id="44" name="TextBox 44"/>
            <p:cNvSpPr txBox="1"/>
            <p:nvPr/>
          </p:nvSpPr>
          <p:spPr>
            <a:xfrm>
              <a:off x="6687285" y="3380899"/>
              <a:ext cx="741480"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associated</a:t>
              </a:r>
            </a:p>
          </p:txBody>
        </p:sp>
        <p:sp>
          <p:nvSpPr>
            <p:cNvPr id="45" name="TextBox 45"/>
            <p:cNvSpPr txBox="1"/>
            <p:nvPr/>
          </p:nvSpPr>
          <p:spPr>
            <a:xfrm>
              <a:off x="6857932" y="3561874"/>
              <a:ext cx="400187"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facts</a:t>
              </a:r>
            </a:p>
          </p:txBody>
        </p:sp>
        <p:sp>
          <p:nvSpPr>
            <p:cNvPr id="46" name="Polygon 46"/>
            <p:cNvSpPr/>
            <p:nvPr/>
          </p:nvSpPr>
          <p:spPr>
            <a:xfrm>
              <a:off x="773430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7" name="Rectangle 47"/>
            <p:cNvSpPr/>
            <p:nvPr/>
          </p:nvSpPr>
          <p:spPr>
            <a:xfrm>
              <a:off x="8039100" y="2895600"/>
              <a:ext cx="1123950" cy="1123950"/>
            </a:xfrm>
            <a:prstGeom prst="rect">
              <a:avLst/>
            </a:prstGeom>
            <a:solidFill>
              <a:srgbClr val="F4F7F8"/>
            </a:solidFill>
            <a:ln w="14288">
              <a:solidFill>
                <a:srgbClr val="DAE1E6"/>
              </a:solidFill>
            </a:ln>
          </p:spPr>
          <p:txBody>
            <a:bodyPr/>
            <a:lstStyle/>
            <a:p>
              <a:endParaRPr lang="zh-CN" altLang="en-US"/>
            </a:p>
          </p:txBody>
        </p:sp>
        <p:sp>
          <p:nvSpPr>
            <p:cNvPr id="48" name="Ellipse 48"/>
            <p:cNvSpPr/>
            <p:nvPr/>
          </p:nvSpPr>
          <p:spPr>
            <a:xfrm>
              <a:off x="8458200" y="2952750"/>
              <a:ext cx="285750" cy="285750"/>
            </a:xfrm>
            <a:prstGeom prst="ellipse">
              <a:avLst/>
            </a:prstGeom>
            <a:solidFill>
              <a:srgbClr val="23A1E0"/>
            </a:solidFill>
            <a:ln>
              <a:noFill/>
            </a:ln>
          </p:spPr>
          <p:txBody>
            <a:bodyPr/>
            <a:lstStyle/>
            <a:p>
              <a:endParaRPr lang="zh-CN" altLang="en-US"/>
            </a:p>
          </p:txBody>
        </p:sp>
        <p:sp>
          <p:nvSpPr>
            <p:cNvPr id="49" name="TextBox 49"/>
            <p:cNvSpPr txBox="1"/>
            <p:nvPr/>
          </p:nvSpPr>
          <p:spPr>
            <a:xfrm>
              <a:off x="8554991"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50" name="TextBox 50"/>
            <p:cNvSpPr txBox="1"/>
            <p:nvPr/>
          </p:nvSpPr>
          <p:spPr>
            <a:xfrm>
              <a:off x="8380504" y="3199924"/>
              <a:ext cx="441142"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Delete</a:t>
              </a:r>
            </a:p>
          </p:txBody>
        </p:sp>
        <p:sp>
          <p:nvSpPr>
            <p:cNvPr id="51" name="TextBox 51"/>
            <p:cNvSpPr txBox="1"/>
            <p:nvPr/>
          </p:nvSpPr>
          <p:spPr>
            <a:xfrm>
              <a:off x="8138186" y="3380899"/>
              <a:ext cx="925778"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relation from</a:t>
              </a:r>
            </a:p>
          </p:txBody>
        </p:sp>
        <p:sp>
          <p:nvSpPr>
            <p:cNvPr id="52" name="TextBox 52"/>
            <p:cNvSpPr txBox="1"/>
            <p:nvPr/>
          </p:nvSpPr>
          <p:spPr>
            <a:xfrm>
              <a:off x="8349788" y="3561874"/>
              <a:ext cx="502575"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schema</a:t>
              </a:r>
            </a:p>
          </p:txBody>
        </p:sp>
        <p:sp>
          <p:nvSpPr>
            <p:cNvPr id="53" name="Polygon 53"/>
            <p:cNvSpPr/>
            <p:nvPr/>
          </p:nvSpPr>
          <p:spPr>
            <a:xfrm>
              <a:off x="92773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54" name="Rectangle 54"/>
            <p:cNvSpPr/>
            <p:nvPr/>
          </p:nvSpPr>
          <p:spPr>
            <a:xfrm>
              <a:off x="9582150" y="2895600"/>
              <a:ext cx="876300" cy="1123950"/>
            </a:xfrm>
            <a:prstGeom prst="rect">
              <a:avLst/>
            </a:prstGeom>
            <a:solidFill>
              <a:srgbClr val="EAF6F4"/>
            </a:solidFill>
            <a:ln w="14288">
              <a:solidFill>
                <a:srgbClr val="DAE1E6"/>
              </a:solidFill>
            </a:ln>
          </p:spPr>
          <p:txBody>
            <a:bodyPr/>
            <a:lstStyle/>
            <a:p>
              <a:endParaRPr lang="zh-CN" altLang="en-US"/>
            </a:p>
          </p:txBody>
        </p:sp>
        <p:sp>
          <p:nvSpPr>
            <p:cNvPr id="55" name="Ellipse 55"/>
            <p:cNvSpPr/>
            <p:nvPr/>
          </p:nvSpPr>
          <p:spPr>
            <a:xfrm>
              <a:off x="9877425" y="2952750"/>
              <a:ext cx="285750" cy="285750"/>
            </a:xfrm>
            <a:prstGeom prst="ellipse">
              <a:avLst/>
            </a:prstGeom>
            <a:solidFill>
              <a:srgbClr val="009682"/>
            </a:solidFill>
            <a:ln>
              <a:noFill/>
            </a:ln>
          </p:spPr>
          <p:txBody>
            <a:bodyPr/>
            <a:lstStyle/>
            <a:p>
              <a:endParaRPr lang="zh-CN" altLang="en-US"/>
            </a:p>
          </p:txBody>
        </p:sp>
        <p:sp>
          <p:nvSpPr>
            <p:cNvPr id="56" name="TextBox 56"/>
            <p:cNvSpPr txBox="1"/>
            <p:nvPr/>
          </p:nvSpPr>
          <p:spPr>
            <a:xfrm>
              <a:off x="997421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57" name="TextBox 57"/>
            <p:cNvSpPr txBox="1"/>
            <p:nvPr/>
          </p:nvSpPr>
          <p:spPr>
            <a:xfrm>
              <a:off x="9747387" y="3208020"/>
              <a:ext cx="545825"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Required</a:t>
              </a:r>
            </a:p>
          </p:txBody>
        </p:sp>
        <p:sp>
          <p:nvSpPr>
            <p:cNvPr id="58" name="TextBox 58"/>
            <p:cNvSpPr txBox="1"/>
            <p:nvPr/>
          </p:nvSpPr>
          <p:spPr>
            <a:xfrm>
              <a:off x="9763139" y="3379470"/>
              <a:ext cx="514321"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relation</a:t>
              </a:r>
            </a:p>
          </p:txBody>
        </p:sp>
        <p:sp>
          <p:nvSpPr>
            <p:cNvPr id="59" name="TextBox 59"/>
            <p:cNvSpPr txBox="1"/>
            <p:nvPr/>
          </p:nvSpPr>
          <p:spPr>
            <a:xfrm>
              <a:off x="9674928" y="3550920"/>
              <a:ext cx="690743"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unavailable</a:t>
              </a:r>
            </a:p>
          </p:txBody>
        </p:sp>
        <p:sp>
          <p:nvSpPr>
            <p:cNvPr id="60" name="Polygon 60"/>
            <p:cNvSpPr/>
            <p:nvPr/>
          </p:nvSpPr>
          <p:spPr>
            <a:xfrm>
              <a:off x="10572750" y="3362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61" name="Rectangle 61"/>
            <p:cNvSpPr/>
            <p:nvPr/>
          </p:nvSpPr>
          <p:spPr>
            <a:xfrm>
              <a:off x="10877550" y="2895600"/>
              <a:ext cx="723900" cy="1123950"/>
            </a:xfrm>
            <a:prstGeom prst="rect">
              <a:avLst/>
            </a:prstGeom>
            <a:solidFill>
              <a:srgbClr val="002D4C"/>
            </a:solidFill>
            <a:ln>
              <a:noFill/>
            </a:ln>
          </p:spPr>
          <p:txBody>
            <a:bodyPr/>
            <a:lstStyle/>
            <a:p>
              <a:endParaRPr lang="zh-CN" altLang="en-US"/>
            </a:p>
          </p:txBody>
        </p:sp>
        <p:sp>
          <p:nvSpPr>
            <p:cNvPr id="62" name="Ellipse 62"/>
            <p:cNvSpPr/>
            <p:nvPr/>
          </p:nvSpPr>
          <p:spPr>
            <a:xfrm>
              <a:off x="11096625" y="2952750"/>
              <a:ext cx="285750" cy="285750"/>
            </a:xfrm>
            <a:prstGeom prst="ellipse">
              <a:avLst/>
            </a:prstGeom>
            <a:solidFill>
              <a:srgbClr val="23A1E0"/>
            </a:solidFill>
            <a:ln>
              <a:noFill/>
            </a:ln>
          </p:spPr>
          <p:txBody>
            <a:bodyPr/>
            <a:lstStyle/>
            <a:p>
              <a:endParaRPr lang="zh-CN" altLang="en-US"/>
            </a:p>
          </p:txBody>
        </p:sp>
        <p:sp>
          <p:nvSpPr>
            <p:cNvPr id="63" name="TextBox 63"/>
            <p:cNvSpPr txBox="1"/>
            <p:nvPr/>
          </p:nvSpPr>
          <p:spPr>
            <a:xfrm>
              <a:off x="11193416" y="3046095"/>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5</a:t>
              </a:r>
            </a:p>
          </p:txBody>
        </p:sp>
        <p:sp>
          <p:nvSpPr>
            <p:cNvPr id="64" name="TextBox 64"/>
            <p:cNvSpPr txBox="1"/>
            <p:nvPr/>
          </p:nvSpPr>
          <p:spPr>
            <a:xfrm>
              <a:off x="10903579" y="3284220"/>
              <a:ext cx="67184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Unanswer-</a:t>
              </a:r>
            </a:p>
          </p:txBody>
        </p:sp>
        <p:sp>
          <p:nvSpPr>
            <p:cNvPr id="65" name="TextBox 65"/>
            <p:cNvSpPr txBox="1"/>
            <p:nvPr/>
          </p:nvSpPr>
          <p:spPr>
            <a:xfrm>
              <a:off x="11105205" y="3465195"/>
              <a:ext cx="268591"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able</a:t>
              </a:r>
            </a:p>
          </p:txBody>
        </p:sp>
      </p:grpSp>
      <p:grpSp>
        <p:nvGrpSpPr>
          <p:cNvPr id="71" name="Group 71"/>
          <p:cNvGrpSpPr/>
          <p:nvPr/>
        </p:nvGrpSpPr>
        <p:grpSpPr>
          <a:xfrm>
            <a:off x="4953000" y="4419600"/>
            <a:ext cx="6648450" cy="952500"/>
            <a:chOff x="4953000" y="4419600"/>
            <a:chExt cx="6648450" cy="952500"/>
          </a:xfrm>
        </p:grpSpPr>
        <p:sp>
          <p:nvSpPr>
            <p:cNvPr id="67" name="Rectangle 67"/>
            <p:cNvSpPr/>
            <p:nvPr/>
          </p:nvSpPr>
          <p:spPr>
            <a:xfrm>
              <a:off x="4953000" y="4419600"/>
              <a:ext cx="6648450" cy="952500"/>
            </a:xfrm>
            <a:prstGeom prst="rect">
              <a:avLst/>
            </a:prstGeom>
            <a:solidFill>
              <a:srgbClr val="002D4C"/>
            </a:solidFill>
            <a:ln>
              <a:noFill/>
            </a:ln>
          </p:spPr>
          <p:txBody>
            <a:bodyPr/>
            <a:lstStyle/>
            <a:p>
              <a:endParaRPr lang="zh-CN" altLang="en-US"/>
            </a:p>
          </p:txBody>
        </p:sp>
        <p:sp>
          <p:nvSpPr>
            <p:cNvPr id="68" name="TextBox 68"/>
            <p:cNvSpPr txBox="1"/>
            <p:nvPr/>
          </p:nvSpPr>
          <p:spPr>
            <a:xfrm>
              <a:off x="5170170" y="4598670"/>
              <a:ext cx="1547651"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AGENT BEHAVIOR</a:t>
              </a:r>
            </a:p>
          </p:txBody>
        </p:sp>
        <p:sp>
          <p:nvSpPr>
            <p:cNvPr id="69" name="TextBox 69"/>
            <p:cNvSpPr txBox="1"/>
            <p:nvPr/>
          </p:nvSpPr>
          <p:spPr>
            <a:xfrm>
              <a:off x="5165408" y="4872514"/>
              <a:ext cx="5600581"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Schema lookup → missing-relation detection → invalid-LF recognition</a:t>
              </a:r>
            </a:p>
          </p:txBody>
        </p:sp>
        <p:sp>
          <p:nvSpPr>
            <p:cNvPr id="70" name="TextBox 70"/>
            <p:cNvSpPr txBox="1"/>
            <p:nvPr/>
          </p:nvSpPr>
          <p:spPr>
            <a:xfrm>
              <a:off x="5165408" y="5110639"/>
              <a:ext cx="2820733"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 answerability decision → refusal</a:t>
              </a:r>
            </a:p>
          </p:txBody>
        </p:sp>
      </p:grpSp>
      <p:grpSp>
        <p:nvGrpSpPr>
          <p:cNvPr id="76" name="Group 76"/>
          <p:cNvGrpSpPr/>
          <p:nvPr/>
        </p:nvGrpSpPr>
        <p:grpSpPr>
          <a:xfrm>
            <a:off x="495300" y="6167438"/>
            <a:ext cx="11201400" cy="590550"/>
            <a:chOff x="495300" y="6167438"/>
            <a:chExt cx="11201400" cy="590550"/>
          </a:xfrm>
        </p:grpSpPr>
        <p:sp>
          <p:nvSpPr>
            <p:cNvPr id="72" name="TextBox 72"/>
            <p:cNvSpPr txBox="1"/>
            <p:nvPr/>
          </p:nvSpPr>
          <p:spPr>
            <a:xfrm>
              <a:off x="581025" y="6167438"/>
              <a:ext cx="322445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GrailQAbility Dataset Analysis · Case 3 — Relation Deletion</a:t>
              </a:r>
            </a:p>
          </p:txBody>
        </p:sp>
        <p:sp>
          <p:nvSpPr>
            <p:cNvPr id="73" name="Line 73"/>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74" name="TextBox 74"/>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75" name="TextBox 75"/>
            <p:cNvSpPr txBox="1"/>
            <p:nvPr/>
          </p:nvSpPr>
          <p:spPr>
            <a:xfrm>
              <a:off x="10887075" y="6605588"/>
              <a:ext cx="10406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12</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400"/>
                                        <p:tgtEl>
                                          <p:spTgt spid="1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image">
                                      <p:cBhvr>
                                        <p:cTn id="15" dur="400"/>
                                        <p:tgtEl>
                                          <p:spTgt spid="66"/>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1" grpId="0"/>
      <p:bldP spid="66" grpId="0"/>
      <p:bldP spid="7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495300" y="400050"/>
            <a:ext cx="7437715" cy="721519"/>
            <a:chOff x="495300" y="400050"/>
            <a:chExt cx="7437715" cy="721519"/>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681990" y="410528"/>
              <a:ext cx="4315301"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GTSQA: Dataset Overview</a:t>
              </a:r>
            </a:p>
          </p:txBody>
        </p:sp>
        <p:sp>
          <p:nvSpPr>
            <p:cNvPr id="5" name="TextBox 5"/>
            <p:cNvSpPr txBox="1"/>
            <p:nvPr/>
          </p:nvSpPr>
          <p:spPr>
            <a:xfrm>
              <a:off x="717232" y="862489"/>
              <a:ext cx="7215783"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Questions characterized by Gold answer-subgraph structures and supporting evidence</a:t>
              </a:r>
            </a:p>
          </p:txBody>
        </p:sp>
      </p:grpSp>
      <p:grpSp>
        <p:nvGrpSpPr>
          <p:cNvPr id="15" name="Group 15"/>
          <p:cNvGrpSpPr/>
          <p:nvPr/>
        </p:nvGrpSpPr>
        <p:grpSpPr>
          <a:xfrm>
            <a:off x="495300" y="1162050"/>
            <a:ext cx="11201400" cy="400050"/>
            <a:chOff x="495300" y="1162050"/>
            <a:chExt cx="11201400" cy="400050"/>
          </a:xfrm>
        </p:grpSpPr>
        <p:sp>
          <p:nvSpPr>
            <p:cNvPr id="7" name="Rectangle 7"/>
            <p:cNvSpPr/>
            <p:nvPr/>
          </p:nvSpPr>
          <p:spPr>
            <a:xfrm>
              <a:off x="495300" y="1162050"/>
              <a:ext cx="11201400" cy="400050"/>
            </a:xfrm>
            <a:prstGeom prst="rect">
              <a:avLst/>
            </a:prstGeom>
            <a:solidFill>
              <a:srgbClr val="EAF6F4"/>
            </a:solidFill>
            <a:ln>
              <a:noFill/>
            </a:ln>
          </p:spPr>
          <p:txBody>
            <a:bodyPr/>
            <a:lstStyle/>
            <a:p>
              <a:endParaRPr lang="zh-CN" altLang="en-US"/>
            </a:p>
          </p:txBody>
        </p:sp>
        <p:sp>
          <p:nvSpPr>
            <p:cNvPr id="8" name="TextBox 8"/>
            <p:cNvSpPr txBox="1"/>
            <p:nvPr/>
          </p:nvSpPr>
          <p:spPr>
            <a:xfrm>
              <a:off x="764858" y="1281589"/>
              <a:ext cx="1443561"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32,099</a:t>
              </a:r>
              <a:r>
                <a:rPr lang="zh-CN" sz="1275" dirty="0">
                  <a:solidFill>
                    <a:srgbClr val="002D4C"/>
                  </a:solidFill>
                  <a:latin typeface="Arial"/>
                  <a:ea typeface="Microsoft YaHei"/>
                  <a:cs typeface="Arial"/>
                </a:rPr>
                <a:t> questions</a:t>
              </a:r>
            </a:p>
          </p:txBody>
        </p:sp>
        <p:sp>
          <p:nvSpPr>
            <p:cNvPr id="9" name="Line 9"/>
            <p:cNvSpPr/>
            <p:nvPr/>
          </p:nvSpPr>
          <p:spPr>
            <a:xfrm>
              <a:off x="2724150" y="1257300"/>
              <a:ext cx="9525" cy="209550"/>
            </a:xfrm>
            <a:custGeom>
              <a:avLst/>
              <a:gdLst/>
              <a:ahLst/>
              <a:cxnLst/>
              <a:rect l="l" t="t" r="r" b="b"/>
              <a:pathLst>
                <a:path w="9525" h="209550">
                  <a:moveTo>
                    <a:pt x="0" y="0"/>
                  </a:moveTo>
                  <a:lnTo>
                    <a:pt x="0" y="209550"/>
                  </a:lnTo>
                </a:path>
              </a:pathLst>
            </a:custGeom>
            <a:noFill/>
            <a:ln w="9525">
              <a:solidFill>
                <a:srgbClr val="DAE1E6"/>
              </a:solidFill>
            </a:ln>
          </p:spPr>
          <p:txBody>
            <a:bodyPr/>
            <a:lstStyle/>
            <a:p>
              <a:endParaRPr lang="zh-CN" altLang="en-US"/>
            </a:p>
          </p:txBody>
        </p:sp>
        <p:sp>
          <p:nvSpPr>
            <p:cNvPr id="10" name="TextBox 10"/>
            <p:cNvSpPr txBox="1"/>
            <p:nvPr/>
          </p:nvSpPr>
          <p:spPr>
            <a:xfrm>
              <a:off x="3012758" y="1281589"/>
              <a:ext cx="1724096"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27</a:t>
              </a:r>
              <a:r>
                <a:rPr lang="zh-CN" sz="1275" dirty="0">
                  <a:solidFill>
                    <a:srgbClr val="002D4C"/>
                  </a:solidFill>
                  <a:latin typeface="Arial"/>
                  <a:ea typeface="Microsoft YaHei"/>
                  <a:cs typeface="Arial"/>
                </a:rPr>
                <a:t> graph structures</a:t>
              </a:r>
            </a:p>
          </p:txBody>
        </p:sp>
        <p:sp>
          <p:nvSpPr>
            <p:cNvPr id="11" name="Line 11"/>
            <p:cNvSpPr/>
            <p:nvPr/>
          </p:nvSpPr>
          <p:spPr>
            <a:xfrm>
              <a:off x="5276850" y="1257300"/>
              <a:ext cx="9525" cy="209550"/>
            </a:xfrm>
            <a:custGeom>
              <a:avLst/>
              <a:gdLst/>
              <a:ahLst/>
              <a:cxnLst/>
              <a:rect l="l" t="t" r="r" b="b"/>
              <a:pathLst>
                <a:path w="9525" h="209550">
                  <a:moveTo>
                    <a:pt x="0" y="0"/>
                  </a:moveTo>
                  <a:lnTo>
                    <a:pt x="0" y="209550"/>
                  </a:lnTo>
                </a:path>
              </a:pathLst>
            </a:custGeom>
            <a:noFill/>
            <a:ln w="9525">
              <a:solidFill>
                <a:srgbClr val="DAE1E6"/>
              </a:solidFill>
            </a:ln>
          </p:spPr>
          <p:txBody>
            <a:bodyPr/>
            <a:lstStyle/>
            <a:p>
              <a:endParaRPr lang="zh-CN" altLang="en-US"/>
            </a:p>
          </p:txBody>
        </p:sp>
        <p:sp>
          <p:nvSpPr>
            <p:cNvPr id="12" name="TextBox 12"/>
            <p:cNvSpPr txBox="1"/>
            <p:nvPr/>
          </p:nvSpPr>
          <p:spPr>
            <a:xfrm>
              <a:off x="5565458" y="1281589"/>
              <a:ext cx="1647587" cy="259080"/>
            </a:xfrm>
            <a:prstGeom prst="rect">
              <a:avLst/>
            </a:prstGeom>
            <a:noFill/>
            <a:ln>
              <a:noFill/>
            </a:ln>
          </p:spPr>
          <p:txBody>
            <a:bodyPr wrap="none" lIns="0" tIns="0" rIns="0" bIns="0" anchor="t" anchorCtr="0">
              <a:spAutoFit/>
            </a:bodyPr>
            <a:lstStyle/>
            <a:p>
              <a:pPr algn="l"/>
              <a:r>
                <a:rPr lang="zh-CN" sz="1275" b="1" dirty="0">
                  <a:solidFill>
                    <a:srgbClr val="009682"/>
                  </a:solidFill>
                  <a:latin typeface="Arial"/>
                  <a:ea typeface="Microsoft YaHei"/>
                  <a:cs typeface="Arial"/>
                </a:rPr>
                <a:t>up to 5</a:t>
              </a:r>
              <a:r>
                <a:rPr lang="zh-CN" sz="1275" dirty="0">
                  <a:solidFill>
                    <a:srgbClr val="002D4C"/>
                  </a:solidFill>
                  <a:latin typeface="Arial"/>
                  <a:ea typeface="Microsoft YaHei"/>
                  <a:cs typeface="Arial"/>
                </a:rPr>
                <a:t> hops overall</a:t>
              </a:r>
            </a:p>
          </p:txBody>
        </p:sp>
        <p:sp>
          <p:nvSpPr>
            <p:cNvPr id="13" name="Line 13"/>
            <p:cNvSpPr/>
            <p:nvPr/>
          </p:nvSpPr>
          <p:spPr>
            <a:xfrm>
              <a:off x="8020050" y="1257300"/>
              <a:ext cx="9525" cy="209550"/>
            </a:xfrm>
            <a:custGeom>
              <a:avLst/>
              <a:gdLst/>
              <a:ahLst/>
              <a:cxnLst/>
              <a:rect l="l" t="t" r="r" b="b"/>
              <a:pathLst>
                <a:path w="9525" h="209550">
                  <a:moveTo>
                    <a:pt x="0" y="0"/>
                  </a:moveTo>
                  <a:lnTo>
                    <a:pt x="0" y="209550"/>
                  </a:lnTo>
                </a:path>
              </a:pathLst>
            </a:custGeom>
            <a:noFill/>
            <a:ln w="9525">
              <a:solidFill>
                <a:srgbClr val="DAE1E6"/>
              </a:solidFill>
            </a:ln>
          </p:spPr>
          <p:txBody>
            <a:bodyPr/>
            <a:lstStyle/>
            <a:p>
              <a:endParaRPr lang="zh-CN" altLang="en-US"/>
            </a:p>
          </p:txBody>
        </p:sp>
        <p:sp>
          <p:nvSpPr>
            <p:cNvPr id="14" name="TextBox 14"/>
            <p:cNvSpPr txBox="1"/>
            <p:nvPr/>
          </p:nvSpPr>
          <p:spPr>
            <a:xfrm>
              <a:off x="8308658" y="1281589"/>
              <a:ext cx="2047137"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Gold </a:t>
              </a:r>
              <a:r>
                <a:rPr lang="zh-CN" sz="1275" b="1" dirty="0">
                  <a:solidFill>
                    <a:srgbClr val="005A50"/>
                  </a:solidFill>
                  <a:latin typeface="Arial"/>
                  <a:ea typeface="Microsoft YaHei"/>
                  <a:cs typeface="Arial"/>
                </a:rPr>
                <a:t>SPARQL + subgraphs</a:t>
              </a:r>
            </a:p>
          </p:txBody>
        </p:sp>
      </p:grpSp>
      <p:grpSp>
        <p:nvGrpSpPr>
          <p:cNvPr id="62" name="Group 62"/>
          <p:cNvGrpSpPr/>
          <p:nvPr/>
        </p:nvGrpSpPr>
        <p:grpSpPr>
          <a:xfrm>
            <a:off x="495300" y="1676400"/>
            <a:ext cx="11201400" cy="4460081"/>
            <a:chOff x="495300" y="1676400"/>
            <a:chExt cx="11201400" cy="4460081"/>
          </a:xfrm>
        </p:grpSpPr>
        <p:sp>
          <p:nvSpPr>
            <p:cNvPr id="16" name="Rectangle 16"/>
            <p:cNvSpPr/>
            <p:nvPr/>
          </p:nvSpPr>
          <p:spPr>
            <a:xfrm>
              <a:off x="495300" y="1676400"/>
              <a:ext cx="11201400" cy="323850"/>
            </a:xfrm>
            <a:prstGeom prst="rect">
              <a:avLst/>
            </a:prstGeom>
            <a:solidFill>
              <a:srgbClr val="002D4C"/>
            </a:solidFill>
            <a:ln>
              <a:noFill/>
            </a:ln>
          </p:spPr>
          <p:txBody>
            <a:bodyPr/>
            <a:lstStyle/>
            <a:p>
              <a:endParaRPr lang="zh-CN" altLang="en-US"/>
            </a:p>
          </p:txBody>
        </p:sp>
        <p:sp>
          <p:nvSpPr>
            <p:cNvPr id="17" name="TextBox 17"/>
            <p:cNvSpPr txBox="1"/>
            <p:nvPr/>
          </p:nvSpPr>
          <p:spPr>
            <a:xfrm>
              <a:off x="655320" y="1788795"/>
              <a:ext cx="634036"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DIMENSION</a:t>
              </a:r>
            </a:p>
          </p:txBody>
        </p:sp>
        <p:sp>
          <p:nvSpPr>
            <p:cNvPr id="18" name="TextBox 18"/>
            <p:cNvSpPr txBox="1"/>
            <p:nvPr/>
          </p:nvSpPr>
          <p:spPr>
            <a:xfrm>
              <a:off x="3265170" y="1788795"/>
              <a:ext cx="394606"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GTSQA</a:t>
              </a:r>
            </a:p>
          </p:txBody>
        </p:sp>
        <p:sp>
          <p:nvSpPr>
            <p:cNvPr id="19" name="Line 19"/>
            <p:cNvSpPr/>
            <p:nvPr/>
          </p:nvSpPr>
          <p:spPr>
            <a:xfrm>
              <a:off x="3105150" y="1676400"/>
              <a:ext cx="9525" cy="4438650"/>
            </a:xfrm>
            <a:custGeom>
              <a:avLst/>
              <a:gdLst/>
              <a:ahLst/>
              <a:cxnLst/>
              <a:rect l="l" t="t" r="r" b="b"/>
              <a:pathLst>
                <a:path w="9525" h="4438650">
                  <a:moveTo>
                    <a:pt x="0" y="0"/>
                  </a:moveTo>
                  <a:lnTo>
                    <a:pt x="0" y="4438650"/>
                  </a:lnTo>
                </a:path>
              </a:pathLst>
            </a:custGeom>
            <a:noFill/>
            <a:ln w="9525">
              <a:solidFill>
                <a:srgbClr val="DAE1E6"/>
              </a:solidFill>
            </a:ln>
          </p:spPr>
          <p:txBody>
            <a:bodyPr/>
            <a:lstStyle/>
            <a:p>
              <a:endParaRPr lang="zh-CN" altLang="en-US"/>
            </a:p>
          </p:txBody>
        </p:sp>
        <p:sp>
          <p:nvSpPr>
            <p:cNvPr id="20" name="Rectangle 20"/>
            <p:cNvSpPr/>
            <p:nvPr/>
          </p:nvSpPr>
          <p:spPr>
            <a:xfrm>
              <a:off x="495300" y="2000250"/>
              <a:ext cx="11201400" cy="342900"/>
            </a:xfrm>
            <a:prstGeom prst="rect">
              <a:avLst/>
            </a:prstGeom>
            <a:solidFill>
              <a:srgbClr val="EAF6F4"/>
            </a:solidFill>
            <a:ln>
              <a:noFill/>
            </a:ln>
          </p:spPr>
          <p:txBody>
            <a:bodyPr/>
            <a:lstStyle/>
            <a:p>
              <a:endParaRPr lang="zh-CN" altLang="en-US"/>
            </a:p>
          </p:txBody>
        </p:sp>
        <p:sp>
          <p:nvSpPr>
            <p:cNvPr id="21" name="TextBox 21"/>
            <p:cNvSpPr txBox="1"/>
            <p:nvPr/>
          </p:nvSpPr>
          <p:spPr>
            <a:xfrm>
              <a:off x="656272" y="2120741"/>
              <a:ext cx="2094439"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Question Type(s) / Structural Types</a:t>
              </a:r>
            </a:p>
          </p:txBody>
        </p:sp>
        <p:sp>
          <p:nvSpPr>
            <p:cNvPr id="22" name="TextBox 22"/>
            <p:cNvSpPr txBox="1"/>
            <p:nvPr/>
          </p:nvSpPr>
          <p:spPr>
            <a:xfrm>
              <a:off x="3266122" y="2054066"/>
              <a:ext cx="5246608"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27 graph_isomorphism structures; linear paths, multi-seed intersections, unequal-depth paths,</a:t>
              </a:r>
            </a:p>
          </p:txBody>
        </p:sp>
        <p:sp>
          <p:nvSpPr>
            <p:cNvPr id="23" name="TextBox 23"/>
            <p:cNvSpPr txBox="1"/>
            <p:nvPr/>
          </p:nvSpPr>
          <p:spPr>
            <a:xfrm>
              <a:off x="3266122" y="2196941"/>
              <a:ext cx="1368623"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intersection + projection</a:t>
              </a:r>
            </a:p>
          </p:txBody>
        </p:sp>
        <p:sp>
          <p:nvSpPr>
            <p:cNvPr id="24" name="Rectangle 24"/>
            <p:cNvSpPr/>
            <p:nvPr/>
          </p:nvSpPr>
          <p:spPr>
            <a:xfrm>
              <a:off x="495300" y="2343150"/>
              <a:ext cx="11201400" cy="342900"/>
            </a:xfrm>
            <a:prstGeom prst="rect">
              <a:avLst/>
            </a:prstGeom>
            <a:solidFill>
              <a:srgbClr val="F4F7F8"/>
            </a:solidFill>
            <a:ln>
              <a:noFill/>
            </a:ln>
          </p:spPr>
          <p:txBody>
            <a:bodyPr/>
            <a:lstStyle/>
            <a:p>
              <a:endParaRPr lang="zh-CN" altLang="en-US"/>
            </a:p>
          </p:txBody>
        </p:sp>
        <p:sp>
          <p:nvSpPr>
            <p:cNvPr id="25" name="TextBox 25"/>
            <p:cNvSpPr txBox="1"/>
            <p:nvPr/>
          </p:nvSpPr>
          <p:spPr>
            <a:xfrm>
              <a:off x="656272" y="2463641"/>
              <a:ext cx="1493764"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Expected Solving Strategy</a:t>
              </a:r>
            </a:p>
          </p:txBody>
        </p:sp>
        <p:sp>
          <p:nvSpPr>
            <p:cNvPr id="26" name="TextBox 26"/>
            <p:cNvSpPr txBox="1"/>
            <p:nvPr/>
          </p:nvSpPr>
          <p:spPr>
            <a:xfrm>
              <a:off x="3266122" y="2396966"/>
              <a:ext cx="3552396"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Relation traversal; multi-anchor intersection; path combination;</a:t>
              </a:r>
            </a:p>
          </p:txBody>
        </p:sp>
        <p:sp>
          <p:nvSpPr>
            <p:cNvPr id="27" name="TextBox 27"/>
            <p:cNvSpPr txBox="1"/>
            <p:nvPr/>
          </p:nvSpPr>
          <p:spPr>
            <a:xfrm>
              <a:off x="3266122" y="2539841"/>
              <a:ext cx="2430256"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intermediate-node identification; projection</a:t>
              </a:r>
            </a:p>
          </p:txBody>
        </p:sp>
        <p:sp>
          <p:nvSpPr>
            <p:cNvPr id="28" name="Rectangle 28"/>
            <p:cNvSpPr/>
            <p:nvPr/>
          </p:nvSpPr>
          <p:spPr>
            <a:xfrm>
              <a:off x="495300" y="2686050"/>
              <a:ext cx="11201400" cy="342900"/>
            </a:xfrm>
            <a:prstGeom prst="rect">
              <a:avLst/>
            </a:prstGeom>
            <a:solidFill>
              <a:srgbClr val="EAF6F4"/>
            </a:solidFill>
            <a:ln>
              <a:noFill/>
            </a:ln>
          </p:spPr>
          <p:txBody>
            <a:bodyPr/>
            <a:lstStyle/>
            <a:p>
              <a:endParaRPr lang="zh-CN" altLang="en-US"/>
            </a:p>
          </p:txBody>
        </p:sp>
        <p:sp>
          <p:nvSpPr>
            <p:cNvPr id="29" name="TextBox 29"/>
            <p:cNvSpPr txBox="1"/>
            <p:nvPr/>
          </p:nvSpPr>
          <p:spPr>
            <a:xfrm>
              <a:off x="656272" y="2806541"/>
              <a:ext cx="714042"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Answer Type</a:t>
              </a:r>
            </a:p>
          </p:txBody>
        </p:sp>
        <p:sp>
          <p:nvSpPr>
            <p:cNvPr id="30" name="TextBox 30"/>
            <p:cNvSpPr txBox="1"/>
            <p:nvPr/>
          </p:nvSpPr>
          <p:spPr>
            <a:xfrm>
              <a:off x="3266122" y="2806541"/>
              <a:ext cx="1000077"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Entity; Entity Set</a:t>
              </a:r>
            </a:p>
          </p:txBody>
        </p:sp>
        <p:sp>
          <p:nvSpPr>
            <p:cNvPr id="31" name="Rectangle 31"/>
            <p:cNvSpPr/>
            <p:nvPr/>
          </p:nvSpPr>
          <p:spPr>
            <a:xfrm>
              <a:off x="495300" y="3028950"/>
              <a:ext cx="11201400" cy="342900"/>
            </a:xfrm>
            <a:prstGeom prst="rect">
              <a:avLst/>
            </a:prstGeom>
            <a:solidFill>
              <a:srgbClr val="F4F7F8"/>
            </a:solidFill>
            <a:ln>
              <a:noFill/>
            </a:ln>
          </p:spPr>
          <p:txBody>
            <a:bodyPr/>
            <a:lstStyle/>
            <a:p>
              <a:endParaRPr lang="zh-CN" altLang="en-US"/>
            </a:p>
          </p:txBody>
        </p:sp>
        <p:sp>
          <p:nvSpPr>
            <p:cNvPr id="32" name="TextBox 32"/>
            <p:cNvSpPr txBox="1"/>
            <p:nvPr/>
          </p:nvSpPr>
          <p:spPr>
            <a:xfrm>
              <a:off x="656272" y="3149441"/>
              <a:ext cx="783350"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Answerability</a:t>
              </a:r>
            </a:p>
          </p:txBody>
        </p:sp>
        <p:sp>
          <p:nvSpPr>
            <p:cNvPr id="33" name="TextBox 33"/>
            <p:cNvSpPr txBox="1"/>
            <p:nvPr/>
          </p:nvSpPr>
          <p:spPr>
            <a:xfrm>
              <a:off x="3266122" y="3149441"/>
              <a:ext cx="3420380"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Answerable by construction; no dedicated unanswerable subset</a:t>
              </a:r>
            </a:p>
          </p:txBody>
        </p:sp>
        <p:sp>
          <p:nvSpPr>
            <p:cNvPr id="34" name="Rectangle 34"/>
            <p:cNvSpPr/>
            <p:nvPr/>
          </p:nvSpPr>
          <p:spPr>
            <a:xfrm>
              <a:off x="495300" y="3371850"/>
              <a:ext cx="11201400" cy="342900"/>
            </a:xfrm>
            <a:prstGeom prst="rect">
              <a:avLst/>
            </a:prstGeom>
            <a:solidFill>
              <a:srgbClr val="EAF6F4"/>
            </a:solidFill>
            <a:ln>
              <a:noFill/>
            </a:ln>
          </p:spPr>
          <p:txBody>
            <a:bodyPr/>
            <a:lstStyle/>
            <a:p>
              <a:endParaRPr lang="zh-CN" altLang="en-US"/>
            </a:p>
          </p:txBody>
        </p:sp>
        <p:sp>
          <p:nvSpPr>
            <p:cNvPr id="35" name="TextBox 35"/>
            <p:cNvSpPr txBox="1"/>
            <p:nvPr/>
          </p:nvSpPr>
          <p:spPr>
            <a:xfrm>
              <a:off x="656272" y="3492341"/>
              <a:ext cx="1245408"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Hop Count / Definition</a:t>
              </a:r>
            </a:p>
          </p:txBody>
        </p:sp>
        <p:sp>
          <p:nvSpPr>
            <p:cNvPr id="36" name="TextBox 36"/>
            <p:cNvSpPr txBox="1"/>
            <p:nvPr/>
          </p:nvSpPr>
          <p:spPr>
            <a:xfrm>
              <a:off x="3266122" y="3425666"/>
              <a:ext cx="2424755"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n_hops = maximum seed-to-answer distance;</a:t>
              </a:r>
            </a:p>
          </p:txBody>
        </p:sp>
        <p:sp>
          <p:nvSpPr>
            <p:cNvPr id="37" name="TextBox 37"/>
            <p:cNvSpPr txBox="1"/>
            <p:nvPr/>
          </p:nvSpPr>
          <p:spPr>
            <a:xfrm>
              <a:off x="3266122" y="3568541"/>
              <a:ext cx="1654659"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up to 5 overall, up to 4 in test</a:t>
              </a:r>
            </a:p>
          </p:txBody>
        </p:sp>
        <p:sp>
          <p:nvSpPr>
            <p:cNvPr id="38" name="Rectangle 38"/>
            <p:cNvSpPr/>
            <p:nvPr/>
          </p:nvSpPr>
          <p:spPr>
            <a:xfrm>
              <a:off x="495300" y="3714750"/>
              <a:ext cx="11201400" cy="342900"/>
            </a:xfrm>
            <a:prstGeom prst="rect">
              <a:avLst/>
            </a:prstGeom>
            <a:solidFill>
              <a:srgbClr val="F4F7F8"/>
            </a:solidFill>
            <a:ln>
              <a:noFill/>
            </a:ln>
          </p:spPr>
          <p:txBody>
            <a:bodyPr/>
            <a:lstStyle/>
            <a:p>
              <a:endParaRPr lang="zh-CN" altLang="en-US"/>
            </a:p>
          </p:txBody>
        </p:sp>
        <p:sp>
          <p:nvSpPr>
            <p:cNvPr id="39" name="TextBox 39"/>
            <p:cNvSpPr txBox="1"/>
            <p:nvPr/>
          </p:nvSpPr>
          <p:spPr>
            <a:xfrm>
              <a:off x="656272" y="3835241"/>
              <a:ext cx="2054009"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Gold Query / Logical Form / Program</a:t>
              </a:r>
            </a:p>
          </p:txBody>
        </p:sp>
        <p:sp>
          <p:nvSpPr>
            <p:cNvPr id="40" name="TextBox 40"/>
            <p:cNvSpPr txBox="1"/>
            <p:nvPr/>
          </p:nvSpPr>
          <p:spPr>
            <a:xfrm>
              <a:off x="3266122" y="3835241"/>
              <a:ext cx="653534" cy="167640"/>
            </a:xfrm>
            <a:prstGeom prst="rect">
              <a:avLst/>
            </a:prstGeom>
            <a:noFill/>
            <a:ln>
              <a:noFill/>
            </a:ln>
          </p:spPr>
          <p:txBody>
            <a:bodyPr wrap="none" lIns="0" tIns="0" rIns="0" bIns="0" anchor="t" anchorCtr="0">
              <a:spAutoFit/>
            </a:bodyPr>
            <a:lstStyle/>
            <a:p>
              <a:pPr algn="l"/>
              <a:r>
                <a:rPr lang="zh-CN" sz="825" dirty="0">
                  <a:solidFill>
                    <a:srgbClr val="005A50"/>
                  </a:solidFill>
                  <a:latin typeface="Consolas"/>
                  <a:ea typeface="Microsoft YaHei"/>
                  <a:cs typeface="Consolas"/>
                </a:rPr>
                <a:t>Gold SPARQL</a:t>
              </a:r>
            </a:p>
          </p:txBody>
        </p:sp>
        <p:sp>
          <p:nvSpPr>
            <p:cNvPr id="41" name="Rectangle 41"/>
            <p:cNvSpPr/>
            <p:nvPr/>
          </p:nvSpPr>
          <p:spPr>
            <a:xfrm>
              <a:off x="495300" y="4057650"/>
              <a:ext cx="11201400" cy="342900"/>
            </a:xfrm>
            <a:prstGeom prst="rect">
              <a:avLst/>
            </a:prstGeom>
            <a:solidFill>
              <a:srgbClr val="EAF6F4"/>
            </a:solidFill>
            <a:ln>
              <a:noFill/>
            </a:ln>
          </p:spPr>
          <p:txBody>
            <a:bodyPr/>
            <a:lstStyle/>
            <a:p>
              <a:endParaRPr lang="zh-CN" altLang="en-US"/>
            </a:p>
          </p:txBody>
        </p:sp>
        <p:sp>
          <p:nvSpPr>
            <p:cNvPr id="42" name="TextBox 42"/>
            <p:cNvSpPr txBox="1"/>
            <p:nvPr/>
          </p:nvSpPr>
          <p:spPr>
            <a:xfrm>
              <a:off x="656272" y="4178141"/>
              <a:ext cx="1401353"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Gold Supporting Evidence</a:t>
              </a:r>
            </a:p>
          </p:txBody>
        </p:sp>
        <p:sp>
          <p:nvSpPr>
            <p:cNvPr id="43" name="TextBox 43"/>
            <p:cNvSpPr txBox="1"/>
            <p:nvPr/>
          </p:nvSpPr>
          <p:spPr>
            <a:xfrm>
              <a:off x="3266122" y="4111466"/>
              <a:ext cx="2226731"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answer_subgraph; full answer subgraphs</a:t>
              </a:r>
            </a:p>
          </p:txBody>
        </p:sp>
        <p:sp>
          <p:nvSpPr>
            <p:cNvPr id="44" name="TextBox 44"/>
            <p:cNvSpPr txBox="1"/>
            <p:nvPr/>
          </p:nvSpPr>
          <p:spPr>
            <a:xfrm>
              <a:off x="3266122" y="4254341"/>
              <a:ext cx="1324618"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for Wikidata and WikiKG2</a:t>
              </a:r>
            </a:p>
          </p:txBody>
        </p:sp>
        <p:sp>
          <p:nvSpPr>
            <p:cNvPr id="45" name="Rectangle 45"/>
            <p:cNvSpPr/>
            <p:nvPr/>
          </p:nvSpPr>
          <p:spPr>
            <a:xfrm>
              <a:off x="495300" y="4400550"/>
              <a:ext cx="11201400" cy="342900"/>
            </a:xfrm>
            <a:prstGeom prst="rect">
              <a:avLst/>
            </a:prstGeom>
            <a:solidFill>
              <a:srgbClr val="F4F7F8"/>
            </a:solidFill>
            <a:ln>
              <a:noFill/>
            </a:ln>
          </p:spPr>
          <p:txBody>
            <a:bodyPr/>
            <a:lstStyle/>
            <a:p>
              <a:endParaRPr lang="zh-CN" altLang="en-US"/>
            </a:p>
          </p:txBody>
        </p:sp>
        <p:sp>
          <p:nvSpPr>
            <p:cNvPr id="46" name="TextBox 46"/>
            <p:cNvSpPr txBox="1"/>
            <p:nvPr/>
          </p:nvSpPr>
          <p:spPr>
            <a:xfrm>
              <a:off x="656272" y="4521041"/>
              <a:ext cx="875762"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KG Requirement</a:t>
              </a:r>
            </a:p>
          </p:txBody>
        </p:sp>
        <p:sp>
          <p:nvSpPr>
            <p:cNvPr id="47" name="TextBox 47"/>
            <p:cNvSpPr txBox="1"/>
            <p:nvPr/>
          </p:nvSpPr>
          <p:spPr>
            <a:xfrm>
              <a:off x="3266122" y="4521041"/>
              <a:ext cx="3354372"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Wikidata / ogbl-wikikg2; official WikiKG2 local graphs available</a:t>
              </a:r>
            </a:p>
          </p:txBody>
        </p:sp>
        <p:sp>
          <p:nvSpPr>
            <p:cNvPr id="48" name="Rectangle 48"/>
            <p:cNvSpPr/>
            <p:nvPr/>
          </p:nvSpPr>
          <p:spPr>
            <a:xfrm>
              <a:off x="495300" y="4743450"/>
              <a:ext cx="11201400" cy="342900"/>
            </a:xfrm>
            <a:prstGeom prst="rect">
              <a:avLst/>
            </a:prstGeom>
            <a:solidFill>
              <a:srgbClr val="EAF6F4"/>
            </a:solidFill>
            <a:ln>
              <a:noFill/>
            </a:ln>
          </p:spPr>
          <p:txBody>
            <a:bodyPr/>
            <a:lstStyle/>
            <a:p>
              <a:endParaRPr lang="zh-CN" altLang="en-US"/>
            </a:p>
          </p:txBody>
        </p:sp>
        <p:sp>
          <p:nvSpPr>
            <p:cNvPr id="49" name="TextBox 49"/>
            <p:cNvSpPr txBox="1"/>
            <p:nvPr/>
          </p:nvSpPr>
          <p:spPr>
            <a:xfrm>
              <a:off x="656272" y="4863941"/>
              <a:ext cx="2042458"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Question-specific Graph Availability</a:t>
              </a:r>
            </a:p>
          </p:txBody>
        </p:sp>
        <p:sp>
          <p:nvSpPr>
            <p:cNvPr id="50" name="TextBox 50"/>
            <p:cNvSpPr txBox="1"/>
            <p:nvPr/>
          </p:nvSpPr>
          <p:spPr>
            <a:xfrm>
              <a:off x="3266122" y="4863941"/>
              <a:ext cx="2798802"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Yes; per-question candidate graph, up to 30k edges</a:t>
              </a:r>
            </a:p>
          </p:txBody>
        </p:sp>
        <p:sp>
          <p:nvSpPr>
            <p:cNvPr id="51" name="Rectangle 51"/>
            <p:cNvSpPr/>
            <p:nvPr/>
          </p:nvSpPr>
          <p:spPr>
            <a:xfrm>
              <a:off x="495300" y="5086350"/>
              <a:ext cx="11201400" cy="342900"/>
            </a:xfrm>
            <a:prstGeom prst="rect">
              <a:avLst/>
            </a:prstGeom>
            <a:solidFill>
              <a:srgbClr val="F4F7F8"/>
            </a:solidFill>
            <a:ln>
              <a:noFill/>
            </a:ln>
          </p:spPr>
          <p:txBody>
            <a:bodyPr/>
            <a:lstStyle/>
            <a:p>
              <a:endParaRPr lang="zh-CN" altLang="en-US"/>
            </a:p>
          </p:txBody>
        </p:sp>
        <p:sp>
          <p:nvSpPr>
            <p:cNvPr id="52" name="TextBox 52"/>
            <p:cNvSpPr txBox="1"/>
            <p:nvPr/>
          </p:nvSpPr>
          <p:spPr>
            <a:xfrm>
              <a:off x="656272" y="5206841"/>
              <a:ext cx="1291614"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Question Construction</a:t>
              </a:r>
            </a:p>
          </p:txBody>
        </p:sp>
        <p:sp>
          <p:nvSpPr>
            <p:cNvPr id="53" name="TextBox 53"/>
            <p:cNvSpPr txBox="1"/>
            <p:nvPr/>
          </p:nvSpPr>
          <p:spPr>
            <a:xfrm>
              <a:off x="3266122" y="5140166"/>
              <a:ext cx="3150846"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Synthetic KG-subgraph sampling + LLM question generation</a:t>
              </a:r>
            </a:p>
          </p:txBody>
        </p:sp>
        <p:sp>
          <p:nvSpPr>
            <p:cNvPr id="54" name="TextBox 54"/>
            <p:cNvSpPr txBox="1"/>
            <p:nvPr/>
          </p:nvSpPr>
          <p:spPr>
            <a:xfrm>
              <a:off x="3266122" y="5283041"/>
              <a:ext cx="1055084"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 SPARQL validation</a:t>
              </a:r>
            </a:p>
          </p:txBody>
        </p:sp>
        <p:sp>
          <p:nvSpPr>
            <p:cNvPr id="55" name="Rectangle 55"/>
            <p:cNvSpPr/>
            <p:nvPr/>
          </p:nvSpPr>
          <p:spPr>
            <a:xfrm>
              <a:off x="495300" y="5429250"/>
              <a:ext cx="11201400" cy="342900"/>
            </a:xfrm>
            <a:prstGeom prst="rect">
              <a:avLst/>
            </a:prstGeom>
            <a:solidFill>
              <a:srgbClr val="EAF6F4"/>
            </a:solidFill>
            <a:ln>
              <a:noFill/>
            </a:ln>
          </p:spPr>
          <p:txBody>
            <a:bodyPr/>
            <a:lstStyle/>
            <a:p>
              <a:endParaRPr lang="zh-CN" altLang="en-US"/>
            </a:p>
          </p:txBody>
        </p:sp>
        <p:sp>
          <p:nvSpPr>
            <p:cNvPr id="56" name="TextBox 56"/>
            <p:cNvSpPr txBox="1"/>
            <p:nvPr/>
          </p:nvSpPr>
          <p:spPr>
            <a:xfrm>
              <a:off x="656272" y="5549741"/>
              <a:ext cx="1638157"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Domain / Knowledge Exposure</a:t>
              </a:r>
            </a:p>
          </p:txBody>
        </p:sp>
        <p:sp>
          <p:nvSpPr>
            <p:cNvPr id="57" name="TextBox 57"/>
            <p:cNvSpPr txBox="1"/>
            <p:nvPr/>
          </p:nvSpPr>
          <p:spPr>
            <a:xfrm>
              <a:off x="3266122" y="5549741"/>
              <a:ext cx="3387376"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General Wikidata knowledge; possible pretrained-LLM exposure</a:t>
              </a:r>
            </a:p>
          </p:txBody>
        </p:sp>
        <p:sp>
          <p:nvSpPr>
            <p:cNvPr id="58" name="Rectangle 58"/>
            <p:cNvSpPr/>
            <p:nvPr/>
          </p:nvSpPr>
          <p:spPr>
            <a:xfrm>
              <a:off x="495300" y="5772150"/>
              <a:ext cx="11201400" cy="342900"/>
            </a:xfrm>
            <a:prstGeom prst="rect">
              <a:avLst/>
            </a:prstGeom>
            <a:solidFill>
              <a:srgbClr val="F4F7F8"/>
            </a:solidFill>
            <a:ln>
              <a:noFill/>
            </a:ln>
          </p:spPr>
          <p:txBody>
            <a:bodyPr/>
            <a:lstStyle/>
            <a:p>
              <a:endParaRPr lang="zh-CN" altLang="en-US"/>
            </a:p>
          </p:txBody>
        </p:sp>
        <p:sp>
          <p:nvSpPr>
            <p:cNvPr id="59" name="TextBox 59"/>
            <p:cNvSpPr txBox="1"/>
            <p:nvPr/>
          </p:nvSpPr>
          <p:spPr>
            <a:xfrm>
              <a:off x="656272" y="5892641"/>
              <a:ext cx="1112566" cy="167640"/>
            </a:xfrm>
            <a:prstGeom prst="rect">
              <a:avLst/>
            </a:prstGeom>
            <a:noFill/>
            <a:ln>
              <a:noFill/>
            </a:ln>
          </p:spPr>
          <p:txBody>
            <a:bodyPr wrap="none" lIns="0" tIns="0" rIns="0" bIns="0" anchor="t" anchorCtr="0">
              <a:spAutoFit/>
            </a:bodyPr>
            <a:lstStyle/>
            <a:p>
              <a:pPr algn="l"/>
              <a:r>
                <a:rPr lang="zh-CN" sz="825" b="1" dirty="0">
                  <a:solidFill>
                    <a:srgbClr val="002D4C"/>
                  </a:solidFill>
                  <a:latin typeface="Arial"/>
                  <a:ea typeface="Microsoft YaHei"/>
                  <a:cs typeface="Arial"/>
                </a:rPr>
                <a:t>Relevance to Thesis</a:t>
              </a:r>
            </a:p>
          </p:txBody>
        </p:sp>
        <p:sp>
          <p:nvSpPr>
            <p:cNvPr id="60" name="TextBox 60"/>
            <p:cNvSpPr txBox="1"/>
            <p:nvPr/>
          </p:nvSpPr>
          <p:spPr>
            <a:xfrm>
              <a:off x="3266122" y="5825966"/>
              <a:ext cx="4927568"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Strong for Graph Grounding and Multi-hop Reasoning; useful for entity-based Final Answer;</a:t>
              </a:r>
            </a:p>
          </p:txBody>
        </p:sp>
        <p:sp>
          <p:nvSpPr>
            <p:cNvPr id="61" name="TextBox 61"/>
            <p:cNvSpPr txBox="1"/>
            <p:nvPr/>
          </p:nvSpPr>
          <p:spPr>
            <a:xfrm>
              <a:off x="3266122" y="5968841"/>
              <a:ext cx="1027581"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limited for Refusal</a:t>
              </a:r>
            </a:p>
          </p:txBody>
        </p:sp>
      </p:grpSp>
      <p:grpSp>
        <p:nvGrpSpPr>
          <p:cNvPr id="67" name="Group 67"/>
          <p:cNvGrpSpPr/>
          <p:nvPr/>
        </p:nvGrpSpPr>
        <p:grpSpPr>
          <a:xfrm>
            <a:off x="485775" y="6167438"/>
            <a:ext cx="11210925" cy="590550"/>
            <a:chOff x="485775" y="6167438"/>
            <a:chExt cx="11210925" cy="590550"/>
          </a:xfrm>
        </p:grpSpPr>
        <p:sp>
          <p:nvSpPr>
            <p:cNvPr id="63" name="TextBox 63"/>
            <p:cNvSpPr txBox="1"/>
            <p:nvPr/>
          </p:nvSpPr>
          <p:spPr>
            <a:xfrm>
              <a:off x="485775" y="6167438"/>
              <a:ext cx="2834402"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GTSQA Dataset Analysis in KGQA Dataset Research</a:t>
              </a:r>
            </a:p>
          </p:txBody>
        </p:sp>
        <p:sp>
          <p:nvSpPr>
            <p:cNvPr id="64" name="Line 64"/>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65" name="TextBox 65"/>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66" name="TextBox 66"/>
            <p:cNvSpPr txBox="1"/>
            <p:nvPr/>
          </p:nvSpPr>
          <p:spPr>
            <a:xfrm>
              <a:off x="10887075" y="6605588"/>
              <a:ext cx="10406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13</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400"/>
                                        <p:tgtEl>
                                          <p:spTgt spid="1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2"/>
                                        </p:tgtEl>
                                        <p:attrNameLst>
                                          <p:attrName>style.visibility</p:attrName>
                                        </p:attrNameLst>
                                      </p:cBhvr>
                                      <p:to>
                                        <p:strVal val="visible"/>
                                      </p:to>
                                    </p:set>
                                    <p:animEffect transition="in" filter="wipe(left)">
                                      <p:cBhvr>
                                        <p:cTn id="11"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6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7" name="Group 7"/>
          <p:cNvGrpSpPr/>
          <p:nvPr/>
        </p:nvGrpSpPr>
        <p:grpSpPr>
          <a:xfrm>
            <a:off x="495300" y="400050"/>
            <a:ext cx="8599503" cy="792956"/>
            <a:chOff x="495300" y="400050"/>
            <a:chExt cx="8599503" cy="792956"/>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681990" y="410528"/>
              <a:ext cx="8412813"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GTSQA: Selected Representative Graph Structures</a:t>
              </a:r>
            </a:p>
          </p:txBody>
        </p:sp>
        <p:sp>
          <p:nvSpPr>
            <p:cNvPr id="5" name="TextBox 5"/>
            <p:cNvSpPr txBox="1"/>
            <p:nvPr/>
          </p:nvSpPr>
          <p:spPr>
            <a:xfrm>
              <a:off x="719138" y="792956"/>
              <a:ext cx="4266605"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Linear depth, multi-seed intersection, and unequal-depth</a:t>
              </a:r>
            </a:p>
          </p:txBody>
        </p:sp>
        <p:sp>
          <p:nvSpPr>
            <p:cNvPr id="6" name="TextBox 6"/>
            <p:cNvSpPr txBox="1"/>
            <p:nvPr/>
          </p:nvSpPr>
          <p:spPr>
            <a:xfrm>
              <a:off x="719138" y="964406"/>
              <a:ext cx="1558766" cy="228600"/>
            </a:xfrm>
            <a:prstGeom prst="rect">
              <a:avLst/>
            </a:prstGeom>
            <a:noFill/>
            <a:ln>
              <a:noFill/>
            </a:ln>
          </p:spPr>
          <p:txBody>
            <a:bodyPr wrap="none" lIns="0" tIns="0" rIns="0" bIns="0" anchor="t" anchorCtr="0">
              <a:spAutoFit/>
            </a:bodyPr>
            <a:lstStyle/>
            <a:p>
              <a:pPr algn="l"/>
              <a:r>
                <a:rPr lang="zh-CN" sz="1125" dirty="0">
                  <a:solidFill>
                    <a:srgbClr val="526671"/>
                  </a:solidFill>
                  <a:latin typeface="Arial"/>
                  <a:ea typeface="Microsoft YaHei"/>
                  <a:cs typeface="Arial"/>
                </a:rPr>
                <a:t>evidence composition</a:t>
              </a:r>
            </a:p>
          </p:txBody>
        </p:sp>
      </p:grpSp>
      <p:grpSp>
        <p:nvGrpSpPr>
          <p:cNvPr id="79" name="Group 79"/>
          <p:cNvGrpSpPr/>
          <p:nvPr/>
        </p:nvGrpSpPr>
        <p:grpSpPr>
          <a:xfrm>
            <a:off x="495300" y="1295400"/>
            <a:ext cx="11201400" cy="4819650"/>
            <a:chOff x="495300" y="1295400"/>
            <a:chExt cx="11201400" cy="4819650"/>
          </a:xfrm>
        </p:grpSpPr>
        <p:sp>
          <p:nvSpPr>
            <p:cNvPr id="8" name="Rectangle 8"/>
            <p:cNvSpPr/>
            <p:nvPr/>
          </p:nvSpPr>
          <p:spPr>
            <a:xfrm>
              <a:off x="495300" y="1295400"/>
              <a:ext cx="11201400" cy="495300"/>
            </a:xfrm>
            <a:prstGeom prst="rect">
              <a:avLst/>
            </a:prstGeom>
            <a:solidFill>
              <a:srgbClr val="002D4C"/>
            </a:solidFill>
            <a:ln>
              <a:noFill/>
            </a:ln>
          </p:spPr>
          <p:txBody>
            <a:bodyPr/>
            <a:lstStyle/>
            <a:p>
              <a:endParaRPr lang="zh-CN" altLang="en-US"/>
            </a:p>
          </p:txBody>
        </p:sp>
        <p:sp>
          <p:nvSpPr>
            <p:cNvPr id="9" name="TextBox 9"/>
            <p:cNvSpPr txBox="1"/>
            <p:nvPr/>
          </p:nvSpPr>
          <p:spPr>
            <a:xfrm>
              <a:off x="897490" y="1406366"/>
              <a:ext cx="33862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GRAPH</a:t>
              </a:r>
            </a:p>
          </p:txBody>
        </p:sp>
        <p:sp>
          <p:nvSpPr>
            <p:cNvPr id="10" name="TextBox 10"/>
            <p:cNvSpPr txBox="1"/>
            <p:nvPr/>
          </p:nvSpPr>
          <p:spPr>
            <a:xfrm>
              <a:off x="770424" y="1568291"/>
              <a:ext cx="592751"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STRUCTURE</a:t>
              </a:r>
            </a:p>
          </p:txBody>
        </p:sp>
        <p:sp>
          <p:nvSpPr>
            <p:cNvPr id="11" name="TextBox 11"/>
            <p:cNvSpPr txBox="1"/>
            <p:nvPr/>
          </p:nvSpPr>
          <p:spPr>
            <a:xfrm>
              <a:off x="2479509" y="1492091"/>
              <a:ext cx="144178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REPRESENTATIVE QUESTION</a:t>
              </a:r>
            </a:p>
          </p:txBody>
        </p:sp>
        <p:sp>
          <p:nvSpPr>
            <p:cNvPr id="12" name="TextBox 12"/>
            <p:cNvSpPr txBox="1"/>
            <p:nvPr/>
          </p:nvSpPr>
          <p:spPr>
            <a:xfrm>
              <a:off x="5434582" y="1406366"/>
              <a:ext cx="275087"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SEED</a:t>
              </a:r>
            </a:p>
          </p:txBody>
        </p:sp>
        <p:sp>
          <p:nvSpPr>
            <p:cNvPr id="13" name="TextBox 13"/>
            <p:cNvSpPr txBox="1"/>
            <p:nvPr/>
          </p:nvSpPr>
          <p:spPr>
            <a:xfrm>
              <a:off x="5336394" y="1568291"/>
              <a:ext cx="471461"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ENTITIES</a:t>
              </a:r>
            </a:p>
          </p:txBody>
        </p:sp>
        <p:sp>
          <p:nvSpPr>
            <p:cNvPr id="14" name="TextBox 14"/>
            <p:cNvSpPr txBox="1"/>
            <p:nvPr/>
          </p:nvSpPr>
          <p:spPr>
            <a:xfrm>
              <a:off x="7080486" y="1406366"/>
              <a:ext cx="1002828"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EXPECTED SOLVING</a:t>
              </a:r>
            </a:p>
          </p:txBody>
        </p:sp>
        <p:sp>
          <p:nvSpPr>
            <p:cNvPr id="15" name="TextBox 15"/>
            <p:cNvSpPr txBox="1"/>
            <p:nvPr/>
          </p:nvSpPr>
          <p:spPr>
            <a:xfrm>
              <a:off x="7317291" y="1568291"/>
              <a:ext cx="529219"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STRATEGY</a:t>
              </a:r>
            </a:p>
          </p:txBody>
        </p:sp>
        <p:sp>
          <p:nvSpPr>
            <p:cNvPr id="16" name="TextBox 16"/>
            <p:cNvSpPr txBox="1"/>
            <p:nvPr/>
          </p:nvSpPr>
          <p:spPr>
            <a:xfrm>
              <a:off x="8950472" y="1406366"/>
              <a:ext cx="234657"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HOP</a:t>
              </a:r>
            </a:p>
          </p:txBody>
        </p:sp>
        <p:sp>
          <p:nvSpPr>
            <p:cNvPr id="17" name="TextBox 17"/>
            <p:cNvSpPr txBox="1"/>
            <p:nvPr/>
          </p:nvSpPr>
          <p:spPr>
            <a:xfrm>
              <a:off x="8886939" y="1568291"/>
              <a:ext cx="36172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COUNT</a:t>
              </a:r>
            </a:p>
          </p:txBody>
        </p:sp>
        <p:sp>
          <p:nvSpPr>
            <p:cNvPr id="18" name="TextBox 18"/>
            <p:cNvSpPr txBox="1"/>
            <p:nvPr/>
          </p:nvSpPr>
          <p:spPr>
            <a:xfrm>
              <a:off x="9671180" y="1406366"/>
              <a:ext cx="29819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GOLD</a:t>
              </a:r>
            </a:p>
          </p:txBody>
        </p:sp>
        <p:sp>
          <p:nvSpPr>
            <p:cNvPr id="19" name="TextBox 19"/>
            <p:cNvSpPr txBox="1"/>
            <p:nvPr/>
          </p:nvSpPr>
          <p:spPr>
            <a:xfrm>
              <a:off x="9607647" y="1568291"/>
              <a:ext cx="425256"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ANSWER</a:t>
              </a:r>
            </a:p>
          </p:txBody>
        </p:sp>
        <p:sp>
          <p:nvSpPr>
            <p:cNvPr id="20" name="TextBox 20"/>
            <p:cNvSpPr txBox="1"/>
            <p:nvPr/>
          </p:nvSpPr>
          <p:spPr>
            <a:xfrm>
              <a:off x="10525090" y="1406366"/>
              <a:ext cx="933519"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MAIN EVALUATION</a:t>
              </a:r>
            </a:p>
          </p:txBody>
        </p:sp>
        <p:sp>
          <p:nvSpPr>
            <p:cNvPr id="21" name="TextBox 21"/>
            <p:cNvSpPr txBox="1"/>
            <p:nvPr/>
          </p:nvSpPr>
          <p:spPr>
            <a:xfrm>
              <a:off x="10822540" y="1568291"/>
              <a:ext cx="33862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VALUE</a:t>
              </a:r>
            </a:p>
          </p:txBody>
        </p:sp>
        <p:sp>
          <p:nvSpPr>
            <p:cNvPr id="22" name="Rectangle 22"/>
            <p:cNvSpPr/>
            <p:nvPr/>
          </p:nvSpPr>
          <p:spPr>
            <a:xfrm>
              <a:off x="495300" y="1790700"/>
              <a:ext cx="11201400" cy="1438275"/>
            </a:xfrm>
            <a:prstGeom prst="rect">
              <a:avLst/>
            </a:prstGeom>
            <a:solidFill>
              <a:srgbClr val="EAF6F4"/>
            </a:solidFill>
            <a:ln>
              <a:noFill/>
            </a:ln>
          </p:spPr>
          <p:txBody>
            <a:bodyPr/>
            <a:lstStyle/>
            <a:p>
              <a:endParaRPr lang="zh-CN" altLang="en-US"/>
            </a:p>
          </p:txBody>
        </p:sp>
        <p:sp>
          <p:nvSpPr>
            <p:cNvPr id="23" name="TextBox 23"/>
            <p:cNvSpPr txBox="1"/>
            <p:nvPr/>
          </p:nvSpPr>
          <p:spPr>
            <a:xfrm>
              <a:off x="941791" y="2295049"/>
              <a:ext cx="250018" cy="198120"/>
            </a:xfrm>
            <a:prstGeom prst="rect">
              <a:avLst/>
            </a:prstGeom>
            <a:noFill/>
            <a:ln>
              <a:noFill/>
            </a:ln>
          </p:spPr>
          <p:txBody>
            <a:bodyPr wrap="none" lIns="0" tIns="0" rIns="0" bIns="0" anchor="t" anchorCtr="0">
              <a:spAutoFit/>
            </a:bodyPr>
            <a:lstStyle/>
            <a:p>
              <a:pPr algn="ctr"/>
              <a:r>
                <a:rPr lang="zh-CN" sz="975" b="1" dirty="0">
                  <a:solidFill>
                    <a:srgbClr val="005A50"/>
                  </a:solidFill>
                  <a:latin typeface="Consolas"/>
                  <a:ea typeface="Microsoft YaHei"/>
                  <a:cs typeface="Consolas"/>
                </a:rPr>
                <a:t>(4)</a:t>
              </a:r>
            </a:p>
          </p:txBody>
        </p:sp>
        <p:sp>
          <p:nvSpPr>
            <p:cNvPr id="24" name="TextBox 24"/>
            <p:cNvSpPr txBox="1"/>
            <p:nvPr/>
          </p:nvSpPr>
          <p:spPr>
            <a:xfrm>
              <a:off x="822338" y="2495074"/>
              <a:ext cx="488923" cy="198120"/>
            </a:xfrm>
            <a:prstGeom prst="rect">
              <a:avLst/>
            </a:prstGeom>
            <a:noFill/>
            <a:ln>
              <a:noFill/>
            </a:ln>
          </p:spPr>
          <p:txBody>
            <a:bodyPr wrap="none" lIns="0" tIns="0" rIns="0" bIns="0" anchor="t" anchorCtr="0">
              <a:spAutoFit/>
            </a:bodyPr>
            <a:lstStyle/>
            <a:p>
              <a:pPr algn="ctr"/>
              <a:r>
                <a:rPr lang="zh-CN" sz="975" b="1" dirty="0">
                  <a:solidFill>
                    <a:srgbClr val="005A50"/>
                  </a:solidFill>
                  <a:latin typeface="Consolas"/>
                  <a:ea typeface="Microsoft YaHei"/>
                  <a:cs typeface="Consolas"/>
                </a:rPr>
                <a:t>ID 13761</a:t>
              </a:r>
            </a:p>
          </p:txBody>
        </p:sp>
        <p:sp>
          <p:nvSpPr>
            <p:cNvPr id="25" name="TextBox 25"/>
            <p:cNvSpPr txBox="1"/>
            <p:nvPr/>
          </p:nvSpPr>
          <p:spPr>
            <a:xfrm>
              <a:off x="1798320" y="2055495"/>
              <a:ext cx="1439037"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On which continent does</a:t>
              </a:r>
            </a:p>
          </p:txBody>
        </p:sp>
        <p:sp>
          <p:nvSpPr>
            <p:cNvPr id="26" name="TextBox 26"/>
            <p:cNvSpPr txBox="1"/>
            <p:nvPr/>
          </p:nvSpPr>
          <p:spPr>
            <a:xfrm>
              <a:off x="1798320" y="2245995"/>
              <a:ext cx="1595056"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the river that the Vendline</a:t>
              </a:r>
            </a:p>
          </p:txBody>
        </p:sp>
        <p:sp>
          <p:nvSpPr>
            <p:cNvPr id="27" name="TextBox 27"/>
            <p:cNvSpPr txBox="1"/>
            <p:nvPr/>
          </p:nvSpPr>
          <p:spPr>
            <a:xfrm>
              <a:off x="1798320" y="2436495"/>
              <a:ext cx="1709071"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flows into eventually empty?</a:t>
              </a:r>
            </a:p>
          </p:txBody>
        </p:sp>
        <p:sp>
          <p:nvSpPr>
            <p:cNvPr id="28" name="TextBox 28"/>
            <p:cNvSpPr txBox="1"/>
            <p:nvPr/>
          </p:nvSpPr>
          <p:spPr>
            <a:xfrm>
              <a:off x="5326666" y="2417445"/>
              <a:ext cx="490919" cy="182880"/>
            </a:xfrm>
            <a:prstGeom prst="rect">
              <a:avLst/>
            </a:prstGeom>
            <a:noFill/>
            <a:ln>
              <a:noFill/>
            </a:ln>
          </p:spPr>
          <p:txBody>
            <a:bodyPr wrap="none" lIns="0" tIns="0" rIns="0" bIns="0" anchor="t" anchorCtr="0">
              <a:spAutoFit/>
            </a:bodyPr>
            <a:lstStyle/>
            <a:p>
              <a:pPr algn="ctr"/>
              <a:r>
                <a:rPr lang="zh-CN" sz="900" dirty="0">
                  <a:solidFill>
                    <a:srgbClr val="002D4C"/>
                  </a:solidFill>
                  <a:latin typeface="Arial"/>
                  <a:ea typeface="Microsoft YaHei"/>
                  <a:cs typeface="Arial"/>
                </a:rPr>
                <a:t>Vendline</a:t>
              </a:r>
            </a:p>
          </p:txBody>
        </p:sp>
        <p:sp>
          <p:nvSpPr>
            <p:cNvPr id="29" name="TextBox 29"/>
            <p:cNvSpPr txBox="1"/>
            <p:nvPr/>
          </p:nvSpPr>
          <p:spPr>
            <a:xfrm>
              <a:off x="6522720" y="2150745"/>
              <a:ext cx="1187005"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Four-hop sequential</a:t>
              </a:r>
            </a:p>
          </p:txBody>
        </p:sp>
        <p:sp>
          <p:nvSpPr>
            <p:cNvPr id="30" name="TextBox 30"/>
            <p:cNvSpPr txBox="1"/>
            <p:nvPr/>
          </p:nvSpPr>
          <p:spPr>
            <a:xfrm>
              <a:off x="6522720" y="2341245"/>
              <a:ext cx="1090993" cy="182880"/>
            </a:xfrm>
            <a:prstGeom prst="rect">
              <a:avLst/>
            </a:prstGeom>
            <a:noFill/>
            <a:ln>
              <a:noFill/>
            </a:ln>
          </p:spPr>
          <p:txBody>
            <a:bodyPr wrap="none" lIns="0" tIns="0" rIns="0" bIns="0" anchor="t" anchorCtr="0">
              <a:spAutoFit/>
            </a:bodyPr>
            <a:lstStyle/>
            <a:p>
              <a:pPr algn="l"/>
              <a:r>
                <a:rPr lang="zh-CN" sz="900" dirty="0">
                  <a:solidFill>
                    <a:srgbClr val="002D4C"/>
                  </a:solidFill>
                  <a:latin typeface="Arial"/>
                  <a:ea typeface="Microsoft YaHei"/>
                  <a:cs typeface="Arial"/>
                </a:rPr>
                <a:t>relation traversal</a:t>
              </a:r>
            </a:p>
          </p:txBody>
        </p:sp>
        <p:sp>
          <p:nvSpPr>
            <p:cNvPr id="31" name="TextBox 31"/>
            <p:cNvSpPr txBox="1"/>
            <p:nvPr/>
          </p:nvSpPr>
          <p:spPr>
            <a:xfrm>
              <a:off x="9017875" y="2409349"/>
              <a:ext cx="99849"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4</a:t>
              </a:r>
            </a:p>
          </p:txBody>
        </p:sp>
        <p:sp>
          <p:nvSpPr>
            <p:cNvPr id="32" name="TextBox 32"/>
            <p:cNvSpPr txBox="1"/>
            <p:nvPr/>
          </p:nvSpPr>
          <p:spPr>
            <a:xfrm>
              <a:off x="9600919" y="2417445"/>
              <a:ext cx="438712"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Europe</a:t>
              </a:r>
            </a:p>
          </p:txBody>
        </p:sp>
        <p:sp>
          <p:nvSpPr>
            <p:cNvPr id="33" name="TextBox 33"/>
            <p:cNvSpPr txBox="1"/>
            <p:nvPr/>
          </p:nvSpPr>
          <p:spPr>
            <a:xfrm>
              <a:off x="10352722" y="2063591"/>
              <a:ext cx="598527"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Long-chain</a:t>
              </a:r>
            </a:p>
          </p:txBody>
        </p:sp>
        <p:sp>
          <p:nvSpPr>
            <p:cNvPr id="34" name="TextBox 34"/>
            <p:cNvSpPr txBox="1"/>
            <p:nvPr/>
          </p:nvSpPr>
          <p:spPr>
            <a:xfrm>
              <a:off x="10352722" y="2235041"/>
              <a:ext cx="532519"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Multi-hop</a:t>
              </a:r>
            </a:p>
          </p:txBody>
        </p:sp>
        <p:sp>
          <p:nvSpPr>
            <p:cNvPr id="35" name="TextBox 35"/>
            <p:cNvSpPr txBox="1"/>
            <p:nvPr/>
          </p:nvSpPr>
          <p:spPr>
            <a:xfrm>
              <a:off x="10352722" y="2406491"/>
              <a:ext cx="538020"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Reasoning</a:t>
              </a:r>
            </a:p>
          </p:txBody>
        </p:sp>
        <p:sp>
          <p:nvSpPr>
            <p:cNvPr id="36" name="Rectangle 36"/>
            <p:cNvSpPr/>
            <p:nvPr/>
          </p:nvSpPr>
          <p:spPr>
            <a:xfrm>
              <a:off x="495300" y="3228975"/>
              <a:ext cx="11201400" cy="1438275"/>
            </a:xfrm>
            <a:prstGeom prst="rect">
              <a:avLst/>
            </a:prstGeom>
            <a:solidFill>
              <a:srgbClr val="F4F7F8"/>
            </a:solidFill>
            <a:ln>
              <a:noFill/>
            </a:ln>
          </p:spPr>
          <p:txBody>
            <a:bodyPr/>
            <a:lstStyle/>
            <a:p>
              <a:endParaRPr lang="zh-CN" altLang="en-US"/>
            </a:p>
          </p:txBody>
        </p:sp>
        <p:sp>
          <p:nvSpPr>
            <p:cNvPr id="37" name="TextBox 37"/>
            <p:cNvSpPr txBox="1"/>
            <p:nvPr/>
          </p:nvSpPr>
          <p:spPr>
            <a:xfrm>
              <a:off x="809639" y="3741420"/>
              <a:ext cx="514321" cy="182880"/>
            </a:xfrm>
            <a:prstGeom prst="rect">
              <a:avLst/>
            </a:prstGeom>
            <a:noFill/>
            <a:ln>
              <a:noFill/>
            </a:ln>
          </p:spPr>
          <p:txBody>
            <a:bodyPr wrap="none" lIns="0" tIns="0" rIns="0" bIns="0" anchor="t" anchorCtr="0">
              <a:spAutoFit/>
            </a:bodyPr>
            <a:lstStyle/>
            <a:p>
              <a:pPr algn="ctr"/>
              <a:r>
                <a:rPr lang="zh-CN" sz="900" b="1" dirty="0">
                  <a:solidFill>
                    <a:srgbClr val="005A50"/>
                  </a:solidFill>
                  <a:latin typeface="Consolas"/>
                  <a:ea typeface="Microsoft YaHei"/>
                  <a:cs typeface="Consolas"/>
                </a:rPr>
                <a:t>((1)(1))</a:t>
              </a:r>
            </a:p>
          </p:txBody>
        </p:sp>
        <p:sp>
          <p:nvSpPr>
            <p:cNvPr id="38" name="TextBox 38"/>
            <p:cNvSpPr txBox="1"/>
            <p:nvPr/>
          </p:nvSpPr>
          <p:spPr>
            <a:xfrm>
              <a:off x="860046" y="3941445"/>
              <a:ext cx="413509" cy="182880"/>
            </a:xfrm>
            <a:prstGeom prst="rect">
              <a:avLst/>
            </a:prstGeom>
            <a:noFill/>
            <a:ln>
              <a:noFill/>
            </a:ln>
          </p:spPr>
          <p:txBody>
            <a:bodyPr wrap="none" lIns="0" tIns="0" rIns="0" bIns="0" anchor="t" anchorCtr="0">
              <a:spAutoFit/>
            </a:bodyPr>
            <a:lstStyle/>
            <a:p>
              <a:pPr algn="ctr"/>
              <a:r>
                <a:rPr lang="zh-CN" sz="900" b="1" dirty="0">
                  <a:solidFill>
                    <a:srgbClr val="005A50"/>
                  </a:solidFill>
                  <a:latin typeface="Consolas"/>
                  <a:ea typeface="Microsoft YaHei"/>
                  <a:cs typeface="Consolas"/>
                </a:rPr>
                <a:t>ID 5104</a:t>
              </a:r>
            </a:p>
          </p:txBody>
        </p:sp>
        <p:sp>
          <p:nvSpPr>
            <p:cNvPr id="39" name="TextBox 39"/>
            <p:cNvSpPr txBox="1"/>
            <p:nvPr/>
          </p:nvSpPr>
          <p:spPr>
            <a:xfrm>
              <a:off x="1799272" y="3444716"/>
              <a:ext cx="1599652"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What language does the actor</a:t>
              </a:r>
            </a:p>
          </p:txBody>
        </p:sp>
        <p:sp>
          <p:nvSpPr>
            <p:cNvPr id="40" name="TextBox 40"/>
            <p:cNvSpPr txBox="1"/>
            <p:nvPr/>
          </p:nvSpPr>
          <p:spPr>
            <a:xfrm>
              <a:off x="1799272" y="3616166"/>
              <a:ext cx="1511641"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who appeared in both Casino</a:t>
              </a:r>
            </a:p>
          </p:txBody>
        </p:sp>
        <p:sp>
          <p:nvSpPr>
            <p:cNvPr id="41" name="TextBox 41"/>
            <p:cNvSpPr txBox="1"/>
            <p:nvPr/>
          </p:nvSpPr>
          <p:spPr>
            <a:xfrm>
              <a:off x="1799272" y="3787616"/>
              <a:ext cx="1445633"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Royale and The Tournament</a:t>
              </a:r>
            </a:p>
          </p:txBody>
        </p:sp>
        <p:sp>
          <p:nvSpPr>
            <p:cNvPr id="42" name="TextBox 42"/>
            <p:cNvSpPr txBox="1"/>
            <p:nvPr/>
          </p:nvSpPr>
          <p:spPr>
            <a:xfrm>
              <a:off x="1799272" y="3959066"/>
              <a:ext cx="384000"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speak?</a:t>
              </a:r>
            </a:p>
          </p:txBody>
        </p:sp>
        <p:sp>
          <p:nvSpPr>
            <p:cNvPr id="43" name="TextBox 43"/>
            <p:cNvSpPr txBox="1"/>
            <p:nvPr/>
          </p:nvSpPr>
          <p:spPr>
            <a:xfrm>
              <a:off x="5179350" y="3616166"/>
              <a:ext cx="785551" cy="167640"/>
            </a:xfrm>
            <a:prstGeom prst="rect">
              <a:avLst/>
            </a:prstGeom>
            <a:noFill/>
            <a:ln>
              <a:noFill/>
            </a:ln>
          </p:spPr>
          <p:txBody>
            <a:bodyPr wrap="none" lIns="0" tIns="0" rIns="0" bIns="0" anchor="t" anchorCtr="0">
              <a:spAutoFit/>
            </a:bodyPr>
            <a:lstStyle/>
            <a:p>
              <a:pPr algn="ctr"/>
              <a:r>
                <a:rPr lang="zh-CN" sz="825" dirty="0">
                  <a:solidFill>
                    <a:srgbClr val="002D4C"/>
                  </a:solidFill>
                  <a:latin typeface="Arial"/>
                  <a:ea typeface="Microsoft YaHei"/>
                  <a:cs typeface="Arial"/>
                </a:rPr>
                <a:t>Casino Royale;</a:t>
              </a:r>
            </a:p>
          </p:txBody>
        </p:sp>
        <p:sp>
          <p:nvSpPr>
            <p:cNvPr id="44" name="TextBox 44"/>
            <p:cNvSpPr txBox="1"/>
            <p:nvPr/>
          </p:nvSpPr>
          <p:spPr>
            <a:xfrm>
              <a:off x="5140845" y="3787616"/>
              <a:ext cx="862560" cy="167640"/>
            </a:xfrm>
            <a:prstGeom prst="rect">
              <a:avLst/>
            </a:prstGeom>
            <a:noFill/>
            <a:ln>
              <a:noFill/>
            </a:ln>
          </p:spPr>
          <p:txBody>
            <a:bodyPr wrap="none" lIns="0" tIns="0" rIns="0" bIns="0" anchor="t" anchorCtr="0">
              <a:spAutoFit/>
            </a:bodyPr>
            <a:lstStyle/>
            <a:p>
              <a:pPr algn="ctr"/>
              <a:r>
                <a:rPr lang="zh-CN" sz="825" dirty="0">
                  <a:solidFill>
                    <a:srgbClr val="002D4C"/>
                  </a:solidFill>
                  <a:latin typeface="Arial"/>
                  <a:ea typeface="Microsoft YaHei"/>
                  <a:cs typeface="Arial"/>
                </a:rPr>
                <a:t>The Tournament</a:t>
              </a:r>
            </a:p>
          </p:txBody>
        </p:sp>
        <p:sp>
          <p:nvSpPr>
            <p:cNvPr id="45" name="TextBox 45"/>
            <p:cNvSpPr txBox="1"/>
            <p:nvPr/>
          </p:nvSpPr>
          <p:spPr>
            <a:xfrm>
              <a:off x="6523672" y="3444716"/>
              <a:ext cx="1297114"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Multi-seed intersection</a:t>
              </a:r>
            </a:p>
          </p:txBody>
        </p:sp>
        <p:sp>
          <p:nvSpPr>
            <p:cNvPr id="46" name="TextBox 46"/>
            <p:cNvSpPr txBox="1"/>
            <p:nvPr/>
          </p:nvSpPr>
          <p:spPr>
            <a:xfrm>
              <a:off x="6523672" y="3616166"/>
              <a:ext cx="1093589"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to identify a shared</a:t>
              </a:r>
            </a:p>
          </p:txBody>
        </p:sp>
        <p:sp>
          <p:nvSpPr>
            <p:cNvPr id="47" name="TextBox 47"/>
            <p:cNvSpPr txBox="1"/>
            <p:nvPr/>
          </p:nvSpPr>
          <p:spPr>
            <a:xfrm>
              <a:off x="6523672" y="3787616"/>
              <a:ext cx="1143095"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intermediate entity,</a:t>
              </a:r>
            </a:p>
          </p:txBody>
        </p:sp>
        <p:sp>
          <p:nvSpPr>
            <p:cNvPr id="48" name="TextBox 48"/>
            <p:cNvSpPr txBox="1"/>
            <p:nvPr/>
          </p:nvSpPr>
          <p:spPr>
            <a:xfrm>
              <a:off x="6523672" y="3959066"/>
              <a:ext cx="1209103"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followed by projection</a:t>
              </a:r>
            </a:p>
          </p:txBody>
        </p:sp>
        <p:sp>
          <p:nvSpPr>
            <p:cNvPr id="49" name="TextBox 49"/>
            <p:cNvSpPr txBox="1"/>
            <p:nvPr/>
          </p:nvSpPr>
          <p:spPr>
            <a:xfrm>
              <a:off x="9017875" y="3847624"/>
              <a:ext cx="99849"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2</a:t>
              </a:r>
            </a:p>
          </p:txBody>
        </p:sp>
        <p:sp>
          <p:nvSpPr>
            <p:cNvPr id="50" name="TextBox 50"/>
            <p:cNvSpPr txBox="1"/>
            <p:nvPr/>
          </p:nvSpPr>
          <p:spPr>
            <a:xfrm>
              <a:off x="9600919" y="3855720"/>
              <a:ext cx="438712" cy="182880"/>
            </a:xfrm>
            <a:prstGeom prst="rect">
              <a:avLst/>
            </a:prstGeom>
            <a:noFill/>
            <a:ln>
              <a:noFill/>
            </a:ln>
          </p:spPr>
          <p:txBody>
            <a:bodyPr wrap="none" lIns="0" tIns="0" rIns="0" bIns="0" anchor="t" anchorCtr="0">
              <a:spAutoFit/>
            </a:bodyPr>
            <a:lstStyle/>
            <a:p>
              <a:pPr algn="ctr"/>
              <a:r>
                <a:rPr lang="zh-CN" sz="900" b="1" dirty="0">
                  <a:solidFill>
                    <a:srgbClr val="002D4C"/>
                  </a:solidFill>
                  <a:latin typeface="Arial"/>
                  <a:ea typeface="Microsoft YaHei"/>
                  <a:cs typeface="Arial"/>
                </a:rPr>
                <a:t>French</a:t>
              </a:r>
            </a:p>
          </p:txBody>
        </p:sp>
        <p:sp>
          <p:nvSpPr>
            <p:cNvPr id="51" name="TextBox 51"/>
            <p:cNvSpPr txBox="1"/>
            <p:nvPr/>
          </p:nvSpPr>
          <p:spPr>
            <a:xfrm>
              <a:off x="10352722" y="3616166"/>
              <a:ext cx="692039"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Intersection</a:t>
              </a:r>
            </a:p>
          </p:txBody>
        </p:sp>
        <p:sp>
          <p:nvSpPr>
            <p:cNvPr id="52" name="TextBox 52"/>
            <p:cNvSpPr txBox="1"/>
            <p:nvPr/>
          </p:nvSpPr>
          <p:spPr>
            <a:xfrm>
              <a:off x="10352722" y="3787616"/>
              <a:ext cx="598527"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reasoning;</a:t>
              </a:r>
            </a:p>
          </p:txBody>
        </p:sp>
        <p:sp>
          <p:nvSpPr>
            <p:cNvPr id="53" name="TextBox 53"/>
            <p:cNvSpPr txBox="1"/>
            <p:nvPr/>
          </p:nvSpPr>
          <p:spPr>
            <a:xfrm>
              <a:off x="10352722" y="3959066"/>
              <a:ext cx="873562"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Graph Grounding</a:t>
              </a:r>
            </a:p>
          </p:txBody>
        </p:sp>
        <p:sp>
          <p:nvSpPr>
            <p:cNvPr id="54" name="Rectangle 54"/>
            <p:cNvSpPr/>
            <p:nvPr/>
          </p:nvSpPr>
          <p:spPr>
            <a:xfrm>
              <a:off x="495300" y="4667250"/>
              <a:ext cx="11201400" cy="1447800"/>
            </a:xfrm>
            <a:prstGeom prst="rect">
              <a:avLst/>
            </a:prstGeom>
            <a:solidFill>
              <a:srgbClr val="EAF6F4"/>
            </a:solidFill>
            <a:ln>
              <a:noFill/>
            </a:ln>
          </p:spPr>
          <p:txBody>
            <a:bodyPr/>
            <a:lstStyle/>
            <a:p>
              <a:endParaRPr lang="zh-CN" altLang="en-US"/>
            </a:p>
          </p:txBody>
        </p:sp>
        <p:sp>
          <p:nvSpPr>
            <p:cNvPr id="55" name="TextBox 55"/>
            <p:cNvSpPr txBox="1"/>
            <p:nvPr/>
          </p:nvSpPr>
          <p:spPr>
            <a:xfrm>
              <a:off x="846229" y="5171599"/>
              <a:ext cx="441142" cy="198120"/>
            </a:xfrm>
            <a:prstGeom prst="rect">
              <a:avLst/>
            </a:prstGeom>
            <a:noFill/>
            <a:ln>
              <a:noFill/>
            </a:ln>
          </p:spPr>
          <p:txBody>
            <a:bodyPr wrap="none" lIns="0" tIns="0" rIns="0" bIns="0" anchor="t" anchorCtr="0">
              <a:spAutoFit/>
            </a:bodyPr>
            <a:lstStyle/>
            <a:p>
              <a:pPr algn="ctr"/>
              <a:r>
                <a:rPr lang="zh-CN" sz="975" b="1" dirty="0">
                  <a:solidFill>
                    <a:srgbClr val="005A50"/>
                  </a:solidFill>
                  <a:latin typeface="Consolas"/>
                  <a:ea typeface="Microsoft YaHei"/>
                  <a:cs typeface="Consolas"/>
                </a:rPr>
                <a:t>(3)(1)</a:t>
              </a:r>
            </a:p>
          </p:txBody>
        </p:sp>
        <p:sp>
          <p:nvSpPr>
            <p:cNvPr id="56" name="TextBox 56"/>
            <p:cNvSpPr txBox="1"/>
            <p:nvPr/>
          </p:nvSpPr>
          <p:spPr>
            <a:xfrm>
              <a:off x="788209" y="5371624"/>
              <a:ext cx="557182" cy="198120"/>
            </a:xfrm>
            <a:prstGeom prst="rect">
              <a:avLst/>
            </a:prstGeom>
            <a:noFill/>
            <a:ln>
              <a:noFill/>
            </a:ln>
          </p:spPr>
          <p:txBody>
            <a:bodyPr wrap="none" lIns="0" tIns="0" rIns="0" bIns="0" anchor="t" anchorCtr="0">
              <a:spAutoFit/>
            </a:bodyPr>
            <a:lstStyle/>
            <a:p>
              <a:pPr algn="ctr"/>
              <a:r>
                <a:rPr lang="zh-CN" sz="975" b="1" dirty="0">
                  <a:solidFill>
                    <a:srgbClr val="005A50"/>
                  </a:solidFill>
                  <a:latin typeface="Consolas"/>
                  <a:ea typeface="Microsoft YaHei"/>
                  <a:cs typeface="Consolas"/>
                </a:rPr>
                <a:t>ID 36090</a:t>
              </a:r>
            </a:p>
          </p:txBody>
        </p:sp>
        <p:sp>
          <p:nvSpPr>
            <p:cNvPr id="57" name="TextBox 57"/>
            <p:cNvSpPr txBox="1"/>
            <p:nvPr/>
          </p:nvSpPr>
          <p:spPr>
            <a:xfrm>
              <a:off x="1799272" y="4882991"/>
              <a:ext cx="1682163"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What instrument do both Tabea</a:t>
              </a:r>
            </a:p>
          </p:txBody>
        </p:sp>
        <p:sp>
          <p:nvSpPr>
            <p:cNvPr id="58" name="TextBox 58"/>
            <p:cNvSpPr txBox="1"/>
            <p:nvPr/>
          </p:nvSpPr>
          <p:spPr>
            <a:xfrm>
              <a:off x="1799272" y="5054441"/>
              <a:ext cx="1632656"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Zimmermann and the composer</a:t>
              </a:r>
            </a:p>
          </p:txBody>
        </p:sp>
        <p:sp>
          <p:nvSpPr>
            <p:cNvPr id="59" name="TextBox 59"/>
            <p:cNvSpPr txBox="1"/>
            <p:nvPr/>
          </p:nvSpPr>
          <p:spPr>
            <a:xfrm>
              <a:off x="1799272" y="5225891"/>
              <a:ext cx="1313617"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of the original piece for</a:t>
              </a:r>
            </a:p>
          </p:txBody>
        </p:sp>
        <p:sp>
          <p:nvSpPr>
            <p:cNvPr id="60" name="TextBox 60"/>
            <p:cNvSpPr txBox="1"/>
            <p:nvPr/>
          </p:nvSpPr>
          <p:spPr>
            <a:xfrm>
              <a:off x="1799272" y="5397341"/>
              <a:ext cx="840557"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Ave Maria play?</a:t>
              </a:r>
            </a:p>
          </p:txBody>
        </p:sp>
        <p:sp>
          <p:nvSpPr>
            <p:cNvPr id="61" name="TextBox 61"/>
            <p:cNvSpPr txBox="1"/>
            <p:nvPr/>
          </p:nvSpPr>
          <p:spPr>
            <a:xfrm>
              <a:off x="5041833" y="5054441"/>
              <a:ext cx="1060585" cy="167640"/>
            </a:xfrm>
            <a:prstGeom prst="rect">
              <a:avLst/>
            </a:prstGeom>
            <a:noFill/>
            <a:ln>
              <a:noFill/>
            </a:ln>
          </p:spPr>
          <p:txBody>
            <a:bodyPr wrap="none" lIns="0" tIns="0" rIns="0" bIns="0" anchor="t" anchorCtr="0">
              <a:spAutoFit/>
            </a:bodyPr>
            <a:lstStyle/>
            <a:p>
              <a:pPr algn="ctr"/>
              <a:r>
                <a:rPr lang="zh-CN" sz="825" dirty="0">
                  <a:solidFill>
                    <a:srgbClr val="002D4C"/>
                  </a:solidFill>
                  <a:latin typeface="Arial"/>
                  <a:ea typeface="Microsoft YaHei"/>
                  <a:cs typeface="Arial"/>
                </a:rPr>
                <a:t>Tabea Zimmermann;</a:t>
              </a:r>
            </a:p>
          </p:txBody>
        </p:sp>
        <p:sp>
          <p:nvSpPr>
            <p:cNvPr id="62" name="TextBox 62"/>
            <p:cNvSpPr txBox="1"/>
            <p:nvPr/>
          </p:nvSpPr>
          <p:spPr>
            <a:xfrm>
              <a:off x="5305866" y="5225891"/>
              <a:ext cx="532519" cy="167640"/>
            </a:xfrm>
            <a:prstGeom prst="rect">
              <a:avLst/>
            </a:prstGeom>
            <a:noFill/>
            <a:ln>
              <a:noFill/>
            </a:ln>
          </p:spPr>
          <p:txBody>
            <a:bodyPr wrap="none" lIns="0" tIns="0" rIns="0" bIns="0" anchor="t" anchorCtr="0">
              <a:spAutoFit/>
            </a:bodyPr>
            <a:lstStyle/>
            <a:p>
              <a:pPr algn="ctr"/>
              <a:r>
                <a:rPr lang="zh-CN" sz="825" dirty="0">
                  <a:solidFill>
                    <a:srgbClr val="002D4C"/>
                  </a:solidFill>
                  <a:latin typeface="Arial"/>
                  <a:ea typeface="Microsoft YaHei"/>
                  <a:cs typeface="Arial"/>
                </a:rPr>
                <a:t>Ave Maria</a:t>
              </a:r>
            </a:p>
          </p:txBody>
        </p:sp>
        <p:sp>
          <p:nvSpPr>
            <p:cNvPr id="63" name="TextBox 63"/>
            <p:cNvSpPr txBox="1"/>
            <p:nvPr/>
          </p:nvSpPr>
          <p:spPr>
            <a:xfrm>
              <a:off x="6523672" y="4882991"/>
              <a:ext cx="1055084"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Unequal-depth path</a:t>
              </a:r>
            </a:p>
          </p:txBody>
        </p:sp>
        <p:sp>
          <p:nvSpPr>
            <p:cNvPr id="64" name="TextBox 64"/>
            <p:cNvSpPr txBox="1"/>
            <p:nvPr/>
          </p:nvSpPr>
          <p:spPr>
            <a:xfrm>
              <a:off x="6523672" y="5054441"/>
              <a:ext cx="1176099"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traversal followed by</a:t>
              </a:r>
            </a:p>
          </p:txBody>
        </p:sp>
        <p:sp>
          <p:nvSpPr>
            <p:cNvPr id="65" name="TextBox 65"/>
            <p:cNvSpPr txBox="1"/>
            <p:nvPr/>
          </p:nvSpPr>
          <p:spPr>
            <a:xfrm>
              <a:off x="6523672" y="5225891"/>
              <a:ext cx="714042"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answer-level</a:t>
              </a:r>
            </a:p>
          </p:txBody>
        </p:sp>
        <p:sp>
          <p:nvSpPr>
            <p:cNvPr id="66" name="TextBox 66"/>
            <p:cNvSpPr txBox="1"/>
            <p:nvPr/>
          </p:nvSpPr>
          <p:spPr>
            <a:xfrm>
              <a:off x="6523672" y="5397341"/>
              <a:ext cx="692039"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intersection</a:t>
              </a:r>
            </a:p>
          </p:txBody>
        </p:sp>
        <p:sp>
          <p:nvSpPr>
            <p:cNvPr id="67" name="TextBox 67"/>
            <p:cNvSpPr txBox="1"/>
            <p:nvPr/>
          </p:nvSpPr>
          <p:spPr>
            <a:xfrm>
              <a:off x="9017875" y="5285899"/>
              <a:ext cx="99849"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3</a:t>
              </a:r>
            </a:p>
          </p:txBody>
        </p:sp>
        <p:sp>
          <p:nvSpPr>
            <p:cNvPr id="68" name="TextBox 68"/>
            <p:cNvSpPr txBox="1"/>
            <p:nvPr/>
          </p:nvSpPr>
          <p:spPr>
            <a:xfrm>
              <a:off x="9648077" y="5130641"/>
              <a:ext cx="344395" cy="167640"/>
            </a:xfrm>
            <a:prstGeom prst="rect">
              <a:avLst/>
            </a:prstGeom>
            <a:noFill/>
            <a:ln>
              <a:noFill/>
            </a:ln>
          </p:spPr>
          <p:txBody>
            <a:bodyPr wrap="none" lIns="0" tIns="0" rIns="0" bIns="0" anchor="t" anchorCtr="0">
              <a:spAutoFit/>
            </a:bodyPr>
            <a:lstStyle/>
            <a:p>
              <a:pPr algn="ctr"/>
              <a:r>
                <a:rPr lang="zh-CN" sz="825" b="1" dirty="0">
                  <a:solidFill>
                    <a:srgbClr val="002D4C"/>
                  </a:solidFill>
                  <a:latin typeface="Arial"/>
                  <a:ea typeface="Microsoft YaHei"/>
                  <a:cs typeface="Arial"/>
                </a:rPr>
                <a:t>Viola;</a:t>
              </a:r>
            </a:p>
          </p:txBody>
        </p:sp>
        <p:sp>
          <p:nvSpPr>
            <p:cNvPr id="69" name="TextBox 69"/>
            <p:cNvSpPr txBox="1"/>
            <p:nvPr/>
          </p:nvSpPr>
          <p:spPr>
            <a:xfrm>
              <a:off x="9648077" y="5302091"/>
              <a:ext cx="344395" cy="167640"/>
            </a:xfrm>
            <a:prstGeom prst="rect">
              <a:avLst/>
            </a:prstGeom>
            <a:noFill/>
            <a:ln>
              <a:noFill/>
            </a:ln>
          </p:spPr>
          <p:txBody>
            <a:bodyPr wrap="none" lIns="0" tIns="0" rIns="0" bIns="0" anchor="t" anchorCtr="0">
              <a:spAutoFit/>
            </a:bodyPr>
            <a:lstStyle/>
            <a:p>
              <a:pPr algn="ctr"/>
              <a:r>
                <a:rPr lang="zh-CN" sz="825" b="1" dirty="0">
                  <a:solidFill>
                    <a:srgbClr val="002D4C"/>
                  </a:solidFill>
                  <a:latin typeface="Arial"/>
                  <a:ea typeface="Microsoft YaHei"/>
                  <a:cs typeface="Arial"/>
                </a:rPr>
                <a:t>Cello*</a:t>
              </a:r>
            </a:p>
          </p:txBody>
        </p:sp>
        <p:sp>
          <p:nvSpPr>
            <p:cNvPr id="70" name="TextBox 70"/>
            <p:cNvSpPr txBox="1"/>
            <p:nvPr/>
          </p:nvSpPr>
          <p:spPr>
            <a:xfrm>
              <a:off x="10352722" y="5054441"/>
              <a:ext cx="593026"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Multi-path</a:t>
              </a:r>
            </a:p>
          </p:txBody>
        </p:sp>
        <p:sp>
          <p:nvSpPr>
            <p:cNvPr id="71" name="TextBox 71"/>
            <p:cNvSpPr txBox="1"/>
            <p:nvPr/>
          </p:nvSpPr>
          <p:spPr>
            <a:xfrm>
              <a:off x="10352722" y="5225891"/>
              <a:ext cx="598527"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reasoning;</a:t>
              </a:r>
            </a:p>
          </p:txBody>
        </p:sp>
        <p:sp>
          <p:nvSpPr>
            <p:cNvPr id="72" name="TextBox 72"/>
            <p:cNvSpPr txBox="1"/>
            <p:nvPr/>
          </p:nvSpPr>
          <p:spPr>
            <a:xfrm>
              <a:off x="10352722" y="5397341"/>
              <a:ext cx="1242108" cy="167640"/>
            </a:xfrm>
            <a:prstGeom prst="rect">
              <a:avLst/>
            </a:prstGeom>
            <a:noFill/>
            <a:ln>
              <a:noFill/>
            </a:ln>
          </p:spPr>
          <p:txBody>
            <a:bodyPr wrap="none" lIns="0" tIns="0" rIns="0" bIns="0" anchor="t" anchorCtr="0">
              <a:spAutoFit/>
            </a:bodyPr>
            <a:lstStyle/>
            <a:p>
              <a:pPr algn="l"/>
              <a:r>
                <a:rPr lang="zh-CN" sz="825" dirty="0">
                  <a:solidFill>
                    <a:srgbClr val="002D4C"/>
                  </a:solidFill>
                  <a:latin typeface="Arial"/>
                  <a:ea typeface="Microsoft YaHei"/>
                  <a:cs typeface="Arial"/>
                </a:rPr>
                <a:t>expanded Gold evidence</a:t>
              </a:r>
            </a:p>
          </p:txBody>
        </p:sp>
        <p:sp>
          <p:nvSpPr>
            <p:cNvPr id="73" name="Line 73"/>
            <p:cNvSpPr/>
            <p:nvPr/>
          </p:nvSpPr>
          <p:spPr>
            <a:xfrm>
              <a:off x="163830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74" name="Line 74"/>
            <p:cNvSpPr/>
            <p:nvPr/>
          </p:nvSpPr>
          <p:spPr>
            <a:xfrm>
              <a:off x="476250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75" name="Line 75"/>
            <p:cNvSpPr/>
            <p:nvPr/>
          </p:nvSpPr>
          <p:spPr>
            <a:xfrm>
              <a:off x="638175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76" name="Line 76"/>
            <p:cNvSpPr/>
            <p:nvPr/>
          </p:nvSpPr>
          <p:spPr>
            <a:xfrm>
              <a:off x="878205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77" name="Line 77"/>
            <p:cNvSpPr/>
            <p:nvPr/>
          </p:nvSpPr>
          <p:spPr>
            <a:xfrm>
              <a:off x="935355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sp>
          <p:nvSpPr>
            <p:cNvPr id="78" name="Line 78"/>
            <p:cNvSpPr/>
            <p:nvPr/>
          </p:nvSpPr>
          <p:spPr>
            <a:xfrm>
              <a:off x="10287000" y="1295400"/>
              <a:ext cx="9525" cy="4819650"/>
            </a:xfrm>
            <a:custGeom>
              <a:avLst/>
              <a:gdLst/>
              <a:ahLst/>
              <a:cxnLst/>
              <a:rect l="l" t="t" r="r" b="b"/>
              <a:pathLst>
                <a:path w="9525" h="4819650">
                  <a:moveTo>
                    <a:pt x="0" y="0"/>
                  </a:moveTo>
                  <a:lnTo>
                    <a:pt x="0" y="4819650"/>
                  </a:lnTo>
                </a:path>
              </a:pathLst>
            </a:custGeom>
            <a:noFill/>
            <a:ln w="9525">
              <a:solidFill>
                <a:srgbClr val="DAE1E6"/>
              </a:solidFill>
            </a:ln>
          </p:spPr>
          <p:txBody>
            <a:bodyPr/>
            <a:lstStyle/>
            <a:p>
              <a:endParaRPr lang="zh-CN" altLang="en-US"/>
            </a:p>
          </p:txBody>
        </p:sp>
      </p:grpSp>
      <p:grpSp>
        <p:nvGrpSpPr>
          <p:cNvPr id="84" name="Group 84"/>
          <p:cNvGrpSpPr/>
          <p:nvPr/>
        </p:nvGrpSpPr>
        <p:grpSpPr>
          <a:xfrm>
            <a:off x="485775" y="6167438"/>
            <a:ext cx="11210925" cy="590550"/>
            <a:chOff x="485775" y="6167438"/>
            <a:chExt cx="11210925" cy="590550"/>
          </a:xfrm>
        </p:grpSpPr>
        <p:sp>
          <p:nvSpPr>
            <p:cNvPr id="80" name="TextBox 80"/>
            <p:cNvSpPr txBox="1"/>
            <p:nvPr/>
          </p:nvSpPr>
          <p:spPr>
            <a:xfrm>
              <a:off x="485775" y="6167438"/>
              <a:ext cx="3404473"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GTSQA Dataset Analysis · *WikiKG2: Viola and Cello; see notes</a:t>
              </a:r>
            </a:p>
          </p:txBody>
        </p:sp>
        <p:sp>
          <p:nvSpPr>
            <p:cNvPr id="81" name="Line 81"/>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82" name="TextBox 82"/>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83" name="TextBox 83"/>
            <p:cNvSpPr txBox="1"/>
            <p:nvPr/>
          </p:nvSpPr>
          <p:spPr>
            <a:xfrm>
              <a:off x="10887075" y="6605588"/>
              <a:ext cx="10406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14</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left)">
                                      <p:cBhvr>
                                        <p:cTn id="7"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0" y="0"/>
            <a:ext cx="7875151" cy="6858000"/>
            <a:chOff x="0" y="0"/>
            <a:chExt cx="7875151" cy="6858000"/>
          </a:xfrm>
        </p:grpSpPr>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48640" y="410528"/>
              <a:ext cx="6746605"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GTSQA Case 1: Linear Four-Hop Traversal</a:t>
              </a:r>
            </a:p>
          </p:txBody>
        </p:sp>
        <p:sp>
          <p:nvSpPr>
            <p:cNvPr id="5" name="TextBox 5"/>
            <p:cNvSpPr txBox="1"/>
            <p:nvPr/>
          </p:nvSpPr>
          <p:spPr>
            <a:xfrm>
              <a:off x="574358" y="862489"/>
              <a:ext cx="7300793"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A single seed requires four dependent relation traversals before the answer is reached</a:t>
              </a:r>
            </a:p>
          </p:txBody>
        </p:sp>
      </p:grpSp>
      <p:grpSp>
        <p:nvGrpSpPr>
          <p:cNvPr id="14" name="Group 14"/>
          <p:cNvGrpSpPr/>
          <p:nvPr/>
        </p:nvGrpSpPr>
        <p:grpSpPr>
          <a:xfrm>
            <a:off x="590550" y="1219200"/>
            <a:ext cx="11010900" cy="704850"/>
            <a:chOff x="590550" y="1219200"/>
            <a:chExt cx="11010900" cy="704850"/>
          </a:xfrm>
        </p:grpSpPr>
        <p:sp>
          <p:nvSpPr>
            <p:cNvPr id="7" name="Rectangle 7"/>
            <p:cNvSpPr/>
            <p:nvPr/>
          </p:nvSpPr>
          <p:spPr>
            <a:xfrm>
              <a:off x="590550" y="1219200"/>
              <a:ext cx="11010900" cy="704850"/>
            </a:xfrm>
            <a:prstGeom prst="rect">
              <a:avLst/>
            </a:prstGeom>
            <a:solidFill>
              <a:srgbClr val="EAF6F4"/>
            </a:solidFill>
            <a:ln w="14288">
              <a:solidFill>
                <a:srgbClr val="009682"/>
              </a:solidFill>
            </a:ln>
          </p:spPr>
          <p:txBody>
            <a:bodyPr/>
            <a:lstStyle/>
            <a:p>
              <a:endParaRPr lang="zh-CN" altLang="en-US"/>
            </a:p>
          </p:txBody>
        </p:sp>
        <p:sp>
          <p:nvSpPr>
            <p:cNvPr id="8" name="TextBox 8"/>
            <p:cNvSpPr txBox="1"/>
            <p:nvPr/>
          </p:nvSpPr>
          <p:spPr>
            <a:xfrm>
              <a:off x="768668" y="1361599"/>
              <a:ext cx="645918"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QUESTION</a:t>
              </a:r>
            </a:p>
          </p:txBody>
        </p:sp>
        <p:sp>
          <p:nvSpPr>
            <p:cNvPr id="9" name="TextBox 9"/>
            <p:cNvSpPr txBox="1"/>
            <p:nvPr/>
          </p:nvSpPr>
          <p:spPr>
            <a:xfrm>
              <a:off x="764858" y="1519714"/>
              <a:ext cx="5209532"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On which continent does the river that the Vendline flows into</a:t>
              </a:r>
            </a:p>
          </p:txBody>
        </p:sp>
        <p:sp>
          <p:nvSpPr>
            <p:cNvPr id="10" name="TextBox 10"/>
            <p:cNvSpPr txBox="1"/>
            <p:nvPr/>
          </p:nvSpPr>
          <p:spPr>
            <a:xfrm>
              <a:off x="5210104" y="1522007"/>
              <a:ext cx="1528572"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eventually empty?</a:t>
              </a:r>
            </a:p>
          </p:txBody>
        </p:sp>
        <p:sp>
          <p:nvSpPr>
            <p:cNvPr id="11" name="Rectangle 11"/>
            <p:cNvSpPr/>
            <p:nvPr/>
          </p:nvSpPr>
          <p:spPr>
            <a:xfrm>
              <a:off x="9734550" y="1362075"/>
              <a:ext cx="1619250" cy="473868"/>
            </a:xfrm>
            <a:prstGeom prst="rect">
              <a:avLst/>
            </a:prstGeom>
            <a:solidFill>
              <a:srgbClr val="002D4C"/>
            </a:solidFill>
            <a:ln>
              <a:noFill/>
            </a:ln>
          </p:spPr>
          <p:txBody>
            <a:bodyPr/>
            <a:lstStyle/>
            <a:p>
              <a:endParaRPr lang="zh-CN" altLang="en-US"/>
            </a:p>
          </p:txBody>
        </p:sp>
        <p:sp>
          <p:nvSpPr>
            <p:cNvPr id="12" name="TextBox 12"/>
            <p:cNvSpPr txBox="1"/>
            <p:nvPr/>
          </p:nvSpPr>
          <p:spPr>
            <a:xfrm>
              <a:off x="10209109" y="1443038"/>
              <a:ext cx="670131"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GOLD ANSWER</a:t>
              </a:r>
            </a:p>
          </p:txBody>
        </p:sp>
        <p:sp>
          <p:nvSpPr>
            <p:cNvPr id="13" name="TextBox 13"/>
            <p:cNvSpPr txBox="1"/>
            <p:nvPr/>
          </p:nvSpPr>
          <p:spPr>
            <a:xfrm>
              <a:off x="9978666" y="1575435"/>
              <a:ext cx="113101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Europe (Q46)</a:t>
              </a:r>
            </a:p>
          </p:txBody>
        </p:sp>
      </p:grpSp>
      <p:grpSp>
        <p:nvGrpSpPr>
          <p:cNvPr id="33" name="Group 33"/>
          <p:cNvGrpSpPr/>
          <p:nvPr/>
        </p:nvGrpSpPr>
        <p:grpSpPr>
          <a:xfrm>
            <a:off x="590550" y="2114550"/>
            <a:ext cx="4000500" cy="3257550"/>
            <a:chOff x="590550" y="2114550"/>
            <a:chExt cx="4000500" cy="3257550"/>
          </a:xfrm>
        </p:grpSpPr>
        <p:sp>
          <p:nvSpPr>
            <p:cNvPr id="15" name="Rectangle 15"/>
            <p:cNvSpPr/>
            <p:nvPr/>
          </p:nvSpPr>
          <p:spPr>
            <a:xfrm>
              <a:off x="590550" y="2114550"/>
              <a:ext cx="4000500" cy="3257550"/>
            </a:xfrm>
            <a:prstGeom prst="rect">
              <a:avLst/>
            </a:prstGeom>
            <a:solidFill>
              <a:srgbClr val="F4F7F8"/>
            </a:solidFill>
            <a:ln w="14288">
              <a:solidFill>
                <a:srgbClr val="DAE1E6"/>
              </a:solidFill>
            </a:ln>
          </p:spPr>
          <p:txBody>
            <a:bodyPr/>
            <a:lstStyle/>
            <a:p>
              <a:endParaRPr lang="zh-CN" altLang="en-US"/>
            </a:p>
          </p:txBody>
        </p:sp>
        <p:sp>
          <p:nvSpPr>
            <p:cNvPr id="16" name="Rectangle 16"/>
            <p:cNvSpPr/>
            <p:nvPr/>
          </p:nvSpPr>
          <p:spPr>
            <a:xfrm>
              <a:off x="590550" y="2114550"/>
              <a:ext cx="4000500" cy="400050"/>
            </a:xfrm>
            <a:prstGeom prst="rect">
              <a:avLst/>
            </a:prstGeom>
            <a:solidFill>
              <a:srgbClr val="002D4C"/>
            </a:solidFill>
            <a:ln>
              <a:noFill/>
            </a:ln>
          </p:spPr>
          <p:txBody>
            <a:bodyPr/>
            <a:lstStyle/>
            <a:p>
              <a:endParaRPr lang="zh-CN" altLang="en-US"/>
            </a:p>
          </p:txBody>
        </p:sp>
        <p:sp>
          <p:nvSpPr>
            <p:cNvPr id="17" name="TextBox 17"/>
            <p:cNvSpPr txBox="1"/>
            <p:nvPr/>
          </p:nvSpPr>
          <p:spPr>
            <a:xfrm>
              <a:off x="764858" y="2234089"/>
              <a:ext cx="298692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Case metadata and evidence scope</a:t>
              </a:r>
            </a:p>
          </p:txBody>
        </p:sp>
        <p:sp>
          <p:nvSpPr>
            <p:cNvPr id="18" name="TextBox 18"/>
            <p:cNvSpPr txBox="1"/>
            <p:nvPr/>
          </p:nvSpPr>
          <p:spPr>
            <a:xfrm>
              <a:off x="769620" y="2703195"/>
              <a:ext cx="652939"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DATASET ID</a:t>
              </a:r>
            </a:p>
          </p:txBody>
        </p:sp>
        <p:sp>
          <p:nvSpPr>
            <p:cNvPr id="19" name="TextBox 19"/>
            <p:cNvSpPr txBox="1"/>
            <p:nvPr/>
          </p:nvSpPr>
          <p:spPr>
            <a:xfrm>
              <a:off x="2498408" y="2662714"/>
              <a:ext cx="434060"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13761</a:t>
              </a:r>
            </a:p>
          </p:txBody>
        </p:sp>
        <p:sp>
          <p:nvSpPr>
            <p:cNvPr id="20" name="TextBox 20"/>
            <p:cNvSpPr txBox="1"/>
            <p:nvPr/>
          </p:nvSpPr>
          <p:spPr>
            <a:xfrm>
              <a:off x="769620" y="3027045"/>
              <a:ext cx="1030986"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GRAPH STRUCTURE</a:t>
              </a:r>
            </a:p>
          </p:txBody>
        </p:sp>
        <p:sp>
          <p:nvSpPr>
            <p:cNvPr id="21" name="TextBox 21"/>
            <p:cNvSpPr txBox="1"/>
            <p:nvPr/>
          </p:nvSpPr>
          <p:spPr>
            <a:xfrm>
              <a:off x="2498408" y="2986564"/>
              <a:ext cx="312920" cy="259080"/>
            </a:xfrm>
            <a:prstGeom prst="rect">
              <a:avLst/>
            </a:prstGeom>
            <a:noFill/>
            <a:ln>
              <a:noFill/>
            </a:ln>
          </p:spPr>
          <p:txBody>
            <a:bodyPr wrap="none" lIns="0" tIns="0" rIns="0" bIns="0" anchor="t" anchorCtr="0">
              <a:spAutoFit/>
            </a:bodyPr>
            <a:lstStyle/>
            <a:p>
              <a:pPr algn="l"/>
              <a:r>
                <a:rPr lang="zh-CN" sz="1275" dirty="0">
                  <a:solidFill>
                    <a:srgbClr val="005A50"/>
                  </a:solidFill>
                  <a:latin typeface="Consolas"/>
                  <a:ea typeface="Microsoft YaHei"/>
                  <a:cs typeface="Consolas"/>
                </a:rPr>
                <a:t>(4)</a:t>
              </a:r>
            </a:p>
          </p:txBody>
        </p:sp>
        <p:sp>
          <p:nvSpPr>
            <p:cNvPr id="22" name="TextBox 22"/>
            <p:cNvSpPr txBox="1"/>
            <p:nvPr/>
          </p:nvSpPr>
          <p:spPr>
            <a:xfrm>
              <a:off x="769620" y="3350895"/>
              <a:ext cx="66554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HOP COUNT</a:t>
              </a:r>
            </a:p>
          </p:txBody>
        </p:sp>
        <p:sp>
          <p:nvSpPr>
            <p:cNvPr id="23" name="TextBox 23"/>
            <p:cNvSpPr txBox="1"/>
            <p:nvPr/>
          </p:nvSpPr>
          <p:spPr>
            <a:xfrm>
              <a:off x="2498408" y="3310414"/>
              <a:ext cx="125897"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4</a:t>
              </a:r>
            </a:p>
          </p:txBody>
        </p:sp>
        <p:sp>
          <p:nvSpPr>
            <p:cNvPr id="24" name="TextBox 24"/>
            <p:cNvSpPr txBox="1"/>
            <p:nvPr/>
          </p:nvSpPr>
          <p:spPr>
            <a:xfrm>
              <a:off x="769620" y="3674745"/>
              <a:ext cx="722247"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SEED ENTITY</a:t>
              </a:r>
            </a:p>
          </p:txBody>
        </p:sp>
        <p:sp>
          <p:nvSpPr>
            <p:cNvPr id="25" name="TextBox 25"/>
            <p:cNvSpPr txBox="1"/>
            <p:nvPr/>
          </p:nvSpPr>
          <p:spPr>
            <a:xfrm>
              <a:off x="2500312" y="3650456"/>
              <a:ext cx="1476256"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Vendline (Q2512780)</a:t>
              </a:r>
            </a:p>
          </p:txBody>
        </p:sp>
        <p:sp>
          <p:nvSpPr>
            <p:cNvPr id="26" name="Line 26"/>
            <p:cNvSpPr/>
            <p:nvPr/>
          </p:nvSpPr>
          <p:spPr>
            <a:xfrm>
              <a:off x="781050" y="398145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7" name="TextBox 27"/>
            <p:cNvSpPr txBox="1"/>
            <p:nvPr/>
          </p:nvSpPr>
          <p:spPr>
            <a:xfrm>
              <a:off x="769620" y="4150995"/>
              <a:ext cx="1610658"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GOLD SUPPORTING EVIDENCE</a:t>
              </a:r>
            </a:p>
          </p:txBody>
        </p:sp>
        <p:sp>
          <p:nvSpPr>
            <p:cNvPr id="28" name="TextBox 28"/>
            <p:cNvSpPr txBox="1"/>
            <p:nvPr/>
          </p:nvSpPr>
          <p:spPr>
            <a:xfrm>
              <a:off x="768668" y="4409599"/>
              <a:ext cx="1975009"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Five entity nodes connected by</a:t>
              </a:r>
            </a:p>
          </p:txBody>
        </p:sp>
        <p:sp>
          <p:nvSpPr>
            <p:cNvPr id="29" name="TextBox 29"/>
            <p:cNvSpPr txBox="1"/>
            <p:nvPr/>
          </p:nvSpPr>
          <p:spPr>
            <a:xfrm>
              <a:off x="768668" y="4600099"/>
              <a:ext cx="2586085"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three mouth-of-the-watercourse edges</a:t>
              </a:r>
            </a:p>
          </p:txBody>
        </p:sp>
        <p:sp>
          <p:nvSpPr>
            <p:cNvPr id="30" name="TextBox 30"/>
            <p:cNvSpPr txBox="1"/>
            <p:nvPr/>
          </p:nvSpPr>
          <p:spPr>
            <a:xfrm>
              <a:off x="768668" y="4790599"/>
              <a:ext cx="1539454"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and one continent edge.</a:t>
              </a:r>
            </a:p>
          </p:txBody>
        </p:sp>
        <p:sp>
          <p:nvSpPr>
            <p:cNvPr id="31" name="Rectangle 31"/>
            <p:cNvSpPr/>
            <p:nvPr/>
          </p:nvSpPr>
          <p:spPr>
            <a:xfrm>
              <a:off x="781050" y="5048250"/>
              <a:ext cx="1638300" cy="228600"/>
            </a:xfrm>
            <a:prstGeom prst="rect">
              <a:avLst/>
            </a:prstGeom>
            <a:solidFill>
              <a:srgbClr val="EAF6F4"/>
            </a:solidFill>
            <a:ln>
              <a:noFill/>
            </a:ln>
          </p:spPr>
          <p:txBody>
            <a:bodyPr/>
            <a:lstStyle/>
            <a:p>
              <a:endParaRPr lang="zh-CN" altLang="en-US"/>
            </a:p>
          </p:txBody>
        </p:sp>
        <p:sp>
          <p:nvSpPr>
            <p:cNvPr id="32" name="TextBox 32"/>
            <p:cNvSpPr txBox="1"/>
            <p:nvPr/>
          </p:nvSpPr>
          <p:spPr>
            <a:xfrm>
              <a:off x="782269" y="5113020"/>
              <a:ext cx="1635862" cy="182880"/>
            </a:xfrm>
            <a:prstGeom prst="rect">
              <a:avLst/>
            </a:prstGeom>
            <a:noFill/>
            <a:ln>
              <a:noFill/>
            </a:ln>
          </p:spPr>
          <p:txBody>
            <a:bodyPr wrap="none" lIns="0" tIns="0" rIns="0" bIns="0" anchor="t" anchorCtr="0">
              <a:spAutoFit/>
            </a:bodyPr>
            <a:lstStyle/>
            <a:p>
              <a:pPr algn="ctr"/>
              <a:r>
                <a:rPr lang="zh-CN" sz="900" b="1" dirty="0">
                  <a:solidFill>
                    <a:srgbClr val="005A50"/>
                  </a:solidFill>
                  <a:latin typeface="Arial"/>
                  <a:ea typeface="Microsoft YaHei"/>
                  <a:cs typeface="Arial"/>
                </a:rPr>
                <a:t>single-seed evidence chain</a:t>
              </a:r>
            </a:p>
          </p:txBody>
        </p:sp>
      </p:grpSp>
      <p:grpSp>
        <p:nvGrpSpPr>
          <p:cNvPr id="67" name="Group 67"/>
          <p:cNvGrpSpPr/>
          <p:nvPr/>
        </p:nvGrpSpPr>
        <p:grpSpPr>
          <a:xfrm>
            <a:off x="4920139" y="2234089"/>
            <a:ext cx="6681311" cy="2111693"/>
            <a:chOff x="4920139" y="2234089"/>
            <a:chExt cx="6681311" cy="2111693"/>
          </a:xfrm>
        </p:grpSpPr>
        <p:sp>
          <p:nvSpPr>
            <p:cNvPr id="34" name="TextBox 34"/>
            <p:cNvSpPr txBox="1"/>
            <p:nvPr/>
          </p:nvSpPr>
          <p:spPr>
            <a:xfrm>
              <a:off x="4936808" y="2234089"/>
              <a:ext cx="2165727"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Gold supporting evidence</a:t>
              </a:r>
            </a:p>
          </p:txBody>
        </p:sp>
        <p:sp>
          <p:nvSpPr>
            <p:cNvPr id="35" name="Line 35"/>
            <p:cNvSpPr/>
            <p:nvPr/>
          </p:nvSpPr>
          <p:spPr>
            <a:xfrm>
              <a:off x="4953000" y="2524125"/>
              <a:ext cx="6648450" cy="9525"/>
            </a:xfrm>
            <a:custGeom>
              <a:avLst/>
              <a:gdLst/>
              <a:ahLst/>
              <a:cxnLst/>
              <a:rect l="l" t="t" r="r" b="b"/>
              <a:pathLst>
                <a:path w="6648450" h="9525">
                  <a:moveTo>
                    <a:pt x="0" y="0"/>
                  </a:moveTo>
                  <a:lnTo>
                    <a:pt x="6648450" y="0"/>
                  </a:lnTo>
                </a:path>
              </a:pathLst>
            </a:custGeom>
            <a:noFill/>
            <a:ln w="9525">
              <a:solidFill>
                <a:srgbClr val="DAE1E6"/>
              </a:solidFill>
            </a:ln>
          </p:spPr>
          <p:txBody>
            <a:bodyPr/>
            <a:lstStyle/>
            <a:p>
              <a:endParaRPr lang="zh-CN" altLang="en-US"/>
            </a:p>
          </p:txBody>
        </p:sp>
        <p:sp>
          <p:nvSpPr>
            <p:cNvPr id="36" name="Rectangle 36"/>
            <p:cNvSpPr/>
            <p:nvPr/>
          </p:nvSpPr>
          <p:spPr>
            <a:xfrm>
              <a:off x="4920139" y="3221832"/>
              <a:ext cx="1123950" cy="1123950"/>
            </a:xfrm>
            <a:prstGeom prst="rect">
              <a:avLst/>
            </a:prstGeom>
            <a:solidFill>
              <a:srgbClr val="F4F7F8"/>
            </a:solidFill>
            <a:ln w="14288">
              <a:solidFill>
                <a:srgbClr val="DAE1E6"/>
              </a:solidFill>
            </a:ln>
          </p:spPr>
          <p:txBody>
            <a:bodyPr/>
            <a:lstStyle/>
            <a:p>
              <a:endParaRPr lang="zh-CN" altLang="en-US" dirty="0"/>
            </a:p>
          </p:txBody>
        </p:sp>
        <p:sp>
          <p:nvSpPr>
            <p:cNvPr id="37" name="Ellipse 37"/>
            <p:cNvSpPr/>
            <p:nvPr/>
          </p:nvSpPr>
          <p:spPr>
            <a:xfrm>
              <a:off x="5339239" y="3278982"/>
              <a:ext cx="285750" cy="285750"/>
            </a:xfrm>
            <a:prstGeom prst="ellipse">
              <a:avLst/>
            </a:prstGeom>
            <a:solidFill>
              <a:srgbClr val="002D4C"/>
            </a:solidFill>
            <a:ln>
              <a:noFill/>
            </a:ln>
          </p:spPr>
          <p:txBody>
            <a:bodyPr/>
            <a:lstStyle/>
            <a:p>
              <a:endParaRPr lang="zh-CN" altLang="en-US"/>
            </a:p>
          </p:txBody>
        </p:sp>
        <p:sp>
          <p:nvSpPr>
            <p:cNvPr id="38" name="TextBox 38"/>
            <p:cNvSpPr txBox="1"/>
            <p:nvPr/>
          </p:nvSpPr>
          <p:spPr>
            <a:xfrm>
              <a:off x="5436030" y="3372327"/>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0</a:t>
              </a:r>
            </a:p>
          </p:txBody>
        </p:sp>
        <p:sp>
          <p:nvSpPr>
            <p:cNvPr id="39" name="TextBox 39"/>
            <p:cNvSpPr txBox="1"/>
            <p:nvPr/>
          </p:nvSpPr>
          <p:spPr>
            <a:xfrm>
              <a:off x="5182093" y="3775234"/>
              <a:ext cx="600042"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Vendline</a:t>
              </a:r>
            </a:p>
          </p:txBody>
        </p:sp>
        <p:sp>
          <p:nvSpPr>
            <p:cNvPr id="42" name="Polygon 42"/>
            <p:cNvSpPr/>
            <p:nvPr/>
          </p:nvSpPr>
          <p:spPr>
            <a:xfrm>
              <a:off x="6181442" y="3743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43" name="Rectangle 43"/>
            <p:cNvSpPr/>
            <p:nvPr/>
          </p:nvSpPr>
          <p:spPr>
            <a:xfrm>
              <a:off x="6463189" y="3221832"/>
              <a:ext cx="1123950" cy="1123950"/>
            </a:xfrm>
            <a:prstGeom prst="rect">
              <a:avLst/>
            </a:prstGeom>
            <a:solidFill>
              <a:srgbClr val="EAF6F4"/>
            </a:solidFill>
            <a:ln w="14288">
              <a:solidFill>
                <a:srgbClr val="DAE1E6"/>
              </a:solidFill>
            </a:ln>
          </p:spPr>
          <p:txBody>
            <a:bodyPr/>
            <a:lstStyle/>
            <a:p>
              <a:endParaRPr lang="zh-CN" altLang="en-US"/>
            </a:p>
          </p:txBody>
        </p:sp>
        <p:sp>
          <p:nvSpPr>
            <p:cNvPr id="44" name="Ellipse 44"/>
            <p:cNvSpPr/>
            <p:nvPr/>
          </p:nvSpPr>
          <p:spPr>
            <a:xfrm>
              <a:off x="6882289" y="3278982"/>
              <a:ext cx="285750" cy="285750"/>
            </a:xfrm>
            <a:prstGeom prst="ellipse">
              <a:avLst/>
            </a:prstGeom>
            <a:solidFill>
              <a:srgbClr val="009682"/>
            </a:solidFill>
            <a:ln>
              <a:noFill/>
            </a:ln>
          </p:spPr>
          <p:txBody>
            <a:bodyPr/>
            <a:lstStyle/>
            <a:p>
              <a:endParaRPr lang="zh-CN" altLang="en-US"/>
            </a:p>
          </p:txBody>
        </p:sp>
        <p:sp>
          <p:nvSpPr>
            <p:cNvPr id="45" name="TextBox 45"/>
            <p:cNvSpPr txBox="1"/>
            <p:nvPr/>
          </p:nvSpPr>
          <p:spPr>
            <a:xfrm>
              <a:off x="6994832" y="3372327"/>
              <a:ext cx="606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46" name="TextBox 46"/>
            <p:cNvSpPr txBox="1"/>
            <p:nvPr/>
          </p:nvSpPr>
          <p:spPr>
            <a:xfrm>
              <a:off x="6647959" y="3775234"/>
              <a:ext cx="754411"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Coeuvatte</a:t>
              </a:r>
            </a:p>
          </p:txBody>
        </p:sp>
        <p:sp>
          <p:nvSpPr>
            <p:cNvPr id="49" name="Polygon 49"/>
            <p:cNvSpPr/>
            <p:nvPr/>
          </p:nvSpPr>
          <p:spPr>
            <a:xfrm>
              <a:off x="7724492" y="3743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50" name="Rectangle 50"/>
            <p:cNvSpPr/>
            <p:nvPr/>
          </p:nvSpPr>
          <p:spPr>
            <a:xfrm>
              <a:off x="8006239" y="3221832"/>
              <a:ext cx="1123950" cy="1123950"/>
            </a:xfrm>
            <a:prstGeom prst="rect">
              <a:avLst/>
            </a:prstGeom>
            <a:solidFill>
              <a:srgbClr val="F4F7F8"/>
            </a:solidFill>
            <a:ln w="14288">
              <a:solidFill>
                <a:srgbClr val="DAE1E6"/>
              </a:solidFill>
            </a:ln>
          </p:spPr>
          <p:txBody>
            <a:bodyPr/>
            <a:lstStyle/>
            <a:p>
              <a:endParaRPr lang="zh-CN" altLang="en-US"/>
            </a:p>
          </p:txBody>
        </p:sp>
        <p:sp>
          <p:nvSpPr>
            <p:cNvPr id="51" name="Ellipse 51"/>
            <p:cNvSpPr/>
            <p:nvPr/>
          </p:nvSpPr>
          <p:spPr>
            <a:xfrm>
              <a:off x="8425339" y="3278982"/>
              <a:ext cx="285750" cy="285750"/>
            </a:xfrm>
            <a:prstGeom prst="ellipse">
              <a:avLst/>
            </a:prstGeom>
            <a:solidFill>
              <a:srgbClr val="23A1E0"/>
            </a:solidFill>
            <a:ln>
              <a:noFill/>
            </a:ln>
          </p:spPr>
          <p:txBody>
            <a:bodyPr/>
            <a:lstStyle/>
            <a:p>
              <a:endParaRPr lang="zh-CN" altLang="en-US"/>
            </a:p>
          </p:txBody>
        </p:sp>
        <p:sp>
          <p:nvSpPr>
            <p:cNvPr id="52" name="TextBox 52"/>
            <p:cNvSpPr txBox="1"/>
            <p:nvPr/>
          </p:nvSpPr>
          <p:spPr>
            <a:xfrm>
              <a:off x="8522130" y="3372327"/>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53" name="TextBox 53"/>
            <p:cNvSpPr txBox="1"/>
            <p:nvPr/>
          </p:nvSpPr>
          <p:spPr>
            <a:xfrm>
              <a:off x="8327001" y="3775234"/>
              <a:ext cx="482427"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Allaine</a:t>
              </a:r>
            </a:p>
          </p:txBody>
        </p:sp>
        <p:sp>
          <p:nvSpPr>
            <p:cNvPr id="54" name="TextBox 54"/>
            <p:cNvSpPr txBox="1"/>
            <p:nvPr/>
          </p:nvSpPr>
          <p:spPr>
            <a:xfrm>
              <a:off x="8668106" y="2992993"/>
              <a:ext cx="1346522" cy="246221"/>
            </a:xfrm>
            <a:prstGeom prst="rect">
              <a:avLst/>
            </a:prstGeom>
            <a:noFill/>
            <a:ln>
              <a:noFill/>
            </a:ln>
          </p:spPr>
          <p:txBody>
            <a:bodyPr wrap="none" lIns="0" tIns="0" rIns="0" bIns="0" anchor="t" anchorCtr="0">
              <a:spAutoFit/>
            </a:bodyPr>
            <a:lstStyle/>
            <a:p>
              <a:r>
                <a:rPr lang="zh-CN" sz="800" dirty="0">
                  <a:solidFill>
                    <a:srgbClr val="005A50"/>
                  </a:solidFill>
                  <a:latin typeface="Consolas"/>
                  <a:ea typeface="Microsoft YaHei"/>
                  <a:cs typeface="Consolas"/>
                </a:rPr>
                <a:t>mouth of the</a:t>
              </a:r>
              <a:r>
                <a:rPr lang="en-US" altLang="zh-CN" sz="800" dirty="0">
                  <a:solidFill>
                    <a:srgbClr val="005A50"/>
                  </a:solidFill>
                  <a:latin typeface="Consolas"/>
                  <a:ea typeface="Microsoft YaHei"/>
                  <a:cs typeface="Consolas"/>
                </a:rPr>
                <a:t> </a:t>
              </a:r>
              <a:r>
                <a:rPr lang="zh-CN" altLang="zh-CN" sz="800" dirty="0">
                  <a:solidFill>
                    <a:srgbClr val="005A50"/>
                  </a:solidFill>
                  <a:latin typeface="Consolas"/>
                  <a:ea typeface="Microsoft YaHei"/>
                  <a:cs typeface="Consolas"/>
                </a:rPr>
                <a:t>watercourse</a:t>
              </a:r>
            </a:p>
            <a:p>
              <a:pPr algn="l"/>
              <a:endParaRPr lang="zh-CN" sz="800" dirty="0">
                <a:solidFill>
                  <a:srgbClr val="005A50"/>
                </a:solidFill>
                <a:latin typeface="Consolas"/>
                <a:ea typeface="Microsoft YaHei"/>
                <a:cs typeface="Consolas"/>
              </a:endParaRPr>
            </a:p>
          </p:txBody>
        </p:sp>
        <p:sp>
          <p:nvSpPr>
            <p:cNvPr id="55" name="TextBox 55"/>
            <p:cNvSpPr txBox="1"/>
            <p:nvPr/>
          </p:nvSpPr>
          <p:spPr>
            <a:xfrm>
              <a:off x="9249728" y="3260884"/>
              <a:ext cx="65" cy="103875"/>
            </a:xfrm>
            <a:prstGeom prst="rect">
              <a:avLst/>
            </a:prstGeom>
            <a:noFill/>
            <a:ln>
              <a:noFill/>
            </a:ln>
          </p:spPr>
          <p:txBody>
            <a:bodyPr wrap="none" lIns="0" tIns="0" rIns="0" bIns="0" anchor="t" anchorCtr="0">
              <a:spAutoFit/>
            </a:bodyPr>
            <a:lstStyle/>
            <a:p>
              <a:pPr algn="l"/>
              <a:endParaRPr lang="zh-CN" sz="675" dirty="0">
                <a:solidFill>
                  <a:srgbClr val="005A50"/>
                </a:solidFill>
                <a:latin typeface="Consolas"/>
                <a:ea typeface="Microsoft YaHei"/>
                <a:cs typeface="Consolas"/>
              </a:endParaRPr>
            </a:p>
          </p:txBody>
        </p:sp>
        <p:sp>
          <p:nvSpPr>
            <p:cNvPr id="56" name="Polygon 56"/>
            <p:cNvSpPr/>
            <p:nvPr/>
          </p:nvSpPr>
          <p:spPr>
            <a:xfrm>
              <a:off x="9267542" y="3743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57" name="Rectangle 57"/>
            <p:cNvSpPr/>
            <p:nvPr/>
          </p:nvSpPr>
          <p:spPr>
            <a:xfrm>
              <a:off x="9549289" y="3221832"/>
              <a:ext cx="876300" cy="1123950"/>
            </a:xfrm>
            <a:prstGeom prst="rect">
              <a:avLst/>
            </a:prstGeom>
            <a:solidFill>
              <a:srgbClr val="EAF6F4"/>
            </a:solidFill>
            <a:ln w="14288">
              <a:solidFill>
                <a:srgbClr val="DAE1E6"/>
              </a:solidFill>
            </a:ln>
          </p:spPr>
          <p:txBody>
            <a:bodyPr/>
            <a:lstStyle/>
            <a:p>
              <a:endParaRPr lang="zh-CN" altLang="en-US"/>
            </a:p>
          </p:txBody>
        </p:sp>
        <p:sp>
          <p:nvSpPr>
            <p:cNvPr id="58" name="Ellipse 58"/>
            <p:cNvSpPr/>
            <p:nvPr/>
          </p:nvSpPr>
          <p:spPr>
            <a:xfrm>
              <a:off x="9844564" y="3278982"/>
              <a:ext cx="285750" cy="285750"/>
            </a:xfrm>
            <a:prstGeom prst="ellipse">
              <a:avLst/>
            </a:prstGeom>
            <a:solidFill>
              <a:srgbClr val="009682"/>
            </a:solidFill>
            <a:ln>
              <a:noFill/>
            </a:ln>
          </p:spPr>
          <p:txBody>
            <a:bodyPr/>
            <a:lstStyle/>
            <a:p>
              <a:endParaRPr lang="zh-CN" altLang="en-US"/>
            </a:p>
          </p:txBody>
        </p:sp>
        <p:sp>
          <p:nvSpPr>
            <p:cNvPr id="59" name="TextBox 59"/>
            <p:cNvSpPr txBox="1"/>
            <p:nvPr/>
          </p:nvSpPr>
          <p:spPr>
            <a:xfrm>
              <a:off x="9941355" y="3372327"/>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60" name="TextBox 60"/>
            <p:cNvSpPr txBox="1"/>
            <p:nvPr/>
          </p:nvSpPr>
          <p:spPr>
            <a:xfrm>
              <a:off x="9771954" y="3775234"/>
              <a:ext cx="430971"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Doubs</a:t>
              </a:r>
            </a:p>
          </p:txBody>
        </p:sp>
        <p:sp>
          <p:nvSpPr>
            <p:cNvPr id="61" name="TextBox 61"/>
            <p:cNvSpPr txBox="1"/>
            <p:nvPr/>
          </p:nvSpPr>
          <p:spPr>
            <a:xfrm>
              <a:off x="10404491" y="3004186"/>
              <a:ext cx="504946" cy="123111"/>
            </a:xfrm>
            <a:prstGeom prst="rect">
              <a:avLst/>
            </a:prstGeom>
            <a:noFill/>
            <a:ln>
              <a:noFill/>
            </a:ln>
          </p:spPr>
          <p:txBody>
            <a:bodyPr wrap="none" lIns="0" tIns="0" rIns="0" bIns="0" anchor="t" anchorCtr="0">
              <a:spAutoFit/>
            </a:bodyPr>
            <a:lstStyle/>
            <a:p>
              <a:pPr algn="l"/>
              <a:r>
                <a:rPr lang="zh-CN" sz="800" dirty="0">
                  <a:solidFill>
                    <a:srgbClr val="005A50"/>
                  </a:solidFill>
                  <a:latin typeface="Consolas"/>
                  <a:ea typeface="Microsoft YaHei"/>
                  <a:cs typeface="Consolas"/>
                </a:rPr>
                <a:t>continent</a:t>
              </a:r>
            </a:p>
          </p:txBody>
        </p:sp>
        <p:sp>
          <p:nvSpPr>
            <p:cNvPr id="62" name="Polygon 62"/>
            <p:cNvSpPr/>
            <p:nvPr/>
          </p:nvSpPr>
          <p:spPr>
            <a:xfrm>
              <a:off x="10562942" y="3743325"/>
              <a:ext cx="190500" cy="228600"/>
            </a:xfrm>
            <a:custGeom>
              <a:avLst/>
              <a:gdLst/>
              <a:ahLst/>
              <a:cxnLst/>
              <a:rect l="l" t="t" r="r" b="b"/>
              <a:pathLst>
                <a:path w="190500" h="228600">
                  <a:moveTo>
                    <a:pt x="0" y="0"/>
                  </a:moveTo>
                  <a:lnTo>
                    <a:pt x="190500" y="114300"/>
                  </a:lnTo>
                  <a:lnTo>
                    <a:pt x="0" y="228600"/>
                  </a:lnTo>
                  <a:close/>
                </a:path>
              </a:pathLst>
            </a:custGeom>
            <a:solidFill>
              <a:srgbClr val="009682"/>
            </a:solidFill>
            <a:ln>
              <a:noFill/>
            </a:ln>
          </p:spPr>
          <p:txBody>
            <a:bodyPr/>
            <a:lstStyle/>
            <a:p>
              <a:endParaRPr lang="zh-CN" altLang="en-US"/>
            </a:p>
          </p:txBody>
        </p:sp>
        <p:sp>
          <p:nvSpPr>
            <p:cNvPr id="63" name="Rectangle 63"/>
            <p:cNvSpPr/>
            <p:nvPr/>
          </p:nvSpPr>
          <p:spPr>
            <a:xfrm>
              <a:off x="10844689" y="3221832"/>
              <a:ext cx="723900" cy="1123950"/>
            </a:xfrm>
            <a:prstGeom prst="rect">
              <a:avLst/>
            </a:prstGeom>
            <a:solidFill>
              <a:srgbClr val="002D4C"/>
            </a:solidFill>
            <a:ln>
              <a:noFill/>
            </a:ln>
          </p:spPr>
          <p:txBody>
            <a:bodyPr/>
            <a:lstStyle/>
            <a:p>
              <a:endParaRPr lang="zh-CN" altLang="en-US"/>
            </a:p>
          </p:txBody>
        </p:sp>
        <p:sp>
          <p:nvSpPr>
            <p:cNvPr id="64" name="Ellipse 64"/>
            <p:cNvSpPr/>
            <p:nvPr/>
          </p:nvSpPr>
          <p:spPr>
            <a:xfrm>
              <a:off x="11063764" y="3278982"/>
              <a:ext cx="285750" cy="285750"/>
            </a:xfrm>
            <a:prstGeom prst="ellipse">
              <a:avLst/>
            </a:prstGeom>
            <a:solidFill>
              <a:srgbClr val="23A1E0"/>
            </a:solidFill>
            <a:ln>
              <a:noFill/>
            </a:ln>
          </p:spPr>
          <p:txBody>
            <a:bodyPr/>
            <a:lstStyle/>
            <a:p>
              <a:endParaRPr lang="zh-CN" altLang="en-US"/>
            </a:p>
          </p:txBody>
        </p:sp>
        <p:sp>
          <p:nvSpPr>
            <p:cNvPr id="65" name="TextBox 65"/>
            <p:cNvSpPr txBox="1"/>
            <p:nvPr/>
          </p:nvSpPr>
          <p:spPr>
            <a:xfrm>
              <a:off x="11160555" y="3372327"/>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66" name="TextBox 66"/>
            <p:cNvSpPr txBox="1"/>
            <p:nvPr/>
          </p:nvSpPr>
          <p:spPr>
            <a:xfrm>
              <a:off x="10969003" y="3783331"/>
              <a:ext cx="47527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Europe</a:t>
              </a:r>
            </a:p>
          </p:txBody>
        </p:sp>
      </p:grpSp>
      <p:grpSp>
        <p:nvGrpSpPr>
          <p:cNvPr id="71" name="Group 71"/>
          <p:cNvGrpSpPr/>
          <p:nvPr/>
        </p:nvGrpSpPr>
        <p:grpSpPr>
          <a:xfrm>
            <a:off x="4953000" y="4419600"/>
            <a:ext cx="6648450" cy="952500"/>
            <a:chOff x="4953000" y="4419600"/>
            <a:chExt cx="6648450" cy="952500"/>
          </a:xfrm>
        </p:grpSpPr>
        <p:sp>
          <p:nvSpPr>
            <p:cNvPr id="68" name="Rectangle 68"/>
            <p:cNvSpPr/>
            <p:nvPr/>
          </p:nvSpPr>
          <p:spPr>
            <a:xfrm>
              <a:off x="4953000" y="4419600"/>
              <a:ext cx="6648450" cy="952500"/>
            </a:xfrm>
            <a:prstGeom prst="rect">
              <a:avLst/>
            </a:prstGeom>
            <a:solidFill>
              <a:srgbClr val="002D4C"/>
            </a:solidFill>
            <a:ln>
              <a:noFill/>
            </a:ln>
          </p:spPr>
          <p:txBody>
            <a:bodyPr/>
            <a:lstStyle/>
            <a:p>
              <a:endParaRPr lang="zh-CN" altLang="en-US"/>
            </a:p>
          </p:txBody>
        </p:sp>
        <p:sp>
          <p:nvSpPr>
            <p:cNvPr id="69" name="TextBox 69"/>
            <p:cNvSpPr txBox="1"/>
            <p:nvPr/>
          </p:nvSpPr>
          <p:spPr>
            <a:xfrm>
              <a:off x="5170170" y="4598670"/>
              <a:ext cx="1686268"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SOLVING STRATEGY</a:t>
              </a:r>
            </a:p>
          </p:txBody>
        </p:sp>
        <p:sp>
          <p:nvSpPr>
            <p:cNvPr id="70" name="TextBox 70"/>
            <p:cNvSpPr txBox="1"/>
            <p:nvPr/>
          </p:nvSpPr>
          <p:spPr>
            <a:xfrm>
              <a:off x="5165408" y="4920139"/>
              <a:ext cx="4325422"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Linear four-hop traversal from a single seed entity</a:t>
              </a:r>
            </a:p>
          </p:txBody>
        </p:sp>
      </p:grpSp>
      <p:grpSp>
        <p:nvGrpSpPr>
          <p:cNvPr id="76" name="Group 76"/>
          <p:cNvGrpSpPr/>
          <p:nvPr/>
        </p:nvGrpSpPr>
        <p:grpSpPr>
          <a:xfrm>
            <a:off x="495300" y="6167438"/>
            <a:ext cx="11201400" cy="590550"/>
            <a:chOff x="495300" y="6167438"/>
            <a:chExt cx="11201400" cy="590550"/>
          </a:xfrm>
        </p:grpSpPr>
        <p:sp>
          <p:nvSpPr>
            <p:cNvPr id="72" name="TextBox 72"/>
            <p:cNvSpPr txBox="1"/>
            <p:nvPr/>
          </p:nvSpPr>
          <p:spPr>
            <a:xfrm>
              <a:off x="581025" y="6167438"/>
              <a:ext cx="334946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GTSQA Dataset Analysis · Case 1 — Linear Four-Hop Traversal</a:t>
              </a:r>
            </a:p>
          </p:txBody>
        </p:sp>
        <p:sp>
          <p:nvSpPr>
            <p:cNvPr id="73" name="Line 73"/>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74" name="TextBox 74"/>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75" name="TextBox 75"/>
            <p:cNvSpPr txBox="1"/>
            <p:nvPr/>
          </p:nvSpPr>
          <p:spPr>
            <a:xfrm>
              <a:off x="10887075" y="6605588"/>
              <a:ext cx="10406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15</a:t>
              </a:r>
            </a:p>
          </p:txBody>
        </p:sp>
      </p:grpSp>
      <p:sp>
        <p:nvSpPr>
          <p:cNvPr id="79" name="TextBox 54">
            <a:extLst>
              <a:ext uri="{FF2B5EF4-FFF2-40B4-BE49-F238E27FC236}">
                <a16:creationId xmlns:a16="http://schemas.microsoft.com/office/drawing/2014/main" id="{E9C3DDA4-615F-E12F-7EC6-B0E3794ED8E6}"/>
              </a:ext>
            </a:extLst>
          </p:cNvPr>
          <p:cNvSpPr txBox="1"/>
          <p:nvPr/>
        </p:nvSpPr>
        <p:spPr>
          <a:xfrm>
            <a:off x="7116880" y="2999423"/>
            <a:ext cx="1346522" cy="246221"/>
          </a:xfrm>
          <a:prstGeom prst="rect">
            <a:avLst/>
          </a:prstGeom>
          <a:noFill/>
          <a:ln>
            <a:noFill/>
          </a:ln>
        </p:spPr>
        <p:txBody>
          <a:bodyPr wrap="none" lIns="0" tIns="0" rIns="0" bIns="0" anchor="t" anchorCtr="0">
            <a:spAutoFit/>
          </a:bodyPr>
          <a:lstStyle/>
          <a:p>
            <a:r>
              <a:rPr lang="zh-CN" sz="800" dirty="0">
                <a:solidFill>
                  <a:srgbClr val="005A50"/>
                </a:solidFill>
                <a:latin typeface="Consolas"/>
                <a:ea typeface="Microsoft YaHei"/>
                <a:cs typeface="Consolas"/>
              </a:rPr>
              <a:t>mouth of the</a:t>
            </a:r>
            <a:r>
              <a:rPr lang="en-US" altLang="zh-CN" sz="800" dirty="0">
                <a:solidFill>
                  <a:srgbClr val="005A50"/>
                </a:solidFill>
                <a:latin typeface="Consolas"/>
                <a:ea typeface="Microsoft YaHei"/>
                <a:cs typeface="Consolas"/>
              </a:rPr>
              <a:t> </a:t>
            </a:r>
            <a:r>
              <a:rPr lang="zh-CN" altLang="zh-CN" sz="800" dirty="0">
                <a:solidFill>
                  <a:srgbClr val="005A50"/>
                </a:solidFill>
                <a:latin typeface="Consolas"/>
                <a:ea typeface="Microsoft YaHei"/>
                <a:cs typeface="Consolas"/>
              </a:rPr>
              <a:t>watercourse</a:t>
            </a:r>
          </a:p>
          <a:p>
            <a:pPr algn="l"/>
            <a:endParaRPr lang="zh-CN" sz="800" dirty="0">
              <a:solidFill>
                <a:srgbClr val="005A50"/>
              </a:solidFill>
              <a:latin typeface="Consolas"/>
              <a:ea typeface="Microsoft YaHei"/>
              <a:cs typeface="Consolas"/>
            </a:endParaRPr>
          </a:p>
        </p:txBody>
      </p:sp>
      <p:sp>
        <p:nvSpPr>
          <p:cNvPr id="80" name="TextBox 54">
            <a:extLst>
              <a:ext uri="{FF2B5EF4-FFF2-40B4-BE49-F238E27FC236}">
                <a16:creationId xmlns:a16="http://schemas.microsoft.com/office/drawing/2014/main" id="{2CFA5441-22A5-55B3-679B-FE6D6CAE2A9D}"/>
              </a:ext>
            </a:extLst>
          </p:cNvPr>
          <p:cNvSpPr txBox="1"/>
          <p:nvPr/>
        </p:nvSpPr>
        <p:spPr>
          <a:xfrm>
            <a:off x="5586714" y="2999422"/>
            <a:ext cx="1346522" cy="246221"/>
          </a:xfrm>
          <a:prstGeom prst="rect">
            <a:avLst/>
          </a:prstGeom>
          <a:noFill/>
          <a:ln>
            <a:noFill/>
          </a:ln>
        </p:spPr>
        <p:txBody>
          <a:bodyPr wrap="none" lIns="0" tIns="0" rIns="0" bIns="0" anchor="t" anchorCtr="0">
            <a:spAutoFit/>
          </a:bodyPr>
          <a:lstStyle/>
          <a:p>
            <a:r>
              <a:rPr lang="zh-CN" sz="800" dirty="0">
                <a:solidFill>
                  <a:srgbClr val="005A50"/>
                </a:solidFill>
                <a:latin typeface="Consolas"/>
                <a:ea typeface="Microsoft YaHei"/>
                <a:cs typeface="Consolas"/>
              </a:rPr>
              <a:t>mouth of the</a:t>
            </a:r>
            <a:r>
              <a:rPr lang="en-US" altLang="zh-CN" sz="800" dirty="0">
                <a:solidFill>
                  <a:srgbClr val="005A50"/>
                </a:solidFill>
                <a:latin typeface="Consolas"/>
                <a:ea typeface="Microsoft YaHei"/>
                <a:cs typeface="Consolas"/>
              </a:rPr>
              <a:t> </a:t>
            </a:r>
            <a:r>
              <a:rPr lang="zh-CN" altLang="zh-CN" sz="800" dirty="0">
                <a:solidFill>
                  <a:srgbClr val="005A50"/>
                </a:solidFill>
                <a:latin typeface="Consolas"/>
                <a:ea typeface="Microsoft YaHei"/>
                <a:cs typeface="Consolas"/>
              </a:rPr>
              <a:t>watercourse</a:t>
            </a:r>
          </a:p>
          <a:p>
            <a:pPr algn="l"/>
            <a:endParaRPr lang="zh-CN" sz="800" dirty="0">
              <a:solidFill>
                <a:srgbClr val="005A50"/>
              </a:solidFill>
              <a:latin typeface="Consolas"/>
              <a:ea typeface="Microsoft YaHei"/>
              <a:cs typeface="Consolas"/>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400"/>
                                        <p:tgtEl>
                                          <p:spTgt spid="3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slide(fromBottom)">
                                      <p:cBhvr>
                                        <p:cTn id="15" dur="400"/>
                                        <p:tgtEl>
                                          <p:spTgt spid="67"/>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image">
                                      <p:cBhvr>
                                        <p:cTn id="19"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3" grpId="0"/>
      <p:bldP spid="67" grpId="0"/>
      <p:bldP spid="7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0" y="0"/>
            <a:ext cx="9080468" cy="6858000"/>
            <a:chOff x="0" y="0"/>
            <a:chExt cx="9080468" cy="6858000"/>
          </a:xfrm>
        </p:grpSpPr>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48640" y="410528"/>
              <a:ext cx="8531828"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GTSQA Case 2: Multi-Seed Intersection + Projection</a:t>
              </a:r>
            </a:p>
          </p:txBody>
        </p:sp>
        <p:sp>
          <p:nvSpPr>
            <p:cNvPr id="5" name="TextBox 5"/>
            <p:cNvSpPr txBox="1"/>
            <p:nvPr/>
          </p:nvSpPr>
          <p:spPr>
            <a:xfrm>
              <a:off x="574358" y="862489"/>
              <a:ext cx="6484691"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Two film anchors identify a shared actor before the final answer is projected</a:t>
              </a:r>
            </a:p>
          </p:txBody>
        </p:sp>
      </p:grpSp>
      <p:grpSp>
        <p:nvGrpSpPr>
          <p:cNvPr id="14" name="Group 14"/>
          <p:cNvGrpSpPr/>
          <p:nvPr/>
        </p:nvGrpSpPr>
        <p:grpSpPr>
          <a:xfrm>
            <a:off x="590550" y="1219200"/>
            <a:ext cx="11010900" cy="742950"/>
            <a:chOff x="590550" y="1219200"/>
            <a:chExt cx="11010900" cy="742950"/>
          </a:xfrm>
        </p:grpSpPr>
        <p:sp>
          <p:nvSpPr>
            <p:cNvPr id="7" name="Rectangle 7"/>
            <p:cNvSpPr/>
            <p:nvPr/>
          </p:nvSpPr>
          <p:spPr>
            <a:xfrm>
              <a:off x="590550" y="1219200"/>
              <a:ext cx="11010900" cy="704850"/>
            </a:xfrm>
            <a:prstGeom prst="rect">
              <a:avLst/>
            </a:prstGeom>
            <a:solidFill>
              <a:srgbClr val="EAF6F4"/>
            </a:solidFill>
            <a:ln w="14288">
              <a:solidFill>
                <a:srgbClr val="009682"/>
              </a:solidFill>
            </a:ln>
          </p:spPr>
          <p:txBody>
            <a:bodyPr/>
            <a:lstStyle/>
            <a:p>
              <a:endParaRPr lang="zh-CN" altLang="en-US"/>
            </a:p>
          </p:txBody>
        </p:sp>
        <p:sp>
          <p:nvSpPr>
            <p:cNvPr id="8" name="TextBox 8"/>
            <p:cNvSpPr txBox="1"/>
            <p:nvPr/>
          </p:nvSpPr>
          <p:spPr>
            <a:xfrm>
              <a:off x="768668" y="1361599"/>
              <a:ext cx="645918"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QUESTION</a:t>
              </a:r>
            </a:p>
          </p:txBody>
        </p:sp>
        <p:sp>
          <p:nvSpPr>
            <p:cNvPr id="9" name="TextBox 9"/>
            <p:cNvSpPr txBox="1"/>
            <p:nvPr/>
          </p:nvSpPr>
          <p:spPr>
            <a:xfrm>
              <a:off x="765810" y="1527810"/>
              <a:ext cx="5079111"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What language does the actor who appeared in both Casino Royale</a:t>
              </a:r>
            </a:p>
          </p:txBody>
        </p:sp>
        <p:sp>
          <p:nvSpPr>
            <p:cNvPr id="10" name="TextBox 10"/>
            <p:cNvSpPr txBox="1"/>
            <p:nvPr/>
          </p:nvSpPr>
          <p:spPr>
            <a:xfrm>
              <a:off x="765810" y="1718310"/>
              <a:ext cx="2142744"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and The Tournament speak?</a:t>
              </a:r>
            </a:p>
          </p:txBody>
        </p:sp>
        <p:sp>
          <p:nvSpPr>
            <p:cNvPr id="11" name="Rectangle 11"/>
            <p:cNvSpPr/>
            <p:nvPr/>
          </p:nvSpPr>
          <p:spPr>
            <a:xfrm>
              <a:off x="9734550" y="1362075"/>
              <a:ext cx="1619250" cy="457200"/>
            </a:xfrm>
            <a:prstGeom prst="rect">
              <a:avLst/>
            </a:prstGeom>
            <a:solidFill>
              <a:srgbClr val="002D4C"/>
            </a:solidFill>
            <a:ln>
              <a:noFill/>
            </a:ln>
          </p:spPr>
          <p:txBody>
            <a:bodyPr/>
            <a:lstStyle/>
            <a:p>
              <a:endParaRPr lang="zh-CN" altLang="en-US"/>
            </a:p>
          </p:txBody>
        </p:sp>
        <p:sp>
          <p:nvSpPr>
            <p:cNvPr id="12" name="TextBox 12"/>
            <p:cNvSpPr txBox="1"/>
            <p:nvPr/>
          </p:nvSpPr>
          <p:spPr>
            <a:xfrm>
              <a:off x="10209109" y="1443038"/>
              <a:ext cx="670131"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GOLD ANSWER</a:t>
              </a:r>
            </a:p>
          </p:txBody>
        </p:sp>
        <p:sp>
          <p:nvSpPr>
            <p:cNvPr id="13" name="TextBox 13"/>
            <p:cNvSpPr txBox="1"/>
            <p:nvPr/>
          </p:nvSpPr>
          <p:spPr>
            <a:xfrm>
              <a:off x="9953463" y="1575435"/>
              <a:ext cx="118142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French (Q150)</a:t>
              </a:r>
            </a:p>
          </p:txBody>
        </p:sp>
      </p:grpSp>
      <p:grpSp>
        <p:nvGrpSpPr>
          <p:cNvPr id="31" name="Group 31"/>
          <p:cNvGrpSpPr/>
          <p:nvPr/>
        </p:nvGrpSpPr>
        <p:grpSpPr>
          <a:xfrm>
            <a:off x="590550" y="2114550"/>
            <a:ext cx="4000500" cy="3257550"/>
            <a:chOff x="590550" y="2114550"/>
            <a:chExt cx="4000500" cy="3257550"/>
          </a:xfrm>
        </p:grpSpPr>
        <p:sp>
          <p:nvSpPr>
            <p:cNvPr id="15" name="Rectangle 15"/>
            <p:cNvSpPr/>
            <p:nvPr/>
          </p:nvSpPr>
          <p:spPr>
            <a:xfrm>
              <a:off x="590550" y="2114550"/>
              <a:ext cx="4000500" cy="3257550"/>
            </a:xfrm>
            <a:prstGeom prst="rect">
              <a:avLst/>
            </a:prstGeom>
            <a:solidFill>
              <a:srgbClr val="F4F7F8"/>
            </a:solidFill>
            <a:ln w="14288">
              <a:solidFill>
                <a:srgbClr val="DAE1E6"/>
              </a:solidFill>
            </a:ln>
          </p:spPr>
          <p:txBody>
            <a:bodyPr/>
            <a:lstStyle/>
            <a:p>
              <a:endParaRPr lang="zh-CN" altLang="en-US"/>
            </a:p>
          </p:txBody>
        </p:sp>
        <p:sp>
          <p:nvSpPr>
            <p:cNvPr id="16" name="Rectangle 16"/>
            <p:cNvSpPr/>
            <p:nvPr/>
          </p:nvSpPr>
          <p:spPr>
            <a:xfrm>
              <a:off x="590550" y="2114550"/>
              <a:ext cx="4000500" cy="400050"/>
            </a:xfrm>
            <a:prstGeom prst="rect">
              <a:avLst/>
            </a:prstGeom>
            <a:solidFill>
              <a:srgbClr val="002D4C"/>
            </a:solidFill>
            <a:ln>
              <a:noFill/>
            </a:ln>
          </p:spPr>
          <p:txBody>
            <a:bodyPr/>
            <a:lstStyle/>
            <a:p>
              <a:endParaRPr lang="zh-CN" altLang="en-US"/>
            </a:p>
          </p:txBody>
        </p:sp>
        <p:sp>
          <p:nvSpPr>
            <p:cNvPr id="17" name="TextBox 17"/>
            <p:cNvSpPr txBox="1"/>
            <p:nvPr/>
          </p:nvSpPr>
          <p:spPr>
            <a:xfrm>
              <a:off x="764858" y="2234089"/>
              <a:ext cx="298692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Case metadata and evidence scope</a:t>
              </a:r>
            </a:p>
          </p:txBody>
        </p:sp>
        <p:sp>
          <p:nvSpPr>
            <p:cNvPr id="18" name="TextBox 18"/>
            <p:cNvSpPr txBox="1"/>
            <p:nvPr/>
          </p:nvSpPr>
          <p:spPr>
            <a:xfrm>
              <a:off x="769620" y="2703195"/>
              <a:ext cx="652939"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DATASET ID</a:t>
              </a:r>
            </a:p>
          </p:txBody>
        </p:sp>
        <p:sp>
          <p:nvSpPr>
            <p:cNvPr id="19" name="TextBox 19"/>
            <p:cNvSpPr txBox="1"/>
            <p:nvPr/>
          </p:nvSpPr>
          <p:spPr>
            <a:xfrm>
              <a:off x="2498408" y="2662714"/>
              <a:ext cx="380504"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5104</a:t>
              </a:r>
            </a:p>
          </p:txBody>
        </p:sp>
        <p:sp>
          <p:nvSpPr>
            <p:cNvPr id="20" name="TextBox 20"/>
            <p:cNvSpPr txBox="1"/>
            <p:nvPr/>
          </p:nvSpPr>
          <p:spPr>
            <a:xfrm>
              <a:off x="769620" y="3027045"/>
              <a:ext cx="1030986"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GRAPH STRUCTURE</a:t>
              </a:r>
            </a:p>
          </p:txBody>
        </p:sp>
        <p:sp>
          <p:nvSpPr>
            <p:cNvPr id="21" name="TextBox 21"/>
            <p:cNvSpPr txBox="1"/>
            <p:nvPr/>
          </p:nvSpPr>
          <p:spPr>
            <a:xfrm>
              <a:off x="2498408" y="2986564"/>
              <a:ext cx="695468" cy="259080"/>
            </a:xfrm>
            <a:prstGeom prst="rect">
              <a:avLst/>
            </a:prstGeom>
            <a:noFill/>
            <a:ln>
              <a:noFill/>
            </a:ln>
          </p:spPr>
          <p:txBody>
            <a:bodyPr wrap="none" lIns="0" tIns="0" rIns="0" bIns="0" anchor="t" anchorCtr="0">
              <a:spAutoFit/>
            </a:bodyPr>
            <a:lstStyle/>
            <a:p>
              <a:pPr algn="l"/>
              <a:r>
                <a:rPr lang="zh-CN" sz="1275" dirty="0">
                  <a:solidFill>
                    <a:srgbClr val="005A50"/>
                  </a:solidFill>
                  <a:latin typeface="Consolas"/>
                  <a:ea typeface="Microsoft YaHei"/>
                  <a:cs typeface="Consolas"/>
                </a:rPr>
                <a:t>((1)(1))</a:t>
              </a:r>
            </a:p>
          </p:txBody>
        </p:sp>
        <p:sp>
          <p:nvSpPr>
            <p:cNvPr id="22" name="TextBox 22"/>
            <p:cNvSpPr txBox="1"/>
            <p:nvPr/>
          </p:nvSpPr>
          <p:spPr>
            <a:xfrm>
              <a:off x="769620" y="3350895"/>
              <a:ext cx="66554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HOP COUNT</a:t>
              </a:r>
            </a:p>
          </p:txBody>
        </p:sp>
        <p:sp>
          <p:nvSpPr>
            <p:cNvPr id="23" name="TextBox 23"/>
            <p:cNvSpPr txBox="1"/>
            <p:nvPr/>
          </p:nvSpPr>
          <p:spPr>
            <a:xfrm>
              <a:off x="2498408" y="3310414"/>
              <a:ext cx="125897"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2</a:t>
              </a:r>
            </a:p>
          </p:txBody>
        </p:sp>
        <p:sp>
          <p:nvSpPr>
            <p:cNvPr id="24" name="Line 24"/>
            <p:cNvSpPr/>
            <p:nvPr/>
          </p:nvSpPr>
          <p:spPr>
            <a:xfrm>
              <a:off x="781050" y="367665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5" name="TextBox 25"/>
            <p:cNvSpPr txBox="1"/>
            <p:nvPr/>
          </p:nvSpPr>
          <p:spPr>
            <a:xfrm>
              <a:off x="769620" y="3846195"/>
              <a:ext cx="829361"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SEED ENTITIES</a:t>
              </a:r>
            </a:p>
          </p:txBody>
        </p:sp>
        <p:sp>
          <p:nvSpPr>
            <p:cNvPr id="26" name="TextBox 26"/>
            <p:cNvSpPr txBox="1"/>
            <p:nvPr/>
          </p:nvSpPr>
          <p:spPr>
            <a:xfrm>
              <a:off x="767715" y="4096702"/>
              <a:ext cx="1615869"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Casino Royale (Q151904)</a:t>
              </a:r>
            </a:p>
          </p:txBody>
        </p:sp>
        <p:sp>
          <p:nvSpPr>
            <p:cNvPr id="27" name="TextBox 27"/>
            <p:cNvSpPr txBox="1"/>
            <p:nvPr/>
          </p:nvSpPr>
          <p:spPr>
            <a:xfrm>
              <a:off x="767715" y="4363402"/>
              <a:ext cx="1790890"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The Tournament (Q249151)</a:t>
              </a:r>
            </a:p>
          </p:txBody>
        </p:sp>
        <p:sp>
          <p:nvSpPr>
            <p:cNvPr id="28" name="Line 28"/>
            <p:cNvSpPr/>
            <p:nvPr/>
          </p:nvSpPr>
          <p:spPr>
            <a:xfrm>
              <a:off x="781050" y="466725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9" name="TextBox 29"/>
            <p:cNvSpPr txBox="1"/>
            <p:nvPr/>
          </p:nvSpPr>
          <p:spPr>
            <a:xfrm>
              <a:off x="769620" y="4836795"/>
              <a:ext cx="138383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EVIDENCE COMPOSITION</a:t>
              </a:r>
            </a:p>
          </p:txBody>
        </p:sp>
        <p:sp>
          <p:nvSpPr>
            <p:cNvPr id="30" name="TextBox 30"/>
            <p:cNvSpPr txBox="1"/>
            <p:nvPr/>
          </p:nvSpPr>
          <p:spPr>
            <a:xfrm>
              <a:off x="768668" y="5076349"/>
              <a:ext cx="3158157"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Intersection at shared actor → answer projection</a:t>
              </a:r>
            </a:p>
          </p:txBody>
        </p:sp>
      </p:grpSp>
      <p:grpSp>
        <p:nvGrpSpPr>
          <p:cNvPr id="56" name="Group 56"/>
          <p:cNvGrpSpPr/>
          <p:nvPr/>
        </p:nvGrpSpPr>
        <p:grpSpPr>
          <a:xfrm>
            <a:off x="4936808" y="2234089"/>
            <a:ext cx="6664642" cy="1880711"/>
            <a:chOff x="4936808" y="2234089"/>
            <a:chExt cx="6664642" cy="1880711"/>
          </a:xfrm>
        </p:grpSpPr>
        <p:sp>
          <p:nvSpPr>
            <p:cNvPr id="32" name="TextBox 32"/>
            <p:cNvSpPr txBox="1"/>
            <p:nvPr/>
          </p:nvSpPr>
          <p:spPr>
            <a:xfrm>
              <a:off x="4936808" y="2234089"/>
              <a:ext cx="2165727"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Gold supporting evidence</a:t>
              </a:r>
            </a:p>
          </p:txBody>
        </p:sp>
        <p:sp>
          <p:nvSpPr>
            <p:cNvPr id="33" name="Line 33"/>
            <p:cNvSpPr/>
            <p:nvPr/>
          </p:nvSpPr>
          <p:spPr>
            <a:xfrm>
              <a:off x="4953000" y="2524125"/>
              <a:ext cx="6648450" cy="9525"/>
            </a:xfrm>
            <a:custGeom>
              <a:avLst/>
              <a:gdLst/>
              <a:ahLst/>
              <a:cxnLst/>
              <a:rect l="l" t="t" r="r" b="b"/>
              <a:pathLst>
                <a:path w="6648450" h="9525">
                  <a:moveTo>
                    <a:pt x="0" y="0"/>
                  </a:moveTo>
                  <a:lnTo>
                    <a:pt x="6648450" y="0"/>
                  </a:lnTo>
                </a:path>
              </a:pathLst>
            </a:custGeom>
            <a:noFill/>
            <a:ln w="9525">
              <a:solidFill>
                <a:srgbClr val="DAE1E6"/>
              </a:solidFill>
            </a:ln>
          </p:spPr>
          <p:txBody>
            <a:bodyPr/>
            <a:lstStyle/>
            <a:p>
              <a:endParaRPr lang="zh-CN" altLang="en-US"/>
            </a:p>
          </p:txBody>
        </p:sp>
        <p:sp>
          <p:nvSpPr>
            <p:cNvPr id="34" name="Rectangle 34"/>
            <p:cNvSpPr/>
            <p:nvPr/>
          </p:nvSpPr>
          <p:spPr>
            <a:xfrm>
              <a:off x="4953000" y="2800350"/>
              <a:ext cx="1809750" cy="552450"/>
            </a:xfrm>
            <a:prstGeom prst="rect">
              <a:avLst/>
            </a:prstGeom>
            <a:solidFill>
              <a:srgbClr val="F4F7F8"/>
            </a:solidFill>
            <a:ln w="14288">
              <a:solidFill>
                <a:srgbClr val="DAE1E6"/>
              </a:solidFill>
            </a:ln>
          </p:spPr>
          <p:txBody>
            <a:bodyPr/>
            <a:lstStyle/>
            <a:p>
              <a:endParaRPr lang="zh-CN" altLang="en-US"/>
            </a:p>
          </p:txBody>
        </p:sp>
        <p:sp>
          <p:nvSpPr>
            <p:cNvPr id="35" name="TextBox 35"/>
            <p:cNvSpPr txBox="1"/>
            <p:nvPr/>
          </p:nvSpPr>
          <p:spPr>
            <a:xfrm>
              <a:off x="5685677" y="2939891"/>
              <a:ext cx="344395" cy="167640"/>
            </a:xfrm>
            <a:prstGeom prst="rect">
              <a:avLst/>
            </a:prstGeom>
            <a:noFill/>
            <a:ln>
              <a:noFill/>
            </a:ln>
          </p:spPr>
          <p:txBody>
            <a:bodyPr wrap="none" lIns="0" tIns="0" rIns="0" bIns="0" anchor="t" anchorCtr="0">
              <a:spAutoFit/>
            </a:bodyPr>
            <a:lstStyle/>
            <a:p>
              <a:pPr algn="ctr"/>
              <a:r>
                <a:rPr lang="zh-CN" sz="825" b="1" dirty="0">
                  <a:solidFill>
                    <a:srgbClr val="768993"/>
                  </a:solidFill>
                  <a:latin typeface="Arial"/>
                  <a:ea typeface="Microsoft YaHei"/>
                  <a:cs typeface="Arial"/>
                </a:rPr>
                <a:t>SEED 1</a:t>
              </a:r>
            </a:p>
          </p:txBody>
        </p:sp>
        <p:sp>
          <p:nvSpPr>
            <p:cNvPr id="36" name="TextBox 36"/>
            <p:cNvSpPr txBox="1"/>
            <p:nvPr/>
          </p:nvSpPr>
          <p:spPr>
            <a:xfrm>
              <a:off x="5339524" y="3117056"/>
              <a:ext cx="1036701"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Casino Royale</a:t>
              </a:r>
            </a:p>
          </p:txBody>
        </p:sp>
        <p:sp>
          <p:nvSpPr>
            <p:cNvPr id="37" name="Rectangle 37"/>
            <p:cNvSpPr/>
            <p:nvPr/>
          </p:nvSpPr>
          <p:spPr>
            <a:xfrm>
              <a:off x="4953000" y="3562350"/>
              <a:ext cx="1809750" cy="552450"/>
            </a:xfrm>
            <a:prstGeom prst="rect">
              <a:avLst/>
            </a:prstGeom>
            <a:solidFill>
              <a:srgbClr val="EAF6F4"/>
            </a:solidFill>
            <a:ln w="14288">
              <a:solidFill>
                <a:srgbClr val="DAE1E6"/>
              </a:solidFill>
            </a:ln>
          </p:spPr>
          <p:txBody>
            <a:bodyPr/>
            <a:lstStyle/>
            <a:p>
              <a:endParaRPr lang="zh-CN" altLang="en-US"/>
            </a:p>
          </p:txBody>
        </p:sp>
        <p:sp>
          <p:nvSpPr>
            <p:cNvPr id="38" name="TextBox 38"/>
            <p:cNvSpPr txBox="1"/>
            <p:nvPr/>
          </p:nvSpPr>
          <p:spPr>
            <a:xfrm>
              <a:off x="5671238" y="3701891"/>
              <a:ext cx="373274" cy="167640"/>
            </a:xfrm>
            <a:prstGeom prst="rect">
              <a:avLst/>
            </a:prstGeom>
            <a:noFill/>
            <a:ln>
              <a:noFill/>
            </a:ln>
          </p:spPr>
          <p:txBody>
            <a:bodyPr wrap="none" lIns="0" tIns="0" rIns="0" bIns="0" anchor="t" anchorCtr="0">
              <a:spAutoFit/>
            </a:bodyPr>
            <a:lstStyle/>
            <a:p>
              <a:pPr algn="ctr"/>
              <a:r>
                <a:rPr lang="zh-CN" sz="825" b="1" dirty="0">
                  <a:solidFill>
                    <a:srgbClr val="768993"/>
                  </a:solidFill>
                  <a:latin typeface="Arial"/>
                  <a:ea typeface="Microsoft YaHei"/>
                  <a:cs typeface="Arial"/>
                </a:rPr>
                <a:t>SEED 2</a:t>
              </a:r>
            </a:p>
          </p:txBody>
        </p:sp>
        <p:sp>
          <p:nvSpPr>
            <p:cNvPr id="39" name="TextBox 39"/>
            <p:cNvSpPr txBox="1"/>
            <p:nvPr/>
          </p:nvSpPr>
          <p:spPr>
            <a:xfrm>
              <a:off x="5241075" y="3879056"/>
              <a:ext cx="1233601" cy="228600"/>
            </a:xfrm>
            <a:prstGeom prst="rect">
              <a:avLst/>
            </a:prstGeom>
            <a:noFill/>
            <a:ln>
              <a:noFill/>
            </a:ln>
          </p:spPr>
          <p:txBody>
            <a:bodyPr wrap="none" lIns="0" tIns="0" rIns="0" bIns="0" anchor="t" anchorCtr="0">
              <a:spAutoFit/>
            </a:bodyPr>
            <a:lstStyle/>
            <a:p>
              <a:pPr algn="ctr"/>
              <a:r>
                <a:rPr lang="zh-CN" sz="1125" b="1" dirty="0">
                  <a:solidFill>
                    <a:srgbClr val="002D4C"/>
                  </a:solidFill>
                  <a:latin typeface="Arial"/>
                  <a:ea typeface="Microsoft YaHei"/>
                  <a:cs typeface="Arial"/>
                </a:rPr>
                <a:t>The Tournament</a:t>
              </a:r>
            </a:p>
          </p:txBody>
        </p:sp>
        <p:sp>
          <p:nvSpPr>
            <p:cNvPr id="40" name="Line 40"/>
            <p:cNvSpPr/>
            <p:nvPr/>
          </p:nvSpPr>
          <p:spPr>
            <a:xfrm>
              <a:off x="6762750" y="3076575"/>
              <a:ext cx="857250" cy="247650"/>
            </a:xfrm>
            <a:prstGeom prst="line">
              <a:avLst/>
            </a:prstGeom>
            <a:noFill/>
            <a:ln w="28575">
              <a:solidFill>
                <a:srgbClr val="009682"/>
              </a:solidFill>
              <a:tailEnd type="triangle" w="lg" len="lg"/>
            </a:ln>
          </p:spPr>
          <p:txBody>
            <a:bodyPr/>
            <a:lstStyle/>
            <a:p>
              <a:endParaRPr lang="zh-CN" altLang="en-US"/>
            </a:p>
          </p:txBody>
        </p:sp>
        <p:sp>
          <p:nvSpPr>
            <p:cNvPr id="41" name="Rectangle 41"/>
            <p:cNvSpPr/>
            <p:nvPr/>
          </p:nvSpPr>
          <p:spPr>
            <a:xfrm>
              <a:off x="6800850" y="2857500"/>
              <a:ext cx="819150" cy="209550"/>
            </a:xfrm>
            <a:prstGeom prst="rect">
              <a:avLst/>
            </a:prstGeom>
            <a:solidFill>
              <a:srgbClr val="FFFFFF"/>
            </a:solidFill>
            <a:ln>
              <a:noFill/>
            </a:ln>
          </p:spPr>
          <p:txBody>
            <a:bodyPr/>
            <a:lstStyle/>
            <a:p>
              <a:endParaRPr lang="zh-CN" altLang="en-US"/>
            </a:p>
          </p:txBody>
        </p:sp>
        <p:sp>
          <p:nvSpPr>
            <p:cNvPr id="42" name="TextBox 42"/>
            <p:cNvSpPr txBox="1"/>
            <p:nvPr/>
          </p:nvSpPr>
          <p:spPr>
            <a:xfrm>
              <a:off x="6890861" y="2919412"/>
              <a:ext cx="639128" cy="152400"/>
            </a:xfrm>
            <a:prstGeom prst="rect">
              <a:avLst/>
            </a:prstGeom>
            <a:noFill/>
            <a:ln>
              <a:noFill/>
            </a:ln>
          </p:spPr>
          <p:txBody>
            <a:bodyPr wrap="none" lIns="0" tIns="0" rIns="0" bIns="0" anchor="t" anchorCtr="0">
              <a:spAutoFit/>
            </a:bodyPr>
            <a:lstStyle/>
            <a:p>
              <a:pPr algn="ctr"/>
              <a:r>
                <a:rPr lang="zh-CN" sz="750" dirty="0">
                  <a:solidFill>
                    <a:srgbClr val="005A50"/>
                  </a:solidFill>
                  <a:latin typeface="Consolas"/>
                  <a:ea typeface="Microsoft YaHei"/>
                  <a:cs typeface="Consolas"/>
                </a:rPr>
                <a:t>cast member</a:t>
              </a:r>
            </a:p>
          </p:txBody>
        </p:sp>
        <p:sp>
          <p:nvSpPr>
            <p:cNvPr id="43" name="Line 43"/>
            <p:cNvSpPr/>
            <p:nvPr/>
          </p:nvSpPr>
          <p:spPr>
            <a:xfrm flipV="1">
              <a:off x="6762750" y="3590925"/>
              <a:ext cx="857250" cy="247650"/>
            </a:xfrm>
            <a:prstGeom prst="line">
              <a:avLst/>
            </a:prstGeom>
            <a:noFill/>
            <a:ln w="28575">
              <a:solidFill>
                <a:srgbClr val="009682"/>
              </a:solidFill>
              <a:tailEnd type="triangle" w="lg" len="lg"/>
            </a:ln>
          </p:spPr>
          <p:txBody>
            <a:bodyPr/>
            <a:lstStyle/>
            <a:p>
              <a:endParaRPr lang="zh-CN" altLang="en-US"/>
            </a:p>
          </p:txBody>
        </p:sp>
        <p:sp>
          <p:nvSpPr>
            <p:cNvPr id="44" name="Rectangle 44"/>
            <p:cNvSpPr/>
            <p:nvPr/>
          </p:nvSpPr>
          <p:spPr>
            <a:xfrm>
              <a:off x="6800850" y="3876675"/>
              <a:ext cx="819150" cy="209550"/>
            </a:xfrm>
            <a:prstGeom prst="rect">
              <a:avLst/>
            </a:prstGeom>
            <a:solidFill>
              <a:srgbClr val="FFFFFF"/>
            </a:solidFill>
            <a:ln>
              <a:noFill/>
            </a:ln>
          </p:spPr>
          <p:txBody>
            <a:bodyPr/>
            <a:lstStyle/>
            <a:p>
              <a:endParaRPr lang="zh-CN" altLang="en-US"/>
            </a:p>
          </p:txBody>
        </p:sp>
        <p:sp>
          <p:nvSpPr>
            <p:cNvPr id="45" name="TextBox 45"/>
            <p:cNvSpPr txBox="1"/>
            <p:nvPr/>
          </p:nvSpPr>
          <p:spPr>
            <a:xfrm>
              <a:off x="6890861" y="3938588"/>
              <a:ext cx="639128" cy="152400"/>
            </a:xfrm>
            <a:prstGeom prst="rect">
              <a:avLst/>
            </a:prstGeom>
            <a:noFill/>
            <a:ln>
              <a:noFill/>
            </a:ln>
          </p:spPr>
          <p:txBody>
            <a:bodyPr wrap="none" lIns="0" tIns="0" rIns="0" bIns="0" anchor="t" anchorCtr="0">
              <a:spAutoFit/>
            </a:bodyPr>
            <a:lstStyle/>
            <a:p>
              <a:pPr algn="ctr"/>
              <a:r>
                <a:rPr lang="zh-CN" sz="750" dirty="0">
                  <a:solidFill>
                    <a:srgbClr val="005A50"/>
                  </a:solidFill>
                  <a:latin typeface="Consolas"/>
                  <a:ea typeface="Microsoft YaHei"/>
                  <a:cs typeface="Consolas"/>
                </a:rPr>
                <a:t>cast member</a:t>
              </a:r>
            </a:p>
          </p:txBody>
        </p:sp>
        <p:sp>
          <p:nvSpPr>
            <p:cNvPr id="46" name="Rectangle 46"/>
            <p:cNvSpPr/>
            <p:nvPr/>
          </p:nvSpPr>
          <p:spPr>
            <a:xfrm>
              <a:off x="7620000" y="3171825"/>
              <a:ext cx="1714500" cy="552450"/>
            </a:xfrm>
            <a:prstGeom prst="rect">
              <a:avLst/>
            </a:prstGeom>
            <a:solidFill>
              <a:srgbClr val="23A1E0"/>
            </a:solidFill>
            <a:ln>
              <a:noFill/>
            </a:ln>
          </p:spPr>
          <p:txBody>
            <a:bodyPr/>
            <a:lstStyle/>
            <a:p>
              <a:endParaRPr lang="zh-CN" altLang="en-US"/>
            </a:p>
          </p:txBody>
        </p:sp>
        <p:sp>
          <p:nvSpPr>
            <p:cNvPr id="47" name="TextBox 47"/>
            <p:cNvSpPr txBox="1"/>
            <p:nvPr/>
          </p:nvSpPr>
          <p:spPr>
            <a:xfrm>
              <a:off x="7947910" y="3309938"/>
              <a:ext cx="1058680"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SHARED INTERMEDIATE</a:t>
              </a:r>
            </a:p>
          </p:txBody>
        </p:sp>
        <p:sp>
          <p:nvSpPr>
            <p:cNvPr id="48" name="TextBox 48"/>
            <p:cNvSpPr txBox="1"/>
            <p:nvPr/>
          </p:nvSpPr>
          <p:spPr>
            <a:xfrm>
              <a:off x="7809256" y="3498056"/>
              <a:ext cx="133598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Sébastien Foucan</a:t>
              </a:r>
            </a:p>
          </p:txBody>
        </p:sp>
        <p:sp>
          <p:nvSpPr>
            <p:cNvPr id="49" name="Line 49"/>
            <p:cNvSpPr/>
            <p:nvPr/>
          </p:nvSpPr>
          <p:spPr>
            <a:xfrm>
              <a:off x="9334500" y="3448050"/>
              <a:ext cx="762000" cy="1"/>
            </a:xfrm>
            <a:prstGeom prst="line">
              <a:avLst/>
            </a:prstGeom>
            <a:noFill/>
            <a:ln w="28575">
              <a:solidFill>
                <a:srgbClr val="009682"/>
              </a:solidFill>
              <a:tailEnd type="triangle" w="lg" len="lg"/>
            </a:ln>
          </p:spPr>
          <p:txBody>
            <a:bodyPr/>
            <a:lstStyle/>
            <a:p>
              <a:endParaRPr lang="zh-CN" altLang="en-US"/>
            </a:p>
          </p:txBody>
        </p:sp>
        <p:sp>
          <p:nvSpPr>
            <p:cNvPr id="50" name="Rectangle 50"/>
            <p:cNvSpPr/>
            <p:nvPr/>
          </p:nvSpPr>
          <p:spPr>
            <a:xfrm>
              <a:off x="9324975" y="3076575"/>
              <a:ext cx="819150" cy="228600"/>
            </a:xfrm>
            <a:prstGeom prst="rect">
              <a:avLst/>
            </a:prstGeom>
            <a:solidFill>
              <a:srgbClr val="EAF6F4"/>
            </a:solidFill>
            <a:ln>
              <a:noFill/>
            </a:ln>
          </p:spPr>
          <p:txBody>
            <a:bodyPr/>
            <a:lstStyle/>
            <a:p>
              <a:endParaRPr lang="zh-CN" altLang="en-US"/>
            </a:p>
          </p:txBody>
        </p:sp>
        <p:sp>
          <p:nvSpPr>
            <p:cNvPr id="51" name="TextBox 51"/>
            <p:cNvSpPr txBox="1"/>
            <p:nvPr/>
          </p:nvSpPr>
          <p:spPr>
            <a:xfrm>
              <a:off x="9514451" y="3137059"/>
              <a:ext cx="440198" cy="137160"/>
            </a:xfrm>
            <a:prstGeom prst="rect">
              <a:avLst/>
            </a:prstGeom>
            <a:noFill/>
            <a:ln>
              <a:noFill/>
            </a:ln>
          </p:spPr>
          <p:txBody>
            <a:bodyPr wrap="none" lIns="0" tIns="0" rIns="0" bIns="0" anchor="t" anchorCtr="0">
              <a:spAutoFit/>
            </a:bodyPr>
            <a:lstStyle/>
            <a:p>
              <a:pPr algn="ctr"/>
              <a:r>
                <a:rPr lang="zh-CN" sz="675" dirty="0">
                  <a:solidFill>
                    <a:srgbClr val="005A50"/>
                  </a:solidFill>
                  <a:latin typeface="Consolas"/>
                  <a:ea typeface="Microsoft YaHei"/>
                  <a:cs typeface="Consolas"/>
                </a:rPr>
                <a:t>languages</a:t>
              </a:r>
            </a:p>
          </p:txBody>
        </p:sp>
        <p:sp>
          <p:nvSpPr>
            <p:cNvPr id="52" name="TextBox 52"/>
            <p:cNvSpPr txBox="1"/>
            <p:nvPr/>
          </p:nvSpPr>
          <p:spPr>
            <a:xfrm>
              <a:off x="9577459" y="3241834"/>
              <a:ext cx="314182" cy="103875"/>
            </a:xfrm>
            <a:prstGeom prst="rect">
              <a:avLst/>
            </a:prstGeom>
            <a:noFill/>
            <a:ln>
              <a:noFill/>
            </a:ln>
          </p:spPr>
          <p:txBody>
            <a:bodyPr wrap="square" lIns="0" tIns="0" rIns="0" bIns="0" anchor="t" anchorCtr="0">
              <a:spAutoFit/>
            </a:bodyPr>
            <a:lstStyle/>
            <a:p>
              <a:pPr algn="ctr"/>
              <a:r>
                <a:rPr lang="zh-CN" sz="675" dirty="0">
                  <a:solidFill>
                    <a:srgbClr val="005A50"/>
                  </a:solidFill>
                  <a:latin typeface="Consolas"/>
                  <a:ea typeface="Microsoft YaHei"/>
                  <a:cs typeface="Consolas"/>
                </a:rPr>
                <a:t>spoken</a:t>
              </a:r>
            </a:p>
          </p:txBody>
        </p:sp>
        <p:sp>
          <p:nvSpPr>
            <p:cNvPr id="53" name="Rectangle 53"/>
            <p:cNvSpPr/>
            <p:nvPr/>
          </p:nvSpPr>
          <p:spPr>
            <a:xfrm>
              <a:off x="10096500" y="3171825"/>
              <a:ext cx="1504950" cy="552450"/>
            </a:xfrm>
            <a:prstGeom prst="rect">
              <a:avLst/>
            </a:prstGeom>
            <a:solidFill>
              <a:srgbClr val="002D4C"/>
            </a:solidFill>
            <a:ln>
              <a:noFill/>
            </a:ln>
          </p:spPr>
          <p:txBody>
            <a:bodyPr/>
            <a:lstStyle/>
            <a:p>
              <a:endParaRPr lang="zh-CN" altLang="en-US"/>
            </a:p>
          </p:txBody>
        </p:sp>
        <p:sp>
          <p:nvSpPr>
            <p:cNvPr id="54" name="TextBox 54"/>
            <p:cNvSpPr txBox="1"/>
            <p:nvPr/>
          </p:nvSpPr>
          <p:spPr>
            <a:xfrm>
              <a:off x="10655677" y="3309938"/>
              <a:ext cx="386596"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ANSWER</a:t>
              </a:r>
            </a:p>
          </p:txBody>
        </p:sp>
        <p:sp>
          <p:nvSpPr>
            <p:cNvPr id="55" name="TextBox 55"/>
            <p:cNvSpPr txBox="1"/>
            <p:nvPr/>
          </p:nvSpPr>
          <p:spPr>
            <a:xfrm>
              <a:off x="10538221" y="3481864"/>
              <a:ext cx="62150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French</a:t>
              </a:r>
            </a:p>
          </p:txBody>
        </p:sp>
      </p:grpSp>
      <p:grpSp>
        <p:nvGrpSpPr>
          <p:cNvPr id="61" name="Group 61"/>
          <p:cNvGrpSpPr/>
          <p:nvPr/>
        </p:nvGrpSpPr>
        <p:grpSpPr>
          <a:xfrm>
            <a:off x="4953000" y="4419600"/>
            <a:ext cx="6648450" cy="952500"/>
            <a:chOff x="4953000" y="4419600"/>
            <a:chExt cx="6648450" cy="952500"/>
          </a:xfrm>
        </p:grpSpPr>
        <p:sp>
          <p:nvSpPr>
            <p:cNvPr id="57" name="Rectangle 57"/>
            <p:cNvSpPr/>
            <p:nvPr/>
          </p:nvSpPr>
          <p:spPr>
            <a:xfrm>
              <a:off x="4953000" y="4419600"/>
              <a:ext cx="6648450" cy="952500"/>
            </a:xfrm>
            <a:prstGeom prst="rect">
              <a:avLst/>
            </a:prstGeom>
            <a:solidFill>
              <a:srgbClr val="002D4C"/>
            </a:solidFill>
            <a:ln>
              <a:noFill/>
            </a:ln>
          </p:spPr>
          <p:txBody>
            <a:bodyPr/>
            <a:lstStyle/>
            <a:p>
              <a:endParaRPr lang="zh-CN" altLang="en-US"/>
            </a:p>
          </p:txBody>
        </p:sp>
        <p:sp>
          <p:nvSpPr>
            <p:cNvPr id="58" name="TextBox 58"/>
            <p:cNvSpPr txBox="1"/>
            <p:nvPr/>
          </p:nvSpPr>
          <p:spPr>
            <a:xfrm>
              <a:off x="5170170" y="4598670"/>
              <a:ext cx="1686268"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SOLVING STRATEGY</a:t>
              </a:r>
            </a:p>
          </p:txBody>
        </p:sp>
        <p:sp>
          <p:nvSpPr>
            <p:cNvPr id="59" name="TextBox 59"/>
            <p:cNvSpPr txBox="1"/>
            <p:nvPr/>
          </p:nvSpPr>
          <p:spPr>
            <a:xfrm>
              <a:off x="5165408" y="4872514"/>
              <a:ext cx="5685592"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Multi-anchor intersection to identify a shared intermediate entity,</a:t>
              </a:r>
            </a:p>
          </p:txBody>
        </p:sp>
        <p:sp>
          <p:nvSpPr>
            <p:cNvPr id="60" name="TextBox 60"/>
            <p:cNvSpPr txBox="1"/>
            <p:nvPr/>
          </p:nvSpPr>
          <p:spPr>
            <a:xfrm>
              <a:off x="5165408" y="5110639"/>
              <a:ext cx="2514695"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followed by answer projection</a:t>
              </a:r>
            </a:p>
          </p:txBody>
        </p:sp>
      </p:grpSp>
      <p:grpSp>
        <p:nvGrpSpPr>
          <p:cNvPr id="66" name="Group 66"/>
          <p:cNvGrpSpPr/>
          <p:nvPr/>
        </p:nvGrpSpPr>
        <p:grpSpPr>
          <a:xfrm>
            <a:off x="495300" y="6167438"/>
            <a:ext cx="11201400" cy="590550"/>
            <a:chOff x="495300" y="6167438"/>
            <a:chExt cx="11201400" cy="590550"/>
          </a:xfrm>
        </p:grpSpPr>
        <p:sp>
          <p:nvSpPr>
            <p:cNvPr id="62" name="TextBox 62"/>
            <p:cNvSpPr txBox="1"/>
            <p:nvPr/>
          </p:nvSpPr>
          <p:spPr>
            <a:xfrm>
              <a:off x="581025" y="6167438"/>
              <a:ext cx="4369594"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GTSQA Dataset Analysis · Case 2 — Multi-Seed Intersection Followed by Projection</a:t>
              </a:r>
            </a:p>
          </p:txBody>
        </p:sp>
        <p:sp>
          <p:nvSpPr>
            <p:cNvPr id="63" name="Line 63"/>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64" name="TextBox 64"/>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65" name="TextBox 65"/>
            <p:cNvSpPr txBox="1"/>
            <p:nvPr/>
          </p:nvSpPr>
          <p:spPr>
            <a:xfrm>
              <a:off x="10887075" y="6605588"/>
              <a:ext cx="10406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400"/>
                                        <p:tgtEl>
                                          <p:spTgt spid="3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slide(fromBottom)">
                                      <p:cBhvr>
                                        <p:cTn id="15" dur="400"/>
                                        <p:tgtEl>
                                          <p:spTgt spid="56"/>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image">
                                      <p:cBhvr>
                                        <p:cTn id="1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1" grpId="0"/>
      <p:bldP spid="56" grpId="0"/>
      <p:bldP spid="6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0" y="0"/>
            <a:ext cx="9437513" cy="6858000"/>
            <a:chOff x="0" y="0"/>
            <a:chExt cx="9437513" cy="6858000"/>
          </a:xfrm>
        </p:grpSpPr>
        <p:sp>
          <p:nvSpPr>
            <p:cNvPr id="3" name="Rectangle 3"/>
            <p:cNvSpPr/>
            <p:nvPr/>
          </p:nvSpPr>
          <p:spPr>
            <a:xfrm>
              <a:off x="0" y="0"/>
              <a:ext cx="171450" cy="6858000"/>
            </a:xfrm>
            <a:prstGeom prst="rect">
              <a:avLst/>
            </a:prstGeom>
            <a:solidFill>
              <a:srgbClr val="009682"/>
            </a:solidFill>
            <a:ln>
              <a:noFill/>
            </a:ln>
          </p:spPr>
          <p:txBody>
            <a:bodyPr/>
            <a:lstStyle/>
            <a:p>
              <a:endParaRPr lang="zh-CN" altLang="en-US"/>
            </a:p>
          </p:txBody>
        </p:sp>
        <p:sp>
          <p:nvSpPr>
            <p:cNvPr id="4" name="TextBox 4"/>
            <p:cNvSpPr txBox="1"/>
            <p:nvPr/>
          </p:nvSpPr>
          <p:spPr>
            <a:xfrm>
              <a:off x="548640" y="410528"/>
              <a:ext cx="8888873"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GTSQA Case 3: Unequal-Depth Multi-Path Intersection</a:t>
              </a:r>
            </a:p>
          </p:txBody>
        </p:sp>
        <p:sp>
          <p:nvSpPr>
            <p:cNvPr id="5" name="TextBox 5"/>
            <p:cNvSpPr txBox="1"/>
            <p:nvPr/>
          </p:nvSpPr>
          <p:spPr>
            <a:xfrm>
              <a:off x="574358" y="862489"/>
              <a:ext cx="6807732"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A three-hop branch and a direct constraint intersect at a two-entity answer set</a:t>
              </a:r>
            </a:p>
          </p:txBody>
        </p:sp>
      </p:grpSp>
      <p:grpSp>
        <p:nvGrpSpPr>
          <p:cNvPr id="15" name="Group 15"/>
          <p:cNvGrpSpPr/>
          <p:nvPr/>
        </p:nvGrpSpPr>
        <p:grpSpPr>
          <a:xfrm>
            <a:off x="590550" y="1219200"/>
            <a:ext cx="11010900" cy="735806"/>
            <a:chOff x="590550" y="1219200"/>
            <a:chExt cx="11010900" cy="735806"/>
          </a:xfrm>
        </p:grpSpPr>
        <p:sp>
          <p:nvSpPr>
            <p:cNvPr id="7" name="Rectangle 7"/>
            <p:cNvSpPr/>
            <p:nvPr/>
          </p:nvSpPr>
          <p:spPr>
            <a:xfrm>
              <a:off x="590550" y="1219200"/>
              <a:ext cx="11010900" cy="704850"/>
            </a:xfrm>
            <a:prstGeom prst="rect">
              <a:avLst/>
            </a:prstGeom>
            <a:solidFill>
              <a:srgbClr val="EAF6F4"/>
            </a:solidFill>
            <a:ln w="14288">
              <a:solidFill>
                <a:srgbClr val="009682"/>
              </a:solidFill>
            </a:ln>
          </p:spPr>
          <p:txBody>
            <a:bodyPr/>
            <a:lstStyle/>
            <a:p>
              <a:endParaRPr lang="zh-CN" altLang="en-US"/>
            </a:p>
          </p:txBody>
        </p:sp>
        <p:sp>
          <p:nvSpPr>
            <p:cNvPr id="8" name="TextBox 8"/>
            <p:cNvSpPr txBox="1"/>
            <p:nvPr/>
          </p:nvSpPr>
          <p:spPr>
            <a:xfrm>
              <a:off x="768668" y="1361599"/>
              <a:ext cx="645918" cy="198120"/>
            </a:xfrm>
            <a:prstGeom prst="rect">
              <a:avLst/>
            </a:prstGeom>
            <a:noFill/>
            <a:ln>
              <a:noFill/>
            </a:ln>
          </p:spPr>
          <p:txBody>
            <a:bodyPr wrap="none" lIns="0" tIns="0" rIns="0" bIns="0" anchor="t" anchorCtr="0">
              <a:spAutoFit/>
            </a:bodyPr>
            <a:lstStyle/>
            <a:p>
              <a:pPr algn="l"/>
              <a:r>
                <a:rPr lang="zh-CN" sz="975" b="1" dirty="0">
                  <a:solidFill>
                    <a:srgbClr val="009682"/>
                  </a:solidFill>
                  <a:latin typeface="Arial"/>
                  <a:ea typeface="Microsoft YaHei"/>
                  <a:cs typeface="Arial"/>
                </a:rPr>
                <a:t>QUESTION</a:t>
              </a:r>
            </a:p>
          </p:txBody>
        </p:sp>
        <p:sp>
          <p:nvSpPr>
            <p:cNvPr id="9" name="TextBox 9"/>
            <p:cNvSpPr txBox="1"/>
            <p:nvPr/>
          </p:nvSpPr>
          <p:spPr>
            <a:xfrm>
              <a:off x="766762" y="1535906"/>
              <a:ext cx="5631775"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What instrument do both Tabea Zimmermann and the composer of the original</a:t>
              </a:r>
            </a:p>
          </p:txBody>
        </p:sp>
        <p:sp>
          <p:nvSpPr>
            <p:cNvPr id="10" name="TextBox 10"/>
            <p:cNvSpPr txBox="1"/>
            <p:nvPr/>
          </p:nvSpPr>
          <p:spPr>
            <a:xfrm>
              <a:off x="766762" y="1726406"/>
              <a:ext cx="1858804"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piece for Ave Maria play?</a:t>
              </a:r>
            </a:p>
          </p:txBody>
        </p:sp>
        <p:sp>
          <p:nvSpPr>
            <p:cNvPr id="11" name="Rectangle 11"/>
            <p:cNvSpPr/>
            <p:nvPr/>
          </p:nvSpPr>
          <p:spPr>
            <a:xfrm>
              <a:off x="9544050" y="1333500"/>
              <a:ext cx="1809750" cy="540544"/>
            </a:xfrm>
            <a:prstGeom prst="rect">
              <a:avLst/>
            </a:prstGeom>
            <a:solidFill>
              <a:srgbClr val="002D4C"/>
            </a:solidFill>
            <a:ln>
              <a:noFill/>
            </a:ln>
          </p:spPr>
          <p:txBody>
            <a:bodyPr/>
            <a:lstStyle/>
            <a:p>
              <a:endParaRPr lang="zh-CN" altLang="en-US"/>
            </a:p>
          </p:txBody>
        </p:sp>
        <p:sp>
          <p:nvSpPr>
            <p:cNvPr id="12" name="TextBox 12"/>
            <p:cNvSpPr txBox="1"/>
            <p:nvPr/>
          </p:nvSpPr>
          <p:spPr>
            <a:xfrm>
              <a:off x="9885096" y="1403509"/>
              <a:ext cx="1127659"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GOLD ANSWERS IN WIKIKG2</a:t>
              </a:r>
            </a:p>
          </p:txBody>
        </p:sp>
        <p:sp>
          <p:nvSpPr>
            <p:cNvPr id="13" name="TextBox 13"/>
            <p:cNvSpPr txBox="1"/>
            <p:nvPr/>
          </p:nvSpPr>
          <p:spPr>
            <a:xfrm>
              <a:off x="9948494" y="1552099"/>
              <a:ext cx="100086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Viola (Q80284)</a:t>
              </a:r>
            </a:p>
          </p:txBody>
        </p:sp>
        <p:sp>
          <p:nvSpPr>
            <p:cNvPr id="14" name="TextBox 14"/>
            <p:cNvSpPr txBox="1"/>
            <p:nvPr/>
          </p:nvSpPr>
          <p:spPr>
            <a:xfrm>
              <a:off x="9986036" y="1675924"/>
              <a:ext cx="92577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Cello (Q8355)</a:t>
              </a:r>
            </a:p>
          </p:txBody>
        </p:sp>
      </p:grpSp>
      <p:grpSp>
        <p:nvGrpSpPr>
          <p:cNvPr id="33" name="Group 33"/>
          <p:cNvGrpSpPr/>
          <p:nvPr/>
        </p:nvGrpSpPr>
        <p:grpSpPr>
          <a:xfrm>
            <a:off x="590550" y="2114550"/>
            <a:ext cx="4000500" cy="3293269"/>
            <a:chOff x="590550" y="2114550"/>
            <a:chExt cx="4000500" cy="3293269"/>
          </a:xfrm>
        </p:grpSpPr>
        <p:sp>
          <p:nvSpPr>
            <p:cNvPr id="16" name="Rectangle 16"/>
            <p:cNvSpPr/>
            <p:nvPr/>
          </p:nvSpPr>
          <p:spPr>
            <a:xfrm>
              <a:off x="590550" y="2114550"/>
              <a:ext cx="4000500" cy="3257550"/>
            </a:xfrm>
            <a:prstGeom prst="rect">
              <a:avLst/>
            </a:prstGeom>
            <a:solidFill>
              <a:srgbClr val="F4F7F8"/>
            </a:solidFill>
            <a:ln w="14288">
              <a:solidFill>
                <a:srgbClr val="DAE1E6"/>
              </a:solidFill>
            </a:ln>
          </p:spPr>
          <p:txBody>
            <a:bodyPr/>
            <a:lstStyle/>
            <a:p>
              <a:endParaRPr lang="zh-CN" altLang="en-US"/>
            </a:p>
          </p:txBody>
        </p:sp>
        <p:sp>
          <p:nvSpPr>
            <p:cNvPr id="17" name="Rectangle 17"/>
            <p:cNvSpPr/>
            <p:nvPr/>
          </p:nvSpPr>
          <p:spPr>
            <a:xfrm>
              <a:off x="590550" y="2114550"/>
              <a:ext cx="4000500" cy="400050"/>
            </a:xfrm>
            <a:prstGeom prst="rect">
              <a:avLst/>
            </a:prstGeom>
            <a:solidFill>
              <a:srgbClr val="002D4C"/>
            </a:solidFill>
            <a:ln>
              <a:noFill/>
            </a:ln>
          </p:spPr>
          <p:txBody>
            <a:bodyPr/>
            <a:lstStyle/>
            <a:p>
              <a:endParaRPr lang="zh-CN" altLang="en-US"/>
            </a:p>
          </p:txBody>
        </p:sp>
        <p:sp>
          <p:nvSpPr>
            <p:cNvPr id="18" name="TextBox 18"/>
            <p:cNvSpPr txBox="1"/>
            <p:nvPr/>
          </p:nvSpPr>
          <p:spPr>
            <a:xfrm>
              <a:off x="764858" y="2234089"/>
              <a:ext cx="298692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Case metadata and evidence scope</a:t>
              </a:r>
            </a:p>
          </p:txBody>
        </p:sp>
        <p:sp>
          <p:nvSpPr>
            <p:cNvPr id="19" name="TextBox 19"/>
            <p:cNvSpPr txBox="1"/>
            <p:nvPr/>
          </p:nvSpPr>
          <p:spPr>
            <a:xfrm>
              <a:off x="769620" y="2703195"/>
              <a:ext cx="652939"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DATASET ID</a:t>
              </a:r>
            </a:p>
          </p:txBody>
        </p:sp>
        <p:sp>
          <p:nvSpPr>
            <p:cNvPr id="20" name="TextBox 20"/>
            <p:cNvSpPr txBox="1"/>
            <p:nvPr/>
          </p:nvSpPr>
          <p:spPr>
            <a:xfrm>
              <a:off x="2498408" y="2662714"/>
              <a:ext cx="523321"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36090</a:t>
              </a:r>
            </a:p>
          </p:txBody>
        </p:sp>
        <p:sp>
          <p:nvSpPr>
            <p:cNvPr id="21" name="TextBox 21"/>
            <p:cNvSpPr txBox="1"/>
            <p:nvPr/>
          </p:nvSpPr>
          <p:spPr>
            <a:xfrm>
              <a:off x="769620" y="3027045"/>
              <a:ext cx="1030986"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GRAPH STRUCTURE</a:t>
              </a:r>
            </a:p>
          </p:txBody>
        </p:sp>
        <p:sp>
          <p:nvSpPr>
            <p:cNvPr id="22" name="TextBox 22"/>
            <p:cNvSpPr txBox="1"/>
            <p:nvPr/>
          </p:nvSpPr>
          <p:spPr>
            <a:xfrm>
              <a:off x="2498408" y="2986564"/>
              <a:ext cx="550950" cy="259080"/>
            </a:xfrm>
            <a:prstGeom prst="rect">
              <a:avLst/>
            </a:prstGeom>
            <a:noFill/>
            <a:ln>
              <a:noFill/>
            </a:ln>
          </p:spPr>
          <p:txBody>
            <a:bodyPr wrap="none" lIns="0" tIns="0" rIns="0" bIns="0" anchor="t" anchorCtr="0">
              <a:spAutoFit/>
            </a:bodyPr>
            <a:lstStyle/>
            <a:p>
              <a:pPr algn="l"/>
              <a:r>
                <a:rPr lang="zh-CN" sz="1275" dirty="0">
                  <a:solidFill>
                    <a:srgbClr val="005A50"/>
                  </a:solidFill>
                  <a:latin typeface="Consolas"/>
                  <a:ea typeface="Microsoft YaHei"/>
                  <a:cs typeface="Consolas"/>
                </a:rPr>
                <a:t>(3)(1)</a:t>
              </a:r>
            </a:p>
          </p:txBody>
        </p:sp>
        <p:sp>
          <p:nvSpPr>
            <p:cNvPr id="23" name="TextBox 23"/>
            <p:cNvSpPr txBox="1"/>
            <p:nvPr/>
          </p:nvSpPr>
          <p:spPr>
            <a:xfrm>
              <a:off x="769620" y="3350895"/>
              <a:ext cx="66554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HOP COUNT</a:t>
              </a:r>
            </a:p>
          </p:txBody>
        </p:sp>
        <p:sp>
          <p:nvSpPr>
            <p:cNvPr id="24" name="TextBox 24"/>
            <p:cNvSpPr txBox="1"/>
            <p:nvPr/>
          </p:nvSpPr>
          <p:spPr>
            <a:xfrm>
              <a:off x="2498408" y="3310414"/>
              <a:ext cx="125897"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3</a:t>
              </a:r>
            </a:p>
          </p:txBody>
        </p:sp>
        <p:sp>
          <p:nvSpPr>
            <p:cNvPr id="25" name="Line 25"/>
            <p:cNvSpPr/>
            <p:nvPr/>
          </p:nvSpPr>
          <p:spPr>
            <a:xfrm>
              <a:off x="781050" y="367665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26" name="TextBox 26"/>
            <p:cNvSpPr txBox="1"/>
            <p:nvPr/>
          </p:nvSpPr>
          <p:spPr>
            <a:xfrm>
              <a:off x="769620" y="3846195"/>
              <a:ext cx="829361"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SEED ENTITIES</a:t>
              </a:r>
            </a:p>
          </p:txBody>
        </p:sp>
        <p:sp>
          <p:nvSpPr>
            <p:cNvPr id="27" name="TextBox 27"/>
            <p:cNvSpPr txBox="1"/>
            <p:nvPr/>
          </p:nvSpPr>
          <p:spPr>
            <a:xfrm>
              <a:off x="767715" y="4096702"/>
              <a:ext cx="2035921"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Tabea Zimmermann (Q269838)</a:t>
              </a:r>
            </a:p>
          </p:txBody>
        </p:sp>
        <p:sp>
          <p:nvSpPr>
            <p:cNvPr id="28" name="TextBox 28"/>
            <p:cNvSpPr txBox="1"/>
            <p:nvPr/>
          </p:nvSpPr>
          <p:spPr>
            <a:xfrm>
              <a:off x="767715" y="4363402"/>
              <a:ext cx="1405842"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Ave Maria (Q790310)</a:t>
              </a:r>
            </a:p>
          </p:txBody>
        </p:sp>
        <p:sp>
          <p:nvSpPr>
            <p:cNvPr id="29" name="Line 29"/>
            <p:cNvSpPr/>
            <p:nvPr/>
          </p:nvSpPr>
          <p:spPr>
            <a:xfrm>
              <a:off x="781050" y="4667250"/>
              <a:ext cx="3619500" cy="9525"/>
            </a:xfrm>
            <a:custGeom>
              <a:avLst/>
              <a:gdLst/>
              <a:ahLst/>
              <a:cxnLst/>
              <a:rect l="l" t="t" r="r" b="b"/>
              <a:pathLst>
                <a:path w="3619500" h="9525">
                  <a:moveTo>
                    <a:pt x="0" y="0"/>
                  </a:moveTo>
                  <a:lnTo>
                    <a:pt x="3619500" y="0"/>
                  </a:lnTo>
                </a:path>
              </a:pathLst>
            </a:custGeom>
            <a:noFill/>
            <a:ln w="9525">
              <a:solidFill>
                <a:srgbClr val="DAE1E6"/>
              </a:solidFill>
            </a:ln>
          </p:spPr>
          <p:txBody>
            <a:bodyPr/>
            <a:lstStyle/>
            <a:p>
              <a:endParaRPr lang="zh-CN" altLang="en-US"/>
            </a:p>
          </p:txBody>
        </p:sp>
        <p:sp>
          <p:nvSpPr>
            <p:cNvPr id="30" name="TextBox 30"/>
            <p:cNvSpPr txBox="1"/>
            <p:nvPr/>
          </p:nvSpPr>
          <p:spPr>
            <a:xfrm>
              <a:off x="769620" y="4836795"/>
              <a:ext cx="1383830" cy="182880"/>
            </a:xfrm>
            <a:prstGeom prst="rect">
              <a:avLst/>
            </a:prstGeom>
            <a:noFill/>
            <a:ln>
              <a:noFill/>
            </a:ln>
          </p:spPr>
          <p:txBody>
            <a:bodyPr wrap="none" lIns="0" tIns="0" rIns="0" bIns="0" anchor="t" anchorCtr="0">
              <a:spAutoFit/>
            </a:bodyPr>
            <a:lstStyle/>
            <a:p>
              <a:pPr algn="l"/>
              <a:r>
                <a:rPr lang="zh-CN" sz="900" b="1" dirty="0">
                  <a:solidFill>
                    <a:srgbClr val="768993"/>
                  </a:solidFill>
                  <a:latin typeface="Arial"/>
                  <a:ea typeface="Microsoft YaHei"/>
                  <a:cs typeface="Arial"/>
                </a:rPr>
                <a:t>EVIDENCE COMPOSITION</a:t>
              </a:r>
            </a:p>
          </p:txBody>
        </p:sp>
        <p:sp>
          <p:nvSpPr>
            <p:cNvPr id="31" name="TextBox 31"/>
            <p:cNvSpPr txBox="1"/>
            <p:nvPr/>
          </p:nvSpPr>
          <p:spPr>
            <a:xfrm>
              <a:off x="768668" y="5057299"/>
              <a:ext cx="2105025"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One branch requires three hops;</a:t>
              </a:r>
            </a:p>
          </p:txBody>
        </p:sp>
        <p:sp>
          <p:nvSpPr>
            <p:cNvPr id="32" name="TextBox 32"/>
            <p:cNvSpPr txBox="1"/>
            <p:nvPr/>
          </p:nvSpPr>
          <p:spPr>
            <a:xfrm>
              <a:off x="768668" y="5209699"/>
              <a:ext cx="2553581" cy="198120"/>
            </a:xfrm>
            <a:prstGeom prst="rect">
              <a:avLst/>
            </a:prstGeom>
            <a:noFill/>
            <a:ln>
              <a:noFill/>
            </a:ln>
          </p:spPr>
          <p:txBody>
            <a:bodyPr wrap="none" lIns="0" tIns="0" rIns="0" bIns="0" anchor="t" anchorCtr="0">
              <a:spAutoFit/>
            </a:bodyPr>
            <a:lstStyle/>
            <a:p>
              <a:pPr algn="l"/>
              <a:r>
                <a:rPr lang="zh-CN" sz="975" dirty="0">
                  <a:solidFill>
                    <a:srgbClr val="002D4C"/>
                  </a:solidFill>
                  <a:latin typeface="Arial"/>
                  <a:ea typeface="Microsoft YaHei"/>
                  <a:cs typeface="Arial"/>
                </a:rPr>
                <a:t>the other provides a direct constraint.</a:t>
              </a:r>
            </a:p>
          </p:txBody>
        </p:sp>
      </p:grpSp>
      <p:grpSp>
        <p:nvGrpSpPr>
          <p:cNvPr id="68" name="Group 68"/>
          <p:cNvGrpSpPr/>
          <p:nvPr/>
        </p:nvGrpSpPr>
        <p:grpSpPr>
          <a:xfrm>
            <a:off x="4936808" y="2234089"/>
            <a:ext cx="6664642" cy="2071211"/>
            <a:chOff x="4936808" y="2234089"/>
            <a:chExt cx="6664642" cy="2071211"/>
          </a:xfrm>
        </p:grpSpPr>
        <p:sp>
          <p:nvSpPr>
            <p:cNvPr id="34" name="TextBox 34"/>
            <p:cNvSpPr txBox="1"/>
            <p:nvPr/>
          </p:nvSpPr>
          <p:spPr>
            <a:xfrm>
              <a:off x="4936808" y="2234089"/>
              <a:ext cx="2165727" cy="259080"/>
            </a:xfrm>
            <a:prstGeom prst="rect">
              <a:avLst/>
            </a:prstGeom>
            <a:noFill/>
            <a:ln>
              <a:noFill/>
            </a:ln>
          </p:spPr>
          <p:txBody>
            <a:bodyPr wrap="none" lIns="0" tIns="0" rIns="0" bIns="0" anchor="t" anchorCtr="0">
              <a:spAutoFit/>
            </a:bodyPr>
            <a:lstStyle/>
            <a:p>
              <a:pPr algn="l"/>
              <a:r>
                <a:rPr lang="zh-CN" sz="1275" b="1" dirty="0">
                  <a:solidFill>
                    <a:srgbClr val="002D4C"/>
                  </a:solidFill>
                  <a:latin typeface="Arial"/>
                  <a:ea typeface="Microsoft YaHei"/>
                  <a:cs typeface="Arial"/>
                </a:rPr>
                <a:t>Gold supporting evidence</a:t>
              </a:r>
            </a:p>
          </p:txBody>
        </p:sp>
        <p:sp>
          <p:nvSpPr>
            <p:cNvPr id="35" name="Line 35"/>
            <p:cNvSpPr/>
            <p:nvPr/>
          </p:nvSpPr>
          <p:spPr>
            <a:xfrm>
              <a:off x="4953000" y="2524125"/>
              <a:ext cx="6648450" cy="9525"/>
            </a:xfrm>
            <a:custGeom>
              <a:avLst/>
              <a:gdLst/>
              <a:ahLst/>
              <a:cxnLst/>
              <a:rect l="l" t="t" r="r" b="b"/>
              <a:pathLst>
                <a:path w="6648450" h="9525">
                  <a:moveTo>
                    <a:pt x="0" y="0"/>
                  </a:moveTo>
                  <a:lnTo>
                    <a:pt x="6648450" y="0"/>
                  </a:lnTo>
                </a:path>
              </a:pathLst>
            </a:custGeom>
            <a:noFill/>
            <a:ln w="9525">
              <a:solidFill>
                <a:srgbClr val="DAE1E6"/>
              </a:solidFill>
            </a:ln>
          </p:spPr>
          <p:txBody>
            <a:bodyPr/>
            <a:lstStyle/>
            <a:p>
              <a:endParaRPr lang="zh-CN" altLang="en-US"/>
            </a:p>
          </p:txBody>
        </p:sp>
        <p:sp>
          <p:nvSpPr>
            <p:cNvPr id="36" name="Line 36"/>
            <p:cNvSpPr/>
            <p:nvPr/>
          </p:nvSpPr>
          <p:spPr>
            <a:xfrm>
              <a:off x="5981700" y="3000375"/>
              <a:ext cx="590550" cy="1"/>
            </a:xfrm>
            <a:prstGeom prst="line">
              <a:avLst/>
            </a:prstGeom>
            <a:noFill/>
            <a:ln w="23812">
              <a:solidFill>
                <a:srgbClr val="009682"/>
              </a:solidFill>
              <a:tailEnd type="triangle" w="lg" len="lg"/>
            </a:ln>
          </p:spPr>
          <p:txBody>
            <a:bodyPr/>
            <a:lstStyle/>
            <a:p>
              <a:endParaRPr lang="zh-CN" altLang="en-US"/>
            </a:p>
          </p:txBody>
        </p:sp>
        <p:sp>
          <p:nvSpPr>
            <p:cNvPr id="37" name="TextBox 37"/>
            <p:cNvSpPr txBox="1"/>
            <p:nvPr/>
          </p:nvSpPr>
          <p:spPr>
            <a:xfrm>
              <a:off x="6081629" y="2794159"/>
              <a:ext cx="390692" cy="137160"/>
            </a:xfrm>
            <a:prstGeom prst="rect">
              <a:avLst/>
            </a:prstGeom>
            <a:noFill/>
            <a:ln>
              <a:noFill/>
            </a:ln>
          </p:spPr>
          <p:txBody>
            <a:bodyPr wrap="none" lIns="0" tIns="0" rIns="0" bIns="0" anchor="t" anchorCtr="0">
              <a:spAutoFit/>
            </a:bodyPr>
            <a:lstStyle/>
            <a:p>
              <a:pPr algn="ctr"/>
              <a:r>
                <a:rPr lang="zh-CN" sz="675" dirty="0">
                  <a:solidFill>
                    <a:srgbClr val="005A50"/>
                  </a:solidFill>
                  <a:latin typeface="Consolas"/>
                  <a:ea typeface="Microsoft YaHei"/>
                  <a:cs typeface="Consolas"/>
                </a:rPr>
                <a:t>based on</a:t>
              </a:r>
            </a:p>
          </p:txBody>
        </p:sp>
        <p:sp>
          <p:nvSpPr>
            <p:cNvPr id="38" name="Line 38"/>
            <p:cNvSpPr/>
            <p:nvPr/>
          </p:nvSpPr>
          <p:spPr>
            <a:xfrm>
              <a:off x="8172450" y="3000375"/>
              <a:ext cx="495300" cy="1"/>
            </a:xfrm>
            <a:prstGeom prst="line">
              <a:avLst/>
            </a:prstGeom>
            <a:noFill/>
            <a:ln w="23812">
              <a:solidFill>
                <a:srgbClr val="009682"/>
              </a:solidFill>
              <a:tailEnd type="triangle" w="lg" len="lg"/>
            </a:ln>
          </p:spPr>
          <p:txBody>
            <a:bodyPr/>
            <a:lstStyle/>
            <a:p>
              <a:endParaRPr lang="zh-CN" altLang="en-US"/>
            </a:p>
          </p:txBody>
        </p:sp>
        <p:sp>
          <p:nvSpPr>
            <p:cNvPr id="39" name="TextBox 39"/>
            <p:cNvSpPr txBox="1"/>
            <p:nvPr/>
          </p:nvSpPr>
          <p:spPr>
            <a:xfrm>
              <a:off x="8204502" y="2794159"/>
              <a:ext cx="431197" cy="137160"/>
            </a:xfrm>
            <a:prstGeom prst="rect">
              <a:avLst/>
            </a:prstGeom>
            <a:noFill/>
            <a:ln>
              <a:noFill/>
            </a:ln>
          </p:spPr>
          <p:txBody>
            <a:bodyPr wrap="none" lIns="0" tIns="0" rIns="0" bIns="0" anchor="t" anchorCtr="0">
              <a:spAutoFit/>
            </a:bodyPr>
            <a:lstStyle/>
            <a:p>
              <a:pPr algn="ctr"/>
              <a:r>
                <a:rPr lang="zh-CN" sz="675" dirty="0">
                  <a:solidFill>
                    <a:srgbClr val="005A50"/>
                  </a:solidFill>
                  <a:latin typeface="Consolas"/>
                  <a:ea typeface="Microsoft YaHei"/>
                  <a:cs typeface="Consolas"/>
                </a:rPr>
                <a:t>composer</a:t>
              </a:r>
            </a:p>
          </p:txBody>
        </p:sp>
        <p:sp>
          <p:nvSpPr>
            <p:cNvPr id="40" name="Line 40"/>
            <p:cNvSpPr/>
            <p:nvPr/>
          </p:nvSpPr>
          <p:spPr>
            <a:xfrm>
              <a:off x="9906000" y="3000375"/>
              <a:ext cx="571500" cy="38100"/>
            </a:xfrm>
            <a:prstGeom prst="line">
              <a:avLst/>
            </a:prstGeom>
            <a:noFill/>
            <a:ln w="23812">
              <a:solidFill>
                <a:srgbClr val="009682"/>
              </a:solidFill>
              <a:tailEnd type="triangle" w="lg" len="lg"/>
            </a:ln>
          </p:spPr>
          <p:txBody>
            <a:bodyPr/>
            <a:lstStyle/>
            <a:p>
              <a:endParaRPr lang="zh-CN" altLang="en-US"/>
            </a:p>
          </p:txBody>
        </p:sp>
        <p:sp>
          <p:nvSpPr>
            <p:cNvPr id="41" name="Line 41"/>
            <p:cNvSpPr/>
            <p:nvPr/>
          </p:nvSpPr>
          <p:spPr>
            <a:xfrm>
              <a:off x="9906000" y="3076575"/>
              <a:ext cx="571500" cy="742950"/>
            </a:xfrm>
            <a:prstGeom prst="line">
              <a:avLst/>
            </a:prstGeom>
            <a:noFill/>
            <a:ln w="23812">
              <a:solidFill>
                <a:srgbClr val="009682"/>
              </a:solidFill>
              <a:tailEnd type="triangle" w="lg" len="lg"/>
            </a:ln>
          </p:spPr>
          <p:txBody>
            <a:bodyPr/>
            <a:lstStyle/>
            <a:p>
              <a:endParaRPr lang="zh-CN" altLang="en-US"/>
            </a:p>
          </p:txBody>
        </p:sp>
        <p:sp>
          <p:nvSpPr>
            <p:cNvPr id="42" name="Line 42"/>
            <p:cNvSpPr/>
            <p:nvPr/>
          </p:nvSpPr>
          <p:spPr>
            <a:xfrm flipV="1">
              <a:off x="8858250" y="3133725"/>
              <a:ext cx="1619250" cy="914400"/>
            </a:xfrm>
            <a:prstGeom prst="line">
              <a:avLst/>
            </a:prstGeom>
            <a:noFill/>
            <a:ln w="23812">
              <a:solidFill>
                <a:srgbClr val="009682"/>
              </a:solidFill>
              <a:tailEnd type="triangle" w="lg" len="lg"/>
            </a:ln>
          </p:spPr>
          <p:txBody>
            <a:bodyPr/>
            <a:lstStyle/>
            <a:p>
              <a:endParaRPr lang="zh-CN" altLang="en-US"/>
            </a:p>
          </p:txBody>
        </p:sp>
        <p:sp>
          <p:nvSpPr>
            <p:cNvPr id="43" name="Line 43"/>
            <p:cNvSpPr/>
            <p:nvPr/>
          </p:nvSpPr>
          <p:spPr>
            <a:xfrm flipV="1">
              <a:off x="8858250" y="3895725"/>
              <a:ext cx="1619250" cy="152400"/>
            </a:xfrm>
            <a:prstGeom prst="line">
              <a:avLst/>
            </a:prstGeom>
            <a:noFill/>
            <a:ln w="23812">
              <a:solidFill>
                <a:srgbClr val="009682"/>
              </a:solidFill>
              <a:tailEnd type="triangle" w="lg" len="lg"/>
            </a:ln>
          </p:spPr>
          <p:txBody>
            <a:bodyPr/>
            <a:lstStyle/>
            <a:p>
              <a:endParaRPr lang="zh-CN" altLang="en-US"/>
            </a:p>
          </p:txBody>
        </p:sp>
        <p:sp>
          <p:nvSpPr>
            <p:cNvPr id="44" name="Rectangle 44"/>
            <p:cNvSpPr/>
            <p:nvPr/>
          </p:nvSpPr>
          <p:spPr>
            <a:xfrm>
              <a:off x="4953000" y="2743200"/>
              <a:ext cx="1028700" cy="514350"/>
            </a:xfrm>
            <a:prstGeom prst="rect">
              <a:avLst/>
            </a:prstGeom>
            <a:solidFill>
              <a:srgbClr val="F4F7F8"/>
            </a:solidFill>
            <a:ln w="14288">
              <a:solidFill>
                <a:srgbClr val="DAE1E6"/>
              </a:solidFill>
            </a:ln>
          </p:spPr>
          <p:txBody>
            <a:bodyPr/>
            <a:lstStyle/>
            <a:p>
              <a:endParaRPr lang="zh-CN" altLang="en-US"/>
            </a:p>
          </p:txBody>
        </p:sp>
        <p:sp>
          <p:nvSpPr>
            <p:cNvPr id="45" name="TextBox 45"/>
            <p:cNvSpPr txBox="1"/>
            <p:nvPr/>
          </p:nvSpPr>
          <p:spPr>
            <a:xfrm>
              <a:off x="5342311" y="2871788"/>
              <a:ext cx="250079" cy="152400"/>
            </a:xfrm>
            <a:prstGeom prst="rect">
              <a:avLst/>
            </a:prstGeom>
            <a:noFill/>
            <a:ln>
              <a:noFill/>
            </a:ln>
          </p:spPr>
          <p:txBody>
            <a:bodyPr wrap="none" lIns="0" tIns="0" rIns="0" bIns="0" anchor="t" anchorCtr="0">
              <a:spAutoFit/>
            </a:bodyPr>
            <a:lstStyle/>
            <a:p>
              <a:pPr algn="ctr"/>
              <a:r>
                <a:rPr lang="zh-CN" sz="750" b="1" dirty="0">
                  <a:solidFill>
                    <a:srgbClr val="768993"/>
                  </a:solidFill>
                  <a:latin typeface="Arial"/>
                  <a:ea typeface="Microsoft YaHei"/>
                  <a:cs typeface="Arial"/>
                </a:rPr>
                <a:t>SEED</a:t>
              </a:r>
            </a:p>
          </p:txBody>
        </p:sp>
        <p:sp>
          <p:nvSpPr>
            <p:cNvPr id="46" name="TextBox 46"/>
            <p:cNvSpPr txBox="1"/>
            <p:nvPr/>
          </p:nvSpPr>
          <p:spPr>
            <a:xfrm>
              <a:off x="5137565" y="3037999"/>
              <a:ext cx="659569" cy="198120"/>
            </a:xfrm>
            <a:prstGeom prst="rect">
              <a:avLst/>
            </a:prstGeom>
            <a:noFill/>
            <a:ln>
              <a:noFill/>
            </a:ln>
          </p:spPr>
          <p:txBody>
            <a:bodyPr wrap="none" lIns="0" tIns="0" rIns="0" bIns="0" anchor="t" anchorCtr="0">
              <a:spAutoFit/>
            </a:bodyPr>
            <a:lstStyle/>
            <a:p>
              <a:pPr algn="ctr"/>
              <a:r>
                <a:rPr lang="zh-CN" sz="975" b="1" dirty="0">
                  <a:solidFill>
                    <a:srgbClr val="002D4C"/>
                  </a:solidFill>
                  <a:latin typeface="Arial"/>
                  <a:ea typeface="Microsoft YaHei"/>
                  <a:cs typeface="Arial"/>
                </a:rPr>
                <a:t>Ave Maria</a:t>
              </a:r>
            </a:p>
          </p:txBody>
        </p:sp>
        <p:sp>
          <p:nvSpPr>
            <p:cNvPr id="47" name="Rectangle 47"/>
            <p:cNvSpPr/>
            <p:nvPr/>
          </p:nvSpPr>
          <p:spPr>
            <a:xfrm>
              <a:off x="6572250" y="2743200"/>
              <a:ext cx="1600200" cy="514350"/>
            </a:xfrm>
            <a:prstGeom prst="rect">
              <a:avLst/>
            </a:prstGeom>
            <a:solidFill>
              <a:srgbClr val="EAF6F4"/>
            </a:solidFill>
            <a:ln w="14288">
              <a:solidFill>
                <a:srgbClr val="DAE1E6"/>
              </a:solidFill>
            </a:ln>
          </p:spPr>
          <p:txBody>
            <a:bodyPr/>
            <a:lstStyle/>
            <a:p>
              <a:endParaRPr lang="zh-CN" altLang="en-US"/>
            </a:p>
          </p:txBody>
        </p:sp>
        <p:sp>
          <p:nvSpPr>
            <p:cNvPr id="48" name="TextBox 48"/>
            <p:cNvSpPr txBox="1"/>
            <p:nvPr/>
          </p:nvSpPr>
          <p:spPr>
            <a:xfrm>
              <a:off x="7037712" y="2851309"/>
              <a:ext cx="669277" cy="137160"/>
            </a:xfrm>
            <a:prstGeom prst="rect">
              <a:avLst/>
            </a:prstGeom>
            <a:noFill/>
            <a:ln>
              <a:noFill/>
            </a:ln>
          </p:spPr>
          <p:txBody>
            <a:bodyPr wrap="none" lIns="0" tIns="0" rIns="0" bIns="0" anchor="t" anchorCtr="0">
              <a:spAutoFit/>
            </a:bodyPr>
            <a:lstStyle/>
            <a:p>
              <a:pPr algn="ctr"/>
              <a:r>
                <a:rPr lang="zh-CN" sz="675" b="1" dirty="0">
                  <a:solidFill>
                    <a:srgbClr val="768993"/>
                  </a:solidFill>
                  <a:latin typeface="Arial"/>
                  <a:ea typeface="Microsoft YaHei"/>
                  <a:cs typeface="Arial"/>
                </a:rPr>
                <a:t>ORIGINAL PIECE</a:t>
              </a:r>
            </a:p>
          </p:txBody>
        </p:sp>
        <p:sp>
          <p:nvSpPr>
            <p:cNvPr id="49" name="TextBox 49"/>
            <p:cNvSpPr txBox="1"/>
            <p:nvPr/>
          </p:nvSpPr>
          <p:spPr>
            <a:xfrm>
              <a:off x="6619857" y="3005138"/>
              <a:ext cx="1504986" cy="152400"/>
            </a:xfrm>
            <a:prstGeom prst="rect">
              <a:avLst/>
            </a:prstGeom>
            <a:noFill/>
            <a:ln>
              <a:noFill/>
            </a:ln>
          </p:spPr>
          <p:txBody>
            <a:bodyPr wrap="none" lIns="0" tIns="0" rIns="0" bIns="0" anchor="t" anchorCtr="0">
              <a:spAutoFit/>
            </a:bodyPr>
            <a:lstStyle/>
            <a:p>
              <a:pPr algn="ctr"/>
              <a:r>
                <a:rPr lang="zh-CN" sz="750" b="1" dirty="0">
                  <a:solidFill>
                    <a:srgbClr val="002D4C"/>
                  </a:solidFill>
                  <a:latin typeface="Arial"/>
                  <a:ea typeface="Microsoft YaHei"/>
                  <a:cs typeface="Arial"/>
                </a:rPr>
                <a:t>Prelude and Fugue in C major,</a:t>
              </a:r>
            </a:p>
          </p:txBody>
        </p:sp>
        <p:sp>
          <p:nvSpPr>
            <p:cNvPr id="50" name="TextBox 50"/>
            <p:cNvSpPr txBox="1"/>
            <p:nvPr/>
          </p:nvSpPr>
          <p:spPr>
            <a:xfrm>
              <a:off x="7163300" y="3128962"/>
              <a:ext cx="418100" cy="152400"/>
            </a:xfrm>
            <a:prstGeom prst="rect">
              <a:avLst/>
            </a:prstGeom>
            <a:noFill/>
            <a:ln>
              <a:noFill/>
            </a:ln>
          </p:spPr>
          <p:txBody>
            <a:bodyPr wrap="none" lIns="0" tIns="0" rIns="0" bIns="0" anchor="t" anchorCtr="0">
              <a:spAutoFit/>
            </a:bodyPr>
            <a:lstStyle/>
            <a:p>
              <a:pPr algn="ctr"/>
              <a:r>
                <a:rPr lang="zh-CN" sz="750" b="1" dirty="0">
                  <a:solidFill>
                    <a:srgbClr val="002D4C"/>
                  </a:solidFill>
                  <a:latin typeface="Arial"/>
                  <a:ea typeface="Microsoft YaHei"/>
                  <a:cs typeface="Arial"/>
                </a:rPr>
                <a:t>BWV 846</a:t>
              </a:r>
            </a:p>
          </p:txBody>
        </p:sp>
        <p:sp>
          <p:nvSpPr>
            <p:cNvPr id="51" name="Rectangle 51"/>
            <p:cNvSpPr/>
            <p:nvPr/>
          </p:nvSpPr>
          <p:spPr>
            <a:xfrm>
              <a:off x="8667750" y="2743200"/>
              <a:ext cx="1238250" cy="514350"/>
            </a:xfrm>
            <a:prstGeom prst="rect">
              <a:avLst/>
            </a:prstGeom>
            <a:solidFill>
              <a:srgbClr val="23A1E0"/>
            </a:solidFill>
            <a:ln>
              <a:noFill/>
            </a:ln>
          </p:spPr>
          <p:txBody>
            <a:bodyPr/>
            <a:lstStyle/>
            <a:p>
              <a:endParaRPr lang="zh-CN" altLang="en-US"/>
            </a:p>
          </p:txBody>
        </p:sp>
        <p:sp>
          <p:nvSpPr>
            <p:cNvPr id="52" name="TextBox 52"/>
            <p:cNvSpPr txBox="1"/>
            <p:nvPr/>
          </p:nvSpPr>
          <p:spPr>
            <a:xfrm>
              <a:off x="9042023" y="2870359"/>
              <a:ext cx="489704"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COMPOSER</a:t>
              </a:r>
            </a:p>
          </p:txBody>
        </p:sp>
        <p:sp>
          <p:nvSpPr>
            <p:cNvPr id="53" name="TextBox 53"/>
            <p:cNvSpPr txBox="1"/>
            <p:nvPr/>
          </p:nvSpPr>
          <p:spPr>
            <a:xfrm>
              <a:off x="8841546" y="3043238"/>
              <a:ext cx="890659"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Johann Sebastian</a:t>
              </a:r>
            </a:p>
          </p:txBody>
        </p:sp>
        <p:sp>
          <p:nvSpPr>
            <p:cNvPr id="54" name="TextBox 54"/>
            <p:cNvSpPr txBox="1"/>
            <p:nvPr/>
          </p:nvSpPr>
          <p:spPr>
            <a:xfrm>
              <a:off x="9161836" y="3157538"/>
              <a:ext cx="250079"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Bach</a:t>
              </a:r>
            </a:p>
          </p:txBody>
        </p:sp>
        <p:sp>
          <p:nvSpPr>
            <p:cNvPr id="55" name="Rectangle 55"/>
            <p:cNvSpPr/>
            <p:nvPr/>
          </p:nvSpPr>
          <p:spPr>
            <a:xfrm>
              <a:off x="6858000" y="3790950"/>
              <a:ext cx="2000250" cy="514350"/>
            </a:xfrm>
            <a:prstGeom prst="rect">
              <a:avLst/>
            </a:prstGeom>
            <a:solidFill>
              <a:srgbClr val="F4F7F8"/>
            </a:solidFill>
            <a:ln w="14288">
              <a:solidFill>
                <a:srgbClr val="DAE1E6"/>
              </a:solidFill>
            </a:ln>
          </p:spPr>
          <p:txBody>
            <a:bodyPr/>
            <a:lstStyle/>
            <a:p>
              <a:endParaRPr lang="zh-CN" altLang="en-US"/>
            </a:p>
          </p:txBody>
        </p:sp>
        <p:sp>
          <p:nvSpPr>
            <p:cNvPr id="56" name="TextBox 56"/>
            <p:cNvSpPr txBox="1"/>
            <p:nvPr/>
          </p:nvSpPr>
          <p:spPr>
            <a:xfrm>
              <a:off x="7433701" y="3918109"/>
              <a:ext cx="848849" cy="137160"/>
            </a:xfrm>
            <a:prstGeom prst="rect">
              <a:avLst/>
            </a:prstGeom>
            <a:noFill/>
            <a:ln>
              <a:noFill/>
            </a:ln>
          </p:spPr>
          <p:txBody>
            <a:bodyPr wrap="none" lIns="0" tIns="0" rIns="0" bIns="0" anchor="t" anchorCtr="0">
              <a:spAutoFit/>
            </a:bodyPr>
            <a:lstStyle/>
            <a:p>
              <a:pPr algn="ctr"/>
              <a:r>
                <a:rPr lang="zh-CN" sz="675" b="1" dirty="0">
                  <a:solidFill>
                    <a:srgbClr val="768993"/>
                  </a:solidFill>
                  <a:latin typeface="Arial"/>
                  <a:ea typeface="Microsoft YaHei"/>
                  <a:cs typeface="Arial"/>
                </a:rPr>
                <a:t>DIRECT CONSTRAINT</a:t>
              </a:r>
            </a:p>
          </p:txBody>
        </p:sp>
        <p:sp>
          <p:nvSpPr>
            <p:cNvPr id="57" name="TextBox 57"/>
            <p:cNvSpPr txBox="1"/>
            <p:nvPr/>
          </p:nvSpPr>
          <p:spPr>
            <a:xfrm>
              <a:off x="7190558" y="4077652"/>
              <a:ext cx="1335134" cy="213360"/>
            </a:xfrm>
            <a:prstGeom prst="rect">
              <a:avLst/>
            </a:prstGeom>
            <a:noFill/>
            <a:ln>
              <a:noFill/>
            </a:ln>
          </p:spPr>
          <p:txBody>
            <a:bodyPr wrap="none" lIns="0" tIns="0" rIns="0" bIns="0" anchor="t" anchorCtr="0">
              <a:spAutoFit/>
            </a:bodyPr>
            <a:lstStyle/>
            <a:p>
              <a:pPr algn="ctr"/>
              <a:r>
                <a:rPr lang="zh-CN" sz="1050" b="1" dirty="0">
                  <a:solidFill>
                    <a:srgbClr val="002D4C"/>
                  </a:solidFill>
                  <a:latin typeface="Arial"/>
                  <a:ea typeface="Microsoft YaHei"/>
                  <a:cs typeface="Arial"/>
                </a:rPr>
                <a:t>Tabea Zimmermann</a:t>
              </a:r>
            </a:p>
          </p:txBody>
        </p:sp>
        <p:sp>
          <p:nvSpPr>
            <p:cNvPr id="58" name="Rectangle 58"/>
            <p:cNvSpPr/>
            <p:nvPr/>
          </p:nvSpPr>
          <p:spPr>
            <a:xfrm>
              <a:off x="10477500" y="2781300"/>
              <a:ext cx="1123950" cy="514350"/>
            </a:xfrm>
            <a:prstGeom prst="rect">
              <a:avLst/>
            </a:prstGeom>
            <a:solidFill>
              <a:srgbClr val="002D4C"/>
            </a:solidFill>
            <a:ln>
              <a:noFill/>
            </a:ln>
          </p:spPr>
          <p:txBody>
            <a:bodyPr/>
            <a:lstStyle/>
            <a:p>
              <a:endParaRPr lang="zh-CN" altLang="en-US"/>
            </a:p>
          </p:txBody>
        </p:sp>
        <p:sp>
          <p:nvSpPr>
            <p:cNvPr id="59" name="TextBox 59"/>
            <p:cNvSpPr txBox="1"/>
            <p:nvPr/>
          </p:nvSpPr>
          <p:spPr>
            <a:xfrm>
              <a:off x="10837153" y="2908459"/>
              <a:ext cx="404643"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ANSWER 1</a:t>
              </a:r>
            </a:p>
          </p:txBody>
        </p:sp>
        <p:sp>
          <p:nvSpPr>
            <p:cNvPr id="60" name="TextBox 60"/>
            <p:cNvSpPr txBox="1"/>
            <p:nvPr/>
          </p:nvSpPr>
          <p:spPr>
            <a:xfrm>
              <a:off x="10847978" y="3059906"/>
              <a:ext cx="38299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Viola</a:t>
              </a:r>
            </a:p>
          </p:txBody>
        </p:sp>
        <p:sp>
          <p:nvSpPr>
            <p:cNvPr id="61" name="Rectangle 61"/>
            <p:cNvSpPr/>
            <p:nvPr/>
          </p:nvSpPr>
          <p:spPr>
            <a:xfrm>
              <a:off x="10477500" y="3638550"/>
              <a:ext cx="1123950" cy="514350"/>
            </a:xfrm>
            <a:prstGeom prst="rect">
              <a:avLst/>
            </a:prstGeom>
            <a:solidFill>
              <a:srgbClr val="002D4C"/>
            </a:solidFill>
            <a:ln>
              <a:noFill/>
            </a:ln>
          </p:spPr>
          <p:txBody>
            <a:bodyPr/>
            <a:lstStyle/>
            <a:p>
              <a:endParaRPr lang="zh-CN" altLang="en-US"/>
            </a:p>
          </p:txBody>
        </p:sp>
        <p:sp>
          <p:nvSpPr>
            <p:cNvPr id="62" name="TextBox 62"/>
            <p:cNvSpPr txBox="1"/>
            <p:nvPr/>
          </p:nvSpPr>
          <p:spPr>
            <a:xfrm>
              <a:off x="10825339" y="3765709"/>
              <a:ext cx="428271"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ANSWER 2</a:t>
              </a:r>
            </a:p>
          </p:txBody>
        </p:sp>
        <p:sp>
          <p:nvSpPr>
            <p:cNvPr id="63" name="TextBox 63"/>
            <p:cNvSpPr txBox="1"/>
            <p:nvPr/>
          </p:nvSpPr>
          <p:spPr>
            <a:xfrm>
              <a:off x="10847978" y="3917156"/>
              <a:ext cx="38299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Cello</a:t>
              </a:r>
            </a:p>
          </p:txBody>
        </p:sp>
        <p:sp>
          <p:nvSpPr>
            <p:cNvPr id="64" name="Rectangle 64"/>
            <p:cNvSpPr/>
            <p:nvPr/>
          </p:nvSpPr>
          <p:spPr>
            <a:xfrm>
              <a:off x="9696450" y="3286125"/>
              <a:ext cx="685800" cy="190500"/>
            </a:xfrm>
            <a:prstGeom prst="rect">
              <a:avLst/>
            </a:prstGeom>
            <a:solidFill>
              <a:srgbClr val="EAF6F4"/>
            </a:solidFill>
            <a:ln>
              <a:noFill/>
            </a:ln>
          </p:spPr>
          <p:txBody>
            <a:bodyPr/>
            <a:lstStyle/>
            <a:p>
              <a:endParaRPr lang="zh-CN" altLang="en-US"/>
            </a:p>
          </p:txBody>
        </p:sp>
        <p:sp>
          <p:nvSpPr>
            <p:cNvPr id="65" name="TextBox 65"/>
            <p:cNvSpPr txBox="1"/>
            <p:nvPr/>
          </p:nvSpPr>
          <p:spPr>
            <a:xfrm>
              <a:off x="9785497" y="3346609"/>
              <a:ext cx="507706" cy="137160"/>
            </a:xfrm>
            <a:prstGeom prst="rect">
              <a:avLst/>
            </a:prstGeom>
            <a:noFill/>
            <a:ln>
              <a:noFill/>
            </a:ln>
          </p:spPr>
          <p:txBody>
            <a:bodyPr wrap="none" lIns="0" tIns="0" rIns="0" bIns="0" anchor="t" anchorCtr="0">
              <a:spAutoFit/>
            </a:bodyPr>
            <a:lstStyle/>
            <a:p>
              <a:pPr algn="ctr"/>
              <a:r>
                <a:rPr lang="zh-CN" sz="675" dirty="0">
                  <a:solidFill>
                    <a:srgbClr val="005A50"/>
                  </a:solidFill>
                  <a:latin typeface="Consolas"/>
                  <a:ea typeface="Microsoft YaHei"/>
                  <a:cs typeface="Consolas"/>
                </a:rPr>
                <a:t>instrument</a:t>
              </a:r>
            </a:p>
          </p:txBody>
        </p:sp>
        <p:sp>
          <p:nvSpPr>
            <p:cNvPr id="66" name="Rectangle 66"/>
            <p:cNvSpPr/>
            <p:nvPr/>
          </p:nvSpPr>
          <p:spPr>
            <a:xfrm>
              <a:off x="9029700" y="3800475"/>
              <a:ext cx="685800" cy="190500"/>
            </a:xfrm>
            <a:prstGeom prst="rect">
              <a:avLst/>
            </a:prstGeom>
            <a:solidFill>
              <a:srgbClr val="EAF6F4"/>
            </a:solidFill>
            <a:ln>
              <a:noFill/>
            </a:ln>
          </p:spPr>
          <p:txBody>
            <a:bodyPr/>
            <a:lstStyle/>
            <a:p>
              <a:endParaRPr lang="zh-CN" altLang="en-US"/>
            </a:p>
          </p:txBody>
        </p:sp>
        <p:sp>
          <p:nvSpPr>
            <p:cNvPr id="67" name="TextBox 67"/>
            <p:cNvSpPr txBox="1"/>
            <p:nvPr/>
          </p:nvSpPr>
          <p:spPr>
            <a:xfrm>
              <a:off x="9118747" y="3860959"/>
              <a:ext cx="507706" cy="137160"/>
            </a:xfrm>
            <a:prstGeom prst="rect">
              <a:avLst/>
            </a:prstGeom>
            <a:noFill/>
            <a:ln>
              <a:noFill/>
            </a:ln>
          </p:spPr>
          <p:txBody>
            <a:bodyPr wrap="none" lIns="0" tIns="0" rIns="0" bIns="0" anchor="t" anchorCtr="0">
              <a:spAutoFit/>
            </a:bodyPr>
            <a:lstStyle/>
            <a:p>
              <a:pPr algn="ctr"/>
              <a:r>
                <a:rPr lang="zh-CN" sz="675" dirty="0">
                  <a:solidFill>
                    <a:srgbClr val="005A50"/>
                  </a:solidFill>
                  <a:latin typeface="Consolas"/>
                  <a:ea typeface="Microsoft YaHei"/>
                  <a:cs typeface="Consolas"/>
                </a:rPr>
                <a:t>instrument</a:t>
              </a:r>
            </a:p>
          </p:txBody>
        </p:sp>
      </p:grpSp>
      <p:grpSp>
        <p:nvGrpSpPr>
          <p:cNvPr id="73" name="Group 73"/>
          <p:cNvGrpSpPr/>
          <p:nvPr/>
        </p:nvGrpSpPr>
        <p:grpSpPr>
          <a:xfrm>
            <a:off x="4953000" y="4419600"/>
            <a:ext cx="6648450" cy="952500"/>
            <a:chOff x="4953000" y="4419600"/>
            <a:chExt cx="6648450" cy="952500"/>
          </a:xfrm>
        </p:grpSpPr>
        <p:sp>
          <p:nvSpPr>
            <p:cNvPr id="69" name="Rectangle 69"/>
            <p:cNvSpPr/>
            <p:nvPr/>
          </p:nvSpPr>
          <p:spPr>
            <a:xfrm>
              <a:off x="4953000" y="4419600"/>
              <a:ext cx="6648450" cy="952500"/>
            </a:xfrm>
            <a:prstGeom prst="rect">
              <a:avLst/>
            </a:prstGeom>
            <a:solidFill>
              <a:srgbClr val="002D4C"/>
            </a:solidFill>
            <a:ln>
              <a:noFill/>
            </a:ln>
          </p:spPr>
          <p:txBody>
            <a:bodyPr/>
            <a:lstStyle/>
            <a:p>
              <a:endParaRPr lang="zh-CN" altLang="en-US"/>
            </a:p>
          </p:txBody>
        </p:sp>
        <p:sp>
          <p:nvSpPr>
            <p:cNvPr id="70" name="TextBox 70"/>
            <p:cNvSpPr txBox="1"/>
            <p:nvPr/>
          </p:nvSpPr>
          <p:spPr>
            <a:xfrm>
              <a:off x="5170170" y="4598670"/>
              <a:ext cx="1686268"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SOLVING STRATEGY</a:t>
              </a:r>
            </a:p>
          </p:txBody>
        </p:sp>
        <p:sp>
          <p:nvSpPr>
            <p:cNvPr id="71" name="TextBox 71"/>
            <p:cNvSpPr txBox="1"/>
            <p:nvPr/>
          </p:nvSpPr>
          <p:spPr>
            <a:xfrm>
              <a:off x="5166360" y="4880610"/>
              <a:ext cx="5279136"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Asymmetric multi-path traversal: one branch requires three hops,</a:t>
              </a:r>
            </a:p>
          </p:txBody>
        </p:sp>
        <p:sp>
          <p:nvSpPr>
            <p:cNvPr id="72" name="TextBox 72"/>
            <p:cNvSpPr txBox="1"/>
            <p:nvPr/>
          </p:nvSpPr>
          <p:spPr>
            <a:xfrm>
              <a:off x="5166360" y="5118735"/>
              <a:ext cx="5343144"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the direct branch constrains the answer; intersect at answer level</a:t>
              </a:r>
            </a:p>
          </p:txBody>
        </p:sp>
      </p:grpSp>
      <p:grpSp>
        <p:nvGrpSpPr>
          <p:cNvPr id="78" name="Group 78"/>
          <p:cNvGrpSpPr/>
          <p:nvPr/>
        </p:nvGrpSpPr>
        <p:grpSpPr>
          <a:xfrm>
            <a:off x="495300" y="6167438"/>
            <a:ext cx="11201400" cy="590550"/>
            <a:chOff x="495300" y="6167438"/>
            <a:chExt cx="11201400" cy="590550"/>
          </a:xfrm>
        </p:grpSpPr>
        <p:sp>
          <p:nvSpPr>
            <p:cNvPr id="74" name="TextBox 74"/>
            <p:cNvSpPr txBox="1"/>
            <p:nvPr/>
          </p:nvSpPr>
          <p:spPr>
            <a:xfrm>
              <a:off x="581025" y="6167438"/>
              <a:ext cx="3979545"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Source: GTSQA Dataset Analysis · Case 3 — Unequal-Depth Multi-Path Intersection</a:t>
              </a:r>
            </a:p>
          </p:txBody>
        </p:sp>
        <p:sp>
          <p:nvSpPr>
            <p:cNvPr id="75" name="Line 75"/>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76" name="TextBox 76"/>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77" name="TextBox 77"/>
            <p:cNvSpPr txBox="1"/>
            <p:nvPr/>
          </p:nvSpPr>
          <p:spPr>
            <a:xfrm>
              <a:off x="10887075" y="6605588"/>
              <a:ext cx="10406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17</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400"/>
                                        <p:tgtEl>
                                          <p:spTgt spid="3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slide(fromBottom)">
                                      <p:cBhvr>
                                        <p:cTn id="15" dur="400"/>
                                        <p:tgtEl>
                                          <p:spTgt spid="68"/>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image">
                                      <p:cBhvr>
                                        <p:cTn id="19"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3" grpId="0"/>
      <p:bldP spid="68" grpId="0"/>
      <p:bldP spid="7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495300" y="400050"/>
            <a:ext cx="6491240" cy="721519"/>
            <a:chOff x="495300" y="400050"/>
            <a:chExt cx="6491240" cy="721519"/>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681990" y="410528"/>
              <a:ext cx="6304550"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Current Problems and Open Questions</a:t>
              </a:r>
            </a:p>
          </p:txBody>
        </p:sp>
        <p:sp>
          <p:nvSpPr>
            <p:cNvPr id="5" name="TextBox 5"/>
            <p:cNvSpPr txBox="1"/>
            <p:nvPr/>
          </p:nvSpPr>
          <p:spPr>
            <a:xfrm>
              <a:off x="717232" y="862489"/>
              <a:ext cx="6153150"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Defining a minimum dataset that can evaluate different Agent capabilities</a:t>
              </a:r>
            </a:p>
          </p:txBody>
        </p:sp>
      </p:grpSp>
      <p:grpSp>
        <p:nvGrpSpPr>
          <p:cNvPr id="29" name="Group 29"/>
          <p:cNvGrpSpPr/>
          <p:nvPr/>
        </p:nvGrpSpPr>
        <p:grpSpPr>
          <a:xfrm>
            <a:off x="590550" y="1257300"/>
            <a:ext cx="11010900" cy="2152650"/>
            <a:chOff x="590550" y="1257300"/>
            <a:chExt cx="11010900" cy="2152650"/>
          </a:xfrm>
        </p:grpSpPr>
        <p:sp>
          <p:nvSpPr>
            <p:cNvPr id="7" name="Rectangle 7"/>
            <p:cNvSpPr/>
            <p:nvPr/>
          </p:nvSpPr>
          <p:spPr>
            <a:xfrm>
              <a:off x="590550" y="1257300"/>
              <a:ext cx="11010900" cy="400050"/>
            </a:xfrm>
            <a:prstGeom prst="rect">
              <a:avLst/>
            </a:prstGeom>
            <a:solidFill>
              <a:srgbClr val="002D4C"/>
            </a:solidFill>
            <a:ln>
              <a:noFill/>
            </a:ln>
          </p:spPr>
          <p:txBody>
            <a:bodyPr/>
            <a:lstStyle/>
            <a:p>
              <a:endParaRPr lang="zh-CN" altLang="en-US"/>
            </a:p>
          </p:txBody>
        </p:sp>
        <p:sp>
          <p:nvSpPr>
            <p:cNvPr id="8" name="TextBox 8"/>
            <p:cNvSpPr txBox="1"/>
            <p:nvPr/>
          </p:nvSpPr>
          <p:spPr>
            <a:xfrm>
              <a:off x="768668" y="1409224"/>
              <a:ext cx="121246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DATASET / METHOD</a:t>
              </a:r>
            </a:p>
          </p:txBody>
        </p:sp>
        <p:sp>
          <p:nvSpPr>
            <p:cNvPr id="9" name="TextBox 9"/>
            <p:cNvSpPr txBox="1"/>
            <p:nvPr/>
          </p:nvSpPr>
          <p:spPr>
            <a:xfrm>
              <a:off x="2959418" y="1409224"/>
              <a:ext cx="1294374"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ROLE IN EVALUATION</a:t>
              </a:r>
            </a:p>
          </p:txBody>
        </p:sp>
        <p:sp>
          <p:nvSpPr>
            <p:cNvPr id="10" name="TextBox 10"/>
            <p:cNvSpPr txBox="1"/>
            <p:nvPr/>
          </p:nvSpPr>
          <p:spPr>
            <a:xfrm>
              <a:off x="8055292" y="1409224"/>
              <a:ext cx="119881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TARGET CAPABILITY</a:t>
              </a:r>
            </a:p>
          </p:txBody>
        </p:sp>
        <p:sp>
          <p:nvSpPr>
            <p:cNvPr id="11" name="Rectangle 11"/>
            <p:cNvSpPr/>
            <p:nvPr/>
          </p:nvSpPr>
          <p:spPr>
            <a:xfrm>
              <a:off x="590550" y="1657350"/>
              <a:ext cx="11010900" cy="552450"/>
            </a:xfrm>
            <a:prstGeom prst="rect">
              <a:avLst/>
            </a:prstGeom>
            <a:solidFill>
              <a:srgbClr val="EAF6F4"/>
            </a:solidFill>
            <a:ln>
              <a:noFill/>
            </a:ln>
          </p:spPr>
          <p:txBody>
            <a:bodyPr/>
            <a:lstStyle/>
            <a:p>
              <a:endParaRPr lang="zh-CN" altLang="en-US"/>
            </a:p>
          </p:txBody>
        </p:sp>
        <p:sp>
          <p:nvSpPr>
            <p:cNvPr id="12" name="TextBox 12"/>
            <p:cNvSpPr txBox="1"/>
            <p:nvPr/>
          </p:nvSpPr>
          <p:spPr>
            <a:xfrm>
              <a:off x="765810" y="1851660"/>
              <a:ext cx="668960"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KQA Pro</a:t>
              </a:r>
            </a:p>
          </p:txBody>
        </p:sp>
        <p:sp>
          <p:nvSpPr>
            <p:cNvPr id="13" name="TextBox 13"/>
            <p:cNvSpPr txBox="1"/>
            <p:nvPr/>
          </p:nvSpPr>
          <p:spPr>
            <a:xfrm>
              <a:off x="2957512" y="1859756"/>
              <a:ext cx="1836301"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Main answerable dataset</a:t>
              </a:r>
            </a:p>
          </p:txBody>
        </p:sp>
        <p:sp>
          <p:nvSpPr>
            <p:cNvPr id="14" name="TextBox 14"/>
            <p:cNvSpPr txBox="1"/>
            <p:nvPr/>
          </p:nvSpPr>
          <p:spPr>
            <a:xfrm>
              <a:off x="8054340" y="1763078"/>
              <a:ext cx="2385965"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Final Answer · Multi-hop Reasoning</a:t>
              </a:r>
            </a:p>
          </p:txBody>
        </p:sp>
        <p:sp>
          <p:nvSpPr>
            <p:cNvPr id="15" name="TextBox 15"/>
            <p:cNvSpPr txBox="1"/>
            <p:nvPr/>
          </p:nvSpPr>
          <p:spPr>
            <a:xfrm>
              <a:off x="8054340" y="1963102"/>
              <a:ext cx="1566863"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Problem Understanding</a:t>
              </a:r>
            </a:p>
          </p:txBody>
        </p:sp>
        <p:sp>
          <p:nvSpPr>
            <p:cNvPr id="16" name="Rectangle 16"/>
            <p:cNvSpPr/>
            <p:nvPr/>
          </p:nvSpPr>
          <p:spPr>
            <a:xfrm>
              <a:off x="590550" y="2209800"/>
              <a:ext cx="11010900" cy="647700"/>
            </a:xfrm>
            <a:prstGeom prst="rect">
              <a:avLst/>
            </a:prstGeom>
            <a:solidFill>
              <a:srgbClr val="F4F7F8"/>
            </a:solidFill>
            <a:ln>
              <a:noFill/>
            </a:ln>
          </p:spPr>
          <p:txBody>
            <a:bodyPr/>
            <a:lstStyle/>
            <a:p>
              <a:endParaRPr lang="zh-CN" altLang="en-US"/>
            </a:p>
          </p:txBody>
        </p:sp>
        <p:sp>
          <p:nvSpPr>
            <p:cNvPr id="17" name="TextBox 17"/>
            <p:cNvSpPr txBox="1"/>
            <p:nvPr/>
          </p:nvSpPr>
          <p:spPr>
            <a:xfrm>
              <a:off x="766762" y="2336006"/>
              <a:ext cx="761042"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Arial"/>
                  <a:ea typeface="Microsoft YaHei"/>
                  <a:cs typeface="Arial"/>
                </a:rPr>
                <a:t>KQA Pro +</a:t>
              </a:r>
            </a:p>
          </p:txBody>
        </p:sp>
        <p:sp>
          <p:nvSpPr>
            <p:cNvPr id="18" name="TextBox 18"/>
            <p:cNvSpPr txBox="1"/>
            <p:nvPr/>
          </p:nvSpPr>
          <p:spPr>
            <a:xfrm>
              <a:off x="766762" y="2545556"/>
              <a:ext cx="1588020" cy="228600"/>
            </a:xfrm>
            <a:prstGeom prst="rect">
              <a:avLst/>
            </a:prstGeom>
            <a:noFill/>
            <a:ln>
              <a:noFill/>
            </a:ln>
          </p:spPr>
          <p:txBody>
            <a:bodyPr wrap="none" lIns="0" tIns="0" rIns="0" bIns="0" anchor="t" anchorCtr="0">
              <a:spAutoFit/>
            </a:bodyPr>
            <a:lstStyle/>
            <a:p>
              <a:pPr algn="l"/>
              <a:r>
                <a:rPr lang="zh-CN" sz="1125" b="1" dirty="0">
                  <a:solidFill>
                    <a:srgbClr val="002D4C"/>
                  </a:solidFill>
                  <a:latin typeface="Arial"/>
                  <a:ea typeface="Microsoft YaHei"/>
                  <a:cs typeface="Arial"/>
                </a:rPr>
                <a:t>GrailQAbility method</a:t>
              </a:r>
            </a:p>
          </p:txBody>
        </p:sp>
        <p:sp>
          <p:nvSpPr>
            <p:cNvPr id="19" name="TextBox 19"/>
            <p:cNvSpPr txBox="1"/>
            <p:nvPr/>
          </p:nvSpPr>
          <p:spPr>
            <a:xfrm>
              <a:off x="2958465" y="2344102"/>
              <a:ext cx="2378964"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Construct unanswerable questions</a:t>
              </a:r>
            </a:p>
          </p:txBody>
        </p:sp>
        <p:sp>
          <p:nvSpPr>
            <p:cNvPr id="20" name="TextBox 20"/>
            <p:cNvSpPr txBox="1"/>
            <p:nvPr/>
          </p:nvSpPr>
          <p:spPr>
            <a:xfrm>
              <a:off x="2958465" y="2553652"/>
              <a:ext cx="1342835" cy="213360"/>
            </a:xfrm>
            <a:prstGeom prst="rect">
              <a:avLst/>
            </a:prstGeom>
            <a:noFill/>
            <a:ln>
              <a:noFill/>
            </a:ln>
          </p:spPr>
          <p:txBody>
            <a:bodyPr wrap="none" lIns="0" tIns="0" rIns="0" bIns="0" anchor="t" anchorCtr="0">
              <a:spAutoFit/>
            </a:bodyPr>
            <a:lstStyle/>
            <a:p>
              <a:pPr algn="l"/>
              <a:r>
                <a:rPr lang="zh-CN" sz="1050" dirty="0">
                  <a:solidFill>
                    <a:srgbClr val="002D4C"/>
                  </a:solidFill>
                  <a:latin typeface="Arial"/>
                  <a:ea typeface="Microsoft YaHei"/>
                  <a:cs typeface="Arial"/>
                </a:rPr>
                <a:t>by modifying the KG</a:t>
              </a:r>
            </a:p>
          </p:txBody>
        </p:sp>
        <p:sp>
          <p:nvSpPr>
            <p:cNvPr id="21" name="TextBox 21"/>
            <p:cNvSpPr txBox="1"/>
            <p:nvPr/>
          </p:nvSpPr>
          <p:spPr>
            <a:xfrm>
              <a:off x="8052435" y="2461260"/>
              <a:ext cx="635356"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Refusal</a:t>
              </a:r>
            </a:p>
          </p:txBody>
        </p:sp>
        <p:sp>
          <p:nvSpPr>
            <p:cNvPr id="22" name="Rectangle 22"/>
            <p:cNvSpPr/>
            <p:nvPr/>
          </p:nvSpPr>
          <p:spPr>
            <a:xfrm>
              <a:off x="590550" y="2857500"/>
              <a:ext cx="11010900" cy="552450"/>
            </a:xfrm>
            <a:prstGeom prst="rect">
              <a:avLst/>
            </a:prstGeom>
            <a:solidFill>
              <a:srgbClr val="EAF6F4"/>
            </a:solidFill>
            <a:ln>
              <a:noFill/>
            </a:ln>
          </p:spPr>
          <p:txBody>
            <a:bodyPr/>
            <a:lstStyle/>
            <a:p>
              <a:endParaRPr lang="zh-CN" altLang="en-US"/>
            </a:p>
          </p:txBody>
        </p:sp>
        <p:sp>
          <p:nvSpPr>
            <p:cNvPr id="23" name="TextBox 23"/>
            <p:cNvSpPr txBox="1"/>
            <p:nvPr/>
          </p:nvSpPr>
          <p:spPr>
            <a:xfrm>
              <a:off x="765810" y="3051810"/>
              <a:ext cx="526142"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GTSQA</a:t>
              </a:r>
            </a:p>
          </p:txBody>
        </p:sp>
        <p:sp>
          <p:nvSpPr>
            <p:cNvPr id="24" name="TextBox 24"/>
            <p:cNvSpPr txBox="1"/>
            <p:nvPr/>
          </p:nvSpPr>
          <p:spPr>
            <a:xfrm>
              <a:off x="2957512" y="3059906"/>
              <a:ext cx="2983944"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Evaluate the retrieved supporting graph</a:t>
              </a:r>
            </a:p>
          </p:txBody>
        </p:sp>
        <p:sp>
          <p:nvSpPr>
            <p:cNvPr id="25" name="TextBox 25"/>
            <p:cNvSpPr txBox="1"/>
            <p:nvPr/>
          </p:nvSpPr>
          <p:spPr>
            <a:xfrm>
              <a:off x="8052435" y="3051810"/>
              <a:ext cx="1332643" cy="243840"/>
            </a:xfrm>
            <a:prstGeom prst="rect">
              <a:avLst/>
            </a:prstGeom>
            <a:noFill/>
            <a:ln>
              <a:noFill/>
            </a:ln>
          </p:spPr>
          <p:txBody>
            <a:bodyPr wrap="none" lIns="0" tIns="0" rIns="0" bIns="0" anchor="t" anchorCtr="0">
              <a:spAutoFit/>
            </a:bodyPr>
            <a:lstStyle/>
            <a:p>
              <a:pPr algn="l"/>
              <a:r>
                <a:rPr lang="zh-CN" sz="1200" b="1" dirty="0">
                  <a:solidFill>
                    <a:srgbClr val="002D4C"/>
                  </a:solidFill>
                  <a:latin typeface="Arial"/>
                  <a:ea typeface="Microsoft YaHei"/>
                  <a:cs typeface="Arial"/>
                </a:rPr>
                <a:t>Graph Grounding</a:t>
              </a:r>
            </a:p>
          </p:txBody>
        </p:sp>
        <p:sp>
          <p:nvSpPr>
            <p:cNvPr id="26" name="Line 26"/>
            <p:cNvSpPr/>
            <p:nvPr/>
          </p:nvSpPr>
          <p:spPr>
            <a:xfrm>
              <a:off x="2781300" y="1257300"/>
              <a:ext cx="9525" cy="2152650"/>
            </a:xfrm>
            <a:custGeom>
              <a:avLst/>
              <a:gdLst/>
              <a:ahLst/>
              <a:cxnLst/>
              <a:rect l="l" t="t" r="r" b="b"/>
              <a:pathLst>
                <a:path w="9525" h="2152650">
                  <a:moveTo>
                    <a:pt x="0" y="0"/>
                  </a:moveTo>
                  <a:lnTo>
                    <a:pt x="0" y="2152650"/>
                  </a:lnTo>
                </a:path>
              </a:pathLst>
            </a:custGeom>
            <a:noFill/>
            <a:ln w="9525">
              <a:solidFill>
                <a:srgbClr val="DAE1E6"/>
              </a:solidFill>
            </a:ln>
          </p:spPr>
          <p:txBody>
            <a:bodyPr/>
            <a:lstStyle/>
            <a:p>
              <a:endParaRPr lang="zh-CN" altLang="en-US"/>
            </a:p>
          </p:txBody>
        </p:sp>
        <p:sp>
          <p:nvSpPr>
            <p:cNvPr id="27" name="Line 27"/>
            <p:cNvSpPr/>
            <p:nvPr/>
          </p:nvSpPr>
          <p:spPr>
            <a:xfrm>
              <a:off x="7877175" y="1257300"/>
              <a:ext cx="9525" cy="2152650"/>
            </a:xfrm>
            <a:custGeom>
              <a:avLst/>
              <a:gdLst/>
              <a:ahLst/>
              <a:cxnLst/>
              <a:rect l="l" t="t" r="r" b="b"/>
              <a:pathLst>
                <a:path w="9525" h="2152650">
                  <a:moveTo>
                    <a:pt x="0" y="0"/>
                  </a:moveTo>
                  <a:lnTo>
                    <a:pt x="0" y="2152650"/>
                  </a:lnTo>
                </a:path>
              </a:pathLst>
            </a:custGeom>
            <a:noFill/>
            <a:ln w="9525">
              <a:solidFill>
                <a:srgbClr val="DAE1E6"/>
              </a:solidFill>
            </a:ln>
          </p:spPr>
          <p:txBody>
            <a:bodyPr/>
            <a:lstStyle/>
            <a:p>
              <a:endParaRPr lang="zh-CN" altLang="en-US"/>
            </a:p>
          </p:txBody>
        </p:sp>
        <p:sp>
          <p:nvSpPr>
            <p:cNvPr id="28" name="Rectangle 28"/>
            <p:cNvSpPr/>
            <p:nvPr/>
          </p:nvSpPr>
          <p:spPr>
            <a:xfrm>
              <a:off x="590550" y="1257300"/>
              <a:ext cx="11010900" cy="2152650"/>
            </a:xfrm>
            <a:prstGeom prst="rect">
              <a:avLst/>
            </a:prstGeom>
            <a:noFill/>
            <a:ln w="14288">
              <a:solidFill>
                <a:srgbClr val="DAE1E6"/>
              </a:solidFill>
            </a:ln>
          </p:spPr>
          <p:txBody>
            <a:bodyPr/>
            <a:lstStyle/>
            <a:p>
              <a:endParaRPr lang="zh-CN" altLang="en-US"/>
            </a:p>
          </p:txBody>
        </p:sp>
      </p:grpSp>
      <p:grpSp>
        <p:nvGrpSpPr>
          <p:cNvPr id="42" name="Group 42"/>
          <p:cNvGrpSpPr/>
          <p:nvPr/>
        </p:nvGrpSpPr>
        <p:grpSpPr>
          <a:xfrm>
            <a:off x="569595" y="3565208"/>
            <a:ext cx="11031855" cy="1752123"/>
            <a:chOff x="569595" y="3565208"/>
            <a:chExt cx="11031855" cy="1752123"/>
          </a:xfrm>
        </p:grpSpPr>
        <p:sp>
          <p:nvSpPr>
            <p:cNvPr id="30" name="TextBox 30"/>
            <p:cNvSpPr txBox="1"/>
            <p:nvPr/>
          </p:nvSpPr>
          <p:spPr>
            <a:xfrm>
              <a:off x="569595" y="3565208"/>
              <a:ext cx="2253186" cy="335280"/>
            </a:xfrm>
            <a:prstGeom prst="rect">
              <a:avLst/>
            </a:prstGeom>
            <a:noFill/>
            <a:ln>
              <a:noFill/>
            </a:ln>
          </p:spPr>
          <p:txBody>
            <a:bodyPr wrap="none" lIns="0" tIns="0" rIns="0" bIns="0" anchor="t" anchorCtr="0">
              <a:spAutoFit/>
            </a:bodyPr>
            <a:lstStyle/>
            <a:p>
              <a:pPr algn="l"/>
              <a:r>
                <a:rPr lang="zh-CN" sz="1650" dirty="0">
                  <a:solidFill>
                    <a:srgbClr val="002D4C"/>
                  </a:solidFill>
                  <a:latin typeface="Franklin Gothic Medium"/>
                  <a:ea typeface="Microsoft YaHei"/>
                  <a:cs typeface="Franklin Gothic Medium"/>
                </a:rPr>
                <a:t>Main Open Questions</a:t>
              </a:r>
            </a:p>
          </p:txBody>
        </p:sp>
        <p:sp>
          <p:nvSpPr>
            <p:cNvPr id="31" name="Line 31"/>
            <p:cNvSpPr/>
            <p:nvPr/>
          </p:nvSpPr>
          <p:spPr>
            <a:xfrm>
              <a:off x="590550" y="3857625"/>
              <a:ext cx="11010900" cy="9525"/>
            </a:xfrm>
            <a:custGeom>
              <a:avLst/>
              <a:gdLst/>
              <a:ahLst/>
              <a:cxnLst/>
              <a:rect l="l" t="t" r="r" b="b"/>
              <a:pathLst>
                <a:path w="11010900" h="9525">
                  <a:moveTo>
                    <a:pt x="0" y="0"/>
                  </a:moveTo>
                  <a:lnTo>
                    <a:pt x="11010900" y="0"/>
                  </a:lnTo>
                </a:path>
              </a:pathLst>
            </a:custGeom>
            <a:noFill/>
            <a:ln w="9525">
              <a:solidFill>
                <a:srgbClr val="DAE1E6"/>
              </a:solidFill>
            </a:ln>
          </p:spPr>
          <p:txBody>
            <a:bodyPr/>
            <a:lstStyle/>
            <a:p>
              <a:endParaRPr lang="zh-CN" altLang="en-US"/>
            </a:p>
          </p:txBody>
        </p:sp>
        <p:sp>
          <p:nvSpPr>
            <p:cNvPr id="32" name="Rectangle 32"/>
            <p:cNvSpPr/>
            <p:nvPr/>
          </p:nvSpPr>
          <p:spPr>
            <a:xfrm>
              <a:off x="590550" y="4000500"/>
              <a:ext cx="11010900" cy="361950"/>
            </a:xfrm>
            <a:prstGeom prst="rect">
              <a:avLst/>
            </a:prstGeom>
            <a:solidFill>
              <a:srgbClr val="F4F7F8"/>
            </a:solidFill>
            <a:ln>
              <a:noFill/>
            </a:ln>
          </p:spPr>
          <p:txBody>
            <a:bodyPr/>
            <a:lstStyle/>
            <a:p>
              <a:endParaRPr lang="zh-CN" altLang="en-US"/>
            </a:p>
          </p:txBody>
        </p:sp>
        <p:sp>
          <p:nvSpPr>
            <p:cNvPr id="33" name="Ellipse 33"/>
            <p:cNvSpPr/>
            <p:nvPr/>
          </p:nvSpPr>
          <p:spPr>
            <a:xfrm>
              <a:off x="742950" y="4124325"/>
              <a:ext cx="114300" cy="114300"/>
            </a:xfrm>
            <a:prstGeom prst="ellipse">
              <a:avLst/>
            </a:prstGeom>
            <a:solidFill>
              <a:srgbClr val="009682"/>
            </a:solidFill>
            <a:ln>
              <a:noFill/>
            </a:ln>
          </p:spPr>
          <p:txBody>
            <a:bodyPr/>
            <a:lstStyle/>
            <a:p>
              <a:endParaRPr lang="zh-CN" altLang="en-US"/>
            </a:p>
          </p:txBody>
        </p:sp>
        <p:sp>
          <p:nvSpPr>
            <p:cNvPr id="34" name="TextBox 34"/>
            <p:cNvSpPr txBox="1"/>
            <p:nvPr/>
          </p:nvSpPr>
          <p:spPr>
            <a:xfrm>
              <a:off x="975360" y="4109085"/>
              <a:ext cx="5279136"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Which KQA Pro questions should be included in the minimum dataset?</a:t>
              </a:r>
            </a:p>
          </p:txBody>
        </p:sp>
        <p:sp>
          <p:nvSpPr>
            <p:cNvPr id="35" name="Rectangle 35"/>
            <p:cNvSpPr/>
            <p:nvPr/>
          </p:nvSpPr>
          <p:spPr>
            <a:xfrm>
              <a:off x="590550" y="4419600"/>
              <a:ext cx="11010900" cy="361950"/>
            </a:xfrm>
            <a:prstGeom prst="rect">
              <a:avLst/>
            </a:prstGeom>
            <a:solidFill>
              <a:srgbClr val="EAF6F4"/>
            </a:solidFill>
            <a:ln>
              <a:noFill/>
            </a:ln>
          </p:spPr>
          <p:txBody>
            <a:bodyPr/>
            <a:lstStyle/>
            <a:p>
              <a:endParaRPr lang="zh-CN" altLang="en-US"/>
            </a:p>
          </p:txBody>
        </p:sp>
        <p:sp>
          <p:nvSpPr>
            <p:cNvPr id="36" name="Ellipse 36"/>
            <p:cNvSpPr/>
            <p:nvPr/>
          </p:nvSpPr>
          <p:spPr>
            <a:xfrm>
              <a:off x="742950" y="4543425"/>
              <a:ext cx="114300" cy="114300"/>
            </a:xfrm>
            <a:prstGeom prst="ellipse">
              <a:avLst/>
            </a:prstGeom>
            <a:solidFill>
              <a:srgbClr val="009682"/>
            </a:solidFill>
            <a:ln>
              <a:noFill/>
            </a:ln>
          </p:spPr>
          <p:txBody>
            <a:bodyPr/>
            <a:lstStyle/>
            <a:p>
              <a:endParaRPr lang="zh-CN" altLang="en-US"/>
            </a:p>
          </p:txBody>
        </p:sp>
        <p:sp>
          <p:nvSpPr>
            <p:cNvPr id="37" name="TextBox 37"/>
            <p:cNvSpPr txBox="1"/>
            <p:nvPr/>
          </p:nvSpPr>
          <p:spPr>
            <a:xfrm>
              <a:off x="975360" y="4528185"/>
              <a:ext cx="4359021"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How many questions are needed for each question type?</a:t>
              </a:r>
            </a:p>
          </p:txBody>
        </p:sp>
        <p:sp>
          <p:nvSpPr>
            <p:cNvPr id="38" name="Rectangle 38"/>
            <p:cNvSpPr/>
            <p:nvPr/>
          </p:nvSpPr>
          <p:spPr>
            <a:xfrm>
              <a:off x="590550" y="4838700"/>
              <a:ext cx="11010900" cy="476250"/>
            </a:xfrm>
            <a:prstGeom prst="rect">
              <a:avLst/>
            </a:prstGeom>
            <a:solidFill>
              <a:srgbClr val="F4F7F8"/>
            </a:solidFill>
            <a:ln>
              <a:noFill/>
            </a:ln>
          </p:spPr>
          <p:txBody>
            <a:bodyPr/>
            <a:lstStyle/>
            <a:p>
              <a:endParaRPr lang="zh-CN" altLang="en-US"/>
            </a:p>
          </p:txBody>
        </p:sp>
        <p:sp>
          <p:nvSpPr>
            <p:cNvPr id="39" name="Ellipse 39"/>
            <p:cNvSpPr/>
            <p:nvPr/>
          </p:nvSpPr>
          <p:spPr>
            <a:xfrm>
              <a:off x="742950" y="5019675"/>
              <a:ext cx="114300" cy="114300"/>
            </a:xfrm>
            <a:prstGeom prst="ellipse">
              <a:avLst/>
            </a:prstGeom>
            <a:solidFill>
              <a:srgbClr val="009682"/>
            </a:solidFill>
            <a:ln>
              <a:noFill/>
            </a:ln>
          </p:spPr>
          <p:txBody>
            <a:bodyPr/>
            <a:lstStyle/>
            <a:p>
              <a:endParaRPr lang="zh-CN" altLang="en-US"/>
            </a:p>
          </p:txBody>
        </p:sp>
        <p:sp>
          <p:nvSpPr>
            <p:cNvPr id="40" name="TextBox 40"/>
            <p:cNvSpPr txBox="1"/>
            <p:nvPr/>
          </p:nvSpPr>
          <p:spPr>
            <a:xfrm>
              <a:off x="976312" y="4898231"/>
              <a:ext cx="4611648"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How can we verify that a question becomes truly unanswerable</a:t>
              </a:r>
            </a:p>
          </p:txBody>
        </p:sp>
        <p:sp>
          <p:nvSpPr>
            <p:cNvPr id="41" name="TextBox 41"/>
            <p:cNvSpPr txBox="1"/>
            <p:nvPr/>
          </p:nvSpPr>
          <p:spPr>
            <a:xfrm>
              <a:off x="976312" y="5088731"/>
              <a:ext cx="1768793" cy="228600"/>
            </a:xfrm>
            <a:prstGeom prst="rect">
              <a:avLst/>
            </a:prstGeom>
            <a:noFill/>
            <a:ln>
              <a:noFill/>
            </a:ln>
          </p:spPr>
          <p:txBody>
            <a:bodyPr wrap="none" lIns="0" tIns="0" rIns="0" bIns="0" anchor="t" anchorCtr="0">
              <a:spAutoFit/>
            </a:bodyPr>
            <a:lstStyle/>
            <a:p>
              <a:pPr algn="l"/>
              <a:r>
                <a:rPr lang="zh-CN" sz="1125" dirty="0">
                  <a:solidFill>
                    <a:srgbClr val="002D4C"/>
                  </a:solidFill>
                  <a:latin typeface="Arial"/>
                  <a:ea typeface="Microsoft YaHei"/>
                  <a:cs typeface="Arial"/>
                </a:rPr>
                <a:t>after modifying the KG?</a:t>
              </a:r>
            </a:p>
          </p:txBody>
        </p:sp>
      </p:grpSp>
      <p:grpSp>
        <p:nvGrpSpPr>
          <p:cNvPr id="47" name="Group 47"/>
          <p:cNvGrpSpPr/>
          <p:nvPr/>
        </p:nvGrpSpPr>
        <p:grpSpPr>
          <a:xfrm>
            <a:off x="590550" y="5429250"/>
            <a:ext cx="11010900" cy="688181"/>
            <a:chOff x="590550" y="5429250"/>
            <a:chExt cx="11010900" cy="688181"/>
          </a:xfrm>
        </p:grpSpPr>
        <p:sp>
          <p:nvSpPr>
            <p:cNvPr id="43" name="Rectangle 43"/>
            <p:cNvSpPr/>
            <p:nvPr/>
          </p:nvSpPr>
          <p:spPr>
            <a:xfrm>
              <a:off x="590550" y="5429250"/>
              <a:ext cx="11010900" cy="666750"/>
            </a:xfrm>
            <a:prstGeom prst="rect">
              <a:avLst/>
            </a:prstGeom>
            <a:solidFill>
              <a:srgbClr val="002D4C"/>
            </a:solidFill>
            <a:ln>
              <a:noFill/>
            </a:ln>
          </p:spPr>
          <p:txBody>
            <a:bodyPr/>
            <a:lstStyle/>
            <a:p>
              <a:endParaRPr lang="zh-CN" altLang="en-US"/>
            </a:p>
          </p:txBody>
        </p:sp>
        <p:sp>
          <p:nvSpPr>
            <p:cNvPr id="44" name="TextBox 44"/>
            <p:cNvSpPr txBox="1"/>
            <p:nvPr/>
          </p:nvSpPr>
          <p:spPr>
            <a:xfrm>
              <a:off x="788670" y="5522595"/>
              <a:ext cx="1131799"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CURRENT DIRECTION</a:t>
              </a:r>
            </a:p>
          </p:txBody>
        </p:sp>
        <p:sp>
          <p:nvSpPr>
            <p:cNvPr id="45" name="TextBox 45"/>
            <p:cNvSpPr txBox="1"/>
            <p:nvPr/>
          </p:nvSpPr>
          <p:spPr>
            <a:xfrm>
              <a:off x="785812" y="5707856"/>
              <a:ext cx="462665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Start with a small representative subset of KQA Pro questions</a:t>
              </a:r>
            </a:p>
          </p:txBody>
        </p:sp>
        <p:sp>
          <p:nvSpPr>
            <p:cNvPr id="46" name="TextBox 46"/>
            <p:cNvSpPr txBox="1"/>
            <p:nvPr/>
          </p:nvSpPr>
          <p:spPr>
            <a:xfrm>
              <a:off x="785812" y="5888831"/>
              <a:ext cx="2751415"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and expand it after the initial tests.</a:t>
              </a:r>
            </a:p>
          </p:txBody>
        </p:sp>
      </p:grpSp>
      <p:grpSp>
        <p:nvGrpSpPr>
          <p:cNvPr id="52" name="Group 52"/>
          <p:cNvGrpSpPr/>
          <p:nvPr/>
        </p:nvGrpSpPr>
        <p:grpSpPr>
          <a:xfrm>
            <a:off x="495300" y="6167438"/>
            <a:ext cx="11201400" cy="590550"/>
            <a:chOff x="495300" y="6167438"/>
            <a:chExt cx="11201400" cy="590550"/>
          </a:xfrm>
        </p:grpSpPr>
        <p:sp>
          <p:nvSpPr>
            <p:cNvPr id="48" name="TextBox 48"/>
            <p:cNvSpPr txBox="1"/>
            <p:nvPr/>
          </p:nvSpPr>
          <p:spPr>
            <a:xfrm>
              <a:off x="581025" y="6167438"/>
              <a:ext cx="218432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Working evaluation design · discussion draft</a:t>
              </a:r>
            </a:p>
          </p:txBody>
        </p:sp>
        <p:sp>
          <p:nvSpPr>
            <p:cNvPr id="49" name="Line 49"/>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50" name="TextBox 50"/>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51" name="TextBox 51"/>
            <p:cNvSpPr txBox="1"/>
            <p:nvPr/>
          </p:nvSpPr>
          <p:spPr>
            <a:xfrm>
              <a:off x="10887075" y="6605588"/>
              <a:ext cx="10406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18</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400"/>
                                        <p:tgtEl>
                                          <p:spTgt spid="2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left)">
                                      <p:cBhvr>
                                        <p:cTn id="11" dur="400"/>
                                        <p:tgtEl>
                                          <p:spTgt spid="4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slide(fromBottom)">
                                      <p:cBhvr>
                                        <p:cTn id="15"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2" grpId="0"/>
      <p:bldP spid="4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zh-CN" altLang="en-US"/>
          </a:p>
        </p:txBody>
      </p:sp>
      <p:grpSp>
        <p:nvGrpSpPr>
          <p:cNvPr id="6" name="Group 6"/>
          <p:cNvGrpSpPr/>
          <p:nvPr/>
        </p:nvGrpSpPr>
        <p:grpSpPr>
          <a:xfrm>
            <a:off x="495300" y="400050"/>
            <a:ext cx="5845159" cy="721519"/>
            <a:chOff x="495300" y="400050"/>
            <a:chExt cx="5845159" cy="721519"/>
          </a:xfrm>
        </p:grpSpPr>
        <p:sp>
          <p:nvSpPr>
            <p:cNvPr id="3" name="Rectangle 3"/>
            <p:cNvSpPr/>
            <p:nvPr/>
          </p:nvSpPr>
          <p:spPr>
            <a:xfrm>
              <a:off x="495300" y="400050"/>
              <a:ext cx="76200" cy="342900"/>
            </a:xfrm>
            <a:prstGeom prst="rect">
              <a:avLst/>
            </a:prstGeom>
            <a:solidFill>
              <a:srgbClr val="009682"/>
            </a:solidFill>
            <a:ln>
              <a:noFill/>
            </a:ln>
          </p:spPr>
          <p:txBody>
            <a:bodyPr/>
            <a:lstStyle/>
            <a:p>
              <a:endParaRPr lang="zh-CN" altLang="en-US"/>
            </a:p>
          </p:txBody>
        </p:sp>
        <p:sp>
          <p:nvSpPr>
            <p:cNvPr id="4" name="TextBox 4"/>
            <p:cNvSpPr txBox="1"/>
            <p:nvPr/>
          </p:nvSpPr>
          <p:spPr>
            <a:xfrm>
              <a:off x="681990" y="410528"/>
              <a:ext cx="5658469" cy="518160"/>
            </a:xfrm>
            <a:prstGeom prst="rect">
              <a:avLst/>
            </a:prstGeom>
            <a:noFill/>
            <a:ln>
              <a:noFill/>
            </a:ln>
          </p:spPr>
          <p:txBody>
            <a:bodyPr wrap="none" lIns="0" tIns="0" rIns="0" bIns="0" anchor="t" anchorCtr="0">
              <a:spAutoFit/>
            </a:bodyPr>
            <a:lstStyle/>
            <a:p>
              <a:pPr algn="l"/>
              <a:r>
                <a:rPr lang="zh-CN" sz="2550" dirty="0">
                  <a:solidFill>
                    <a:srgbClr val="002D4C"/>
                  </a:solidFill>
                  <a:latin typeface="Franklin Gothic Medium"/>
                  <a:ea typeface="Microsoft YaHei"/>
                  <a:cs typeface="Franklin Gothic Medium"/>
                </a:rPr>
                <a:t>Work Plan for the Next Two Weeks</a:t>
              </a:r>
            </a:p>
          </p:txBody>
        </p:sp>
        <p:sp>
          <p:nvSpPr>
            <p:cNvPr id="5" name="TextBox 5"/>
            <p:cNvSpPr txBox="1"/>
            <p:nvPr/>
          </p:nvSpPr>
          <p:spPr>
            <a:xfrm>
              <a:off x="717232" y="862489"/>
              <a:ext cx="5124521" cy="259080"/>
            </a:xfrm>
            <a:prstGeom prst="rect">
              <a:avLst/>
            </a:prstGeom>
            <a:noFill/>
            <a:ln>
              <a:noFill/>
            </a:ln>
          </p:spPr>
          <p:txBody>
            <a:bodyPr wrap="none" lIns="0" tIns="0" rIns="0" bIns="0" anchor="t" anchorCtr="0">
              <a:spAutoFit/>
            </a:bodyPr>
            <a:lstStyle/>
            <a:p>
              <a:pPr algn="l"/>
              <a:r>
                <a:rPr lang="zh-CN" sz="1275" dirty="0">
                  <a:solidFill>
                    <a:srgbClr val="526671"/>
                  </a:solidFill>
                  <a:latin typeface="Arial"/>
                  <a:ea typeface="Microsoft YaHei"/>
                  <a:cs typeface="Arial"/>
                </a:rPr>
                <a:t>Build the MVP dataset and conduct the first tests with Ark v1</a:t>
              </a:r>
            </a:p>
          </p:txBody>
        </p:sp>
      </p:grpSp>
      <p:grpSp>
        <p:nvGrpSpPr>
          <p:cNvPr id="23" name="Group 23"/>
          <p:cNvGrpSpPr/>
          <p:nvPr/>
        </p:nvGrpSpPr>
        <p:grpSpPr>
          <a:xfrm>
            <a:off x="590550" y="1352550"/>
            <a:ext cx="5314950" cy="3390900"/>
            <a:chOff x="590550" y="1352550"/>
            <a:chExt cx="5314950" cy="3390900"/>
          </a:xfrm>
        </p:grpSpPr>
        <p:sp>
          <p:nvSpPr>
            <p:cNvPr id="7" name="Rectangle 7"/>
            <p:cNvSpPr/>
            <p:nvPr/>
          </p:nvSpPr>
          <p:spPr>
            <a:xfrm>
              <a:off x="590550" y="1352550"/>
              <a:ext cx="5314950" cy="3390900"/>
            </a:xfrm>
            <a:prstGeom prst="rect">
              <a:avLst/>
            </a:prstGeom>
            <a:solidFill>
              <a:srgbClr val="EAF6F4"/>
            </a:solidFill>
            <a:ln w="14288">
              <a:solidFill>
                <a:srgbClr val="DAE1E6"/>
              </a:solidFill>
            </a:ln>
          </p:spPr>
          <p:txBody>
            <a:bodyPr/>
            <a:lstStyle/>
            <a:p>
              <a:endParaRPr lang="zh-CN" altLang="en-US"/>
            </a:p>
          </p:txBody>
        </p:sp>
        <p:sp>
          <p:nvSpPr>
            <p:cNvPr id="8" name="Rectangle 8"/>
            <p:cNvSpPr/>
            <p:nvPr/>
          </p:nvSpPr>
          <p:spPr>
            <a:xfrm>
              <a:off x="590550" y="1352550"/>
              <a:ext cx="5314950" cy="628650"/>
            </a:xfrm>
            <a:prstGeom prst="rect">
              <a:avLst/>
            </a:prstGeom>
            <a:solidFill>
              <a:srgbClr val="002D4C"/>
            </a:solidFill>
            <a:ln>
              <a:noFill/>
            </a:ln>
          </p:spPr>
          <p:txBody>
            <a:bodyPr/>
            <a:lstStyle/>
            <a:p>
              <a:endParaRPr lang="zh-CN" altLang="en-US"/>
            </a:p>
          </p:txBody>
        </p:sp>
        <p:sp>
          <p:nvSpPr>
            <p:cNvPr id="9" name="TextBox 9"/>
            <p:cNvSpPr txBox="1"/>
            <p:nvPr/>
          </p:nvSpPr>
          <p:spPr>
            <a:xfrm>
              <a:off x="826770" y="1512570"/>
              <a:ext cx="400907"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WEEK 1</a:t>
              </a:r>
            </a:p>
          </p:txBody>
        </p:sp>
        <p:sp>
          <p:nvSpPr>
            <p:cNvPr id="10" name="TextBox 10"/>
            <p:cNvSpPr txBox="1"/>
            <p:nvPr/>
          </p:nvSpPr>
          <p:spPr>
            <a:xfrm>
              <a:off x="817245" y="1679258"/>
              <a:ext cx="2352199" cy="335280"/>
            </a:xfrm>
            <a:prstGeom prst="rect">
              <a:avLst/>
            </a:prstGeom>
            <a:noFill/>
            <a:ln>
              <a:noFill/>
            </a:ln>
          </p:spPr>
          <p:txBody>
            <a:bodyPr wrap="none" lIns="0" tIns="0" rIns="0" bIns="0" anchor="t" anchorCtr="0">
              <a:spAutoFit/>
            </a:bodyPr>
            <a:lstStyle/>
            <a:p>
              <a:pPr algn="l"/>
              <a:r>
                <a:rPr lang="zh-CN" sz="1650" dirty="0">
                  <a:solidFill>
                    <a:srgbClr val="FFFFFF"/>
                  </a:solidFill>
                  <a:latin typeface="Franklin Gothic Medium"/>
                  <a:ea typeface="Microsoft YaHei"/>
                  <a:cs typeface="Franklin Gothic Medium"/>
                </a:rPr>
                <a:t>Build the MVP Dataset</a:t>
              </a:r>
            </a:p>
          </p:txBody>
        </p:sp>
        <p:sp>
          <p:nvSpPr>
            <p:cNvPr id="11" name="Ellipse 11"/>
            <p:cNvSpPr/>
            <p:nvPr/>
          </p:nvSpPr>
          <p:spPr>
            <a:xfrm>
              <a:off x="781050" y="2276475"/>
              <a:ext cx="342900" cy="342900"/>
            </a:xfrm>
            <a:prstGeom prst="ellipse">
              <a:avLst/>
            </a:prstGeom>
            <a:solidFill>
              <a:srgbClr val="009682"/>
            </a:solidFill>
            <a:ln>
              <a:noFill/>
            </a:ln>
          </p:spPr>
          <p:txBody>
            <a:bodyPr/>
            <a:lstStyle/>
            <a:p>
              <a:endParaRPr lang="zh-CN" altLang="en-US"/>
            </a:p>
          </p:txBody>
        </p:sp>
        <p:sp>
          <p:nvSpPr>
            <p:cNvPr id="12" name="TextBox 12"/>
            <p:cNvSpPr txBox="1"/>
            <p:nvPr/>
          </p:nvSpPr>
          <p:spPr>
            <a:xfrm>
              <a:off x="917112" y="2391728"/>
              <a:ext cx="707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13" name="TextBox 13"/>
            <p:cNvSpPr txBox="1"/>
            <p:nvPr/>
          </p:nvSpPr>
          <p:spPr>
            <a:xfrm>
              <a:off x="1269682" y="2367439"/>
              <a:ext cx="3509320"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Select representative KQA Pro questions.</a:t>
              </a:r>
            </a:p>
          </p:txBody>
        </p:sp>
        <p:sp>
          <p:nvSpPr>
            <p:cNvPr id="14" name="Line 14"/>
            <p:cNvSpPr/>
            <p:nvPr/>
          </p:nvSpPr>
          <p:spPr>
            <a:xfrm>
              <a:off x="838200" y="2781300"/>
              <a:ext cx="4819650" cy="9525"/>
            </a:xfrm>
            <a:custGeom>
              <a:avLst/>
              <a:gdLst/>
              <a:ahLst/>
              <a:cxnLst/>
              <a:rect l="l" t="t" r="r" b="b"/>
              <a:pathLst>
                <a:path w="4819650" h="9525">
                  <a:moveTo>
                    <a:pt x="0" y="0"/>
                  </a:moveTo>
                  <a:lnTo>
                    <a:pt x="4819650" y="0"/>
                  </a:lnTo>
                </a:path>
              </a:pathLst>
            </a:custGeom>
            <a:noFill/>
            <a:ln w="9525">
              <a:solidFill>
                <a:srgbClr val="DAE1E6"/>
              </a:solidFill>
            </a:ln>
          </p:spPr>
          <p:txBody>
            <a:bodyPr/>
            <a:lstStyle/>
            <a:p>
              <a:endParaRPr lang="zh-CN" altLang="en-US"/>
            </a:p>
          </p:txBody>
        </p:sp>
        <p:sp>
          <p:nvSpPr>
            <p:cNvPr id="15" name="Ellipse 15"/>
            <p:cNvSpPr/>
            <p:nvPr/>
          </p:nvSpPr>
          <p:spPr>
            <a:xfrm>
              <a:off x="781050" y="3086100"/>
              <a:ext cx="342900" cy="342900"/>
            </a:xfrm>
            <a:prstGeom prst="ellipse">
              <a:avLst/>
            </a:prstGeom>
            <a:solidFill>
              <a:srgbClr val="009682"/>
            </a:solidFill>
            <a:ln>
              <a:noFill/>
            </a:ln>
          </p:spPr>
          <p:txBody>
            <a:bodyPr/>
            <a:lstStyle/>
            <a:p>
              <a:endParaRPr lang="zh-CN" altLang="en-US"/>
            </a:p>
          </p:txBody>
        </p:sp>
        <p:sp>
          <p:nvSpPr>
            <p:cNvPr id="16" name="TextBox 16"/>
            <p:cNvSpPr txBox="1"/>
            <p:nvPr/>
          </p:nvSpPr>
          <p:spPr>
            <a:xfrm>
              <a:off x="898735" y="32013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17" name="TextBox 17"/>
            <p:cNvSpPr txBox="1"/>
            <p:nvPr/>
          </p:nvSpPr>
          <p:spPr>
            <a:xfrm>
              <a:off x="1270635" y="3051810"/>
              <a:ext cx="3070860"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Construct a small unanswerable subset</a:t>
              </a:r>
            </a:p>
          </p:txBody>
        </p:sp>
        <p:sp>
          <p:nvSpPr>
            <p:cNvPr id="18" name="TextBox 18"/>
            <p:cNvSpPr txBox="1"/>
            <p:nvPr/>
          </p:nvSpPr>
          <p:spPr>
            <a:xfrm>
              <a:off x="1270635" y="3270885"/>
              <a:ext cx="1622679"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by modifying the KG.</a:t>
              </a:r>
            </a:p>
          </p:txBody>
        </p:sp>
        <p:sp>
          <p:nvSpPr>
            <p:cNvPr id="19" name="Line 19"/>
            <p:cNvSpPr/>
            <p:nvPr/>
          </p:nvSpPr>
          <p:spPr>
            <a:xfrm>
              <a:off x="838200" y="3676650"/>
              <a:ext cx="4819650" cy="9525"/>
            </a:xfrm>
            <a:custGeom>
              <a:avLst/>
              <a:gdLst/>
              <a:ahLst/>
              <a:cxnLst/>
              <a:rect l="l" t="t" r="r" b="b"/>
              <a:pathLst>
                <a:path w="4819650" h="9525">
                  <a:moveTo>
                    <a:pt x="0" y="0"/>
                  </a:moveTo>
                  <a:lnTo>
                    <a:pt x="4819650" y="0"/>
                  </a:lnTo>
                </a:path>
              </a:pathLst>
            </a:custGeom>
            <a:noFill/>
            <a:ln w="9525">
              <a:solidFill>
                <a:srgbClr val="DAE1E6"/>
              </a:solidFill>
            </a:ln>
          </p:spPr>
          <p:txBody>
            <a:bodyPr/>
            <a:lstStyle/>
            <a:p>
              <a:endParaRPr lang="zh-CN" altLang="en-US"/>
            </a:p>
          </p:txBody>
        </p:sp>
        <p:sp>
          <p:nvSpPr>
            <p:cNvPr id="20" name="Ellipse 20"/>
            <p:cNvSpPr/>
            <p:nvPr/>
          </p:nvSpPr>
          <p:spPr>
            <a:xfrm>
              <a:off x="781050" y="3981450"/>
              <a:ext cx="342900" cy="342900"/>
            </a:xfrm>
            <a:prstGeom prst="ellipse">
              <a:avLst/>
            </a:prstGeom>
            <a:solidFill>
              <a:srgbClr val="009682"/>
            </a:solidFill>
            <a:ln>
              <a:noFill/>
            </a:ln>
          </p:spPr>
          <p:txBody>
            <a:bodyPr/>
            <a:lstStyle/>
            <a:p>
              <a:endParaRPr lang="zh-CN" altLang="en-US"/>
            </a:p>
          </p:txBody>
        </p:sp>
        <p:sp>
          <p:nvSpPr>
            <p:cNvPr id="21" name="TextBox 21"/>
            <p:cNvSpPr txBox="1"/>
            <p:nvPr/>
          </p:nvSpPr>
          <p:spPr>
            <a:xfrm>
              <a:off x="898735" y="40967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22" name="TextBox 22"/>
            <p:cNvSpPr txBox="1"/>
            <p:nvPr/>
          </p:nvSpPr>
          <p:spPr>
            <a:xfrm>
              <a:off x="1269682" y="4072414"/>
              <a:ext cx="3883366"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Select representative GTSQA grounding cases.</a:t>
              </a:r>
            </a:p>
          </p:txBody>
        </p:sp>
      </p:grpSp>
      <p:grpSp>
        <p:nvGrpSpPr>
          <p:cNvPr id="41" name="Group 41"/>
          <p:cNvGrpSpPr/>
          <p:nvPr/>
        </p:nvGrpSpPr>
        <p:grpSpPr>
          <a:xfrm>
            <a:off x="6286500" y="1352550"/>
            <a:ext cx="5314950" cy="3390900"/>
            <a:chOff x="6286500" y="1352550"/>
            <a:chExt cx="5314950" cy="3390900"/>
          </a:xfrm>
        </p:grpSpPr>
        <p:sp>
          <p:nvSpPr>
            <p:cNvPr id="24" name="Rectangle 24"/>
            <p:cNvSpPr/>
            <p:nvPr/>
          </p:nvSpPr>
          <p:spPr>
            <a:xfrm>
              <a:off x="6286500" y="1352550"/>
              <a:ext cx="5314950" cy="3390900"/>
            </a:xfrm>
            <a:prstGeom prst="rect">
              <a:avLst/>
            </a:prstGeom>
            <a:solidFill>
              <a:srgbClr val="F4F7F8"/>
            </a:solidFill>
            <a:ln w="14288">
              <a:solidFill>
                <a:srgbClr val="DAE1E6"/>
              </a:solidFill>
            </a:ln>
          </p:spPr>
          <p:txBody>
            <a:bodyPr/>
            <a:lstStyle/>
            <a:p>
              <a:endParaRPr lang="zh-CN" altLang="en-US"/>
            </a:p>
          </p:txBody>
        </p:sp>
        <p:sp>
          <p:nvSpPr>
            <p:cNvPr id="25" name="Rectangle 25"/>
            <p:cNvSpPr/>
            <p:nvPr/>
          </p:nvSpPr>
          <p:spPr>
            <a:xfrm>
              <a:off x="6286500" y="1352550"/>
              <a:ext cx="5314950" cy="628650"/>
            </a:xfrm>
            <a:prstGeom prst="rect">
              <a:avLst/>
            </a:prstGeom>
            <a:solidFill>
              <a:srgbClr val="009682"/>
            </a:solidFill>
            <a:ln>
              <a:noFill/>
            </a:ln>
          </p:spPr>
          <p:txBody>
            <a:bodyPr/>
            <a:lstStyle/>
            <a:p>
              <a:endParaRPr lang="zh-CN" altLang="en-US"/>
            </a:p>
          </p:txBody>
        </p:sp>
        <p:sp>
          <p:nvSpPr>
            <p:cNvPr id="26" name="TextBox 26"/>
            <p:cNvSpPr txBox="1"/>
            <p:nvPr/>
          </p:nvSpPr>
          <p:spPr>
            <a:xfrm>
              <a:off x="6522720" y="1512570"/>
              <a:ext cx="432411"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WEEK 2</a:t>
              </a:r>
            </a:p>
          </p:txBody>
        </p:sp>
        <p:sp>
          <p:nvSpPr>
            <p:cNvPr id="27" name="TextBox 27"/>
            <p:cNvSpPr txBox="1"/>
            <p:nvPr/>
          </p:nvSpPr>
          <p:spPr>
            <a:xfrm>
              <a:off x="6513195" y="1679258"/>
              <a:ext cx="2308193" cy="335280"/>
            </a:xfrm>
            <a:prstGeom prst="rect">
              <a:avLst/>
            </a:prstGeom>
            <a:noFill/>
            <a:ln>
              <a:noFill/>
            </a:ln>
          </p:spPr>
          <p:txBody>
            <a:bodyPr wrap="none" lIns="0" tIns="0" rIns="0" bIns="0" anchor="t" anchorCtr="0">
              <a:spAutoFit/>
            </a:bodyPr>
            <a:lstStyle/>
            <a:p>
              <a:pPr algn="l"/>
              <a:r>
                <a:rPr lang="zh-CN" sz="1650" dirty="0">
                  <a:solidFill>
                    <a:srgbClr val="FFFFFF"/>
                  </a:solidFill>
                  <a:latin typeface="Franklin Gothic Medium"/>
                  <a:ea typeface="Microsoft YaHei"/>
                  <a:cs typeface="Franklin Gothic Medium"/>
                </a:rPr>
                <a:t>Adapt and Test Ark v1</a:t>
              </a:r>
            </a:p>
          </p:txBody>
        </p:sp>
        <p:sp>
          <p:nvSpPr>
            <p:cNvPr id="28" name="Ellipse 28"/>
            <p:cNvSpPr/>
            <p:nvPr/>
          </p:nvSpPr>
          <p:spPr>
            <a:xfrm>
              <a:off x="6477000" y="2276475"/>
              <a:ext cx="342900" cy="342900"/>
            </a:xfrm>
            <a:prstGeom prst="ellipse">
              <a:avLst/>
            </a:prstGeom>
            <a:solidFill>
              <a:srgbClr val="23A1E0"/>
            </a:solidFill>
            <a:ln>
              <a:noFill/>
            </a:ln>
          </p:spPr>
          <p:txBody>
            <a:bodyPr/>
            <a:lstStyle/>
            <a:p>
              <a:endParaRPr lang="zh-CN" altLang="en-US"/>
            </a:p>
          </p:txBody>
        </p:sp>
        <p:sp>
          <p:nvSpPr>
            <p:cNvPr id="29" name="TextBox 29"/>
            <p:cNvSpPr txBox="1"/>
            <p:nvPr/>
          </p:nvSpPr>
          <p:spPr>
            <a:xfrm>
              <a:off x="6613062" y="2391728"/>
              <a:ext cx="707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30" name="TextBox 30"/>
            <p:cNvSpPr txBox="1"/>
            <p:nvPr/>
          </p:nvSpPr>
          <p:spPr>
            <a:xfrm>
              <a:off x="6966585" y="2270760"/>
              <a:ext cx="1766697"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Adapt and debug Ark v1</a:t>
              </a:r>
            </a:p>
          </p:txBody>
        </p:sp>
        <p:sp>
          <p:nvSpPr>
            <p:cNvPr id="31" name="TextBox 31"/>
            <p:cNvSpPr txBox="1"/>
            <p:nvPr/>
          </p:nvSpPr>
          <p:spPr>
            <a:xfrm>
              <a:off x="6966585" y="2489835"/>
              <a:ext cx="2158746"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for the selected datasets.</a:t>
              </a:r>
            </a:p>
          </p:txBody>
        </p:sp>
        <p:sp>
          <p:nvSpPr>
            <p:cNvPr id="32" name="Line 32"/>
            <p:cNvSpPr/>
            <p:nvPr/>
          </p:nvSpPr>
          <p:spPr>
            <a:xfrm>
              <a:off x="6534150" y="2781300"/>
              <a:ext cx="4819650" cy="9525"/>
            </a:xfrm>
            <a:custGeom>
              <a:avLst/>
              <a:gdLst/>
              <a:ahLst/>
              <a:cxnLst/>
              <a:rect l="l" t="t" r="r" b="b"/>
              <a:pathLst>
                <a:path w="4819650" h="9525">
                  <a:moveTo>
                    <a:pt x="0" y="0"/>
                  </a:moveTo>
                  <a:lnTo>
                    <a:pt x="4819650" y="0"/>
                  </a:lnTo>
                </a:path>
              </a:pathLst>
            </a:custGeom>
            <a:noFill/>
            <a:ln w="9525">
              <a:solidFill>
                <a:srgbClr val="DAE1E6"/>
              </a:solidFill>
            </a:ln>
          </p:spPr>
          <p:txBody>
            <a:bodyPr/>
            <a:lstStyle/>
            <a:p>
              <a:endParaRPr lang="zh-CN" altLang="en-US"/>
            </a:p>
          </p:txBody>
        </p:sp>
        <p:sp>
          <p:nvSpPr>
            <p:cNvPr id="33" name="Ellipse 33"/>
            <p:cNvSpPr/>
            <p:nvPr/>
          </p:nvSpPr>
          <p:spPr>
            <a:xfrm>
              <a:off x="6477000" y="3086100"/>
              <a:ext cx="342900" cy="342900"/>
            </a:xfrm>
            <a:prstGeom prst="ellipse">
              <a:avLst/>
            </a:prstGeom>
            <a:solidFill>
              <a:srgbClr val="23A1E0"/>
            </a:solidFill>
            <a:ln>
              <a:noFill/>
            </a:ln>
          </p:spPr>
          <p:txBody>
            <a:bodyPr/>
            <a:lstStyle/>
            <a:p>
              <a:endParaRPr lang="zh-CN" altLang="en-US"/>
            </a:p>
          </p:txBody>
        </p:sp>
        <p:sp>
          <p:nvSpPr>
            <p:cNvPr id="34" name="TextBox 34"/>
            <p:cNvSpPr txBox="1"/>
            <p:nvPr/>
          </p:nvSpPr>
          <p:spPr>
            <a:xfrm>
              <a:off x="6594685" y="32013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35" name="TextBox 35"/>
            <p:cNvSpPr txBox="1"/>
            <p:nvPr/>
          </p:nvSpPr>
          <p:spPr>
            <a:xfrm>
              <a:off x="6965632" y="3177064"/>
              <a:ext cx="2650712" cy="259080"/>
            </a:xfrm>
            <a:prstGeom prst="rect">
              <a:avLst/>
            </a:prstGeom>
            <a:noFill/>
            <a:ln>
              <a:noFill/>
            </a:ln>
          </p:spPr>
          <p:txBody>
            <a:bodyPr wrap="none" lIns="0" tIns="0" rIns="0" bIns="0" anchor="t" anchorCtr="0">
              <a:spAutoFit/>
            </a:bodyPr>
            <a:lstStyle/>
            <a:p>
              <a:pPr algn="l"/>
              <a:r>
                <a:rPr lang="zh-CN" sz="1275" dirty="0">
                  <a:solidFill>
                    <a:srgbClr val="002D4C"/>
                  </a:solidFill>
                  <a:latin typeface="Arial"/>
                  <a:ea typeface="Microsoft YaHei"/>
                  <a:cs typeface="Arial"/>
                </a:rPr>
                <a:t>Run the initial capability tests.</a:t>
              </a:r>
            </a:p>
          </p:txBody>
        </p:sp>
        <p:sp>
          <p:nvSpPr>
            <p:cNvPr id="36" name="Line 36"/>
            <p:cNvSpPr/>
            <p:nvPr/>
          </p:nvSpPr>
          <p:spPr>
            <a:xfrm>
              <a:off x="6534150" y="3676650"/>
              <a:ext cx="4819650" cy="9525"/>
            </a:xfrm>
            <a:custGeom>
              <a:avLst/>
              <a:gdLst/>
              <a:ahLst/>
              <a:cxnLst/>
              <a:rect l="l" t="t" r="r" b="b"/>
              <a:pathLst>
                <a:path w="4819650" h="9525">
                  <a:moveTo>
                    <a:pt x="0" y="0"/>
                  </a:moveTo>
                  <a:lnTo>
                    <a:pt x="4819650" y="0"/>
                  </a:lnTo>
                </a:path>
              </a:pathLst>
            </a:custGeom>
            <a:noFill/>
            <a:ln w="9525">
              <a:solidFill>
                <a:srgbClr val="DAE1E6"/>
              </a:solidFill>
            </a:ln>
          </p:spPr>
          <p:txBody>
            <a:bodyPr/>
            <a:lstStyle/>
            <a:p>
              <a:endParaRPr lang="zh-CN" altLang="en-US"/>
            </a:p>
          </p:txBody>
        </p:sp>
        <p:sp>
          <p:nvSpPr>
            <p:cNvPr id="37" name="Ellipse 37"/>
            <p:cNvSpPr/>
            <p:nvPr/>
          </p:nvSpPr>
          <p:spPr>
            <a:xfrm>
              <a:off x="6477000" y="3981450"/>
              <a:ext cx="342900" cy="342900"/>
            </a:xfrm>
            <a:prstGeom prst="ellipse">
              <a:avLst/>
            </a:prstGeom>
            <a:solidFill>
              <a:srgbClr val="23A1E0"/>
            </a:solidFill>
            <a:ln>
              <a:noFill/>
            </a:ln>
          </p:spPr>
          <p:txBody>
            <a:bodyPr/>
            <a:lstStyle/>
            <a:p>
              <a:endParaRPr lang="zh-CN" altLang="en-US"/>
            </a:p>
          </p:txBody>
        </p:sp>
        <p:sp>
          <p:nvSpPr>
            <p:cNvPr id="38" name="TextBox 38"/>
            <p:cNvSpPr txBox="1"/>
            <p:nvPr/>
          </p:nvSpPr>
          <p:spPr>
            <a:xfrm>
              <a:off x="6594685" y="40967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39" name="TextBox 39"/>
            <p:cNvSpPr txBox="1"/>
            <p:nvPr/>
          </p:nvSpPr>
          <p:spPr>
            <a:xfrm>
              <a:off x="6966585" y="3947160"/>
              <a:ext cx="1982724"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Analyze the main failures</a:t>
              </a:r>
            </a:p>
          </p:txBody>
        </p:sp>
        <p:sp>
          <p:nvSpPr>
            <p:cNvPr id="40" name="TextBox 40"/>
            <p:cNvSpPr txBox="1"/>
            <p:nvPr/>
          </p:nvSpPr>
          <p:spPr>
            <a:xfrm>
              <a:off x="6966585" y="4166235"/>
              <a:ext cx="2222754" cy="243840"/>
            </a:xfrm>
            <a:prstGeom prst="rect">
              <a:avLst/>
            </a:prstGeom>
            <a:noFill/>
            <a:ln>
              <a:noFill/>
            </a:ln>
          </p:spPr>
          <p:txBody>
            <a:bodyPr wrap="none" lIns="0" tIns="0" rIns="0" bIns="0" anchor="t" anchorCtr="0">
              <a:spAutoFit/>
            </a:bodyPr>
            <a:lstStyle/>
            <a:p>
              <a:pPr algn="l"/>
              <a:r>
                <a:rPr lang="zh-CN" sz="1200" dirty="0">
                  <a:solidFill>
                    <a:srgbClr val="002D4C"/>
                  </a:solidFill>
                  <a:latin typeface="Arial"/>
                  <a:ea typeface="Microsoft YaHei"/>
                  <a:cs typeface="Arial"/>
                </a:rPr>
                <a:t>and required improvements.</a:t>
              </a:r>
            </a:p>
          </p:txBody>
        </p:sp>
      </p:grpSp>
      <p:grpSp>
        <p:nvGrpSpPr>
          <p:cNvPr id="45" name="Group 45"/>
          <p:cNvGrpSpPr/>
          <p:nvPr/>
        </p:nvGrpSpPr>
        <p:grpSpPr>
          <a:xfrm>
            <a:off x="590550" y="5010150"/>
            <a:ext cx="11010900" cy="895350"/>
            <a:chOff x="590550" y="5010150"/>
            <a:chExt cx="11010900" cy="895350"/>
          </a:xfrm>
        </p:grpSpPr>
        <p:sp>
          <p:nvSpPr>
            <p:cNvPr id="42" name="Rectangle 42"/>
            <p:cNvSpPr/>
            <p:nvPr/>
          </p:nvSpPr>
          <p:spPr>
            <a:xfrm>
              <a:off x="590550" y="5010150"/>
              <a:ext cx="11010900" cy="895350"/>
            </a:xfrm>
            <a:prstGeom prst="rect">
              <a:avLst/>
            </a:prstGeom>
            <a:solidFill>
              <a:srgbClr val="002D4C"/>
            </a:solidFill>
            <a:ln>
              <a:noFill/>
            </a:ln>
          </p:spPr>
          <p:txBody>
            <a:bodyPr/>
            <a:lstStyle/>
            <a:p>
              <a:endParaRPr lang="zh-CN" altLang="en-US"/>
            </a:p>
          </p:txBody>
        </p:sp>
        <p:sp>
          <p:nvSpPr>
            <p:cNvPr id="43" name="TextBox 43"/>
            <p:cNvSpPr txBox="1"/>
            <p:nvPr/>
          </p:nvSpPr>
          <p:spPr>
            <a:xfrm>
              <a:off x="826770" y="5189220"/>
              <a:ext cx="1175904"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EXPECTED OUTCOME</a:t>
              </a:r>
            </a:p>
          </p:txBody>
        </p:sp>
        <p:sp>
          <p:nvSpPr>
            <p:cNvPr id="44" name="TextBox 44"/>
            <p:cNvSpPr txBox="1"/>
            <p:nvPr/>
          </p:nvSpPr>
          <p:spPr>
            <a:xfrm>
              <a:off x="820102" y="5456396"/>
              <a:ext cx="6278475" cy="289560"/>
            </a:xfrm>
            <a:prstGeom prst="rect">
              <a:avLst/>
            </a:prstGeom>
            <a:noFill/>
            <a:ln>
              <a:noFill/>
            </a:ln>
          </p:spPr>
          <p:txBody>
            <a:bodyPr wrap="none" lIns="0" tIns="0" rIns="0" bIns="0" anchor="t" anchorCtr="0">
              <a:spAutoFit/>
            </a:bodyPr>
            <a:lstStyle/>
            <a:p>
              <a:pPr algn="l"/>
              <a:r>
                <a:rPr lang="zh-CN" sz="1425" dirty="0">
                  <a:solidFill>
                    <a:srgbClr val="FFFFFF"/>
                  </a:solidFill>
                  <a:latin typeface="Arial"/>
                  <a:ea typeface="Microsoft YaHei"/>
                  <a:cs typeface="Arial"/>
                </a:rPr>
                <a:t>An executable MVP dataset and initial evaluation results for Ark v1.</a:t>
              </a:r>
            </a:p>
          </p:txBody>
        </p:sp>
      </p:grpSp>
      <p:grpSp>
        <p:nvGrpSpPr>
          <p:cNvPr id="49" name="Group 49"/>
          <p:cNvGrpSpPr/>
          <p:nvPr/>
        </p:nvGrpSpPr>
        <p:grpSpPr>
          <a:xfrm>
            <a:off x="495300" y="6343650"/>
            <a:ext cx="11201400" cy="414338"/>
            <a:chOff x="495300" y="6343650"/>
            <a:chExt cx="11201400" cy="414338"/>
          </a:xfrm>
        </p:grpSpPr>
        <p:sp>
          <p:nvSpPr>
            <p:cNvPr id="46" name="Line 46"/>
            <p:cNvSpPr/>
            <p:nvPr/>
          </p:nvSpPr>
          <p:spPr>
            <a:xfrm>
              <a:off x="495300" y="6343650"/>
              <a:ext cx="11201400" cy="9525"/>
            </a:xfrm>
            <a:custGeom>
              <a:avLst/>
              <a:gdLst/>
              <a:ahLst/>
              <a:cxnLst/>
              <a:rect l="l" t="t" r="r" b="b"/>
              <a:pathLst>
                <a:path w="11201400" h="9525">
                  <a:moveTo>
                    <a:pt x="0" y="0"/>
                  </a:moveTo>
                  <a:lnTo>
                    <a:pt x="11201400" y="0"/>
                  </a:lnTo>
                </a:path>
              </a:pathLst>
            </a:custGeom>
            <a:noFill/>
            <a:ln w="9525">
              <a:solidFill>
                <a:srgbClr val="DAE1E6"/>
              </a:solidFill>
            </a:ln>
          </p:spPr>
          <p:txBody>
            <a:bodyPr/>
            <a:lstStyle/>
            <a:p>
              <a:endParaRPr lang="zh-CN" altLang="en-US"/>
            </a:p>
          </p:txBody>
        </p:sp>
        <p:sp>
          <p:nvSpPr>
            <p:cNvPr id="47" name="TextBox 47"/>
            <p:cNvSpPr txBox="1"/>
            <p:nvPr/>
          </p:nvSpPr>
          <p:spPr>
            <a:xfrm>
              <a:off x="590550" y="6605588"/>
              <a:ext cx="2064306"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KG Agent Master Thesis · Progress Update</a:t>
              </a:r>
            </a:p>
          </p:txBody>
        </p:sp>
        <p:sp>
          <p:nvSpPr>
            <p:cNvPr id="48" name="TextBox 48"/>
            <p:cNvSpPr txBox="1"/>
            <p:nvPr/>
          </p:nvSpPr>
          <p:spPr>
            <a:xfrm>
              <a:off x="10887075" y="6605588"/>
              <a:ext cx="104061" cy="152400"/>
            </a:xfrm>
            <a:prstGeom prst="rect">
              <a:avLst/>
            </a:prstGeom>
            <a:noFill/>
            <a:ln>
              <a:noFill/>
            </a:ln>
          </p:spPr>
          <p:txBody>
            <a:bodyPr wrap="none" lIns="0" tIns="0" rIns="0" bIns="0" anchor="t" anchorCtr="0">
              <a:spAutoFit/>
            </a:bodyPr>
            <a:lstStyle/>
            <a:p>
              <a:pPr algn="l"/>
              <a:r>
                <a:rPr lang="zh-CN" sz="750" dirty="0">
                  <a:solidFill>
                    <a:srgbClr val="768993"/>
                  </a:solidFill>
                  <a:latin typeface="Arial"/>
                  <a:ea typeface="Microsoft YaHei"/>
                  <a:cs typeface="Arial"/>
                </a:rPr>
                <a:t>19</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image">
                                      <p:cBhvr>
                                        <p:cTn id="7" dur="400"/>
                                        <p:tgtEl>
                                          <p:spTgt spid="23"/>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400"/>
                                        <p:tgtEl>
                                          <p:spTgt spid="41"/>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1" grpId="0"/>
      <p:bldP spid="4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376</TotalTime>
  <Words>4799</Words>
  <Application>Microsoft Macintosh PowerPoint</Application>
  <PresentationFormat>宽屏</PresentationFormat>
  <Paragraphs>812</Paragraphs>
  <Slides>19</Slides>
  <Notes>19</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19</vt:i4>
      </vt:variant>
    </vt:vector>
  </HeadingPairs>
  <TitlesOfParts>
    <vt:vector size="24" baseType="lpstr">
      <vt:lpstr>Arial</vt:lpstr>
      <vt:lpstr>Calibri</vt:lpstr>
      <vt:lpstr>Consolas</vt:lpstr>
      <vt:lpstr>Franklin Gothic Medium</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Wang, Kaihao</cp:lastModifiedBy>
  <cp:revision>31</cp:revision>
  <dcterms:created xsi:type="dcterms:W3CDTF">2013-01-27T09:14:16Z</dcterms:created>
  <dcterms:modified xsi:type="dcterms:W3CDTF">2026-08-26T13:26:31Z</dcterms:modified>
  <cp:category/>
</cp:coreProperties>
</file>